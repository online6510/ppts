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Орлого өөр байж болно. Хүний эрх ижил.</a:t>
            </a:r>
          </a:p>
          <a:p/>
          <a:p>
            <a:r>
              <a:t>ЯРИХ ТЕКСТ</a:t>
            </a:r>
          </a:p>
          <a:p>
            <a:r>
              <a:t>Сайн байцгаана уу. Бид нийгмийн доод давхраа ба хүний эрхийн холбоог тайлбарлана. Энд “доод давхраа” гэдэг нь хүний үнэ цэнийг үнэлсэн үг биш. Харин орлого, хөрөнгө, тогтвортой ажил болон үйлчилгээний боломж бага байгаа нийгмийн нөхцөлийг хэлж байна. Бид эхлээд асуудлыг ойлгож, дараа нь Монголын хууль, олон улсын баримт бичиг, бодит шүүхийн шийдвэрээр тайлбарлана. Гол санаа нь орлого бага байх нь эрх бага эдлэх үндэслэл биш юм.</a:t>
            </a:r>
          </a:p>
          <a:p/>
          <a:p>
            <a:r>
              <a:t>ДАРААГИЙН СЛАЙДТАЙ ХОЛБОХ ӨГҮҮЛБЭР</a:t>
            </a:r>
          </a:p>
          <a:p>
            <a:r>
              <a:t>Эхлээд илтгэлийнхээ дарааллыг харъя.</a:t>
            </a:r>
          </a:p>
          <a:p/>
          <a:p>
            <a:r>
              <a:t>ДЭЛГЭРЭНГҮЙ МЭДЭЭЛЭЛ</a:t>
            </a:r>
          </a:p>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Асуудлыг ойлгоно → хуулиа харна → шийдлээ ярилцана.</a:t>
            </a:r>
          </a:p>
          <a:p/>
          <a:p>
            <a:r>
              <a:t>ЯРИХ ТЕКСТ</a:t>
            </a:r>
          </a:p>
          <a:p>
            <a:r>
              <a:t>Илтгэлийг гурван асуултаар дагаж сонсоход хялбар. Нэгдүгээрт, ядуурал гэж юу вэ, ямар боломжийг хязгаарладаг вэ гэдгийг тайлбарлана. Хоёрдугаарт, ийм нөхцөлд хүний эрхийг ямар хууль хамгаалдаг вэ гэдгийг харна. Гуравдугаарт, хуулийг бодит амьдралд яаж хэрэгжүүлж болохыг шүүхийн кейс, бусад орны бодлогоор жишээлнэ. Эдгээр гурван асуултыг холбож харвал ядуурал нь зөвхөн мөнгө бус, эрх ба бодит боломжийн асуудал болох нь харагдана.</a:t>
            </a:r>
          </a:p>
          <a:p/>
          <a:p>
            <a:r>
              <a:t>ДАРААГИЙН СЛАЙДТАЙ ХОЛБОХ ӨГҮҮЛБЭР</a:t>
            </a:r>
          </a:p>
          <a:p>
            <a:r>
              <a:t>Эхлээд “доод давхраа” гэдэг нэр томьёог зөв ойлгоё.</a:t>
            </a:r>
          </a:p>
          <a:p/>
          <a:p>
            <a:r>
              <a:t>ДЭЛГЭРЭНГҮЙ МЭДЭЭЛЭЛ</a:t>
            </a:r>
          </a:p>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r>
              <a:t>01  Нөхцөл: Ядуурал хүний эрхээ бодитоор эдлэх боломжийг хэрхэн хязгаарладаг вэ?</a:t>
            </a:r>
          </a:p>
          <a:p>
            <a:r>
              <a:t>02  Баталгаа: Монголын хууль ба олон улсын баримт бичиг ямар хамгаалалт тогтоодог вэ?</a:t>
            </a:r>
          </a:p>
          <a:p>
            <a:r>
              <a:t>03  Шийдэл: Шүүхийн кейс, бусад орны туршлагаас Монголд юу хэрэгжүүлж болох вэ?</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ажилгүй болсон хүн эрүүл мэнд, боловсролын эрхээ алдахгүй.</a:t>
            </a:r>
          </a:p>
          <a:p/>
          <a:p>
            <a:r>
              <a:t>ЯРИХ ТЕКСТ</a:t>
            </a:r>
          </a:p>
          <a:p>
            <a:r>
              <a:t>Хүмүүсийн орлого, хөрөнгө, ажил өөр байж болно. Харин энэ ялгаа нь хүний нэр төр, үндсэн эрх өөр гэсэн үг биш. Өндөр цалинтай болон ажилгүй хоёр хүний нөхцөл ялгаатай ч хуулийн өмнөх тэгш байдал хэвээр. Иймээс бид ядуурлыг тухайн хүнийг буруутгах байдлаар бус, ямар саад түүний боломжийг хязгаарлаж байгаагаар авч үзнэ. Слайдын жишээ нь бодит судалгааны кейс биш, ойлгуулах зорилготой тайлбарын жишээ юм.</a:t>
            </a:r>
          </a:p>
          <a:p/>
          <a:p>
            <a:r>
              <a:t>ДАРААГИЙН СЛАЙДТАЙ ХОЛБОХ ӨГҮҮЛБЭР</a:t>
            </a:r>
          </a:p>
          <a:p>
            <a:r>
              <a:t>Тэгвэл ядуурлыг зөвхөн мөнгөөр хэмжихэд хангалттай юу?</a:t>
            </a:r>
          </a:p>
          <a:p/>
          <a:p>
            <a:r>
              <a:t>ДЭЛГЭРЭНГҮЙ МЭДЭЭЛЭЛ</a:t>
            </a:r>
          </a:p>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r>
              <a:t>Эдийн засгийн байр суурь: Орлого, хөрөнгө, тогтвортой ажлын боломж бага; эдийн засгийн цочролд өртөх эрсдэл өндөр.</a:t>
            </a:r>
          </a:p>
          <a:p>
            <a:r>
              <a:t>Нийгмийн боломж: Чанартай боловсрол, эрүүл мэнд, орон сууц, мэдээлэлд хүрэх боломж харилцан адилгүй.</a:t>
            </a:r>
          </a:p>
          <a:p>
            <a:r>
              <a:t>Эрхийн субъект: Орлогоос үл хамааран хүн бүр ижил нэр төртэй, эрх эдлэгч. Ядуу хүнийг буруутгах нь бүтцийн шалтгааныг бүдгэрүүлдэг.</a:t>
            </a:r>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Ижил орлоготой хоёр өрхийн бодит боломж өөр байж болно.</a:t>
            </a:r>
          </a:p>
          <a:p/>
          <a:p>
            <a:r>
              <a:t>ЯРИХ ТЕКСТ</a:t>
            </a:r>
          </a:p>
          <a:p>
            <a:r>
              <a:t>Орлого бол ядуурлыг ойлгох нэг чухал хэмжүүр. Гэхдээ ижил орлоготой хоёр өрхийг төсөөлье. Нэг нь сургууль, эмнэлэгт ойр, нөгөө нь хол, тээврийн зардал өндөр байж болно. Тэгвэл ижил мөнгөөр эдлэх боломж нь өөр байна. Тиймээс орлогоос гадна үйлчилгээний хүртээмж, амьдрах нөхцөл, нийгмийн оролцоог хамтад нь харна. Энэ нь үндэсний ядуурлын хувь болон олон хэмжээст ядуурлын хэмжүүрийг хооронд нь ялгаж ойлгоход тусална.</a:t>
            </a:r>
          </a:p>
          <a:p/>
          <a:p>
            <a:r>
              <a:t>ДАРААГИЙН СЛАЙДТАЙ ХОЛБОХ ӨГҮҮЛБЭР</a:t>
            </a:r>
          </a:p>
          <a:p>
            <a:r>
              <a:t>Одоо Монголын мөнгөн ядуурлын түүхэн үзүүлэлтийг харъя.</a:t>
            </a:r>
          </a:p>
          <a:p/>
          <a:p>
            <a:r>
              <a:t>ДЭЛГЭРЭНГҮЙ МЭДЭЭЛЭЛ</a:t>
            </a:r>
          </a:p>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r>
              <a:t>Мөнгөн ядуурал: Хэрэглээ эсвэл орлого тогтоосон босгоос доогуур байх. Үндэсний босго нь тухайн улсын нөхцөлд тулгуурлана.</a:t>
            </a:r>
          </a:p>
          <a:p>
            <a:r>
              <a:t>Олон хэмжээст хомсдол: Боловсрол, эрүүл мэнд, ундны ус, ариун цэвэр, орон сууцны дутагдлыг хамтад нь харна.</a:t>
            </a:r>
          </a:p>
          <a:p>
            <a:r>
              <a:t>Нийгмийн гадуурхал: Баримт бичиг, тээвэр, хэл, цахим ур чадвар, ялгаварлал зэргээс үйлчилгээ авч чадахгүй болох.</a:t>
            </a:r>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27.1% — 2022 оны үзүүлэлт. 2026 оны өнөөгийн түвшин биш.</a:t>
            </a:r>
          </a:p>
          <a:p/>
          <a:p>
            <a:r>
              <a:t>ЯРИХ ТЕКСТ</a:t>
            </a:r>
          </a:p>
          <a:p>
            <a:r>
              <a:t>Энэ графикт үндэсний ядуурлын босгоор тооцсон хүн амын хувийг харуулсан. 2016 онд 29.6 хувь байсан үзүүлэлт 2022 онд 27.1 хувь болжээ. Өөрчлөлт нь 2.5 нэгж хувь. Энд “2.5 хувиар” гэж хэлэхгүй, учир нь хоёр хувийн түвшний зөрүүг нэгж хувиар илэрхийлдэг. 27.1 хувь гэдгийг энгийнээр ойролцоогоор дөрвөн хүн тутмын нэг гэж ойлгож болно. Эдгээр нь 2016–2022 оны түүхэн өгөгдөл тул өнөөгийн түвшин гэж тайлбарлахгүй.</a:t>
            </a:r>
          </a:p>
          <a:p/>
          <a:p>
            <a:r>
              <a:t>СЛАЙДЫГ ХЭРХЭН ТАЙЛБАРЛАХ ВЭ</a:t>
            </a:r>
          </a:p>
          <a:p>
            <a:r>
              <a:t>Зүүн талын 27.1%-ийг хэлнэ. Дараа нь 2016, 2022 оны хоёр баганыг заана. Дунд хоёр оныг нэг бүрчлэн уншихгүй.</a:t>
            </a:r>
          </a:p>
          <a:p/>
          <a:p>
            <a:r>
              <a:t>ДАРААГИЙН СЛАЙДТАЙ ХОЛБОХ ӨГҮҮЛБЭР</a:t>
            </a:r>
          </a:p>
          <a:p>
            <a:r>
              <a:t>Ядуурал яагаад удаан үргэлжилж болохыг дараах холбоосоор тайлбарлая.</a:t>
            </a:r>
          </a:p>
          <a:p/>
          <a:p>
            <a:r>
              <a:t>ДЭЛГЭРЭНГҮЙ МЭДЭЭЛЭЛ</a:t>
            </a:r>
          </a:p>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p>
            <a:r>
              <a:t>ЭХ СУРВАЛЖ</a:t>
            </a:r>
          </a:p>
          <a:p>
            <a:r>
              <a:t>[POV] ҮСХ, Дэлхийн банк: Mongolia Poverty Update 2022, 2024 онд нийтэлсэн; үндэсний ядуурлын түвшин</a:t>
            </a:r>
          </a:p>
          <a:p>
            <a:r>
              <a:t>https://www.worldbank.org/en/country/mongolia/publication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Энэ бол тайлбарлах схем; тоон судалгааны шалтгаант үр дүн биш.</a:t>
            </a:r>
          </a:p>
          <a:p/>
          <a:p>
            <a:r>
              <a:t>ЯРИХ ТЕКСТ</a:t>
            </a:r>
          </a:p>
          <a:p>
            <a:r>
              <a:t>Дараах нь тайлбарлах зорилготой ерөнхий холбоос. Орлого багасвал хүн эмчилгээ, тээвэр эсвэл суралцах зардлаа хойшлуулж болно. Эрүүл мэнд муудах, сургалт тасалдах нь ажлын боломжид дахин нөлөөлнө. Ингэснээр орлого сэргэхэд улам хэцүү болж болно. Бүх хүн заавал ийм замаар явна гэсэн үг биш. Харин дэмжлэгийг зөвхөн нэг удаагийн мөнгөөр бус, үйлчилгээ болон ур чадварын боломжтой холбох хэрэгтэйг энэ схем харуулж байна.</a:t>
            </a:r>
          </a:p>
          <a:p/>
          <a:p>
            <a:r>
              <a:t>ДАРААГИЙН СЛАЙДТАЙ ХОЛБОХ ӨГҮҮЛБЭР</a:t>
            </a:r>
          </a:p>
          <a:p>
            <a:r>
              <a:t>Ийм саадыг хүний эрхийн хандлагаар хэрхэн авч үзэх вэ?</a:t>
            </a:r>
          </a:p>
          <a:p/>
          <a:p>
            <a:r>
              <a:t>ДЭЛГЭРЭНГҮЙ МЭДЭЭЛЭЛ</a:t>
            </a:r>
          </a:p>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Гол ялгаа: сайн дурын тусламжаас гадна хуульд заасан үүрэг бий.</a:t>
            </a:r>
          </a:p>
          <a:p/>
          <a:p>
            <a:r>
              <a:t>ЯРИХ ТЕКСТ</a:t>
            </a:r>
          </a:p>
          <a:p>
            <a:r>
              <a:t>Хандив өгсөн хүн өөрийн хүсэл, боломжоор тусалдаг. Харин төрийн байгууллага хуульд заасан чиг үүрэг, хариуцлагатай. Тиймээс иргэн тусламж хүсэхээс гадна өөрт хамаарах үйлчилгээний шалгуур, татгалзсан шалтгаан, хянуулах боломжийг мэдэх эрхтэй. Энэ нь бүх үйлчилгээ ямар ч нөхцөлгүй, үнэгүй байна гэсэн үг биш. Харин шалгуур нь хууль ёсны, ойлгомжтой, ялгаварлаагүй байх ёстой гэсэн үг.</a:t>
            </a:r>
          </a:p>
          <a:p/>
          <a:p>
            <a:r>
              <a:t>ДАРААГИЙН СЛАЙДТАЙ ХОЛБОХ ӨГҮҮЛБЭР</a:t>
            </a:r>
          </a:p>
          <a:p>
            <a:r>
              <a:t>Энэ хандлагын суурь нь Монголын Үндсэн хуульд бий.</a:t>
            </a:r>
          </a:p>
          <a:p/>
          <a:p>
            <a:r>
              <a:t>ДЭЛГЭРЭНГҮЙ МЭДЭЭЛЭЛ</a:t>
            </a:r>
          </a:p>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r>
              <a:t>Хүн бүр эрх эдэлнэ: Хүний эрхийн түгээмэл тунхаглал, 1948.12.10: 1 дүгээр зүйл — нэр төр, эрхийн тэгш байдал; 2 — ялгаварлахгүй байх.</a:t>
            </a:r>
          </a:p>
          <a:p>
            <a:r>
              <a:t>Улс үүрэг хүлээнэ: ICESCR, 1966.12.16: 2.1 — нөөц бололцоогоо дээд хэмжээгээр ашиглан эрхийг дэвшилттэй хэрэгжүүлэх.</a:t>
            </a:r>
          </a:p>
          <a:p>
            <a:r>
              <a:t>Шийдвэрийг хянуулна: Үндсэн хууль, 1992.01.13: 16.12 — өргөдөл, гомдол; 16.14 — шүүхээр хамгаалуулах, хууль зүйн туслалцаа.</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Баталгаа нь хүн бүрд хамаарна; хэрэгжүүлэх нөхцөлийг холбогдох хууль тогтооно.</a:t>
            </a:r>
          </a:p>
          <a:p/>
          <a:p>
            <a:r>
              <a:t>ЯРИХ ТЕКСТ</a:t>
            </a:r>
          </a:p>
          <a:p>
            <a:r>
              <a:t>Үндсэн хууль 1992 оны нэгдүгээр сарын 13-нд батлагдсан. Энэ слайдад дөрвөн гол баталгааг л онцолъё. Нэгдүгээрт, хөрөнгө чинээгээр ялгаварлахгүй. Хоёрдугаарт, хуульд заасан нөхцөлд нийгмийн тусламж авах боломжтой. Гуравдугаарт, эрүүл мэнд, боловсролын эрхтэй. Дөрөвдүгээрт, эрх зөрчигдвөл гомдол гаргаж, шүүхээр хамгаалуулна. Эндээс бүх үйлчилгээ автоматаар үнэгүй гэсэн дүгнэлт хийхгүй. Төлбөргүй үйлчилгээний хүрээ, тусламж авах шалгуурыг холбогдох хууль тогтоодог.</a:t>
            </a:r>
          </a:p>
          <a:p/>
          <a:p>
            <a:r>
              <a:t>ДАРААГИЙН СЛАЙДТАЙ ХОЛБОХ ӨГҮҮЛБЭР</a:t>
            </a:r>
          </a:p>
          <a:p>
            <a:r>
              <a:t>Үндсэн баталгааг салбарын хуулиуд илүү тодорхой болгодог.</a:t>
            </a:r>
          </a:p>
          <a:p/>
          <a:p>
            <a:r>
              <a:t>ДЭЛГЭРЭНГҮЙ МЭДЭЭЛЭЛ</a:t>
            </a:r>
          </a:p>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r>
              <a:t>14.1; 14.2 | Хуулийн өмнө эрх тэгш; хөрөнгө чинээ зэрэг үндэслэлээр ялгаварлахгүй | Үйлчилгээний шалгуур хүнийг дорд үзэж болохгүй</a:t>
            </a:r>
          </a:p>
          <a:p>
            <a:r>
              <a:t>16.4 | Ажил, хөдөлмөрөө сонгох; хөдөлмөрийн аятай нөхцөл; цалин | Аюулгүй ажил, хуульд нийцсэн хөлс</a:t>
            </a:r>
          </a:p>
          <a:p>
            <a:r>
              <a:t>16.5 | Хуульд заасан нөхцөлд эд, мөнгөний тусламж авах | Өндөр нас, хөдөлмөрийн чадвар алдалт зэрэг</a:t>
            </a:r>
          </a:p>
          <a:p>
            <a:r>
              <a:t>16.6; 16.7 | Эрүүл мэндээ хамгаалуулах; сурч боловсрох | Төлбөргүй үйлчилгээний хүрээг хууль тогтооно</a:t>
            </a:r>
          </a:p>
          <a:p>
            <a:r>
              <a:t>19.1 | Эдийн засаг, нийгэм, хууль зүйн баталгааг бүрдүүлэх төрийн үүрэг | Эрхийн хэрэгжилтийг төсөв, бодлогоор хангах</a:t>
            </a:r>
          </a:p>
          <a:p/>
          <a:p>
            <a:r>
              <a:t>ЭХ СУРВАЛЖ</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Эндхүү огноо нь баталсан өдөр; сүүлийн нэмэлт, өөрчлөлтийн огноо биш.</a:t>
            </a:r>
          </a:p>
          <a:p/>
          <a:p>
            <a:r>
              <a:t>ЯРИХ ТЕКСТ</a:t>
            </a:r>
          </a:p>
          <a:p>
            <a:r>
              <a:t>Салбарын хууль гэдэг нь тухайн эрхийг бодит харилцаанд хэрхэн хэрэгжүүлэхийг зохицуулсан хууль юм. Жишээ нь, хөдөлмөрийн хууль ажилд авах, ажиллуулах үед ялгаварлахыг хориглодог. Халамжийн хууль дэмжлэгийн төрөл, эрх үүсэх нөхцөлийг тогтооно. Боловсролын болон хөгжлийн бэрхшээлтэй хүний эрхийн хуулиуд боломж, хүртээмжийг хангахад хамаарна. Хуулийн нэрийн дэргэд байгаа огноо нь тухайн хууль батлагдсан өдрийг зааж байна. Тодорхой хэрэгт ашиглах бол хамгийн сүүлийн хүчин төгөлдөр найруулгыг нягтлах шаардлагатай.</a:t>
            </a:r>
          </a:p>
          <a:p/>
          <a:p>
            <a:r>
              <a:t>ДАРААГИЙН СЛАЙДТАЙ ХОЛБОХ ӨГҮҮЛБЭР</a:t>
            </a:r>
          </a:p>
          <a:p>
            <a:r>
              <a:t>Монголын хуулиас гадна олон улсын стандарт бас үйлчилдэг.</a:t>
            </a:r>
          </a:p>
          <a:p/>
          <a:p>
            <a:r>
              <a:t>ДЭЛГЭРЭНГҮЙ МЭДЭЭЛЭЛ</a:t>
            </a:r>
          </a:p>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r>
              <a:t>Хөдөлмөрийн тухай</a:t>
            </a:r>
          </a:p>
          <a:p>
            <a:r>
              <a:t>2021.07.02 | 6 дугаар зүйл: хөдөлмөрт ялгаварлан гадуурхахыг хориглох | Сонгон шалгаруулалт, цалин тэгш үү?</a:t>
            </a:r>
          </a:p>
          <a:p>
            <a:r>
              <a:t>Нийгмийн халамжийн тухай</a:t>
            </a:r>
          </a:p>
          <a:p>
            <a:r>
              <a:t>2012.01.19 | Нийгмийн халамжийн тэтгэвэр, тэтгэмж, үйлчилгээ | Хуулийн шалгуур хангасан хүнд хүрч байна уу?</a:t>
            </a:r>
          </a:p>
          <a:p>
            <a:r>
              <a:t>Боловсролын ерөнхий хууль</a:t>
            </a:r>
          </a:p>
          <a:p>
            <a:r>
              <a:t>2023.07.07 | Боловсролын тэгш боломж, хүртээмжийн зохицуулалт | Төлбөрөөс гаднах саадыг арилгасан уу?</a:t>
            </a:r>
          </a:p>
          <a:p>
            <a:r>
              <a:t>Хөгжлийн бэрхшээлтэй хүний эрхийн тухай</a:t>
            </a:r>
          </a:p>
          <a:p>
            <a:r>
              <a:t>2016.02.05 | Ялгаварлалгүй оролцоо, хүртээмжийн зохицуулалт | Орчин, мэдээлэл, үйлчилгээ хүртээмжтэй юу?</a:t>
            </a:r>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Тунхаглал — нийтлэг стандарт. Гэрээ — оролцогч улсын үүрэг. ТХЗ — бодлогын зорилго.</a:t>
            </a:r>
          </a:p>
          <a:p/>
          <a:p>
            <a:r>
              <a:t>ЯРИХ ТЕКСТ</a:t>
            </a:r>
          </a:p>
          <a:p>
            <a:r>
              <a:t>Энэ хугацааны шугам дээр таван гол үе шатыг харууллаа. 1948 оны Түгээмэл тунхаглал нийтлэг суурь стандартыг тогтоосон. 1966 оны хоёр пакт болон дараагийн конвенцууд нь оролцогч улсуудын гэрээний үүргийг тодорхойлдог. Харин 2015 оны Тогтвортой хөгжлийн зорилгууд нь хөгжлийн бодлогын зорилго юм. Эдгээрийг бүгдийг ижил “хууль” гэж нэрлэхгүй. Мөн эндхүү огноо нь баримт бичгийг баталсан өдөр болохоос Монгол Улс нэгдсэн өдөр биш.</a:t>
            </a:r>
          </a:p>
          <a:p/>
          <a:p>
            <a:r>
              <a:t>ДАРААГИЙН СЛАЙДТАЙ ХОЛБОХ ӨГҮҮЛБЭР</a:t>
            </a:r>
          </a:p>
          <a:p>
            <a:r>
              <a:t>Эхлээд Түгээмэл тунхаглалын энгийн гол санааг харъя.</a:t>
            </a:r>
          </a:p>
          <a:p/>
          <a:p>
            <a:r>
              <a:t>ДЭЛГЭРЭНГҮЙ МЭДЭЭЛЭЛ</a:t>
            </a:r>
          </a:p>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Түгээмэл тунхаглал бол олон улсын гэрээ биш; нийтлэг стандартын суурь юм.</a:t>
            </a:r>
          </a:p>
          <a:p/>
          <a:p>
            <a:r>
              <a:t>ЯРИХ ТЕКСТ</a:t>
            </a:r>
          </a:p>
          <a:p>
            <a:r>
              <a:t>Хүний эрхийн түгээмэл тунхаглалыг 1948 оны арванхоёрдугаар сарын 10-нд баталсан. Үүнийг таван энгийн ойлголтоор санаж болно: тэгш байдал, хамгаалал, хөдөлмөр, амьжиргаа, боловсрол. Ядууралтай холбоо нь тодорхой. Хүнд зөвхөн амьд байх бус, нэр төртэй амьдрах боломж хэрэгтэй. Тунхаглал нь олон улсын гэрээ биш гэдгийг ялгаж ойлгох нь чухал. Дараа нь эдгээр санааг гэрээний үүрэг болгосон пактыг авч үзнэ.</a:t>
            </a:r>
          </a:p>
          <a:p/>
          <a:p>
            <a:r>
              <a:t>ДАРААГИЙН СЛАЙДТАЙ ХОЛБОХ ӨГҮҮЛБЭР</a:t>
            </a:r>
          </a:p>
          <a:p>
            <a:r>
              <a:t>Эдийн засаг, нийгэм, соёлын эрхийн пакт энэ холбоог тодруулдаг.</a:t>
            </a:r>
          </a:p>
          <a:p/>
          <a:p>
            <a:r>
              <a:t>ДЭЛГЭРЭНГҮЙ МЭДЭЭЛЭЛ</a:t>
            </a:r>
          </a:p>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r>
              <a:t>1, 2 | Эрх тэгш байдал; ялгаварлан гадуурхахгүй байх | Бага орлогыг доромжлох үндэслэл болгохгүй</a:t>
            </a:r>
          </a:p>
          <a:p>
            <a:r>
              <a:t>22 | Нийгмийн хамгаалал | Эрсдэлд орсон үед баталгаатай дэмжлэг</a:t>
            </a:r>
          </a:p>
          <a:p>
            <a:r>
              <a:t>23 | Хөдөлмөр; шударга, таатай цалин хөлс | Ажилтай ч ядуурах эрсдэлийг авч үзнэ</a:t>
            </a:r>
          </a:p>
          <a:p>
            <a:r>
              <a:t>25 | Зохистой амьжиргаа; хоол, орон байр, эрүүл мэнд | Амьдралын суурь хэрэгцээг эрхтэй холбох</a:t>
            </a:r>
          </a:p>
          <a:p>
            <a:r>
              <a:t>26 | Боловсрол | Бага шатны боловсрол үнэ төлбөргүй, заавал байх</a:t>
            </a:r>
          </a:p>
          <a:p/>
          <a:p>
            <a:r>
              <a:t>ЭХ СУРВАЛЖ</a:t>
            </a:r>
          </a:p>
          <a:p>
            <a:r>
              <a:t>[UDHR] Хүний эрхийн түгээмэл тунхаглал — 1948.12.10</a:t>
            </a:r>
          </a:p>
          <a:p>
            <a:r>
              <a:t>https://www.ohchr.org/en/human-rights/universal-declaration/translations/mongolian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Төр нөөц боломжоо ашиглан ахиц гаргана. Ялгаварлалгүй байх үүргийг хойшлуулахгүй.</a:t>
            </a:r>
          </a:p>
          <a:p/>
          <a:p>
            <a:r>
              <a:t>ЯРИХ ТЕКСТ</a:t>
            </a:r>
          </a:p>
          <a:p>
            <a:r>
              <a:t>Энэ пактын бүтэн нэр нь Эдийн засаг, нийгэм, соёлын эрхийн тухай олон улсын пакт. 1966 оны арванхоёрдугаар сарын 16-нд баталсан. Төр бүх асуудлыг нэг өдөр шийднэ гэсэн үг биш. Харин байгаа нөөцөө дээд хэмжээгээр ашиглан бодит арга хэмжээ авч, ахиц гаргах үүрэгтэй. Нөөц бага гэдэг шалтгаанаар ялгаварлахыг зөвтгөхгүй. Гол санаа нь эрхийг зөвхөн бичиж тунхаглах бус, төсөв, үйлчилгээ, хүртээмжээр бодит болгох юм.</a:t>
            </a:r>
          </a:p>
          <a:p/>
          <a:p>
            <a:r>
              <a:t>ДАРААГИЙН СЛАЙДТАЙ ХОЛБОХ ӨГҮҮЛБЭР</a:t>
            </a:r>
          </a:p>
          <a:p>
            <a:r>
              <a:t>Гэхдээ нийгмийн эрхээ шаардахад дуу хоолой, шүүхийн хамгаалалт ч хэрэгтэй.</a:t>
            </a:r>
          </a:p>
          <a:p/>
          <a:p>
            <a:r>
              <a:t>ДЭЛГЭРЭНГҮЙ МЭДЭЭЛЭЛ</a:t>
            </a:r>
          </a:p>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r>
              <a:t>2.1; 2.2 | Дэвшилттэй хэрэгжилт; ялгаварлалгүй байдал | Нөөц ба хэрэгжилтийн ахицыг тайлагнах</a:t>
            </a:r>
          </a:p>
          <a:p>
            <a:r>
              <a:t>6; 7 | Хөдөлмөрлөх; шударга, таатай нөхцөл | Аюулгүй ажлын байр, зохистой цалин</a:t>
            </a:r>
          </a:p>
          <a:p>
            <a:r>
              <a:t>9 | Нийгмийн хамгаалал, нийгмийн даатгал | Өндөр нас, ажилгүйдэл, бусад эрсдэлийн хамгаалалт</a:t>
            </a:r>
          </a:p>
          <a:p>
            <a:r>
              <a:t>11 | Зохистой амьжиргаа; өлсгөлөнгөөс ангид байх | Хоол хүнс, хувцас, орон байрны бодлого</a:t>
            </a:r>
          </a:p>
          <a:p>
            <a:r>
              <a:t>12; 13 | Эрүүл мэнд; боловсрол | Хүртээмжтэй анхан шатны тусламж, боловсрол</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Орлого бага байх нь хүний дуу хоолойг үгүйсгэх үндэслэл биш.</a:t>
            </a:r>
          </a:p>
          <a:p/>
          <a:p>
            <a:r>
              <a:t>ЯРИХ ТЕКСТ</a:t>
            </a:r>
          </a:p>
          <a:p>
            <a:r>
              <a:t>Иргэний болон улс төрийн эрхийн тухай олон улсын пакт мөн 1966 оны арванхоёрдугаар сарын 16-нд батлагдсан. Энд тэгш хамгаалалт, шүүхийн өмнөх тэгш байдал, иргэний оролцоог онцолж байна. Үйлчилгээний шийдвэр буруу байвал хүн түүнийгээ хэлж, хянуулж чадах ёстой. Үнэгүй өмгөөллийг бүх маргаанд автоматаар олгохгүй. Пактын 14.3(d) нь эрүүгийн хэрэгт тодорхой нөхцөлтэй үйлчилдэг.</a:t>
            </a:r>
          </a:p>
          <a:p/>
          <a:p>
            <a:r>
              <a:t>ДАРААГИЙН СЛАЙДТАЙ ХОЛБОХ ӨГҮҮЛБЭР</a:t>
            </a:r>
          </a:p>
          <a:p>
            <a:r>
              <a:t>Одоо төрийн үүргийг амархан санах гурван үйлдлээр хураангуйлъя.</a:t>
            </a:r>
          </a:p>
          <a:p/>
          <a:p>
            <a:r>
              <a:t>ДЭЛГЭРЭНГҮЙ МЭДЭЭЛЭЛ</a:t>
            </a:r>
          </a:p>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r>
              <a:t>Хуулийн өмнө тэгш: ICCPR-ийн 26 дугаар зүйл: хүн бүр хуулийн өмнө тэгш; эд хөрөнгө болон бусад байдлаар ялгаварлахгүй, тэгш хамгаалуулах.</a:t>
            </a:r>
          </a:p>
          <a:p>
            <a:r>
              <a:t>Шүүхэд хүрэх боломж: 14.1 — шүүхийн өмнө тэгш байх.</a:t>
            </a:r>
          </a:p>
          <a:p>
            <a:r>
              <a:t>14.3(d) — эрүүгийн хэрэгт шударга ёсны шаардлагаар, төлбөрийн чадваргүй бол үнэ төлбөргүй өмгөөлөл.</a:t>
            </a:r>
          </a:p>
          <a:p>
            <a:r>
              <a:t>Оролцох эрх: 25 дугаар зүйл: иргэд төрийн хэрэгт оролцох, сонгох, сонгогдох боломжтой. Ядуурал нь иргэний дуу хоолойг үгүйсгэх үндэслэл биш.</a:t>
            </a:r>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Энгийнээр: зөрчихгүй → хамгаална → хэрэгжих боломж бүрдүүлнэ.</a:t>
            </a:r>
          </a:p>
          <a:p/>
          <a:p>
            <a:r>
              <a:t>ЯРИХ ТЕКСТ</a:t>
            </a:r>
          </a:p>
          <a:p>
            <a:r>
              <a:t>Эрх зүйн хэллэгээр эдгээрийг хүндэтгэх, хамгаалах, хангах үүрэг гэдэг. Жишээ нь, төр өөрөө хүнийг хууль ёсны хамгаалалтгүйгээр албадан нүүлгэхгүй байх нь хүндэтгэх үүрэг. Ажил олгогчийн ялгаварлалаас хамгаалах нь хамгаалах үүрэг. Харин сургууль, эмнэлэг, нийгмийн хамгаалалд хүрэх бодит нөхцөл бүрдүүлэх нь хангах үүрэг. Эдгээрийг шинэ гурван хууль гэж бус, төрийн үүргийг тайлбарлах хүрээ гэж ойлгоно.</a:t>
            </a:r>
          </a:p>
          <a:p/>
          <a:p>
            <a:r>
              <a:t>ДАРААГИЙН СЛАЙДТАЙ ХОЛБОХ ӨГҮҮЛБЭР</a:t>
            </a:r>
          </a:p>
          <a:p>
            <a:r>
              <a:t>Зарим хүнд хэд хэдэн саад зэрэг тулгардаг.</a:t>
            </a:r>
          </a:p>
          <a:p/>
          <a:p>
            <a:r>
              <a:t>ДЭЛГЭРЭНГҮЙ МЭДЭЭЛЭЛ</a:t>
            </a:r>
          </a:p>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r>
              <a:t>Хүндэтгэх: Төр өөрөө эрхэд үндэслэлгүй халдахгүй. Жишээ: хууль ёсны хамгаалалтгүй албадан нүүлгэхээс зайлсхийх.</a:t>
            </a:r>
          </a:p>
          <a:p>
            <a:r>
              <a:t>Хамгаалах: Гуравдагч этгээдийн зөрчлөөс хамгаална. Жишээ: ажил олгогчийн ялгаварлал, аюултай нөхцөлд хяналт тавих.</a:t>
            </a:r>
          </a:p>
          <a:p>
            <a:r>
              <a:t>Хангах: Хууль, төсөв, үйлчилгээ, хүртээмжийг бүрдүүлнэ. Жишээ: анхан шатны тусламж, нийгмийн хамгаалалд бодит хүрэх боломж.</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Ижил үйлчилгээ үзүүлэхээс гадна тухайн хүний саадыг арилгах хэрэгтэй.</a:t>
            </a:r>
          </a:p>
          <a:p/>
          <a:p>
            <a:r>
              <a:t>ЯРИХ ТЕКСТ</a:t>
            </a:r>
          </a:p>
          <a:p>
            <a:r>
              <a:t>Бага орлого дээр хүүхэд байх, асаргааны ачаалал, хөгжлийн бэрхшээл эсвэл хол байршил давхцаж болно. Жишээ нь, хүртээмжгүй барилгатай үйлчилгээ хүн бүрд нээлттэй гэж зарласан ч тэргэнцэртэй хүн орж чадахгүй байж болно. Тэгш боломж гэдэг нь ийм саадыг арилгахыг шаарддаг. Эдгээр бүлгийн бүх хүн ядуу гэсэн үг биш. Тус бүрийн бодит хэрэгцээ, сонголт, оролцоог харгалзана.</a:t>
            </a:r>
          </a:p>
          <a:p/>
          <a:p>
            <a:r>
              <a:t>ДАРААГИЙН СЛАЙДТАЙ ХОЛБОХ ӨГҮҮЛБЭР</a:t>
            </a:r>
          </a:p>
          <a:p>
            <a:r>
              <a:t>Эдгээр зарчим өдөр тутмын амьдралд хэрхэн харагдахыг харъя.</a:t>
            </a:r>
          </a:p>
          <a:p/>
          <a:p>
            <a:r>
              <a:t>ДЭЛГЭРЭНГҮЙ МЭДЭЭЛЭЛ</a:t>
            </a:r>
          </a:p>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r>
              <a:t>CRC • 1989.11.20 | 2 — ялгаварлахгүй; 3 — дээд ашиг сонирхол; 26, 27 — хамгаалал, амьжиргаа | Өрхийн ядуурлаас шалтгаалсан хүүхдийн хомсдол</a:t>
            </a:r>
          </a:p>
          <a:p>
            <a:r>
              <a:t>CEDAW • 1979.12.18 | 11 — хөдөлмөр; 12 — эрүүл мэнд; 14 — хөдөөгийн эмэгтэйчүүд | Асаргааны ачаалал, ажлын ба үйлчилгээний тэгш бус байдал</a:t>
            </a:r>
          </a:p>
          <a:p>
            <a:r>
              <a:t>CRPD • 2006.12.13 | 9 — хүртээмж; 24 — боловсрол; 27 — ажил; 28 — амьжиргаа, хамгаалал | Биеийн орчин, мэдээлэл, ажилд оролцох саад</a:t>
            </a:r>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ажилтай ч тогтворгүй орлого нь өрхийг эрсдэлтэй байлгаж болно.</a:t>
            </a:r>
          </a:p>
          <a:p/>
          <a:p>
            <a:r>
              <a:t>ЯРИХ ТЕКСТ</a:t>
            </a:r>
          </a:p>
          <a:p>
            <a:r>
              <a:t>Ажилтай хүнийг заавал ядууралгүй гэж үзэж болохгүй. Цалин бага, орлого тогтворгүй, ажил аюултай эсвэл даатгал тасалдсан бол эрсдэл хэвээр. Тиймээс зөвхөн ажлын байрны тоо биш, чанарыг харна. Хөдөлмөрийн тухай хуулийн 6 дугаар зүйл ялгаварлахыг хориглодог. Бодит маргаанд гэрээ, ажлын цагийн бүртгэл, цалин болон даатгалын мэдээлэл чухал баримт болно. Энэ слайд дахь асуултууд нь эрсдэлийг таних асуулт, давтамжийг тогтоосон судалгааны тоо биш.</a:t>
            </a:r>
          </a:p>
          <a:p/>
          <a:p>
            <a:r>
              <a:t>ДАРААГИЙН СЛАЙДТАЙ ХОЛБОХ ӨГҮҮЛБЭР</a:t>
            </a:r>
          </a:p>
          <a:p>
            <a:r>
              <a:t>Боловсролын хувьд ч харагддаггүй зардал бий.</a:t>
            </a:r>
          </a:p>
          <a:p/>
          <a:p>
            <a:r>
              <a:t>ДЭЛГЭРЭНГҮЙ МЭДЭЭЛЭЛ</a:t>
            </a:r>
          </a:p>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r>
              <a:t>Эрхийн тулгуур: Үндсэн хууль • 1992.01.13: 16.4.</a:t>
            </a:r>
          </a:p>
          <a:p>
            <a:r>
              <a:t>Хөдөлмөрийн тухай хууль • 2021.07.02: 6 дугаар зүйл.</a:t>
            </a:r>
          </a:p>
          <a:p>
            <a:r>
              <a:t>ICESCR • 1966.12.16: 6, 7 дугаар зүйл.</a:t>
            </a:r>
          </a:p>
          <a:p>
            <a:r>
              <a:t>Эрсдэлийн цэг: Бага цалин, тогтворгүй цаг, албан бус ажил; хөдөлмөрийн аюулгүй байдал; даатгалын хамрагдалтын тасалдал.</a:t>
            </a:r>
          </a:p>
          <a:p>
            <a:r>
              <a:t>Шалгах баримт: Гэрээ, ажлын цагийн бүртгэл, цалин олголт, даатгалын мэдээлэл. Хууль ёсны шаардлагыг ажилтанд ойлгомжтой тайлбарлах.</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сургалтын төлбөргүй ч унааны зардлаас болж ирц тасалдаж болно.</a:t>
            </a:r>
          </a:p>
          <a:p/>
          <a:p>
            <a:r>
              <a:t>ЯРИХ ТЕКСТ</a:t>
            </a:r>
          </a:p>
          <a:p>
            <a:r>
              <a:t>Сургууль төлбөргүй байна гэдэг нь сурахад ямар ч зардал гарахгүй гэсэн үг биш. Унаа, дотуур байр, хэрэгсэл, интернет зэрэг нэмэлт зардал бий. Бага орлоготой өрхөд эдгээр нь бодит саад болж болно. Үндсэн хуулийн 16.7 дахь боловсролын эрхийг хэрэгжүүлэхдээ зөвхөн элсүүлсэн хүний тоо бус, тогтмол суралцаж, төгсөж чадаж байгаа эсэхийг харна. Жишээг тайлбарын зорилгоор хэрэглэж байгаа бөгөөд нэртэй бодит кейс гэж танилцуулахгүй.</a:t>
            </a:r>
          </a:p>
          <a:p/>
          <a:p>
            <a:r>
              <a:t>ДАРААГИЙН СЛАЙДТАЙ ХОЛБОХ ӨГҮҮЛБЭР</a:t>
            </a:r>
          </a:p>
          <a:p>
            <a:r>
              <a:t>Эмнэлгийн үйлчилгээний хүртээмжийг мөн адил бодитоор шалгана.</a:t>
            </a:r>
          </a:p>
          <a:p/>
          <a:p>
            <a:r>
              <a:t>ДЭЛГЭРЭНГҮЙ МЭДЭЭЛЭЛ</a:t>
            </a:r>
          </a:p>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r>
              <a:t>Баталгаа: Үндсэн хууль • 1992.01.13: 16.7.</a:t>
            </a:r>
          </a:p>
          <a:p>
            <a:r>
              <a:t>Боловсролын ерөнхий хууль • 2023.07.07.</a:t>
            </a:r>
          </a:p>
          <a:p>
            <a:r>
              <a:t>CRC • 1989.11.20: 28 дугаар зүйл.</a:t>
            </a:r>
          </a:p>
          <a:p>
            <a:r>
              <a:t>Далд саад: Тээвэр, хэрэгсэл, дотуур байр, интернет, төхөөрөмжийн зардал; асаргаа, хөдөлмөрийн ачаалал.</a:t>
            </a:r>
          </a:p>
          <a:p>
            <a:r>
              <a:t>Хэрэгжүүлэх арга: Сургуулиас завсардах эрсдэлийг эрт илрүүлэх; хэрэгцээнд нийцсэн дэмжлэг; хүртээмжтэй сургалтын орчин.</a:t>
            </a:r>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Дөрвөн асуулт: байгаа юу → очих уу → төлөх үү → чанартай юу?</a:t>
            </a:r>
          </a:p>
          <a:p/>
          <a:p>
            <a:r>
              <a:t>ЯРИХ ТЕКСТ</a:t>
            </a:r>
          </a:p>
          <a:p>
            <a:r>
              <a:t>Эмнэлэг байгаа ч хүн түүнд хүрч чадахгүй бол эрхийн бодит боломж хангагдаагүй байж болно. Үүнийг дөрвөн асуултаар шалгана. Нэгдүгээрт, хэрэгтэй үйлчилгээ байгаа юу. Хоёрдугаарт, тийшээ очих боломжтой юу. Гуравдугаарт, төлбөр болон очих зардлыг даах уу. Дөрөвдүгээрт, чанартай тусламж авч чадах уу. Энэ дөрөв нь тайлбарлахад ашиглах энгийн хүрээ бөгөөд хуулийн тусдаа дөрвөн шинэ заалт биш.</a:t>
            </a:r>
          </a:p>
          <a:p/>
          <a:p>
            <a:r>
              <a:t>ДАРААГИЙН СЛАЙДТАЙ ХОЛБОХ ӨГҮҮЛБЭР</a:t>
            </a:r>
          </a:p>
          <a:p>
            <a:r>
              <a:t>Халамжийн хувьд хамгийн гол асуулт нь дэмжлэг хэрэгтэй хүндээ хүрч байна уу гэдэг.</a:t>
            </a:r>
          </a:p>
          <a:p/>
          <a:p>
            <a:r>
              <a:t>ДЭЛГЭРЭНГҮЙ МЭДЭЭЛЭЛ</a:t>
            </a:r>
          </a:p>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r>
              <a:t>Эрүүл мэнд: Үндсэн хууль • 1992.01.13: 16.6.</a:t>
            </a:r>
          </a:p>
          <a:p>
            <a:r>
              <a:t>ICESCR • 1966.12.16: 12 дугаар зүйл.</a:t>
            </a:r>
          </a:p>
          <a:p>
            <a:r>
              <a:t>Тусламж авах зардал, зай, хугацааг хамтад нь үнэлнэ.</a:t>
            </a:r>
          </a:p>
          <a:p>
            <a:r>
              <a:t>Орчин, орон байр: Үндсэн хууль: 16.2 — эрүүл, аюулгүй орчин.</a:t>
            </a:r>
          </a:p>
          <a:p>
            <a:r>
              <a:t>ICESCR: 11 — зохистой амьжиргаа, орон байр.</a:t>
            </a:r>
          </a:p>
          <a:p>
            <a:r>
              <a:t>Ус, дулаан, ариун цэвэр, аюулгүй байдлыг харна.</a:t>
            </a:r>
          </a:p>
          <a:p>
            <a:r>
              <a:t>Хүртээмж: Үйлчилгээ байгаа эсэх → очиж чадах эсэх → төлж чадах эсэх → чанартай эсэх.</a:t>
            </a:r>
          </a:p>
          <a:p>
            <a:r>
              <a:t>Бүртгэл, хөгжлийн бэрхшээл, тээврийн саадыг илрүүлнэ.</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Шалгуур ойлгомжтой, мэдээллээ засуулах, шийдвэрээ хянуулах боломжтой байна.</a:t>
            </a:r>
          </a:p>
          <a:p/>
          <a:p>
            <a:r>
              <a:t>ЯРИХ ТЕКСТ</a:t>
            </a:r>
          </a:p>
          <a:p>
            <a:r>
              <a:t>Халамжийн системд хоёр өөр алдаа гарч болно. Эхнийх нь авах ёстой хүн үлдэх, үүнийг хасагдлын алдаа гэнэ. Хоёр дахь нь шалгуур хангахгүй хүн хамрагдах, үүнийг хамрагдлын алдаа гэнэ. Эдгээрийг хооронд нь ялгаж хэлэхэд хангалттай. Шийдэл нь шалгуурыг ойлгомжтой болгох, буруу мэдээллээ засуулах, татгалзсан шалтгааныг мэдэх, гомдлоо хянуулах боломж юм. Халамжийн бүх төрөлд ижил шалгуур үйлчлэхгүй.</a:t>
            </a:r>
          </a:p>
          <a:p/>
          <a:p>
            <a:r>
              <a:t>ДАРААГИЙН СЛАЙДТАЙ ХОЛБОХ ӨГҮҮЛБЭР</a:t>
            </a:r>
          </a:p>
          <a:p>
            <a:r>
              <a:t>Одоо эрхийн ийм асуудал бодит шүүхэд хэрхэн шийдэгдсэнийг харъя.</a:t>
            </a:r>
          </a:p>
          <a:p/>
          <a:p>
            <a:r>
              <a:t>ДЭЛГЭРЭНГҮЙ МЭДЭЭЛЭЛ</a:t>
            </a:r>
          </a:p>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r>
              <a:t>Хуулийн үндэс: Үндсэн хууль • 1992.01.13: 16.5.</a:t>
            </a:r>
          </a:p>
          <a:p>
            <a:r>
              <a:t>Нийгмийн халамжийн тухай хууль • 2012.01.19.</a:t>
            </a:r>
          </a:p>
          <a:p>
            <a:r>
              <a:t>ICESCR • 1966.12.16: 9 дүгээр зүйл.</a:t>
            </a:r>
          </a:p>
          <a:p>
            <a:r>
              <a:t>Хоёр төрлийн алдаа: Хасагдлын алдаа: шаардлага хангасан хүн дэмжлэгээс үлдэх.</a:t>
            </a:r>
          </a:p>
          <a:p>
            <a:r>
              <a:t>Хамрагдлын алдаа: шаардлага хангахгүй хүн хамрагдах.</a:t>
            </a:r>
          </a:p>
          <a:p>
            <a:r>
              <a:t>Сайн ажиллагаа: Ойлгомжтой шалгуур; мэдээллээ засуулах боломж; үндэслэл бүхий шийдвэр; гомдол гаргах хүртээмжтэй суваг.</a:t>
            </a:r>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Бодлого хамгийн яаралтай хэрэгцээтэй хүмүүсийг орхиж болохгүй.</a:t>
            </a:r>
          </a:p>
          <a:p/>
          <a:p>
            <a:r>
              <a:t>ЯРИХ ТЕКСТ</a:t>
            </a:r>
          </a:p>
          <a:p>
            <a:r>
              <a:t>Энэ бол Өмнөд Африкийн Grootboom хэрэг. Үндсэн хуулийн шүүх 2000 оны аравдугаар сарын 4-нд шийдвэрлэсэн. Асуудал нь урт хугацааны орон сууцны хөтөлбөр байвч хамгийн хүнд нөхцөлтэй хүмүүсийн яаралтай хэрэгцээг орхисон явдал. Шүүх бодлого ийм хүмүүсийн хэрэгцээг бодитой тусгах ёстой гэж үзсэн. Хүн бүрд шууд байшин олгох шийдвэр гаргаагүй. Монголд авах санаа нь орон сууцны урт хугацааны бодлогын зэрэгцээ түр байр, ус, ариун цэвэр зэрэг яаралтай хэрэгцээг шийдэх юм.</a:t>
            </a:r>
          </a:p>
          <a:p/>
          <a:p>
            <a:r>
              <a:t>ДАРААГИЙН СЛАЙДТАЙ ХОЛБОХ ӨГҮҮЛБЭР</a:t>
            </a:r>
          </a:p>
          <a:p>
            <a:r>
              <a:t>Дараагийн кейс орон байр бус, эмчилгээний хүртээмжийн тухай.</a:t>
            </a:r>
          </a:p>
          <a:p/>
          <a:p>
            <a:r>
              <a:t>ДЭЛГЭРЭНГҮЙ МЭДЭЭЛЭЛ</a:t>
            </a:r>
          </a:p>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r>
              <a:t>Орон байргүй, хүнд нөхцөлд амьдарч байсан иргэд төрийн орон сууцны хөтөлбөр яаралтай хэрэгцээг нь хангахгүй байгааг шүүхэд маргасан.</a:t>
            </a:r>
          </a:p>
          <a:p>
            <a:r>
              <a:t>Өмнөд Африкийн Үндсэн хууль • 1996.12.10 (гарын үсэг зурсан); 26 дугаар зүйл. Шүүх бодлого нь онцгой гачигдалтай хүмүүсийн яаралтай хэрэгцээг бодитой тусгах ёстой гэж үзсэн.</a:t>
            </a:r>
          </a:p>
          <a:p>
            <a:r>
              <a:t>Монголд авах санаа: урт хугацааны орон сууцны бодлогын хажуугаар түр хамгаалах байр, ус, ариун цэвэр зэрэг яаралтай хэрэгцээг тусад нь шийдэх.</a:t>
            </a:r>
          </a:p>
          <a:p/>
          <a:p>
            <a:r>
              <a:t>ЭХ СУРВАЛЖ</a:t>
            </a:r>
          </a:p>
          <a:p>
            <a:r>
              <a:t>[GROOT] Government of the Republic of South Africa v Grootboom [2000] ZACC 19 — 2000.10.04</a:t>
            </a:r>
          </a:p>
          <a:p>
            <a:r>
              <a:t>https://www.saflii.org/za/cases/ZACC/2000/19.html</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Эмчилгээний хүртээмжийг хязгаарлах бол бодит үндэслэл шаардлагатай.</a:t>
            </a:r>
          </a:p>
          <a:p/>
          <a:p>
            <a:r>
              <a:t>ЯРИХ ТЕКСТ</a:t>
            </a:r>
          </a:p>
          <a:p>
            <a:r>
              <a:t>Treatment Action Campaign хэрэгт эхээс хүүхдэд ХДХВ дамжихаас сэргийлэх невирапин эмийн хүртээмжийг маргасан. Тухайн бодлого эмийг зөвхөн сонгосон туршилтын цэгүүдээр хязгаарлаж байв. Өмнөд Африкийн Үндсэн хуулийн шүүх 2002 оны долоодугаар сарын 5-нд эмнэлгийн шаардлага хангасан газруудад хэрэглэхэд саад болсон хязгаарлалтыг арилгахыг даалгасан. Гол сургамж нь үйлчилгээний хязгаарлалт үндэслэлтэй байх ёстой. Үүнийг бүх эмийг хязгааргүй, үнэгүй олгох тухай шийдвэр гэж хэтрүүлж болохгүй.</a:t>
            </a:r>
          </a:p>
          <a:p/>
          <a:p>
            <a:r>
              <a:t>ДАРААГИЙН СЛАЙДТАЙ ХОЛБОХ ӨГҮҮЛБЭР</a:t>
            </a:r>
          </a:p>
          <a:p>
            <a:r>
              <a:t>Герман дахь дараагийн кейс тэтгэмжийн тооцооллыг хөндөнө.</a:t>
            </a:r>
          </a:p>
          <a:p/>
          <a:p>
            <a:r>
              <a:t>ДЭЛГЭРЭНГҮЙ МЭДЭЭЛЭЛ</a:t>
            </a:r>
          </a:p>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r>
              <a:t>Невирапин эмийг улсын эрүүл мэндийн салбарт зөвхөн сонгосон туршилтын цэгүүдээр хязгаарласан бодлого нь бусад эмнэлгийн эх, хүүхдийн хүртээмжийг хааж байв.</a:t>
            </a:r>
          </a:p>
          <a:p>
            <a:r>
              <a:t>Өмнөд Африкийн Үндсэн хууль • 1996.12.10 (гарын үсэг зурсан); 27 дугаар зүйл. Шүүх эмнэлгийн шаардлага хангасан газруудад хэрэглэхэд саад болсон хязгаарлалтыг арилгахыг даалгасан.</a:t>
            </a:r>
          </a:p>
          <a:p>
            <a:r>
              <a:t>Монголд авах санаа: бодлогын хязгаарлалт нь нотолгоонд суурилсан уу, орлогогүй иргэдэд ямар бодит нөлөө үзүүлж байна вэ гэдгийг хянах.</a:t>
            </a:r>
          </a:p>
          <a:p/>
          <a:p>
            <a:r>
              <a:t>ЭХ СУРВАЛЖ</a:t>
            </a:r>
          </a:p>
          <a:p>
            <a:r>
              <a:t>[TAC] Minister of Health v Treatment Action Campaign (No 2) [2002] ZACC 15 — 2002.07.05</a:t>
            </a:r>
          </a:p>
          <a:p>
            <a:r>
              <a:t>https://www.saflii.org/za/cases/ZACC/2002/15.html</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Дэмжлэгийн хэмжээ бодит хэрэгцээ, ил тод тооцоонд тулгуурлана.</a:t>
            </a:r>
          </a:p>
          <a:p/>
          <a:p>
            <a:r>
              <a:t>ЯРИХ ТЕКСТ</a:t>
            </a:r>
          </a:p>
          <a:p>
            <a:r>
              <a:t>Германы Холбооны Үндсэн хуулийн шүүх 2010 оны хоёрдугаар сарын 9-нд Hartz IV тэтгэмжийн тооцоололтой холбоотой шийдвэр гаргасан. Ялангуяа хүүхдийн хэрэгцээг хэрхэн тооцсон нь чухал асуудал байв. Шүүх хүний нэр төр болон нийгмийн төрийн зарчимд тулгуурлан наад захын амьжиргааны баталгааг тайлбарласан. Гол санаа нь тоо зарлахад биш, тэр дүн бодит хэрэгцээнд нийцэж байгааг ил тод аргачлалаар тайлбарлахад оршино. Энэ нь Монголд шууд үйлчлэх прецедент биш.</a:t>
            </a:r>
          </a:p>
          <a:p/>
          <a:p>
            <a:r>
              <a:t>ДАРААГИЙН СЛАЙДТАЙ ХОЛБОХ ӨГҮҮЛБЭР</a:t>
            </a:r>
          </a:p>
          <a:p>
            <a:r>
              <a:t>Эдгээрийг бусад орны бодлоготой нэг хүснэгтэд харьцуулъя.</a:t>
            </a:r>
          </a:p>
          <a:p/>
          <a:p>
            <a:r>
              <a:t>ДЭЛГЭРЭНГҮЙ МЭДЭЭЛЭЛ</a:t>
            </a:r>
          </a:p>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r>
              <a:t>Hartz IV тогтолцооны зарим суурь тэтгэмж, ялангуяа хүүхдийн хэрэгцээний тооцоолол нь ил тод, бодит үндэслэлтэй эсэх талаар маргасан.</a:t>
            </a:r>
          </a:p>
          <a:p>
            <a:r>
              <a:t>Германы Үндсэн хууль • 1949.05.23; 1(1) ба 20(1). Хүний нэр төр ба нийгмийн төрийн зарчмаас амьжиргааны наад захын баталгааг тайлбарласан.</a:t>
            </a:r>
          </a:p>
          <a:p>
            <a:r>
              <a:t>Монголд авах санаа: тэтгэмжийн хэмжээг зөвхөн улс төрийн сонголтоор бус бодит хэрэгцээ, ойлгомжтой аргачлал, тогтмол шинэчлэлээр үндэслэх.</a:t>
            </a:r>
          </a:p>
          <a:p/>
          <a:p>
            <a:r>
              <a:t>ЭХ СУРВАЛЖ</a:t>
            </a:r>
          </a:p>
          <a:p>
            <a:r>
              <a:t>[GER] BVerfG, 1 BvL 1/09, 1 BvL 3/09, 1 BvL 4/09 — 2010.02.09, амьжиргааны доод баталгаа</a:t>
            </a:r>
          </a:p>
          <a:p>
            <a:r>
              <a:t>https://www.bundesverfassungsgericht.de</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Энэ бол бодлогын харьцуулалт; улс орнуудын чансаа биш.</a:t>
            </a:r>
          </a:p>
          <a:p/>
          <a:p>
            <a:r>
              <a:t>ЯРИХ ТЕКСТ</a:t>
            </a:r>
          </a:p>
          <a:p>
            <a:r>
              <a:t>Энэ хүснэгтээс гурван гол ялгааг харж болно. Өмнөд Африк бодлого хэнийг орхиж байгааг шүүхээр хянасан. Герман мөнгөн дэмжлэгийн хэмжээг бодитой тооцохыг шаардсан. Финланд, Бразилын жишээ нь орлогын дэмжлэгийг хэрхэн загварчлах, үр дүнг хэрхэн үнэлэхийг харуулна. Монгол эдгээрийг мөнгөн дүнгээр шууд хуулбарлах бус, хүртээмж, үндэслэл, хяналт гэсэн зарчмаар ашиглаж болно. Улсуудын төсөв, хүн ам, институц өөр гэдгийг санана.</a:t>
            </a:r>
          </a:p>
          <a:p/>
          <a:p>
            <a:r>
              <a:t>ДАРААГИЙН СЛАЙДТАЙ ХОЛБОХ ӨГҮҮЛБЭР</a:t>
            </a:r>
          </a:p>
          <a:p>
            <a:r>
              <a:t>Финландын туршилтыг хоёр тоогоор эхэлж тайлбарлая.</a:t>
            </a:r>
          </a:p>
          <a:p/>
          <a:p>
            <a:r>
              <a:t>ДЭЛГЭРЭНГҮЙ МЭДЭЭЛЭЛ</a:t>
            </a:r>
          </a:p>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r>
              <a:t>Монгол • Үндсэн хууль 1992.01.13 | Үндсэн эрх + хуульд заасан халамж, үйлчилгээ | Шалгуур ба бодит хүртээмжийг уялдуулах</a:t>
            </a:r>
          </a:p>
          <a:p>
            <a:r>
              <a:t>Өмнөд Африк • 1996.12.10</a:t>
            </a:r>
          </a:p>
          <a:p>
            <a:r>
              <a:t>(гарын үсэг зурсан) | Нийгмийн эрхийн хэрэгжилтэд шүүхийн хяналт | Бодлого гачигдалтай хүмүүсийг орхисон эсэх</a:t>
            </a:r>
          </a:p>
          <a:p>
            <a:r>
              <a:t>Герман • 1949.05.23 | Нэр төрд нийцэх амьжиргааны доод баталгаа | Тэтгэмжийн тооцоолол үндэслэлтэй байх</a:t>
            </a:r>
          </a:p>
          <a:p>
            <a:r>
              <a:t>Финланд • 2017–2018 туршилт | Нөхцөл багатай тогтмол мөнгөн дэмжлэг | Туршилтын үр дүнг бүх хүн амд шууд дүгнэхгүй</a:t>
            </a:r>
          </a:p>
          <a:p>
            <a:r>
              <a:t>Бразил • хууль 2023.06.19 | Bolsa Família: зорилтот орлогын дэмжлэг | Боловсрол, эрүүл мэндийн үйлчилгээтэй холбох</a:t>
            </a:r>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Энэ нь бүх хүн амыг хамарсан байнгын суурь орлого биш, туршилт байсан.</a:t>
            </a:r>
          </a:p>
          <a:p/>
          <a:p>
            <a:r>
              <a:t>ЯРИХ ТЕКСТ</a:t>
            </a:r>
          </a:p>
          <a:p>
            <a:r>
              <a:t>Финландын 2017–2018 оны туршилтад 2,000 ажилгүй хүн сар бүр 560 евро авчээ. Дэмжлэгийг ажилд орсноор автоматаар зогсоохгүй байхаар зохион байгуулсан. Kela-ийн 2020 оны тайланд сайн сайхан байдал, эдийн засгийн аюулгүй байдлын үнэлгээ илүү сайн байсныг мэдээлсэн. Харин ажил эрхлэлтийн нөлөө хязгаарлагдмал, бусад бодлогын өөрчлөлтөөс ялган тайлбарлах шаардлагатай. Бүх эерэг ялгааг зөвхөн мөнгөний шалтгаант нөлөө гэж хэлэхгүй. Хамгийн чухал нь мөнгөн дэмжлэгийг олон үзүүлэлтээр үнэлэх юм.</a:t>
            </a:r>
          </a:p>
          <a:p/>
          <a:p>
            <a:r>
              <a:t>ДАРААГИЙН СЛАЙДТАЙ ХОЛБОХ ӨГҮҮЛБЭР</a:t>
            </a:r>
          </a:p>
          <a:p>
            <a:r>
              <a:t>Бразил орлогын дэмжлэгийг үйлчилгээтэй холбосон өөр жишээтэй.</a:t>
            </a:r>
          </a:p>
          <a:p/>
          <a:p>
            <a:r>
              <a:t>ДЭЛГЭРЭНГҮЙ МЭДЭЭЛЭЛ</a:t>
            </a:r>
          </a:p>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r>
              <a:t>Загвар • 2017–2018: 2,000 ажилгүй хүн; сар бүр €560. Туршилтын мөнгө нь ажилд орох эсэхээс хамааран зогсохгүй байхаар загварчилсан.</a:t>
            </a:r>
          </a:p>
          <a:p>
            <a:r>
              <a:t>Юуг ажигласан бэ?: Kela-ийн 2020 оны тайланд амьдралын сэтгэл ханамж, эдийн засгийн аюулгүй байдлын үнэлгээ илүү сайн байсныг мэдээлсэн.</a:t>
            </a:r>
          </a:p>
          <a:p>
            <a:r>
              <a:t>Хязгаарлалт: Ажил эрхлэлтийн нөлөө хязгаарлагдмал; хоёр дахь жилд бусад бодлогын өөрчлөлт нөлөөлсөн. Судалгааны хариу өгөх ялгааг ч харгалзана.</a:t>
            </a:r>
          </a:p>
          <a:p/>
          <a:p>
            <a:r>
              <a:t>ЭХ СУРВАЛЖ</a:t>
            </a:r>
          </a:p>
          <a:p>
            <a:r>
              <a:t>[FIN] Kela: Финландын суурь орлогын туршилт, 2017–2018; эцсийн үр дүн 2020</a:t>
            </a:r>
          </a:p>
          <a:p>
            <a:r>
              <a:t>https://www.kela.fi/basic-income-experiment</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Сургамж: тэтгэмж ба үйлчилгээ хоёр бодитоор уялдах ёстой.</a:t>
            </a:r>
          </a:p>
          <a:p/>
          <a:p>
            <a:r>
              <a:t>ЯРИХ ТЕКСТ</a:t>
            </a:r>
          </a:p>
          <a:p>
            <a:r>
              <a:t>Бразилын Bolsa Família нь бага орлоготой өрхөд дэмжлэг олгож, боловсрол, эрүүл мэндийн үйлчилгээтэй холбоотой нөхцөл ашигладаг. Анхны хөтөлбөрийн хууль 2004 оны нэгдүгээр сарын 9-нд, шинэ хууль 2023 оны зургадугаар сарын 19-нд батлагдсан. Монголд авах гол санаа нь үйлчилгээтэй уялдуулах боловч нэг чухал нөхцөл бий. Сургууль, эмнэлэг нь тухайн өрхөд хүртээмжгүй байвал зөвхөн өрхийг буруутгаж болохгүй. Үйлчилгээний боломжийг хамтад нь хангах хэрэгтэй.</a:t>
            </a:r>
          </a:p>
          <a:p/>
          <a:p>
            <a:r>
              <a:t>ДАРААГИЙН СЛАЙДТАЙ ХОЛБОХ ӨГҮҮЛБЭР</a:t>
            </a:r>
          </a:p>
          <a:p>
            <a:r>
              <a:t>Одоо эдгээр жишээг Монголд хэрэгжүүлэх гурван чиглэл болгон нэгтгэе.</a:t>
            </a:r>
          </a:p>
          <a:p/>
          <a:p>
            <a:r>
              <a:t>ДЭЛГЭРЭНГҮЙ МЭДЭЭЛЭЛ</a:t>
            </a:r>
          </a:p>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r>
              <a:t>Эрх зүйн огноо: Анхны хөтөлбөрийн хууль: №10.836 • 2004.01.09.</a:t>
            </a:r>
          </a:p>
          <a:p>
            <a:r>
              <a:t>Шинэ хууль: №14.601 • 2023.06.19.</a:t>
            </a:r>
          </a:p>
          <a:p>
            <a:r>
              <a:t>Бодлогын механизм: Бага орлоготой өрхөд мөнгөн дэмжлэг олгож, хүүхдийн боловсрол, эрүүл мэндийн хяналттай холбоотой нөхцөлүүдийг ашигладаг.</a:t>
            </a:r>
          </a:p>
          <a:p>
            <a:r>
              <a:t>Эрхийн шүүлтүүр: Сургууль, эмнэлэг нь өөрөө хүртээмжгүй бол өрхийг дангаар буруутгаж болохгүй. Бүртгэл шинэчлэх, тайлбар авах, гомдол гаргах боломж чухал.</a:t>
            </a:r>
          </a:p>
          <a:p/>
          <a:p>
            <a:r>
              <a:t>ЭХ СУРВАЛЖ</a:t>
            </a:r>
          </a:p>
          <a:p>
            <a:r>
              <a:t>[BRA] Бразил: Lei nº 10.836 — 2004.01.09; Lei nº 14.601 — 2023.06.19</a:t>
            </a:r>
          </a:p>
          <a:p>
            <a:r>
              <a:t>https://www.planalto.gov.br/ccivil_03/_ato2023-2026/2023/lei/l14601.htm</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Хэмжих зүйл: үйлчилгээ авах хугацаа, хамрагдалт, шийдвэрлэсэн гомдол.</a:t>
            </a:r>
          </a:p>
          <a:p/>
          <a:p>
            <a:r>
              <a:t>ЯРИХ ТЕКСТ</a:t>
            </a:r>
          </a:p>
          <a:p>
            <a:r>
              <a:t>Бодлогын саналуудаа гурван чиглэлээр нэгтгэлээ. Нэгдүгээрт, үйлчилгээнд очиход тулгарч буй саадыг бууруулах. Хоёрдугаарт, орлогын эрсдэлд тохирсон дэмжлэг, ажиллах боломжийг нэмэгдүүлэх. Гуравдугаарт, шийдвэр буруу бол хянуулах бодит механизмтай байх. Үр дүнг зөвхөн зарцуулсан мөнгөөр биш, иргэний хүлээсэн хугацаа, хамрагдалт, шийдвэрлэсэн гомдлоор хэмжинэ. Эдгээр нь илтгэлийн санал болохоос бүгд одоогийн хуульд яг ийм байдлаар заасан гэсэн үг биш.</a:t>
            </a:r>
          </a:p>
          <a:p/>
          <a:p>
            <a:r>
              <a:t>ДАРААГИЙН СЛАЙДТАЙ ХОЛБОХ ӨГҮҮЛБЭР</a:t>
            </a:r>
          </a:p>
          <a:p>
            <a:r>
              <a:t>Хувь хүн эрхээ хамгаалахдаа юунаас эхлэхийг дараах дарааллаар харъя.</a:t>
            </a:r>
          </a:p>
          <a:p/>
          <a:p>
            <a:r>
              <a:t>ДЭЛГЭРЭНГҮЙ МЭДЭЭЛЭЛ</a:t>
            </a:r>
          </a:p>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r>
              <a:t>1. Нэг цэгийн хүртээмж | Халамж, бүртгэл, хууль зүйн мэдээллийг холбох | Хүсэлт шийдвэрлэх хугацаа; давтан очилт</a:t>
            </a:r>
          </a:p>
          <a:p>
            <a:r>
              <a:t>2. Гомдлын бодит механизм | Шийдвэрийн үндэслэл, хянуулах сувгийг мэдээлэх | Хугацаандаа шийдсэн гомдлын хувь</a:t>
            </a:r>
          </a:p>
          <a:p>
            <a:r>
              <a:t>3. Суурь үйлчилгээний саад бууруулах | Тээвэр, хүртээмж, сургалтын далд зардлын дэмжлэг | Хичээлийн ирц; үйлчилгээ тасалдсан тохиолдол</a:t>
            </a:r>
          </a:p>
          <a:p>
            <a:r>
              <a:t>4. Орлогын хамгаалал | Эрсдэлд тохирсон дэмжлэг, хөдөлмөрийн зуучлал | Хамрагдалт; эрх бүхий өрхийн хасагдлын алдаа</a:t>
            </a:r>
          </a:p>
          <a:p>
            <a:r>
              <a:t>5. Төсвийн үндэслэл, оролцоо | Хэрэгцээнд тулгуурласан тооцоо, иргэдийн санал | Нийтэлсэн аргачлал; хэрэгжилтийн тайлан</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Гомдлын төрөл бүрийн журам, хугацаа өөр. Мэргэжлийн зөвлөгөөг эрт авна.</a:t>
            </a:r>
          </a:p>
          <a:p/>
          <a:p>
            <a:r>
              <a:t>ЯРИХ ТЕКСТ</a:t>
            </a:r>
          </a:p>
          <a:p>
            <a:r>
              <a:t>Төсөөлье: хүн үйлчилгээ хүсээд татгалзсан хариу авлаа. Эхлээд хүсэлт, хариу, огноогоо хадгална. Дараа нь ямар шалгуураар татгалзсаныг асууна. Шийдвэр буруу гэж үзвэл эрх бүхий байгууллага болон хууль зүйн зөвлөгөөгөөр хянуулах боломжоо тодруулна. Шүүхэд хандах шаардлагатай бол харьяалал, хугацааг нягтална. Бүх маргаан заавал ижил дөрвөн алхамтай биш. ХЭҮК-д гомдол гаргасан нь шүүхийн хугацааг автоматаар зогсооно гэж үзэж болохгүй.</a:t>
            </a:r>
          </a:p>
          <a:p/>
          <a:p>
            <a:r>
              <a:t>ДАРААГИЙН СЛАЙДТАЙ ХОЛБОХ ӨГҮҮЛБЭР</a:t>
            </a:r>
          </a:p>
          <a:p>
            <a:r>
              <a:t>Илтгэлийн гол санааг гурван өгүүлбэрээр дүгнэе.</a:t>
            </a:r>
          </a:p>
          <a:p/>
          <a:p>
            <a:r>
              <a:t>ДЭЛГЭРЭНГҮЙ МЭДЭЭЛЭЛ</a:t>
            </a:r>
          </a:p>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p>
            <a:r>
              <a:t>ЭХ СУРВАЛЖ</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Хэлэлцүүлэг: Монголд эхлээд аль саадыг арилгах хэрэгтэй вэ?</a:t>
            </a:r>
          </a:p>
          <a:p/>
          <a:p>
            <a:r>
              <a:t>ЯРИХ ТЕКСТ</a:t>
            </a:r>
          </a:p>
          <a:p>
            <a:r>
              <a:t>Илтгэлийг гурван санаагаар дүгнэе. Нэгдүгээрт, эдийн засгийн байр суурь өөр ч хүний эрх, нэр төр ижил. Хоёрдугаарт, эрхийг хуульд бичихээс гадна сургууль, эмнэлэг, дэмжлэгт бодитоор хүрэх боломж хэрэгтэй. Гуравдугаарт, шийдвэр үндэслэлтэй, алдаа гарвал хянуулах боломжтой байх ёстой. Мөнгөний дэмжлэг, чанартай үйлчилгээ, эрхээ хамгаалах механизм гурав хамтдаа ажиллахад хамгаалалт бодит болно. Та бүхний бодлоор Монголд хамгийн түрүүнд аль саадыг арилгах шаардлагатай вэ?</a:t>
            </a:r>
          </a:p>
          <a:p/>
          <a:p>
            <a:r>
              <a:t>ДАРААГИЙН СЛАЙДТАЙ ХОЛБОХ ӨГҮҮЛБЭР</a:t>
            </a:r>
          </a:p>
          <a:p>
            <a:r>
              <a:t>Ашигласан хууль, баримт бичгийн жагсаалтыг дараах хоёр слайдад үлдээлээ.</a:t>
            </a:r>
          </a:p>
          <a:p/>
          <a:p>
            <a:r>
              <a:t>ДЭЛГЭРЭНГҮЙ МЭДЭЭЛЭЛ</a:t>
            </a:r>
          </a:p>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r>
              <a:t>01  Эрх тэгш: Орлого бага байх нь хүний эрх, нэр төрийг бууруулахгүй. Ялгаварлалгүй байдал бол суурь шаардлага.</a:t>
            </a:r>
          </a:p>
          <a:p>
            <a:r>
              <a:t>02  Бодит хүртээмж: Хуулийн заалт нь төсөв, үйлчилгээ, мэдээлэл, орчны хүртээмжээр дамжин бодит боломж болно.</a:t>
            </a:r>
          </a:p>
          <a:p>
            <a:r>
              <a:t>03  Хариуцлага: Тооцоолол ил тод, шийдвэр үндэслэлтэй, гомдол хянуулах боломжтой үед хамгаалалт үр дүнтэй.</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Баримт бичгийн нэр дээр дарж албан ёсны эх сурвалжийг нээнэ.</a:t>
            </a:r>
          </a:p>
          <a:p/>
          <a:p>
            <a:r>
              <a:t>ЯРИХ ТЕКСТ</a:t>
            </a:r>
          </a:p>
          <a:p>
            <a:r>
              <a:t>Энд Монголын хууль болон олон улсын баримт бичгийн жагсаалт бий. Танилцуулгын үеэр бүх нэр, огноог нэг бүрчлэн унших шаардлагагүй. Асуулт гарвал тухайн слайдын зүйл, заалтыг энэ жагсаалт болон илтгэгчийн тэмдэглэлтэй холбоно. Баталсан огноо нь Монгол Улс нэгдсэн өдөр эсвэл сүүлийн нэмэлт, өөрчлөлтийн өдөртэй ижил биш гэдгийг дахин сануулъя.</a:t>
            </a:r>
          </a:p>
          <a:p/>
          <a:p>
            <a:r>
              <a:t>ДАРААГИЙН СЛАЙДТАЙ ХОЛБОХ ӨГҮҮЛБЭР</a:t>
            </a:r>
          </a:p>
          <a:p>
            <a:r>
              <a:t>Сүүлийн слайдад судалгаа, кейс, мэдээллийн хязгаарлалтыг тэмдэглэсэн.</a:t>
            </a:r>
          </a:p>
          <a:p/>
          <a:p>
            <a:r>
              <a:t>ДЭЛГЭРЭНГҮЙ МЭДЭЭЛЭЛ</a:t>
            </a:r>
          </a:p>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Хэрэглэхийн өмнө хүчин төгөлдөр хууль, статистикийн анхдагч эхийг нягтална.</a:t>
            </a:r>
          </a:p>
          <a:p/>
          <a:p>
            <a:r>
              <a:t>ЯРИХ ТЕКСТ</a:t>
            </a:r>
          </a:p>
          <a:p>
            <a:r>
              <a:t>Судалгаа, шүүхийн кейсийн эх сурвалжийг энд хавсаргалаа. Ядуурлын график нь 2016–2022 оны түүхэн өгөгдөл болохыг сануулъя. Хуулийг бодит хэрэгт ашиглахын өмнө хүчин төгөлдөр найруулгыг анхдагч эхээс нягтлах шаардлагатай. Материал бэлтгэх үед албан ёсны сайтуудад шууд хандах хязгаарлалт байсан тул хамгийн сүүлийн хувилбарыг онлайн тулгаж баталгаажуулаагүй. Кейсийн арын зураг нь бодит оролцогчийн гэрэл зураг биш, 3D концепц дүрслэл юм. Анхаарал хандуулсанд баярлалаа.</a:t>
            </a:r>
          </a:p>
          <a:p/>
          <a:p>
            <a:r>
              <a:t>ДАРААГИЙН СЛАЙДТАЙ ХОЛБОХ ӨГҮҮЛБЭР</a:t>
            </a:r>
          </a:p>
          <a:p>
            <a:r>
              <a:t>Асуулт, санал сонсоход бэлэн байна.</a:t>
            </a:r>
          </a:p>
          <a:p/>
          <a:p>
            <a:r>
              <a:t>ДЭЛГЭРЭНГҮЙ МЭДЭЭЛЭЛ</a:t>
            </a:r>
          </a:p>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legalinfo.mn/mn/detail/367" TargetMode="External"/><Relationship Id="rId4" Type="http://schemas.openxmlformats.org/officeDocument/2006/relationships/hyperlink" Target="https://legalinfo.mn" TargetMode="External"/><Relationship Id="rId5" Type="http://schemas.openxmlformats.org/officeDocument/2006/relationships/hyperlink" Target="https://www.ohchr.org/en/human-rights/universal-declaration/translations/mongolian" TargetMode="External"/><Relationship Id="rId6" Type="http://schemas.openxmlformats.org/officeDocument/2006/relationships/hyperlink" Target="https://www.ohchr.org/en/instruments-mechanisms/instruments/international-covenant-economic-social-and-cultural-rights" TargetMode="External"/><Relationship Id="rId7" Type="http://schemas.openxmlformats.org/officeDocument/2006/relationships/hyperlink" Target="https://www.ohchr.org/en/instruments-mechanisms/instruments/international-covenant-civil-and-political-rights" TargetMode="External"/><Relationship Id="rId8" Type="http://schemas.openxmlformats.org/officeDocument/2006/relationships/hyperlink" Target="https://www.ohchr.org/en/instruments-mechanisms/instruments/convention-rights-child" TargetMode="External"/><Relationship Id="rId9" Type="http://schemas.openxmlformats.org/officeDocument/2006/relationships/hyperlink" Target="https://www.ohchr.org/en/instruments-mechanisms/instruments/convention-elimination-all-forms-discrimination-against-women" TargetMode="External"/><Relationship Id="rId10" Type="http://schemas.openxmlformats.org/officeDocument/2006/relationships/hyperlink" Target="https://www.ohchr.org/en/instruments-mechanisms/instruments/convention-rights-persons-disabilities" TargetMode="Externa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worldbank.org/en/country/mongolia/publication" TargetMode="External"/><Relationship Id="rId4" Type="http://schemas.openxmlformats.org/officeDocument/2006/relationships/hyperlink" Target="https://www.saflii.org/za/cases/ZACC/2000/19.html" TargetMode="External"/><Relationship Id="rId5" Type="http://schemas.openxmlformats.org/officeDocument/2006/relationships/hyperlink" Target="https://www.saflii.org/za/cases/ZACC/2002/15.html" TargetMode="External"/><Relationship Id="rId6" Type="http://schemas.openxmlformats.org/officeDocument/2006/relationships/hyperlink" Target="https://www.bundesverfassungsgericht.de" TargetMode="External"/><Relationship Id="rId7" Type="http://schemas.openxmlformats.org/officeDocument/2006/relationships/hyperlink" Target="https://www.kela.fi/basic-income-experiment" TargetMode="External"/><Relationship Id="rId8" Type="http://schemas.openxmlformats.org/officeDocument/2006/relationships/hyperlink" Target="https://www.planalto.gov.br/ccivil_03/_ato2023-2026/2023/lei/l14601.htm" TargetMode="External"/><Relationship Id="rId9" Type="http://schemas.openxmlformats.org/officeDocument/2006/relationships/hyperlink" Target="https://www.ohchr.org/en/documents/general-comments-and-recommendations/general-comment-no-3-nature-states-parties-obligations" TargetMode="External"/><Relationship Id="rId10" Type="http://schemas.openxmlformats.org/officeDocument/2006/relationships/hyperlink" Target="https://sdgs.un.org/2030agenda" TargetMode="External"/><Relationship Id="rId11"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759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33400" y="1095375"/>
            <a:ext cx="1348680"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66724" y="990599"/>
            <a:ext cx="1348680"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6250" y="1000125"/>
            <a:ext cx="132963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76250" y="1019174"/>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1238250"/>
            <a:ext cx="121533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1025" y="1047749"/>
            <a:ext cx="1120080"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МУИС / ХҮНИЙ ЭРХ</a:t>
            </a:r>
          </a:p>
        </p:txBody>
      </p:sp>
      <p:sp>
        <p:nvSpPr>
          <p:cNvPr id="42" name="TextBox 41"/>
          <p:cNvSpPr txBox="1"/>
          <p:nvPr/>
        </p:nvSpPr>
        <p:spPr>
          <a:xfrm>
            <a:off x="476250" y="1647825"/>
            <a:ext cx="6143625" cy="1809750"/>
          </a:xfrm>
          <a:prstGeom prst="rect">
            <a:avLst/>
          </a:prstGeom>
          <a:noFill/>
        </p:spPr>
        <p:txBody>
          <a:bodyPr wrap="none" lIns="0" tIns="0" rIns="0" bIns="0">
            <a:spAutoFit/>
          </a:bodyPr>
          <a:lstStyle/>
          <a:p>
            <a:pPr>
              <a:lnSpc>
                <a:spcPts val="6679"/>
              </a:lnSpc>
              <a:spcBef>
                <a:spcPts val="0"/>
              </a:spcBef>
              <a:spcAft>
                <a:spcPts val="0"/>
              </a:spcAft>
              <a:defRPr sz="5475" b="1">
                <a:solidFill>
                  <a:srgbClr val="030A13"/>
                </a:solidFill>
                <a:latin typeface="Open Sans Condensed"/>
              </a:defRPr>
            </a:pPr>
            <a:r>
              <a:t>НИЙГМИЙН</a:t>
            </a:r>
          </a:p>
          <a:p>
            <a:pPr>
              <a:lnSpc>
                <a:spcPts val="6679"/>
              </a:lnSpc>
              <a:spcBef>
                <a:spcPts val="0"/>
              </a:spcBef>
              <a:spcAft>
                <a:spcPts val="0"/>
              </a:spcAft>
              <a:defRPr sz="5475" b="1">
                <a:solidFill>
                  <a:srgbClr val="030A13"/>
                </a:solidFill>
                <a:latin typeface="Open Sans Condensed"/>
              </a:defRPr>
            </a:pPr>
            <a:r>
              <a:t>ДООД ДАВХРАА</a:t>
            </a:r>
          </a:p>
        </p:txBody>
      </p:sp>
      <p:sp>
        <p:nvSpPr>
          <p:cNvPr id="43" name="TextBox 42"/>
          <p:cNvSpPr txBox="1"/>
          <p:nvPr/>
        </p:nvSpPr>
        <p:spPr>
          <a:xfrm>
            <a:off x="457200" y="1619250"/>
            <a:ext cx="6143625" cy="1809750"/>
          </a:xfrm>
          <a:prstGeom prst="rect">
            <a:avLst/>
          </a:prstGeom>
          <a:noFill/>
        </p:spPr>
        <p:txBody>
          <a:bodyPr wrap="none" lIns="0" tIns="0" rIns="0" bIns="0">
            <a:spAutoFit/>
          </a:bodyPr>
          <a:lstStyle/>
          <a:p>
            <a:pPr>
              <a:lnSpc>
                <a:spcPts val="6679"/>
              </a:lnSpc>
              <a:spcBef>
                <a:spcPts val="0"/>
              </a:spcBef>
              <a:spcAft>
                <a:spcPts val="0"/>
              </a:spcAft>
              <a:defRPr sz="5475" b="1">
                <a:solidFill>
                  <a:srgbClr val="F4F5F4"/>
                </a:solidFill>
                <a:latin typeface="Open Sans Condensed"/>
              </a:defRPr>
            </a:pPr>
            <a:r>
              <a:t>НИЙГМИЙН</a:t>
            </a:r>
          </a:p>
          <a:p>
            <a:pPr>
              <a:lnSpc>
                <a:spcPts val="6679"/>
              </a:lnSpc>
              <a:spcBef>
                <a:spcPts val="0"/>
              </a:spcBef>
              <a:spcAft>
                <a:spcPts val="0"/>
              </a:spcAft>
              <a:defRPr sz="5475" b="1">
                <a:solidFill>
                  <a:srgbClr val="F4F5F4"/>
                </a:solidFill>
                <a:latin typeface="Open Sans Condensed"/>
              </a:defRPr>
            </a:pPr>
            <a:r>
              <a:t>ДООД ДАВХРАА</a:t>
            </a:r>
          </a:p>
        </p:txBody>
      </p:sp>
      <p:sp>
        <p:nvSpPr>
          <p:cNvPr id="44" name="TextBox 43"/>
          <p:cNvSpPr txBox="1"/>
          <p:nvPr/>
        </p:nvSpPr>
        <p:spPr>
          <a:xfrm>
            <a:off x="476250" y="3581400"/>
            <a:ext cx="5981700" cy="809625"/>
          </a:xfrm>
          <a:prstGeom prst="rect">
            <a:avLst/>
          </a:prstGeom>
          <a:noFill/>
        </p:spPr>
        <p:txBody>
          <a:bodyPr wrap="none" lIns="0" tIns="0" rIns="0" bIns="0">
            <a:spAutoFit/>
          </a:bodyPr>
          <a:lstStyle/>
          <a:p>
            <a:pPr>
              <a:lnSpc>
                <a:spcPts val="5307"/>
              </a:lnSpc>
              <a:spcBef>
                <a:spcPts val="0"/>
              </a:spcBef>
              <a:spcAft>
                <a:spcPts val="0"/>
              </a:spcAft>
              <a:defRPr sz="4350" b="1">
                <a:solidFill>
                  <a:srgbClr val="030A13"/>
                </a:solidFill>
                <a:latin typeface="Open Sans Condensed"/>
              </a:defRPr>
            </a:pPr>
            <a:r>
              <a:t>БА ХҮНИЙ ЭРХ</a:t>
            </a:r>
          </a:p>
        </p:txBody>
      </p:sp>
      <p:sp>
        <p:nvSpPr>
          <p:cNvPr id="45" name="TextBox 44"/>
          <p:cNvSpPr txBox="1"/>
          <p:nvPr/>
        </p:nvSpPr>
        <p:spPr>
          <a:xfrm>
            <a:off x="457200" y="3552825"/>
            <a:ext cx="5981700" cy="809625"/>
          </a:xfrm>
          <a:prstGeom prst="rect">
            <a:avLst/>
          </a:prstGeom>
          <a:noFill/>
        </p:spPr>
        <p:txBody>
          <a:bodyPr wrap="none" lIns="0" tIns="0" rIns="0" bIns="0">
            <a:spAutoFit/>
          </a:bodyPr>
          <a:lstStyle/>
          <a:p>
            <a:pPr>
              <a:lnSpc>
                <a:spcPts val="5307"/>
              </a:lnSpc>
              <a:spcBef>
                <a:spcPts val="0"/>
              </a:spcBef>
              <a:spcAft>
                <a:spcPts val="0"/>
              </a:spcAft>
              <a:defRPr sz="4350" b="1">
                <a:solidFill>
                  <a:srgbClr val="F1C75B"/>
                </a:solidFill>
                <a:latin typeface="Open Sans Condensed"/>
              </a:defRPr>
            </a:pPr>
            <a:r>
              <a:t>БА ХҮНИЙ ЭРХ</a:t>
            </a:r>
          </a:p>
        </p:txBody>
      </p:sp>
      <p:sp>
        <p:nvSpPr>
          <p:cNvPr id="46" name="TextBox 45"/>
          <p:cNvSpPr txBox="1"/>
          <p:nvPr/>
        </p:nvSpPr>
        <p:spPr>
          <a:xfrm>
            <a:off x="495299" y="4591050"/>
            <a:ext cx="5000625" cy="504825"/>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Орлого өөр байж болно.</a:t>
            </a:r>
          </a:p>
          <a:p>
            <a:pPr>
              <a:lnSpc>
                <a:spcPts val="1958"/>
              </a:lnSpc>
              <a:spcBef>
                <a:spcPts val="0"/>
              </a:spcBef>
              <a:spcAft>
                <a:spcPts val="0"/>
              </a:spcAft>
              <a:defRPr sz="1605" b="0">
                <a:solidFill>
                  <a:srgbClr val="F4F5F4"/>
                </a:solidFill>
                <a:latin typeface="DejaVu Sans"/>
              </a:defRPr>
            </a:pPr>
            <a:r>
              <a:t>Хүний эрх ижил.</a:t>
            </a:r>
          </a:p>
        </p:txBody>
      </p:sp>
      <p:cxnSp>
        <p:nvCxnSpPr>
          <p:cNvPr id="47" name="Connector 46"/>
          <p:cNvCxnSpPr/>
          <p:nvPr/>
        </p:nvCxnSpPr>
        <p:spPr>
          <a:xfrm>
            <a:off x="495299" y="5372100"/>
            <a:ext cx="4152901" cy="0"/>
          </a:xfrm>
          <a:prstGeom prst="line">
            <a:avLst/>
          </a:prstGeom>
          <a:ln w="7620">
            <a:solidFill>
              <a:srgbClr val="68717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95299" y="5572125"/>
            <a:ext cx="5467350" cy="495299"/>
          </a:xfrm>
          <a:prstGeom prst="rect">
            <a:avLst/>
          </a:prstGeom>
          <a:noFill/>
        </p:spPr>
        <p:txBody>
          <a:bodyPr wrap="none" lIns="0" tIns="0" rIns="0" bIns="0">
            <a:spAutoFit/>
          </a:bodyPr>
          <a:lstStyle/>
          <a:p>
            <a:pPr>
              <a:lnSpc>
                <a:spcPts val="1647"/>
              </a:lnSpc>
              <a:spcBef>
                <a:spcPts val="0"/>
              </a:spcBef>
              <a:spcAft>
                <a:spcPts val="0"/>
              </a:spcAft>
              <a:defRPr sz="1350" b="0">
                <a:solidFill>
                  <a:srgbClr val="F4F5F4"/>
                </a:solidFill>
                <a:latin typeface="DejaVu Sans"/>
              </a:defRPr>
            </a:pPr>
            <a:r>
              <a:t>Оюутнууд: Б. Саранчимэг,</a:t>
            </a:r>
          </a:p>
          <a:p>
            <a:pPr>
              <a:lnSpc>
                <a:spcPts val="1647"/>
              </a:lnSpc>
              <a:spcBef>
                <a:spcPts val="0"/>
              </a:spcBef>
              <a:spcAft>
                <a:spcPts val="0"/>
              </a:spcAft>
              <a:defRPr sz="1350" b="0">
                <a:solidFill>
                  <a:srgbClr val="F4F5F4"/>
                </a:solidFill>
                <a:latin typeface="DejaVu Sans"/>
              </a:defRPr>
            </a:pPr>
            <a:r>
              <a:t>Ш. Түвшинбаяр, Б. Энхзаяа</a:t>
            </a:r>
          </a:p>
        </p:txBody>
      </p:sp>
      <p:sp>
        <p:nvSpPr>
          <p:cNvPr id="49" name="TextBox 48"/>
          <p:cNvSpPr txBox="1"/>
          <p:nvPr/>
        </p:nvSpPr>
        <p:spPr>
          <a:xfrm>
            <a:off x="495299" y="6143625"/>
            <a:ext cx="5334000" cy="266700"/>
          </a:xfrm>
          <a:prstGeom prst="rect">
            <a:avLst/>
          </a:prstGeom>
          <a:noFill/>
        </p:spPr>
        <p:txBody>
          <a:bodyPr wrap="none" lIns="0" tIns="0" rIns="0" bIns="0">
            <a:spAutoFit/>
          </a:bodyPr>
          <a:lstStyle/>
          <a:p>
            <a:pPr>
              <a:lnSpc>
                <a:spcPts val="1647"/>
              </a:lnSpc>
              <a:spcBef>
                <a:spcPts val="0"/>
              </a:spcBef>
              <a:spcAft>
                <a:spcPts val="0"/>
              </a:spcAft>
              <a:defRPr sz="1350" b="1">
                <a:solidFill>
                  <a:srgbClr val="F1C75B"/>
                </a:solidFill>
                <a:latin typeface="DejaVu Sans"/>
              </a:defRPr>
            </a:pPr>
            <a:r>
              <a:t>Багш: Б. Тамир</a:t>
            </a:r>
          </a:p>
        </p:txBody>
      </p:sp>
      <p:sp>
        <p:nvSpPr>
          <p:cNvPr id="50" name="Rectangle 49"/>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UDHR</a:t>
            </a:r>
          </a:p>
        </p:txBody>
      </p:sp>
      <p:sp>
        <p:nvSpPr>
          <p:cNvPr id="52" name="TextBox 51"/>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53" name="TextBox 52"/>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518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Бид ямар дарааллаар тайлбарлах вэ?</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Бид ямар дарааллаар тайлбарлах вэ?</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1. Асуудал</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177"/>
              </a:lnSpc>
              <a:spcBef>
                <a:spcPts val="0"/>
              </a:spcBef>
              <a:spcAft>
                <a:spcPts val="0"/>
              </a:spcAft>
              <a:defRPr sz="1785" b="0">
                <a:solidFill>
                  <a:srgbClr val="F4F5F4"/>
                </a:solidFill>
                <a:latin typeface="DejaVu Sans"/>
              </a:defRPr>
            </a:pPr>
            <a:r>
              <a:t>Ядуурал эрх эдлэх боломжид хэрхэн нөлөөлөх вэ?</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2. Хамгаалалт</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Монголын хууль, олон улсын баримт бичиг юу заадаг вэ?</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3. Шийдэл</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214"/>
              </a:lnSpc>
              <a:spcBef>
                <a:spcPts val="0"/>
              </a:spcBef>
              <a:spcAft>
                <a:spcPts val="0"/>
              </a:spcAft>
              <a:defRPr sz="1815" b="0">
                <a:solidFill>
                  <a:srgbClr val="F4F5F4"/>
                </a:solidFill>
                <a:latin typeface="DejaVu Sans"/>
              </a:defRPr>
            </a:pPr>
            <a:r>
              <a:t>Бодит кейсээс Монголд ямар санаа авч болох вэ?</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Асуудлыг ойлгоно → хуулиа харна → шийдлээ ярилцана.</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1277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Байр суурь өөр.</a:t>
            </a:r>
          </a:p>
          <a:p>
            <a:pPr>
              <a:lnSpc>
                <a:spcPts val="4941"/>
              </a:lnSpc>
              <a:spcBef>
                <a:spcPts val="0"/>
              </a:spcBef>
              <a:spcAft>
                <a:spcPts val="0"/>
              </a:spcAft>
              <a:defRPr sz="4050" b="1">
                <a:solidFill>
                  <a:srgbClr val="030A13"/>
                </a:solidFill>
                <a:latin typeface="Open Sans Condensed"/>
              </a:defRPr>
            </a:pPr>
            <a:r>
              <a:t>Хүний эрх ижил.</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Байр суурь өөр.</a:t>
            </a:r>
          </a:p>
          <a:p>
            <a:pPr>
              <a:lnSpc>
                <a:spcPts val="4941"/>
              </a:lnSpc>
              <a:spcBef>
                <a:spcPts val="0"/>
              </a:spcBef>
              <a:spcAft>
                <a:spcPts val="0"/>
              </a:spcAft>
              <a:defRPr sz="4050" b="1">
                <a:solidFill>
                  <a:srgbClr val="F4F5F4"/>
                </a:solidFill>
                <a:latin typeface="Open Sans Condensed"/>
              </a:defRPr>
            </a:pPr>
            <a:r>
              <a:t>Хүний эрх ижил.</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Нөхцөл</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Бага орлого, тогтворгүй ажил, боломжийн хомсдол.</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Нэр төр</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Эдийн засгийн нөхцөл хүний үнэ цэнийг бууруулахгүй.</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Тэгш эрх</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141"/>
              </a:lnSpc>
              <a:spcBef>
                <a:spcPts val="0"/>
              </a:spcBef>
              <a:spcAft>
                <a:spcPts val="0"/>
              </a:spcAft>
              <a:defRPr sz="1755" b="0">
                <a:solidFill>
                  <a:srgbClr val="F4F5F4"/>
                </a:solidFill>
                <a:latin typeface="DejaVu Sans"/>
              </a:defRPr>
            </a:pPr>
            <a:r>
              <a:t>Орлогоос үл хамааран хүн бүр эрхээ хамгаалуулна.</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Жишээ: ажилгүй болсон хүн эрүүл мэнд, боловсролын эрхээ алдахгүй.</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ҮХ</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5036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Ядуурал бол зөвхөн</a:t>
            </a:r>
          </a:p>
          <a:p>
            <a:pPr>
              <a:lnSpc>
                <a:spcPts val="4941"/>
              </a:lnSpc>
              <a:spcBef>
                <a:spcPts val="0"/>
              </a:spcBef>
              <a:spcAft>
                <a:spcPts val="0"/>
              </a:spcAft>
              <a:defRPr sz="4050" b="1">
                <a:solidFill>
                  <a:srgbClr val="030A13"/>
                </a:solidFill>
                <a:latin typeface="Open Sans Condensed"/>
              </a:defRPr>
            </a:pPr>
            <a:r>
              <a:t>мөнгөний асуудал биш.</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Ядуурал бол зөвхөн</a:t>
            </a:r>
          </a:p>
          <a:p>
            <a:pPr>
              <a:lnSpc>
                <a:spcPts val="4941"/>
              </a:lnSpc>
              <a:spcBef>
                <a:spcPts val="0"/>
              </a:spcBef>
              <a:spcAft>
                <a:spcPts val="0"/>
              </a:spcAft>
              <a:defRPr sz="4050" b="1">
                <a:solidFill>
                  <a:srgbClr val="F4F5F4"/>
                </a:solidFill>
                <a:latin typeface="Open Sans Condensed"/>
              </a:defRPr>
            </a:pPr>
            <a:r>
              <a:t>мөнгөний асуудал биш.</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Орлого</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Хоол, байр, өдөр тутмын хэрэгцээгээ хангаж чадах уу?</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Үйлчилгээ</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Сургууль, эмнэлэг, ус зэрэгт хүрч чадах уу?</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Оролцоо</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250"/>
              </a:lnSpc>
              <a:spcBef>
                <a:spcPts val="0"/>
              </a:spcBef>
              <a:spcAft>
                <a:spcPts val="0"/>
              </a:spcAft>
              <a:defRPr sz="1845" b="0">
                <a:solidFill>
                  <a:srgbClr val="F4F5F4"/>
                </a:solidFill>
                <a:latin typeface="DejaVu Sans"/>
              </a:defRPr>
            </a:pPr>
            <a:r>
              <a:t>Мэдээлэл авч, шийдвэрт саналаа хэлж чадах уу?</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Ижил орлоготой хоёр өрхийн бодит боломж өөр байж болно.</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POV · SDG</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8796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7581899" cy="1362075"/>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2022 онд ойролцоогоор</a:t>
            </a:r>
          </a:p>
          <a:p>
            <a:pPr>
              <a:lnSpc>
                <a:spcPts val="5032"/>
              </a:lnSpc>
              <a:spcBef>
                <a:spcPts val="0"/>
              </a:spcBef>
              <a:spcAft>
                <a:spcPts val="0"/>
              </a:spcAft>
              <a:defRPr sz="4125" b="1">
                <a:solidFill>
                  <a:srgbClr val="030A13"/>
                </a:solidFill>
                <a:latin typeface="Open Sans Condensed"/>
              </a:defRPr>
            </a:pPr>
            <a:r>
              <a:t>4 хүн тутмын 1 нь ядуу байв.</a:t>
            </a:r>
          </a:p>
        </p:txBody>
      </p:sp>
      <p:sp>
        <p:nvSpPr>
          <p:cNvPr id="37" name="TextBox 36"/>
          <p:cNvSpPr txBox="1"/>
          <p:nvPr/>
        </p:nvSpPr>
        <p:spPr>
          <a:xfrm>
            <a:off x="457200" y="942975"/>
            <a:ext cx="7581899" cy="1362075"/>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2022 онд ойролцоогоор</a:t>
            </a:r>
          </a:p>
          <a:p>
            <a:pPr>
              <a:lnSpc>
                <a:spcPts val="5032"/>
              </a:lnSpc>
              <a:spcBef>
                <a:spcPts val="0"/>
              </a:spcBef>
              <a:spcAft>
                <a:spcPts val="0"/>
              </a:spcAft>
              <a:defRPr sz="4125" b="1">
                <a:solidFill>
                  <a:srgbClr val="F4F5F4"/>
                </a:solidFill>
                <a:latin typeface="Open Sans Condensed"/>
              </a:defRPr>
            </a:pPr>
            <a:r>
              <a:t>4 хүн тутмын 1 нь ядуу байв.</a:t>
            </a:r>
          </a:p>
        </p:txBody>
      </p:sp>
      <p:sp>
        <p:nvSpPr>
          <p:cNvPr id="38" name="TextBox 37"/>
          <p:cNvSpPr txBox="1"/>
          <p:nvPr/>
        </p:nvSpPr>
        <p:spPr>
          <a:xfrm>
            <a:off x="409575" y="2647950"/>
            <a:ext cx="5286375" cy="1323975"/>
          </a:xfrm>
          <a:prstGeom prst="rect">
            <a:avLst/>
          </a:prstGeom>
          <a:noFill/>
        </p:spPr>
        <p:txBody>
          <a:bodyPr wrap="none" lIns="0" tIns="0" rIns="0" bIns="0">
            <a:spAutoFit/>
          </a:bodyPr>
          <a:lstStyle/>
          <a:p>
            <a:pPr>
              <a:lnSpc>
                <a:spcPts val="10412"/>
              </a:lnSpc>
              <a:spcBef>
                <a:spcPts val="0"/>
              </a:spcBef>
              <a:spcAft>
                <a:spcPts val="0"/>
              </a:spcAft>
              <a:defRPr sz="8535" b="1">
                <a:solidFill>
                  <a:srgbClr val="F1C75B"/>
                </a:solidFill>
                <a:latin typeface="Open Sans Condensed"/>
              </a:defRPr>
            </a:pPr>
            <a:r>
              <a:t>27.1%</a:t>
            </a:r>
          </a:p>
        </p:txBody>
      </p:sp>
      <p:sp>
        <p:nvSpPr>
          <p:cNvPr id="39" name="TextBox 38"/>
          <p:cNvSpPr txBox="1"/>
          <p:nvPr/>
        </p:nvSpPr>
        <p:spPr>
          <a:xfrm>
            <a:off x="514350" y="4105274"/>
            <a:ext cx="4791075" cy="790575"/>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Үндэсний ядуурлын босгоос</a:t>
            </a:r>
          </a:p>
          <a:p>
            <a:pPr>
              <a:lnSpc>
                <a:spcPts val="2287"/>
              </a:lnSpc>
              <a:spcBef>
                <a:spcPts val="0"/>
              </a:spcBef>
              <a:spcAft>
                <a:spcPts val="0"/>
              </a:spcAft>
              <a:defRPr sz="1875" b="0">
                <a:solidFill>
                  <a:srgbClr val="F4F5F4"/>
                </a:solidFill>
                <a:latin typeface="DejaVu Sans"/>
              </a:defRPr>
            </a:pPr>
            <a:r>
              <a:t>доогуур хэрэглээтэй хүн ам</a:t>
            </a:r>
          </a:p>
        </p:txBody>
      </p:sp>
      <p:sp>
        <p:nvSpPr>
          <p:cNvPr id="40" name="TextBox 39"/>
          <p:cNvSpPr txBox="1"/>
          <p:nvPr/>
        </p:nvSpPr>
        <p:spPr>
          <a:xfrm>
            <a:off x="514350" y="5238750"/>
            <a:ext cx="4772025" cy="400050"/>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DejaVu Sans"/>
              </a:defRPr>
            </a:pPr>
            <a:r>
              <a:t>2016–2022: −2.5 нэгж хувь</a:t>
            </a:r>
          </a:p>
        </p:txBody>
      </p:sp>
      <p:sp>
        <p:nvSpPr>
          <p:cNvPr id="41" name="Rounded Rectangle 40"/>
          <p:cNvSpPr/>
          <p:nvPr/>
        </p:nvSpPr>
        <p:spPr>
          <a:xfrm>
            <a:off x="5943600" y="2181225"/>
            <a:ext cx="5838825" cy="3676649"/>
          </a:xfrm>
          <a:prstGeom prst="roundRect">
            <a:avLst>
              <a:gd name="adj" fmla="val 310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876925" y="2076450"/>
            <a:ext cx="5838825" cy="3676649"/>
          </a:xfrm>
          <a:prstGeom prst="roundRect">
            <a:avLst>
              <a:gd name="adj" fmla="val 2590"/>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86450" y="2085975"/>
            <a:ext cx="58197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86450" y="2105025"/>
            <a:ext cx="19050" cy="3619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943600" y="5734050"/>
            <a:ext cx="57054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6162675" y="5248275"/>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10275" y="5153025"/>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0</a:t>
            </a:r>
          </a:p>
        </p:txBody>
      </p:sp>
      <p:cxnSp>
        <p:nvCxnSpPr>
          <p:cNvPr id="48" name="Connector 47"/>
          <p:cNvCxnSpPr/>
          <p:nvPr/>
        </p:nvCxnSpPr>
        <p:spPr>
          <a:xfrm>
            <a:off x="6162675" y="4557712"/>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010275" y="4462462"/>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10</a:t>
            </a:r>
          </a:p>
        </p:txBody>
      </p:sp>
      <p:cxnSp>
        <p:nvCxnSpPr>
          <p:cNvPr id="50" name="Connector 49"/>
          <p:cNvCxnSpPr/>
          <p:nvPr/>
        </p:nvCxnSpPr>
        <p:spPr>
          <a:xfrm>
            <a:off x="6162675" y="3867150"/>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010275" y="3771900"/>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20</a:t>
            </a:r>
          </a:p>
        </p:txBody>
      </p:sp>
      <p:cxnSp>
        <p:nvCxnSpPr>
          <p:cNvPr id="52" name="Connector 51"/>
          <p:cNvCxnSpPr/>
          <p:nvPr/>
        </p:nvCxnSpPr>
        <p:spPr>
          <a:xfrm>
            <a:off x="6162675" y="3176587"/>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010275" y="3081337"/>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30</a:t>
            </a:r>
          </a:p>
        </p:txBody>
      </p:sp>
      <p:sp>
        <p:nvSpPr>
          <p:cNvPr id="54" name="Freeform 53"/>
          <p:cNvSpPr/>
          <p:nvPr/>
        </p:nvSpPr>
        <p:spPr>
          <a:xfrm>
            <a:off x="7038975" y="3048000"/>
            <a:ext cx="152400" cy="2200275"/>
          </a:xfrm>
          <a:custGeom>
            <a:avLst/>
            <a:gdLst/>
            <a:ahLst/>
            <a:cxnLst/>
            <a:rect l="l" t="t" r="r" b="b"/>
            <a:pathLst>
              <a:path w="16" h="231">
                <a:moveTo>
                  <a:pt x="0" y="16"/>
                </a:moveTo>
                <a:lnTo>
                  <a:pt x="16" y="0"/>
                </a:lnTo>
                <a:lnTo>
                  <a:pt x="16" y="215"/>
                </a:lnTo>
                <a:lnTo>
                  <a:pt x="0" y="231"/>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524625" y="3204210"/>
            <a:ext cx="514350" cy="2044065"/>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Freeform 55"/>
          <p:cNvSpPr/>
          <p:nvPr/>
        </p:nvSpPr>
        <p:spPr>
          <a:xfrm>
            <a:off x="6524625" y="3048000"/>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62700" y="2718435"/>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29.6%</a:t>
            </a:r>
          </a:p>
        </p:txBody>
      </p:sp>
      <p:sp>
        <p:nvSpPr>
          <p:cNvPr id="58" name="TextBox 57"/>
          <p:cNvSpPr txBox="1"/>
          <p:nvPr/>
        </p:nvSpPr>
        <p:spPr>
          <a:xfrm>
            <a:off x="6410325"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2016</a:t>
            </a:r>
          </a:p>
        </p:txBody>
      </p:sp>
      <p:sp>
        <p:nvSpPr>
          <p:cNvPr id="59" name="Freeform 58"/>
          <p:cNvSpPr/>
          <p:nvPr/>
        </p:nvSpPr>
        <p:spPr>
          <a:xfrm>
            <a:off x="8267700" y="3133725"/>
            <a:ext cx="152400" cy="2114550"/>
          </a:xfrm>
          <a:custGeom>
            <a:avLst/>
            <a:gdLst/>
            <a:ahLst/>
            <a:cxnLst/>
            <a:rect l="l" t="t" r="r" b="b"/>
            <a:pathLst>
              <a:path w="16" h="222">
                <a:moveTo>
                  <a:pt x="0" y="16"/>
                </a:moveTo>
                <a:lnTo>
                  <a:pt x="16" y="0"/>
                </a:lnTo>
                <a:lnTo>
                  <a:pt x="16" y="206"/>
                </a:lnTo>
                <a:lnTo>
                  <a:pt x="0" y="222"/>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53349" y="3287077"/>
            <a:ext cx="514350" cy="1961197"/>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reeform 60"/>
          <p:cNvSpPr/>
          <p:nvPr/>
        </p:nvSpPr>
        <p:spPr>
          <a:xfrm>
            <a:off x="7753350" y="3133725"/>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91425" y="2801302"/>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28.4%</a:t>
            </a:r>
          </a:p>
        </p:txBody>
      </p:sp>
      <p:sp>
        <p:nvSpPr>
          <p:cNvPr id="63" name="TextBox 62"/>
          <p:cNvSpPr txBox="1"/>
          <p:nvPr/>
        </p:nvSpPr>
        <p:spPr>
          <a:xfrm>
            <a:off x="7639049"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2018</a:t>
            </a:r>
          </a:p>
        </p:txBody>
      </p:sp>
      <p:sp>
        <p:nvSpPr>
          <p:cNvPr id="64" name="Freeform 63"/>
          <p:cNvSpPr/>
          <p:nvPr/>
        </p:nvSpPr>
        <p:spPr>
          <a:xfrm>
            <a:off x="9496425" y="3171825"/>
            <a:ext cx="152400" cy="2076450"/>
          </a:xfrm>
          <a:custGeom>
            <a:avLst/>
            <a:gdLst/>
            <a:ahLst/>
            <a:cxnLst/>
            <a:rect l="l" t="t" r="r" b="b"/>
            <a:pathLst>
              <a:path w="16" h="218">
                <a:moveTo>
                  <a:pt x="0" y="16"/>
                </a:moveTo>
                <a:lnTo>
                  <a:pt x="16" y="0"/>
                </a:lnTo>
                <a:lnTo>
                  <a:pt x="16" y="202"/>
                </a:lnTo>
                <a:lnTo>
                  <a:pt x="0" y="218"/>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982075" y="3328511"/>
            <a:ext cx="514350" cy="1919763"/>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Freeform 65"/>
          <p:cNvSpPr/>
          <p:nvPr/>
        </p:nvSpPr>
        <p:spPr>
          <a:xfrm>
            <a:off x="8982075" y="3171825"/>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20150" y="2842736"/>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27.8%</a:t>
            </a:r>
          </a:p>
        </p:txBody>
      </p:sp>
      <p:sp>
        <p:nvSpPr>
          <p:cNvPr id="68" name="TextBox 67"/>
          <p:cNvSpPr txBox="1"/>
          <p:nvPr/>
        </p:nvSpPr>
        <p:spPr>
          <a:xfrm>
            <a:off x="8867775"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2020</a:t>
            </a:r>
          </a:p>
        </p:txBody>
      </p:sp>
      <p:sp>
        <p:nvSpPr>
          <p:cNvPr id="69" name="Freeform 68"/>
          <p:cNvSpPr/>
          <p:nvPr/>
        </p:nvSpPr>
        <p:spPr>
          <a:xfrm>
            <a:off x="10725150" y="3228975"/>
            <a:ext cx="152400" cy="2019300"/>
          </a:xfrm>
          <a:custGeom>
            <a:avLst/>
            <a:gdLst/>
            <a:ahLst/>
            <a:cxnLst/>
            <a:rect l="l" t="t" r="r" b="b"/>
            <a:pathLst>
              <a:path w="16" h="212">
                <a:moveTo>
                  <a:pt x="0" y="16"/>
                </a:moveTo>
                <a:lnTo>
                  <a:pt x="16" y="0"/>
                </a:lnTo>
                <a:lnTo>
                  <a:pt x="16" y="196"/>
                </a:lnTo>
                <a:lnTo>
                  <a:pt x="0" y="212"/>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210800" y="3376850"/>
            <a:ext cx="514350" cy="1871424"/>
          </a:xfrm>
          <a:prstGeom prst="rect">
            <a:avLst/>
          </a:prstGeom>
          <a:solidFill>
            <a:srgbClr val="D3A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Freeform 70"/>
          <p:cNvSpPr/>
          <p:nvPr/>
        </p:nvSpPr>
        <p:spPr>
          <a:xfrm>
            <a:off x="10210800" y="3228975"/>
            <a:ext cx="666750" cy="152400"/>
          </a:xfrm>
          <a:custGeom>
            <a:avLst/>
            <a:gdLst/>
            <a:ahLst/>
            <a:cxnLst/>
            <a:rect l="l" t="t" r="r" b="b"/>
            <a:pathLst>
              <a:path w="70" h="16">
                <a:moveTo>
                  <a:pt x="0" y="16"/>
                </a:moveTo>
                <a:lnTo>
                  <a:pt x="16" y="0"/>
                </a:lnTo>
                <a:lnTo>
                  <a:pt x="70" y="0"/>
                </a:lnTo>
                <a:lnTo>
                  <a:pt x="54" y="16"/>
                </a:lnTo>
                <a:close/>
              </a:path>
            </a:pathLst>
          </a:custGeom>
          <a:solidFill>
            <a:srgbClr val="FFE0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048875" y="2891075"/>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27.1%</a:t>
            </a:r>
          </a:p>
        </p:txBody>
      </p:sp>
      <p:sp>
        <p:nvSpPr>
          <p:cNvPr id="73" name="TextBox 72"/>
          <p:cNvSpPr txBox="1"/>
          <p:nvPr/>
        </p:nvSpPr>
        <p:spPr>
          <a:xfrm>
            <a:off x="10096500"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2022</a:t>
            </a:r>
          </a:p>
        </p:txBody>
      </p:sp>
      <p:sp>
        <p:nvSpPr>
          <p:cNvPr id="74" name="TextBox 73"/>
          <p:cNvSpPr txBox="1"/>
          <p:nvPr/>
        </p:nvSpPr>
        <p:spPr>
          <a:xfrm>
            <a:off x="6096000" y="2276475"/>
            <a:ext cx="5305425" cy="2952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ХҮН АМЫН ХУВЬ (%)</a:t>
            </a:r>
          </a:p>
        </p:txBody>
      </p:sp>
      <p:sp>
        <p:nvSpPr>
          <p:cNvPr id="75" name="Rounded Rectangle 74"/>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27.1% — 2022 оны үзүүлэлт. 2026 оны өнөөгийн түвшин биш.</a:t>
            </a:r>
          </a:p>
        </p:txBody>
      </p:sp>
      <p:sp>
        <p:nvSpPr>
          <p:cNvPr id="82" name="Rectangle 81"/>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POV</a:t>
            </a:r>
          </a:p>
        </p:txBody>
      </p:sp>
      <p:sp>
        <p:nvSpPr>
          <p:cNvPr id="84" name="TextBox 83"/>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5" name="TextBox 84"/>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22555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7915275" cy="1285875"/>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Нэг саад дараагийн</a:t>
            </a:r>
          </a:p>
          <a:p>
            <a:pPr>
              <a:lnSpc>
                <a:spcPts val="5032"/>
              </a:lnSpc>
              <a:spcBef>
                <a:spcPts val="0"/>
              </a:spcBef>
              <a:spcAft>
                <a:spcPts val="0"/>
              </a:spcAft>
              <a:defRPr sz="4125" b="1">
                <a:solidFill>
                  <a:srgbClr val="030A13"/>
                </a:solidFill>
                <a:latin typeface="Open Sans Condensed"/>
              </a:defRPr>
            </a:pPr>
            <a:r>
              <a:t>саадыг үүсгэж болно.</a:t>
            </a:r>
          </a:p>
        </p:txBody>
      </p:sp>
      <p:sp>
        <p:nvSpPr>
          <p:cNvPr id="37" name="TextBox 36"/>
          <p:cNvSpPr txBox="1"/>
          <p:nvPr/>
        </p:nvSpPr>
        <p:spPr>
          <a:xfrm>
            <a:off x="457200" y="942975"/>
            <a:ext cx="7915275" cy="1285875"/>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Нэг саад дараагийн</a:t>
            </a:r>
          </a:p>
          <a:p>
            <a:pPr>
              <a:lnSpc>
                <a:spcPts val="5032"/>
              </a:lnSpc>
              <a:spcBef>
                <a:spcPts val="0"/>
              </a:spcBef>
              <a:spcAft>
                <a:spcPts val="0"/>
              </a:spcAft>
              <a:defRPr sz="4125" b="1">
                <a:solidFill>
                  <a:srgbClr val="F4F5F4"/>
                </a:solidFill>
                <a:latin typeface="Open Sans Condensed"/>
              </a:defRPr>
            </a:pPr>
            <a:r>
              <a:t>саадыг үүсгэж болно.</a:t>
            </a:r>
          </a:p>
        </p:txBody>
      </p:sp>
      <p:sp>
        <p:nvSpPr>
          <p:cNvPr id="38" name="Rounded Rectangle 37"/>
          <p:cNvSpPr/>
          <p:nvPr/>
        </p:nvSpPr>
        <p:spPr>
          <a:xfrm>
            <a:off x="523874" y="27432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6384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6479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6670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40576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700" y="27527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01</a:t>
            </a:r>
          </a:p>
        </p:txBody>
      </p:sp>
      <p:sp>
        <p:nvSpPr>
          <p:cNvPr id="44" name="TextBox 43"/>
          <p:cNvSpPr txBox="1"/>
          <p:nvPr/>
        </p:nvSpPr>
        <p:spPr>
          <a:xfrm>
            <a:off x="1371600" y="2781300"/>
            <a:ext cx="437197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Орлого буурах</a:t>
            </a:r>
          </a:p>
        </p:txBody>
      </p:sp>
      <p:sp>
        <p:nvSpPr>
          <p:cNvPr id="45" name="TextBox 44"/>
          <p:cNvSpPr txBox="1"/>
          <p:nvPr/>
        </p:nvSpPr>
        <p:spPr>
          <a:xfrm>
            <a:off x="1371600" y="32861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Хэрэгцээний зардал хүрэлцэхгүй</a:t>
            </a:r>
          </a:p>
          <a:p>
            <a:pPr>
              <a:lnSpc>
                <a:spcPts val="2196"/>
              </a:lnSpc>
              <a:spcBef>
                <a:spcPts val="0"/>
              </a:spcBef>
              <a:spcAft>
                <a:spcPts val="0"/>
              </a:spcAft>
              <a:defRPr sz="1800" b="0">
                <a:solidFill>
                  <a:srgbClr val="F4F5F4"/>
                </a:solidFill>
                <a:latin typeface="DejaVu Sans"/>
              </a:defRPr>
            </a:pPr>
            <a:r>
              <a:t>болно.</a:t>
            </a:r>
          </a:p>
        </p:txBody>
      </p:sp>
      <p:sp>
        <p:nvSpPr>
          <p:cNvPr id="46" name="Rounded Rectangle 45"/>
          <p:cNvSpPr/>
          <p:nvPr/>
        </p:nvSpPr>
        <p:spPr>
          <a:xfrm>
            <a:off x="6219825" y="27432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153150" y="26384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62675" y="26479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62675" y="26670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19825" y="40576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43650" y="27527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02</a:t>
            </a:r>
          </a:p>
        </p:txBody>
      </p:sp>
      <p:sp>
        <p:nvSpPr>
          <p:cNvPr id="52" name="TextBox 51"/>
          <p:cNvSpPr txBox="1"/>
          <p:nvPr/>
        </p:nvSpPr>
        <p:spPr>
          <a:xfrm>
            <a:off x="7067550" y="2781300"/>
            <a:ext cx="437197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Үйлчилгээ хойшлох</a:t>
            </a:r>
          </a:p>
        </p:txBody>
      </p:sp>
      <p:sp>
        <p:nvSpPr>
          <p:cNvPr id="53" name="TextBox 52"/>
          <p:cNvSpPr txBox="1"/>
          <p:nvPr/>
        </p:nvSpPr>
        <p:spPr>
          <a:xfrm>
            <a:off x="7067550" y="32861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Эмчилгээ, суралцах боломж</a:t>
            </a:r>
          </a:p>
          <a:p>
            <a:pPr>
              <a:lnSpc>
                <a:spcPts val="2196"/>
              </a:lnSpc>
              <a:spcBef>
                <a:spcPts val="0"/>
              </a:spcBef>
              <a:spcAft>
                <a:spcPts val="0"/>
              </a:spcAft>
              <a:defRPr sz="1800" b="0">
                <a:solidFill>
                  <a:srgbClr val="F4F5F4"/>
                </a:solidFill>
                <a:latin typeface="DejaVu Sans"/>
              </a:defRPr>
            </a:pPr>
            <a:r>
              <a:t>тасалдаж болно.</a:t>
            </a:r>
          </a:p>
        </p:txBody>
      </p:sp>
      <p:sp>
        <p:nvSpPr>
          <p:cNvPr id="54" name="Rounded Rectangle 53"/>
          <p:cNvSpPr/>
          <p:nvPr/>
        </p:nvSpPr>
        <p:spPr>
          <a:xfrm>
            <a:off x="523874" y="43434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42386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42481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42672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56578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7700" y="43529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03</a:t>
            </a:r>
          </a:p>
        </p:txBody>
      </p:sp>
      <p:sp>
        <p:nvSpPr>
          <p:cNvPr id="60" name="TextBox 59"/>
          <p:cNvSpPr txBox="1"/>
          <p:nvPr/>
        </p:nvSpPr>
        <p:spPr>
          <a:xfrm>
            <a:off x="1371600" y="4381500"/>
            <a:ext cx="437197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Боломж хумигдах</a:t>
            </a:r>
          </a:p>
        </p:txBody>
      </p:sp>
      <p:sp>
        <p:nvSpPr>
          <p:cNvPr id="61" name="TextBox 60"/>
          <p:cNvSpPr txBox="1"/>
          <p:nvPr/>
        </p:nvSpPr>
        <p:spPr>
          <a:xfrm>
            <a:off x="1371600" y="48863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Эрүүл мэнд, ур чадвар, ажлын</a:t>
            </a:r>
          </a:p>
          <a:p>
            <a:pPr>
              <a:lnSpc>
                <a:spcPts val="2196"/>
              </a:lnSpc>
              <a:spcBef>
                <a:spcPts val="0"/>
              </a:spcBef>
              <a:spcAft>
                <a:spcPts val="0"/>
              </a:spcAft>
              <a:defRPr sz="1800" b="0">
                <a:solidFill>
                  <a:srgbClr val="F4F5F4"/>
                </a:solidFill>
                <a:latin typeface="DejaVu Sans"/>
              </a:defRPr>
            </a:pPr>
            <a:r>
              <a:t>боломж муудна.</a:t>
            </a:r>
          </a:p>
        </p:txBody>
      </p:sp>
      <p:sp>
        <p:nvSpPr>
          <p:cNvPr id="62" name="Rounded Rectangle 61"/>
          <p:cNvSpPr/>
          <p:nvPr/>
        </p:nvSpPr>
        <p:spPr>
          <a:xfrm>
            <a:off x="6219825" y="43434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6153150" y="42386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62675" y="42481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62675" y="42672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19825" y="56578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43650" y="43529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04</a:t>
            </a:r>
          </a:p>
        </p:txBody>
      </p:sp>
      <p:sp>
        <p:nvSpPr>
          <p:cNvPr id="68" name="TextBox 67"/>
          <p:cNvSpPr txBox="1"/>
          <p:nvPr/>
        </p:nvSpPr>
        <p:spPr>
          <a:xfrm>
            <a:off x="7067550" y="4381500"/>
            <a:ext cx="437197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Орлогын эрсдэл нэмэгдэх</a:t>
            </a:r>
          </a:p>
        </p:txBody>
      </p:sp>
      <p:sp>
        <p:nvSpPr>
          <p:cNvPr id="69" name="TextBox 68"/>
          <p:cNvSpPr txBox="1"/>
          <p:nvPr/>
        </p:nvSpPr>
        <p:spPr>
          <a:xfrm>
            <a:off x="7067550" y="48863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Ядуурал дахин үргэлжилж болно.</a:t>
            </a:r>
          </a:p>
        </p:txBody>
      </p:sp>
      <p:sp>
        <p:nvSpPr>
          <p:cNvPr id="70" name="Rounded Rectangle 6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Энэ бол тайлбарлах схем; тоон судалгааны шалтгаант үр дүн биш.</a:t>
            </a:r>
          </a:p>
        </p:txBody>
      </p:sp>
      <p:sp>
        <p:nvSpPr>
          <p:cNvPr id="77" name="Rectangle 7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CRC</a:t>
            </a:r>
          </a:p>
        </p:txBody>
      </p:sp>
      <p:sp>
        <p:nvSpPr>
          <p:cNvPr id="79" name="TextBox 7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0" name="TextBox 7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ХУУЛИЙН ХАМГААЛАЛТ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26314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Хүн бол тусламж хүсэгчээс</a:t>
            </a:r>
          </a:p>
          <a:p>
            <a:pPr>
              <a:lnSpc>
                <a:spcPts val="4941"/>
              </a:lnSpc>
              <a:spcBef>
                <a:spcPts val="0"/>
              </a:spcBef>
              <a:spcAft>
                <a:spcPts val="0"/>
              </a:spcAft>
              <a:defRPr sz="4050" b="1">
                <a:solidFill>
                  <a:srgbClr val="030A13"/>
                </a:solidFill>
                <a:latin typeface="Open Sans Condensed"/>
              </a:defRPr>
            </a:pPr>
            <a:r>
              <a:t>гадна эрх эдлэгч юм.</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Хүн бол тусламж хүсэгчээс</a:t>
            </a:r>
          </a:p>
          <a:p>
            <a:pPr>
              <a:lnSpc>
                <a:spcPts val="4941"/>
              </a:lnSpc>
              <a:spcBef>
                <a:spcPts val="0"/>
              </a:spcBef>
              <a:spcAft>
                <a:spcPts val="0"/>
              </a:spcAft>
              <a:defRPr sz="4050" b="1">
                <a:solidFill>
                  <a:srgbClr val="F4F5F4"/>
                </a:solidFill>
                <a:latin typeface="Open Sans Condensed"/>
              </a:defRPr>
            </a:pPr>
            <a:r>
              <a:t>гадна эрх эдлэгч юм.</a:t>
            </a:r>
          </a:p>
        </p:txBody>
      </p:sp>
      <p:sp>
        <p:nvSpPr>
          <p:cNvPr id="38" name="Rounded Rectangle 37"/>
          <p:cNvSpPr/>
          <p:nvPr/>
        </p:nvSpPr>
        <p:spPr>
          <a:xfrm>
            <a:off x="552450" y="2400300"/>
            <a:ext cx="3481927"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481927"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462877"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348577"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253327"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ICESCR • 1966.12.16</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Хүн</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141"/>
              </a:lnSpc>
              <a:spcBef>
                <a:spcPts val="0"/>
              </a:spcBef>
              <a:spcAft>
                <a:spcPts val="0"/>
              </a:spcAft>
              <a:defRPr sz="1755" b="0">
                <a:solidFill>
                  <a:srgbClr val="F4F5F4"/>
                </a:solidFill>
                <a:latin typeface="DejaVu Sans"/>
              </a:defRPr>
            </a:pPr>
            <a:r>
              <a:t>Эрхээ эдэлж, тайлбар болон хамгаалалт шаардана.</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Төр</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Хууль, төсөв, үйлчилгээгээр боломж бүрдүүлнэ.</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Хяналт</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50"/>
              </a:lnSpc>
              <a:spcBef>
                <a:spcPts val="0"/>
              </a:spcBef>
              <a:spcAft>
                <a:spcPts val="0"/>
              </a:spcAft>
              <a:defRPr sz="1845" b="0">
                <a:solidFill>
                  <a:srgbClr val="F4F5F4"/>
                </a:solidFill>
                <a:latin typeface="DejaVu Sans"/>
              </a:defRPr>
            </a:pPr>
            <a:r>
              <a:t>Шийдвэр буруу бол хянуулах арга замтай байна.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Гол ялгаа: сайн дурын тусламжаас гадна хуульд заасан үүрэг бий.</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ICESCR · ҮХ</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ХУУЛИЙН ХАМГААЛАЛТ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0073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Үндсэн хууль юуг</a:t>
            </a:r>
          </a:p>
          <a:p>
            <a:pPr>
              <a:lnSpc>
                <a:spcPts val="4849"/>
              </a:lnSpc>
              <a:spcBef>
                <a:spcPts val="0"/>
              </a:spcBef>
              <a:spcAft>
                <a:spcPts val="0"/>
              </a:spcAft>
              <a:defRPr sz="3975" b="1">
                <a:solidFill>
                  <a:srgbClr val="030A13"/>
                </a:solidFill>
                <a:latin typeface="Open Sans Condensed"/>
              </a:defRPr>
            </a:pPr>
            <a:r>
              <a:t>баталгаажуулдаг вэ?</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Үндсэн хууль юуг</a:t>
            </a:r>
          </a:p>
          <a:p>
            <a:pPr>
              <a:lnSpc>
                <a:spcPts val="4849"/>
              </a:lnSpc>
              <a:spcBef>
                <a:spcPts val="0"/>
              </a:spcBef>
              <a:spcAft>
                <a:spcPts val="0"/>
              </a:spcAft>
              <a:defRPr sz="3975" b="1">
                <a:solidFill>
                  <a:srgbClr val="F4F5F4"/>
                </a:solidFill>
                <a:latin typeface="Open Sans Condensed"/>
              </a:defRPr>
            </a:pPr>
            <a:r>
              <a:t>баталгаажуулдаг вэ?</a:t>
            </a:r>
          </a:p>
        </p:txBody>
      </p:sp>
      <p:sp>
        <p:nvSpPr>
          <p:cNvPr id="38" name="Rounded Rectangle 37"/>
          <p:cNvSpPr/>
          <p:nvPr/>
        </p:nvSpPr>
        <p:spPr>
          <a:xfrm>
            <a:off x="552450" y="2409825"/>
            <a:ext cx="2862597"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05050"/>
            <a:ext cx="2862597"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14575"/>
            <a:ext cx="2843547"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336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52700"/>
            <a:ext cx="2729247"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62200"/>
            <a:ext cx="2633997"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Монгол Улсын Үндсэн хууль • 1992.01.13</a:t>
            </a:r>
          </a:p>
        </p:txBody>
      </p:sp>
      <p:sp>
        <p:nvSpPr>
          <p:cNvPr id="44" name="Rounded Rectangle 43"/>
          <p:cNvSpPr/>
          <p:nvPr/>
        </p:nvSpPr>
        <p:spPr>
          <a:xfrm>
            <a:off x="523874" y="2828925"/>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724150"/>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7336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52725"/>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905125"/>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14.1–14.2</a:t>
            </a:r>
          </a:p>
        </p:txBody>
      </p:sp>
      <p:sp>
        <p:nvSpPr>
          <p:cNvPr id="50" name="TextBox 49"/>
          <p:cNvSpPr txBox="1"/>
          <p:nvPr/>
        </p:nvSpPr>
        <p:spPr>
          <a:xfrm>
            <a:off x="2514600" y="2895600"/>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Тэгш байдал</a:t>
            </a:r>
          </a:p>
        </p:txBody>
      </p:sp>
      <p:sp>
        <p:nvSpPr>
          <p:cNvPr id="51" name="TextBox 50"/>
          <p:cNvSpPr txBox="1"/>
          <p:nvPr/>
        </p:nvSpPr>
        <p:spPr>
          <a:xfrm>
            <a:off x="6115050" y="2905125"/>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Хөрөнгө чинээгээр ялгаварлахгүй.</a:t>
            </a:r>
          </a:p>
        </p:txBody>
      </p:sp>
      <p:cxnSp>
        <p:nvCxnSpPr>
          <p:cNvPr id="52" name="Connector 51"/>
          <p:cNvCxnSpPr/>
          <p:nvPr/>
        </p:nvCxnSpPr>
        <p:spPr>
          <a:xfrm>
            <a:off x="628650" y="3507581"/>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640931"/>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16.5</a:t>
            </a:r>
          </a:p>
        </p:txBody>
      </p:sp>
      <p:sp>
        <p:nvSpPr>
          <p:cNvPr id="54" name="TextBox 53"/>
          <p:cNvSpPr txBox="1"/>
          <p:nvPr/>
        </p:nvSpPr>
        <p:spPr>
          <a:xfrm>
            <a:off x="2514600" y="3631406"/>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тусламж</a:t>
            </a:r>
          </a:p>
        </p:txBody>
      </p:sp>
      <p:sp>
        <p:nvSpPr>
          <p:cNvPr id="55" name="TextBox 54"/>
          <p:cNvSpPr txBox="1"/>
          <p:nvPr/>
        </p:nvSpPr>
        <p:spPr>
          <a:xfrm>
            <a:off x="6115050" y="3640931"/>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Хуульд заасан нөхцөлд тусламж авна.</a:t>
            </a:r>
          </a:p>
        </p:txBody>
      </p:sp>
      <p:cxnSp>
        <p:nvCxnSpPr>
          <p:cNvPr id="56" name="Connector 55"/>
          <p:cNvCxnSpPr/>
          <p:nvPr/>
        </p:nvCxnSpPr>
        <p:spPr>
          <a:xfrm>
            <a:off x="628650" y="4243387"/>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376737"/>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16.6–16.7</a:t>
            </a:r>
          </a:p>
        </p:txBody>
      </p:sp>
      <p:sp>
        <p:nvSpPr>
          <p:cNvPr id="58" name="TextBox 57"/>
          <p:cNvSpPr txBox="1"/>
          <p:nvPr/>
        </p:nvSpPr>
        <p:spPr>
          <a:xfrm>
            <a:off x="2514600" y="4367212"/>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Эрүүл мэнд, боловсрол</a:t>
            </a:r>
          </a:p>
        </p:txBody>
      </p:sp>
      <p:sp>
        <p:nvSpPr>
          <p:cNvPr id="59" name="TextBox 58"/>
          <p:cNvSpPr txBox="1"/>
          <p:nvPr/>
        </p:nvSpPr>
        <p:spPr>
          <a:xfrm>
            <a:off x="6115050" y="4376737"/>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Эрүүл мэндээ хамгаалуулж, сурч боловсорно.</a:t>
            </a:r>
          </a:p>
        </p:txBody>
      </p:sp>
      <p:cxnSp>
        <p:nvCxnSpPr>
          <p:cNvPr id="60" name="Connector 59"/>
          <p:cNvCxnSpPr/>
          <p:nvPr/>
        </p:nvCxnSpPr>
        <p:spPr>
          <a:xfrm>
            <a:off x="628650" y="4979193"/>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5112543"/>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16.12; 16.14</a:t>
            </a:r>
          </a:p>
        </p:txBody>
      </p:sp>
      <p:sp>
        <p:nvSpPr>
          <p:cNvPr id="62" name="TextBox 61"/>
          <p:cNvSpPr txBox="1"/>
          <p:nvPr/>
        </p:nvSpPr>
        <p:spPr>
          <a:xfrm>
            <a:off x="2514600" y="5103018"/>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Эрхээ хамгаалах</a:t>
            </a:r>
          </a:p>
        </p:txBody>
      </p:sp>
      <p:sp>
        <p:nvSpPr>
          <p:cNvPr id="63" name="TextBox 62"/>
          <p:cNvSpPr txBox="1"/>
          <p:nvPr/>
        </p:nvSpPr>
        <p:spPr>
          <a:xfrm>
            <a:off x="6115050" y="5112543"/>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Гомдол гаргаж, шүүхээр хамгаалуулна.</a:t>
            </a:r>
          </a:p>
        </p:txBody>
      </p:sp>
      <p:sp>
        <p:nvSpPr>
          <p:cNvPr id="64" name="Rounded Rectangle 6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Баталгаа нь хүн бүрд хамаарна; хэрэгжүүлэх нөхцөлийг холбогдох хууль тогтооно.</a:t>
            </a:r>
          </a:p>
        </p:txBody>
      </p:sp>
      <p:sp>
        <p:nvSpPr>
          <p:cNvPr id="71" name="Rectangle 7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a:t>
            </a:r>
          </a:p>
        </p:txBody>
      </p:sp>
      <p:sp>
        <p:nvSpPr>
          <p:cNvPr id="73" name="TextBox 7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4" name="TextBox 7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ХУУЛИЙН ХАМГААЛАЛТ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383279"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Салбарын хууль эрхийг</a:t>
            </a:r>
          </a:p>
          <a:p>
            <a:pPr>
              <a:lnSpc>
                <a:spcPts val="4849"/>
              </a:lnSpc>
              <a:spcBef>
                <a:spcPts val="0"/>
              </a:spcBef>
              <a:spcAft>
                <a:spcPts val="0"/>
              </a:spcAft>
              <a:defRPr sz="3975" b="1">
                <a:solidFill>
                  <a:srgbClr val="030A13"/>
                </a:solidFill>
                <a:latin typeface="Open Sans Condensed"/>
              </a:defRPr>
            </a:pPr>
            <a:r>
              <a:t>өдөр тутмын үйлчилгээ болгодог.</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Салбарын хууль эрхийг</a:t>
            </a:r>
          </a:p>
          <a:p>
            <a:pPr>
              <a:lnSpc>
                <a:spcPts val="4849"/>
              </a:lnSpc>
              <a:spcBef>
                <a:spcPts val="0"/>
              </a:spcBef>
              <a:spcAft>
                <a:spcPts val="0"/>
              </a:spcAft>
              <a:defRPr sz="3975" b="1">
                <a:solidFill>
                  <a:srgbClr val="F4F5F4"/>
                </a:solidFill>
                <a:latin typeface="Open Sans Condensed"/>
              </a:defRPr>
            </a:pPr>
            <a:r>
              <a:t>өдөр тутмын үйлчилгээ болгодог.</a:t>
            </a:r>
          </a:p>
        </p:txBody>
      </p:sp>
      <p:sp>
        <p:nvSpPr>
          <p:cNvPr id="38" name="Rounded Rectangle 37"/>
          <p:cNvSpPr/>
          <p:nvPr/>
        </p:nvSpPr>
        <p:spPr>
          <a:xfrm>
            <a:off x="523874" y="2590800"/>
            <a:ext cx="11277600" cy="3257550"/>
          </a:xfrm>
          <a:prstGeom prst="roundRect">
            <a:avLst>
              <a:gd name="adj" fmla="val 350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486025"/>
            <a:ext cx="11277600" cy="3257550"/>
          </a:xfrm>
          <a:prstGeom prst="roundRect">
            <a:avLst>
              <a:gd name="adj" fmla="val 292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4955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14600"/>
            <a:ext cx="19050" cy="3200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667000"/>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2021.07.02</a:t>
            </a:r>
          </a:p>
        </p:txBody>
      </p:sp>
      <p:sp>
        <p:nvSpPr>
          <p:cNvPr id="44" name="TextBox 43"/>
          <p:cNvSpPr txBox="1"/>
          <p:nvPr/>
        </p:nvSpPr>
        <p:spPr>
          <a:xfrm>
            <a:off x="2514600" y="2657475"/>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Хөдөлмөрийн тухай</a:t>
            </a:r>
          </a:p>
        </p:txBody>
      </p:sp>
      <p:sp>
        <p:nvSpPr>
          <p:cNvPr id="45" name="TextBox 44"/>
          <p:cNvSpPr txBox="1"/>
          <p:nvPr/>
        </p:nvSpPr>
        <p:spPr>
          <a:xfrm>
            <a:off x="6115050" y="2667000"/>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6 дугаар зүйл: хөдөлмөрт ялгаварлахыг</a:t>
            </a:r>
          </a:p>
          <a:p>
            <a:pPr>
              <a:lnSpc>
                <a:spcPts val="2104"/>
              </a:lnSpc>
              <a:spcBef>
                <a:spcPts val="0"/>
              </a:spcBef>
              <a:spcAft>
                <a:spcPts val="0"/>
              </a:spcAft>
              <a:defRPr sz="1725" b="0">
                <a:solidFill>
                  <a:srgbClr val="F4F5F4"/>
                </a:solidFill>
                <a:latin typeface="DejaVu Sans"/>
              </a:defRPr>
            </a:pPr>
            <a:r>
              <a:t>хориглоно.</a:t>
            </a:r>
          </a:p>
        </p:txBody>
      </p:sp>
      <p:cxnSp>
        <p:nvCxnSpPr>
          <p:cNvPr id="46" name="Connector 45"/>
          <p:cNvCxnSpPr/>
          <p:nvPr/>
        </p:nvCxnSpPr>
        <p:spPr>
          <a:xfrm>
            <a:off x="628650" y="3328987"/>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462337"/>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2012.01.19</a:t>
            </a:r>
          </a:p>
        </p:txBody>
      </p:sp>
      <p:sp>
        <p:nvSpPr>
          <p:cNvPr id="48" name="TextBox 47"/>
          <p:cNvSpPr txBox="1"/>
          <p:nvPr/>
        </p:nvSpPr>
        <p:spPr>
          <a:xfrm>
            <a:off x="2514600" y="3452812"/>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халамжийн</a:t>
            </a:r>
          </a:p>
          <a:p>
            <a:pPr>
              <a:lnSpc>
                <a:spcPts val="2196"/>
              </a:lnSpc>
              <a:spcBef>
                <a:spcPts val="0"/>
              </a:spcBef>
              <a:spcAft>
                <a:spcPts val="0"/>
              </a:spcAft>
              <a:defRPr sz="1800" b="1">
                <a:solidFill>
                  <a:srgbClr val="F4F5F4"/>
                </a:solidFill>
                <a:latin typeface="DejaVu Sans"/>
              </a:defRPr>
            </a:pPr>
            <a:r>
              <a:t>тухай</a:t>
            </a:r>
          </a:p>
        </p:txBody>
      </p:sp>
      <p:sp>
        <p:nvSpPr>
          <p:cNvPr id="49" name="TextBox 48"/>
          <p:cNvSpPr txBox="1"/>
          <p:nvPr/>
        </p:nvSpPr>
        <p:spPr>
          <a:xfrm>
            <a:off x="6115050" y="3462337"/>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Тэтгэвэр, тэтгэмж, үйлчилгээний</a:t>
            </a:r>
          </a:p>
          <a:p>
            <a:pPr>
              <a:lnSpc>
                <a:spcPts val="2104"/>
              </a:lnSpc>
              <a:spcBef>
                <a:spcPts val="0"/>
              </a:spcBef>
              <a:spcAft>
                <a:spcPts val="0"/>
              </a:spcAft>
              <a:defRPr sz="1725" b="0">
                <a:solidFill>
                  <a:srgbClr val="F4F5F4"/>
                </a:solidFill>
                <a:latin typeface="DejaVu Sans"/>
              </a:defRPr>
            </a:pPr>
            <a:r>
              <a:t>зохицуулалт.</a:t>
            </a:r>
          </a:p>
        </p:txBody>
      </p:sp>
      <p:cxnSp>
        <p:nvCxnSpPr>
          <p:cNvPr id="50" name="Connector 49"/>
          <p:cNvCxnSpPr/>
          <p:nvPr/>
        </p:nvCxnSpPr>
        <p:spPr>
          <a:xfrm>
            <a:off x="628650" y="4124325"/>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257675"/>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2023.07.07</a:t>
            </a:r>
          </a:p>
        </p:txBody>
      </p:sp>
      <p:sp>
        <p:nvSpPr>
          <p:cNvPr id="52" name="TextBox 51"/>
          <p:cNvSpPr txBox="1"/>
          <p:nvPr/>
        </p:nvSpPr>
        <p:spPr>
          <a:xfrm>
            <a:off x="2514600" y="4248150"/>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Боловсролын ерөнхий</a:t>
            </a:r>
          </a:p>
        </p:txBody>
      </p:sp>
      <p:sp>
        <p:nvSpPr>
          <p:cNvPr id="53" name="TextBox 52"/>
          <p:cNvSpPr txBox="1"/>
          <p:nvPr/>
        </p:nvSpPr>
        <p:spPr>
          <a:xfrm>
            <a:off x="6115050" y="4257675"/>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Боловсролын боломж, хүртээмжийн</a:t>
            </a:r>
          </a:p>
          <a:p>
            <a:pPr>
              <a:lnSpc>
                <a:spcPts val="2104"/>
              </a:lnSpc>
              <a:spcBef>
                <a:spcPts val="0"/>
              </a:spcBef>
              <a:spcAft>
                <a:spcPts val="0"/>
              </a:spcAft>
              <a:defRPr sz="1725" b="0">
                <a:solidFill>
                  <a:srgbClr val="F4F5F4"/>
                </a:solidFill>
                <a:latin typeface="DejaVu Sans"/>
              </a:defRPr>
            </a:pPr>
            <a:r>
              <a:t>зохицуулалт.</a:t>
            </a:r>
          </a:p>
        </p:txBody>
      </p:sp>
      <p:cxnSp>
        <p:nvCxnSpPr>
          <p:cNvPr id="54" name="Connector 53"/>
          <p:cNvCxnSpPr/>
          <p:nvPr/>
        </p:nvCxnSpPr>
        <p:spPr>
          <a:xfrm>
            <a:off x="628650" y="4919662"/>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8650" y="5053012"/>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2016.02.05</a:t>
            </a:r>
          </a:p>
        </p:txBody>
      </p:sp>
      <p:sp>
        <p:nvSpPr>
          <p:cNvPr id="56" name="TextBox 55"/>
          <p:cNvSpPr txBox="1"/>
          <p:nvPr/>
        </p:nvSpPr>
        <p:spPr>
          <a:xfrm>
            <a:off x="2514600" y="5043487"/>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Хөгжлийн бэрхшээлтэй</a:t>
            </a:r>
          </a:p>
          <a:p>
            <a:pPr>
              <a:lnSpc>
                <a:spcPts val="2196"/>
              </a:lnSpc>
              <a:spcBef>
                <a:spcPts val="0"/>
              </a:spcBef>
              <a:spcAft>
                <a:spcPts val="0"/>
              </a:spcAft>
              <a:defRPr sz="1800" b="1">
                <a:solidFill>
                  <a:srgbClr val="F4F5F4"/>
                </a:solidFill>
                <a:latin typeface="DejaVu Sans"/>
              </a:defRPr>
            </a:pPr>
            <a:r>
              <a:t>хүний эрхийн тухай</a:t>
            </a:r>
          </a:p>
        </p:txBody>
      </p:sp>
      <p:sp>
        <p:nvSpPr>
          <p:cNvPr id="57" name="TextBox 56"/>
          <p:cNvSpPr txBox="1"/>
          <p:nvPr/>
        </p:nvSpPr>
        <p:spPr>
          <a:xfrm>
            <a:off x="6115050" y="5053012"/>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Хүртээмж ба тэгш оролцооны зохицуулалт.</a:t>
            </a:r>
          </a:p>
        </p:txBody>
      </p:sp>
      <p:sp>
        <p:nvSpPr>
          <p:cNvPr id="58" name="Rounded Rectangle 57"/>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Эндхүү огноо нь баталсан өдөр; сүүлийн нэмэлт, өөрчлөлтийн огноо биш.</a:t>
            </a:r>
          </a:p>
        </p:txBody>
      </p:sp>
      <p:sp>
        <p:nvSpPr>
          <p:cNvPr id="65" name="Rectangle 64"/>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ХТ · НХ · БЕХ · ХБХ</a:t>
            </a:r>
          </a:p>
        </p:txBody>
      </p:sp>
      <p:sp>
        <p:nvSpPr>
          <p:cNvPr id="67" name="TextBox 66"/>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8" name="TextBox 67"/>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7592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71550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Олон улсын баримт бичиг</a:t>
            </a:r>
          </a:p>
          <a:p>
            <a:pPr>
              <a:lnSpc>
                <a:spcPts val="4941"/>
              </a:lnSpc>
              <a:spcBef>
                <a:spcPts val="0"/>
              </a:spcBef>
              <a:spcAft>
                <a:spcPts val="0"/>
              </a:spcAft>
              <a:defRPr sz="4050" b="1">
                <a:solidFill>
                  <a:srgbClr val="030A13"/>
                </a:solidFill>
                <a:latin typeface="Open Sans Condensed"/>
              </a:defRPr>
            </a:pPr>
            <a:r>
              <a:t>ижил эрх зүйн хүчтэй биш.</a:t>
            </a:r>
          </a:p>
        </p:txBody>
      </p:sp>
      <p:sp>
        <p:nvSpPr>
          <p:cNvPr id="37" name="TextBox 36"/>
          <p:cNvSpPr txBox="1"/>
          <p:nvPr/>
        </p:nvSpPr>
        <p:spPr>
          <a:xfrm>
            <a:off x="457200" y="942975"/>
            <a:ext cx="971550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Олон улсын баримт бичиг</a:t>
            </a:r>
          </a:p>
          <a:p>
            <a:pPr>
              <a:lnSpc>
                <a:spcPts val="4941"/>
              </a:lnSpc>
              <a:spcBef>
                <a:spcPts val="0"/>
              </a:spcBef>
              <a:spcAft>
                <a:spcPts val="0"/>
              </a:spcAft>
              <a:defRPr sz="4050" b="1">
                <a:solidFill>
                  <a:srgbClr val="F4F5F4"/>
                </a:solidFill>
                <a:latin typeface="Open Sans Condensed"/>
              </a:defRPr>
            </a:pPr>
            <a:r>
              <a:t>ижил эрх зүйн хүчтэй биш.</a:t>
            </a:r>
          </a:p>
        </p:txBody>
      </p:sp>
      <p:sp>
        <p:nvSpPr>
          <p:cNvPr id="38" name="Rounded Rectangle 37"/>
          <p:cNvSpPr/>
          <p:nvPr/>
        </p:nvSpPr>
        <p:spPr>
          <a:xfrm>
            <a:off x="523874"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0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1948</a:t>
            </a:r>
          </a:p>
        </p:txBody>
      </p:sp>
      <p:sp>
        <p:nvSpPr>
          <p:cNvPr id="44" name="TextBox 43"/>
          <p:cNvSpPr txBox="1"/>
          <p:nvPr/>
        </p:nvSpPr>
        <p:spPr>
          <a:xfrm>
            <a:off x="590550" y="4133849"/>
            <a:ext cx="1866899" cy="838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Түгээмэл</a:t>
            </a:r>
          </a:p>
          <a:p>
            <a:pPr>
              <a:lnSpc>
                <a:spcPts val="2287"/>
              </a:lnSpc>
              <a:spcBef>
                <a:spcPts val="0"/>
              </a:spcBef>
              <a:spcAft>
                <a:spcPts val="0"/>
              </a:spcAft>
              <a:defRPr sz="1875" b="1">
                <a:solidFill>
                  <a:srgbClr val="F4F5F4"/>
                </a:solidFill>
                <a:latin typeface="DejaVu Sans"/>
              </a:defRPr>
            </a:pPr>
            <a:r>
              <a:t>тунхаглал</a:t>
            </a:r>
          </a:p>
        </p:txBody>
      </p:sp>
      <p:sp>
        <p:nvSpPr>
          <p:cNvPr id="45" name="TextBox 44"/>
          <p:cNvSpPr txBox="1"/>
          <p:nvPr/>
        </p:nvSpPr>
        <p:spPr>
          <a:xfrm>
            <a:off x="590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1948.12.10</a:t>
            </a:r>
          </a:p>
        </p:txBody>
      </p:sp>
      <p:sp>
        <p:nvSpPr>
          <p:cNvPr id="46" name="Rounded Rectangle 45"/>
          <p:cNvSpPr/>
          <p:nvPr/>
        </p:nvSpPr>
        <p:spPr>
          <a:xfrm>
            <a:off x="2809875"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3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52725"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52725"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809875"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76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1966</a:t>
            </a:r>
          </a:p>
        </p:txBody>
      </p:sp>
      <p:sp>
        <p:nvSpPr>
          <p:cNvPr id="52" name="TextBox 51"/>
          <p:cNvSpPr txBox="1"/>
          <p:nvPr/>
        </p:nvSpPr>
        <p:spPr>
          <a:xfrm>
            <a:off x="2876550" y="4133849"/>
            <a:ext cx="1866899" cy="838200"/>
          </a:xfrm>
          <a:prstGeom prst="rect">
            <a:avLst/>
          </a:prstGeom>
          <a:noFill/>
        </p:spPr>
        <p:txBody>
          <a:bodyPr wrap="none" lIns="0" tIns="0" rIns="0" bIns="0">
            <a:spAutoFit/>
          </a:bodyPr>
          <a:lstStyle/>
          <a:p>
            <a:pPr>
              <a:lnSpc>
                <a:spcPts val="2177"/>
              </a:lnSpc>
              <a:spcBef>
                <a:spcPts val="0"/>
              </a:spcBef>
              <a:spcAft>
                <a:spcPts val="0"/>
              </a:spcAft>
              <a:defRPr sz="1785" b="1">
                <a:solidFill>
                  <a:srgbClr val="F4F5F4"/>
                </a:solidFill>
                <a:latin typeface="DejaVu Sans"/>
              </a:defRPr>
            </a:pPr>
            <a:r>
              <a:t>Хоёр</a:t>
            </a:r>
          </a:p>
          <a:p>
            <a:pPr>
              <a:lnSpc>
                <a:spcPts val="2177"/>
              </a:lnSpc>
              <a:spcBef>
                <a:spcPts val="0"/>
              </a:spcBef>
              <a:spcAft>
                <a:spcPts val="0"/>
              </a:spcAft>
              <a:defRPr sz="1785" b="1">
                <a:solidFill>
                  <a:srgbClr val="F4F5F4"/>
                </a:solidFill>
                <a:latin typeface="DejaVu Sans"/>
              </a:defRPr>
            </a:pPr>
            <a:r>
              <a:t>олон улсын</a:t>
            </a:r>
          </a:p>
          <a:p>
            <a:pPr>
              <a:lnSpc>
                <a:spcPts val="2177"/>
              </a:lnSpc>
              <a:spcBef>
                <a:spcPts val="0"/>
              </a:spcBef>
              <a:spcAft>
                <a:spcPts val="0"/>
              </a:spcAft>
              <a:defRPr sz="1785" b="1">
                <a:solidFill>
                  <a:srgbClr val="F4F5F4"/>
                </a:solidFill>
                <a:latin typeface="DejaVu Sans"/>
              </a:defRPr>
            </a:pPr>
            <a:r>
              <a:t>пакт</a:t>
            </a:r>
          </a:p>
        </p:txBody>
      </p:sp>
      <p:sp>
        <p:nvSpPr>
          <p:cNvPr id="53" name="TextBox 52"/>
          <p:cNvSpPr txBox="1"/>
          <p:nvPr/>
        </p:nvSpPr>
        <p:spPr>
          <a:xfrm>
            <a:off x="2876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1966.12.16</a:t>
            </a:r>
          </a:p>
        </p:txBody>
      </p:sp>
      <p:sp>
        <p:nvSpPr>
          <p:cNvPr id="54" name="Rounded Rectangle 53"/>
          <p:cNvSpPr/>
          <p:nvPr/>
        </p:nvSpPr>
        <p:spPr>
          <a:xfrm>
            <a:off x="5095875"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029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038725"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38725"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95875"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62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1989</a:t>
            </a:r>
          </a:p>
        </p:txBody>
      </p:sp>
      <p:sp>
        <p:nvSpPr>
          <p:cNvPr id="60" name="TextBox 59"/>
          <p:cNvSpPr txBox="1"/>
          <p:nvPr/>
        </p:nvSpPr>
        <p:spPr>
          <a:xfrm>
            <a:off x="5162550" y="4133849"/>
            <a:ext cx="1866899" cy="838200"/>
          </a:xfrm>
          <a:prstGeom prst="rect">
            <a:avLst/>
          </a:prstGeom>
          <a:noFill/>
        </p:spPr>
        <p:txBody>
          <a:bodyPr wrap="none" lIns="0" tIns="0" rIns="0" bIns="0">
            <a:spAutoFit/>
          </a:bodyPr>
          <a:lstStyle/>
          <a:p>
            <a:pPr>
              <a:lnSpc>
                <a:spcPts val="2177"/>
              </a:lnSpc>
              <a:spcBef>
                <a:spcPts val="0"/>
              </a:spcBef>
              <a:spcAft>
                <a:spcPts val="0"/>
              </a:spcAft>
              <a:defRPr sz="1785" b="1">
                <a:solidFill>
                  <a:srgbClr val="F4F5F4"/>
                </a:solidFill>
                <a:latin typeface="DejaVu Sans"/>
              </a:defRPr>
            </a:pPr>
            <a:r>
              <a:t>Хүүхдийн</a:t>
            </a:r>
          </a:p>
          <a:p>
            <a:pPr>
              <a:lnSpc>
                <a:spcPts val="2177"/>
              </a:lnSpc>
              <a:spcBef>
                <a:spcPts val="0"/>
              </a:spcBef>
              <a:spcAft>
                <a:spcPts val="0"/>
              </a:spcAft>
              <a:defRPr sz="1785" b="1">
                <a:solidFill>
                  <a:srgbClr val="F4F5F4"/>
                </a:solidFill>
                <a:latin typeface="DejaVu Sans"/>
              </a:defRPr>
            </a:pPr>
            <a:r>
              <a:t>эрхийн</a:t>
            </a:r>
          </a:p>
          <a:p>
            <a:pPr>
              <a:lnSpc>
                <a:spcPts val="2177"/>
              </a:lnSpc>
              <a:spcBef>
                <a:spcPts val="0"/>
              </a:spcBef>
              <a:spcAft>
                <a:spcPts val="0"/>
              </a:spcAft>
              <a:defRPr sz="1785" b="1">
                <a:solidFill>
                  <a:srgbClr val="F4F5F4"/>
                </a:solidFill>
                <a:latin typeface="DejaVu Sans"/>
              </a:defRPr>
            </a:pPr>
            <a:r>
              <a:t>конвенц</a:t>
            </a:r>
          </a:p>
        </p:txBody>
      </p:sp>
      <p:sp>
        <p:nvSpPr>
          <p:cNvPr id="61" name="TextBox 60"/>
          <p:cNvSpPr txBox="1"/>
          <p:nvPr/>
        </p:nvSpPr>
        <p:spPr>
          <a:xfrm>
            <a:off x="5162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1989.11.20</a:t>
            </a:r>
          </a:p>
        </p:txBody>
      </p:sp>
      <p:sp>
        <p:nvSpPr>
          <p:cNvPr id="62" name="Rounded Rectangle 61"/>
          <p:cNvSpPr/>
          <p:nvPr/>
        </p:nvSpPr>
        <p:spPr>
          <a:xfrm>
            <a:off x="7381874"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315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324724"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324724"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381874"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48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2006</a:t>
            </a:r>
          </a:p>
        </p:txBody>
      </p:sp>
      <p:sp>
        <p:nvSpPr>
          <p:cNvPr id="68" name="TextBox 67"/>
          <p:cNvSpPr txBox="1"/>
          <p:nvPr/>
        </p:nvSpPr>
        <p:spPr>
          <a:xfrm>
            <a:off x="7448550" y="4133849"/>
            <a:ext cx="1866899" cy="83820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Хөгжлийн</a:t>
            </a:r>
          </a:p>
          <a:p>
            <a:pPr>
              <a:lnSpc>
                <a:spcPts val="2104"/>
              </a:lnSpc>
              <a:spcBef>
                <a:spcPts val="0"/>
              </a:spcBef>
              <a:spcAft>
                <a:spcPts val="0"/>
              </a:spcAft>
              <a:defRPr sz="1725" b="1">
                <a:solidFill>
                  <a:srgbClr val="F4F5F4"/>
                </a:solidFill>
                <a:latin typeface="DejaVu Sans"/>
              </a:defRPr>
            </a:pPr>
            <a:r>
              <a:t>бэрхшээлтэй</a:t>
            </a:r>
          </a:p>
          <a:p>
            <a:pPr>
              <a:lnSpc>
                <a:spcPts val="2104"/>
              </a:lnSpc>
              <a:spcBef>
                <a:spcPts val="0"/>
              </a:spcBef>
              <a:spcAft>
                <a:spcPts val="0"/>
              </a:spcAft>
              <a:defRPr sz="1725" b="1">
                <a:solidFill>
                  <a:srgbClr val="F4F5F4"/>
                </a:solidFill>
                <a:latin typeface="DejaVu Sans"/>
              </a:defRPr>
            </a:pPr>
            <a:r>
              <a:t>хүмүүсийн эрх</a:t>
            </a:r>
          </a:p>
        </p:txBody>
      </p:sp>
      <p:sp>
        <p:nvSpPr>
          <p:cNvPr id="69" name="TextBox 68"/>
          <p:cNvSpPr txBox="1"/>
          <p:nvPr/>
        </p:nvSpPr>
        <p:spPr>
          <a:xfrm>
            <a:off x="7448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2006.12.13</a:t>
            </a:r>
          </a:p>
        </p:txBody>
      </p:sp>
      <p:sp>
        <p:nvSpPr>
          <p:cNvPr id="70" name="Rounded Rectangle 69"/>
          <p:cNvSpPr/>
          <p:nvPr/>
        </p:nvSpPr>
        <p:spPr>
          <a:xfrm>
            <a:off x="9667875"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601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610725"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610725"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667875"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734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2015</a:t>
            </a:r>
          </a:p>
        </p:txBody>
      </p:sp>
      <p:sp>
        <p:nvSpPr>
          <p:cNvPr id="76" name="TextBox 75"/>
          <p:cNvSpPr txBox="1"/>
          <p:nvPr/>
        </p:nvSpPr>
        <p:spPr>
          <a:xfrm>
            <a:off x="9734550" y="4133849"/>
            <a:ext cx="1866899" cy="838200"/>
          </a:xfrm>
          <a:prstGeom prst="rect">
            <a:avLst/>
          </a:prstGeom>
          <a:noFill/>
        </p:spPr>
        <p:txBody>
          <a:bodyPr wrap="none" lIns="0" tIns="0" rIns="0" bIns="0">
            <a:spAutoFit/>
          </a:bodyPr>
          <a:lstStyle/>
          <a:p>
            <a:pPr>
              <a:lnSpc>
                <a:spcPts val="2177"/>
              </a:lnSpc>
              <a:spcBef>
                <a:spcPts val="0"/>
              </a:spcBef>
              <a:spcAft>
                <a:spcPts val="0"/>
              </a:spcAft>
              <a:defRPr sz="1785" b="1">
                <a:solidFill>
                  <a:srgbClr val="F4F5F4"/>
                </a:solidFill>
                <a:latin typeface="DejaVu Sans"/>
              </a:defRPr>
            </a:pPr>
            <a:r>
              <a:t>Тогтвортой</a:t>
            </a:r>
          </a:p>
          <a:p>
            <a:pPr>
              <a:lnSpc>
                <a:spcPts val="2177"/>
              </a:lnSpc>
              <a:spcBef>
                <a:spcPts val="0"/>
              </a:spcBef>
              <a:spcAft>
                <a:spcPts val="0"/>
              </a:spcAft>
              <a:defRPr sz="1785" b="1">
                <a:solidFill>
                  <a:srgbClr val="F4F5F4"/>
                </a:solidFill>
                <a:latin typeface="DejaVu Sans"/>
              </a:defRPr>
            </a:pPr>
            <a:r>
              <a:t>хөгжлийн</a:t>
            </a:r>
          </a:p>
          <a:p>
            <a:pPr>
              <a:lnSpc>
                <a:spcPts val="2177"/>
              </a:lnSpc>
              <a:spcBef>
                <a:spcPts val="0"/>
              </a:spcBef>
              <a:spcAft>
                <a:spcPts val="0"/>
              </a:spcAft>
              <a:defRPr sz="1785" b="1">
                <a:solidFill>
                  <a:srgbClr val="F4F5F4"/>
                </a:solidFill>
                <a:latin typeface="DejaVu Sans"/>
              </a:defRPr>
            </a:pPr>
            <a:r>
              <a:t>зорилго</a:t>
            </a:r>
          </a:p>
        </p:txBody>
      </p:sp>
      <p:sp>
        <p:nvSpPr>
          <p:cNvPr id="77" name="TextBox 76"/>
          <p:cNvSpPr txBox="1"/>
          <p:nvPr/>
        </p:nvSpPr>
        <p:spPr>
          <a:xfrm>
            <a:off x="9734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2015.09.25</a:t>
            </a:r>
          </a:p>
        </p:txBody>
      </p:sp>
      <p:sp>
        <p:nvSpPr>
          <p:cNvPr id="78" name="Rounded Rectangle 77"/>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Тунхаглал — нийтлэг стандарт. Гэрээ — оролцогч улсын үүрэг. ТХЗ — бодлогын зорилго.</a:t>
            </a:r>
          </a:p>
        </p:txBody>
      </p:sp>
      <p:sp>
        <p:nvSpPr>
          <p:cNvPr id="85" name="Rectangle 84"/>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ICESCR · ICCPR · CRC · CRPD · SDG</a:t>
            </a:r>
          </a:p>
        </p:txBody>
      </p:sp>
      <p:sp>
        <p:nvSpPr>
          <p:cNvPr id="87" name="TextBox 86"/>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8" name="TextBox 87"/>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41351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Түгээмэл тунхаглал:</a:t>
            </a:r>
          </a:p>
          <a:p>
            <a:pPr>
              <a:lnSpc>
                <a:spcPts val="4849"/>
              </a:lnSpc>
              <a:spcBef>
                <a:spcPts val="0"/>
              </a:spcBef>
              <a:spcAft>
                <a:spcPts val="0"/>
              </a:spcAft>
              <a:defRPr sz="3975" b="1">
                <a:solidFill>
                  <a:srgbClr val="030A13"/>
                </a:solidFill>
                <a:latin typeface="Open Sans Condensed"/>
              </a:defRPr>
            </a:pPr>
            <a:r>
              <a:t>нэр төртэй амьдрах суурь.</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Түгээмэл тунхаглал:</a:t>
            </a:r>
          </a:p>
          <a:p>
            <a:pPr>
              <a:lnSpc>
                <a:spcPts val="4849"/>
              </a:lnSpc>
              <a:spcBef>
                <a:spcPts val="0"/>
              </a:spcBef>
              <a:spcAft>
                <a:spcPts val="0"/>
              </a:spcAft>
              <a:defRPr sz="3975" b="1">
                <a:solidFill>
                  <a:srgbClr val="F4F5F4"/>
                </a:solidFill>
                <a:latin typeface="Open Sans Condensed"/>
              </a:defRPr>
            </a:pPr>
            <a:r>
              <a:t>нэр төртэй амьдрах суурь.</a:t>
            </a:r>
          </a:p>
        </p:txBody>
      </p:sp>
      <p:sp>
        <p:nvSpPr>
          <p:cNvPr id="38" name="Rounded Rectangle 37"/>
          <p:cNvSpPr/>
          <p:nvPr/>
        </p:nvSpPr>
        <p:spPr>
          <a:xfrm>
            <a:off x="552450" y="2409825"/>
            <a:ext cx="327548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05050"/>
            <a:ext cx="327548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14575"/>
            <a:ext cx="325643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336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52700"/>
            <a:ext cx="314213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62200"/>
            <a:ext cx="304688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Хүний эрхийн түгээмэл тунхаглал • 1948.12.10</a:t>
            </a:r>
          </a:p>
        </p:txBody>
      </p:sp>
      <p:sp>
        <p:nvSpPr>
          <p:cNvPr id="44" name="Rounded Rectangle 43"/>
          <p:cNvSpPr/>
          <p:nvPr/>
        </p:nvSpPr>
        <p:spPr>
          <a:xfrm>
            <a:off x="523874" y="2828925"/>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724150"/>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7336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52725"/>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905125"/>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 2</a:t>
            </a:r>
          </a:p>
        </p:txBody>
      </p:sp>
      <p:sp>
        <p:nvSpPr>
          <p:cNvPr id="50" name="TextBox 49"/>
          <p:cNvSpPr txBox="1"/>
          <p:nvPr/>
        </p:nvSpPr>
        <p:spPr>
          <a:xfrm>
            <a:off x="2514600" y="2895600"/>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Тэгш байдал</a:t>
            </a:r>
          </a:p>
        </p:txBody>
      </p:sp>
      <p:sp>
        <p:nvSpPr>
          <p:cNvPr id="51" name="TextBox 50"/>
          <p:cNvSpPr txBox="1"/>
          <p:nvPr/>
        </p:nvSpPr>
        <p:spPr>
          <a:xfrm>
            <a:off x="6115050" y="2905125"/>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Хүн бүр ижил нэр төр, эрхтэй.</a:t>
            </a:r>
          </a:p>
        </p:txBody>
      </p:sp>
      <p:cxnSp>
        <p:nvCxnSpPr>
          <p:cNvPr id="52" name="Connector 51"/>
          <p:cNvCxnSpPr/>
          <p:nvPr/>
        </p:nvCxnSpPr>
        <p:spPr>
          <a:xfrm>
            <a:off x="628650" y="3360420"/>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493770"/>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22</a:t>
            </a:r>
          </a:p>
        </p:txBody>
      </p:sp>
      <p:sp>
        <p:nvSpPr>
          <p:cNvPr id="54" name="TextBox 53"/>
          <p:cNvSpPr txBox="1"/>
          <p:nvPr/>
        </p:nvSpPr>
        <p:spPr>
          <a:xfrm>
            <a:off x="2514600" y="3484245"/>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хамгаалал</a:t>
            </a:r>
          </a:p>
        </p:txBody>
      </p:sp>
      <p:sp>
        <p:nvSpPr>
          <p:cNvPr id="55" name="TextBox 54"/>
          <p:cNvSpPr txBox="1"/>
          <p:nvPr/>
        </p:nvSpPr>
        <p:spPr>
          <a:xfrm>
            <a:off x="6115050" y="3493770"/>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Эрсдэлд орсон хүнд хамгаалалт хэрэгтэй.</a:t>
            </a:r>
          </a:p>
        </p:txBody>
      </p:sp>
      <p:cxnSp>
        <p:nvCxnSpPr>
          <p:cNvPr id="56" name="Connector 55"/>
          <p:cNvCxnSpPr/>
          <p:nvPr/>
        </p:nvCxnSpPr>
        <p:spPr>
          <a:xfrm>
            <a:off x="628650" y="3949065"/>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082415"/>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23</a:t>
            </a:r>
          </a:p>
        </p:txBody>
      </p:sp>
      <p:sp>
        <p:nvSpPr>
          <p:cNvPr id="58" name="TextBox 57"/>
          <p:cNvSpPr txBox="1"/>
          <p:nvPr/>
        </p:nvSpPr>
        <p:spPr>
          <a:xfrm>
            <a:off x="2514600" y="4072890"/>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Хөдөлмөр</a:t>
            </a:r>
          </a:p>
        </p:txBody>
      </p:sp>
      <p:sp>
        <p:nvSpPr>
          <p:cNvPr id="59" name="TextBox 58"/>
          <p:cNvSpPr txBox="1"/>
          <p:nvPr/>
        </p:nvSpPr>
        <p:spPr>
          <a:xfrm>
            <a:off x="6115050" y="4082415"/>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Шударга, таатай хөдөлмөрийн нөхцөл.</a:t>
            </a:r>
          </a:p>
        </p:txBody>
      </p:sp>
      <p:cxnSp>
        <p:nvCxnSpPr>
          <p:cNvPr id="60" name="Connector 59"/>
          <p:cNvCxnSpPr/>
          <p:nvPr/>
        </p:nvCxnSpPr>
        <p:spPr>
          <a:xfrm>
            <a:off x="628650" y="4537710"/>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4671060"/>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25</a:t>
            </a:r>
          </a:p>
        </p:txBody>
      </p:sp>
      <p:sp>
        <p:nvSpPr>
          <p:cNvPr id="62" name="TextBox 61"/>
          <p:cNvSpPr txBox="1"/>
          <p:nvPr/>
        </p:nvSpPr>
        <p:spPr>
          <a:xfrm>
            <a:off x="2514600" y="4661535"/>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Амьжиргаа</a:t>
            </a:r>
          </a:p>
        </p:txBody>
      </p:sp>
      <p:sp>
        <p:nvSpPr>
          <p:cNvPr id="63" name="TextBox 62"/>
          <p:cNvSpPr txBox="1"/>
          <p:nvPr/>
        </p:nvSpPr>
        <p:spPr>
          <a:xfrm>
            <a:off x="6115050" y="4671060"/>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Хоол, байр, эрүүл мэндийн суурь хэрэгцээ.</a:t>
            </a:r>
          </a:p>
        </p:txBody>
      </p:sp>
      <p:cxnSp>
        <p:nvCxnSpPr>
          <p:cNvPr id="64" name="Connector 63"/>
          <p:cNvCxnSpPr/>
          <p:nvPr/>
        </p:nvCxnSpPr>
        <p:spPr>
          <a:xfrm>
            <a:off x="628650" y="5126354"/>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28650" y="5259705"/>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26</a:t>
            </a:r>
          </a:p>
        </p:txBody>
      </p:sp>
      <p:sp>
        <p:nvSpPr>
          <p:cNvPr id="66" name="TextBox 65"/>
          <p:cNvSpPr txBox="1"/>
          <p:nvPr/>
        </p:nvSpPr>
        <p:spPr>
          <a:xfrm>
            <a:off x="2514600" y="5250180"/>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Боловсрол</a:t>
            </a:r>
          </a:p>
        </p:txBody>
      </p:sp>
      <p:sp>
        <p:nvSpPr>
          <p:cNvPr id="67" name="TextBox 66"/>
          <p:cNvSpPr txBox="1"/>
          <p:nvPr/>
        </p:nvSpPr>
        <p:spPr>
          <a:xfrm>
            <a:off x="6115050" y="5259705"/>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Боловсролд хүрэх боломж.</a:t>
            </a:r>
          </a:p>
        </p:txBody>
      </p:sp>
      <p:sp>
        <p:nvSpPr>
          <p:cNvPr id="68" name="Rounded Rectangle 67"/>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Түгээмэл тунхаглал бол олон улсын гэрээ биш; нийтлэг стандартын суурь юм.</a:t>
            </a:r>
          </a:p>
        </p:txBody>
      </p:sp>
      <p:sp>
        <p:nvSpPr>
          <p:cNvPr id="75" name="Rectangle 74"/>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a:t>
            </a:r>
          </a:p>
        </p:txBody>
      </p:sp>
      <p:sp>
        <p:nvSpPr>
          <p:cNvPr id="77" name="TextBox 76"/>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8" name="TextBox 77"/>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45110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Нийгмийн эрхийг</a:t>
            </a:r>
          </a:p>
          <a:p>
            <a:pPr>
              <a:lnSpc>
                <a:spcPts val="4849"/>
              </a:lnSpc>
              <a:spcBef>
                <a:spcPts val="0"/>
              </a:spcBef>
              <a:spcAft>
                <a:spcPts val="0"/>
              </a:spcAft>
              <a:defRPr sz="3975" b="1">
                <a:solidFill>
                  <a:srgbClr val="030A13"/>
                </a:solidFill>
                <a:latin typeface="Open Sans Condensed"/>
              </a:defRPr>
            </a:pPr>
            <a:r>
              <a:t>бодитоор хэрэгжүүлэх үүрэгтэй.</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Нийгмийн эрхийг</a:t>
            </a:r>
          </a:p>
          <a:p>
            <a:pPr>
              <a:lnSpc>
                <a:spcPts val="4849"/>
              </a:lnSpc>
              <a:spcBef>
                <a:spcPts val="0"/>
              </a:spcBef>
              <a:spcAft>
                <a:spcPts val="0"/>
              </a:spcAft>
              <a:defRPr sz="3975" b="1">
                <a:solidFill>
                  <a:srgbClr val="F4F5F4"/>
                </a:solidFill>
                <a:latin typeface="Open Sans Condensed"/>
              </a:defRPr>
            </a:pPr>
            <a:r>
              <a:t>бодитоор хэрэгжүүлэх үүрэгтэй.</a:t>
            </a:r>
          </a:p>
        </p:txBody>
      </p:sp>
      <p:sp>
        <p:nvSpPr>
          <p:cNvPr id="38" name="Rounded Rectangle 37"/>
          <p:cNvSpPr/>
          <p:nvPr/>
        </p:nvSpPr>
        <p:spPr>
          <a:xfrm>
            <a:off x="552450" y="2409825"/>
            <a:ext cx="423888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05050"/>
            <a:ext cx="423888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14575"/>
            <a:ext cx="421983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336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52700"/>
            <a:ext cx="410553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62200"/>
            <a:ext cx="401028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Эдийн засаг, нийгэм, соёлын эрхийн тухай пакт • 1966.12.16</a:t>
            </a:r>
          </a:p>
        </p:txBody>
      </p:sp>
      <p:sp>
        <p:nvSpPr>
          <p:cNvPr id="44" name="Rounded Rectangle 43"/>
          <p:cNvSpPr/>
          <p:nvPr/>
        </p:nvSpPr>
        <p:spPr>
          <a:xfrm>
            <a:off x="523874" y="2828925"/>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724150"/>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7336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52725"/>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905125"/>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6; 7</a:t>
            </a:r>
          </a:p>
        </p:txBody>
      </p:sp>
      <p:sp>
        <p:nvSpPr>
          <p:cNvPr id="50" name="TextBox 49"/>
          <p:cNvSpPr txBox="1"/>
          <p:nvPr/>
        </p:nvSpPr>
        <p:spPr>
          <a:xfrm>
            <a:off x="2514600" y="2895600"/>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Хөдөлмөр</a:t>
            </a:r>
          </a:p>
        </p:txBody>
      </p:sp>
      <p:sp>
        <p:nvSpPr>
          <p:cNvPr id="51" name="TextBox 50"/>
          <p:cNvSpPr txBox="1"/>
          <p:nvPr/>
        </p:nvSpPr>
        <p:spPr>
          <a:xfrm>
            <a:off x="6115050" y="2905125"/>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Ажиллах боломж, шударга нөхцөл.</a:t>
            </a:r>
          </a:p>
        </p:txBody>
      </p:sp>
      <p:cxnSp>
        <p:nvCxnSpPr>
          <p:cNvPr id="52" name="Connector 51"/>
          <p:cNvCxnSpPr/>
          <p:nvPr/>
        </p:nvCxnSpPr>
        <p:spPr>
          <a:xfrm>
            <a:off x="628650" y="3507581"/>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640931"/>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9</a:t>
            </a:r>
          </a:p>
        </p:txBody>
      </p:sp>
      <p:sp>
        <p:nvSpPr>
          <p:cNvPr id="54" name="TextBox 53"/>
          <p:cNvSpPr txBox="1"/>
          <p:nvPr/>
        </p:nvSpPr>
        <p:spPr>
          <a:xfrm>
            <a:off x="2514600" y="3631406"/>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хамгаалал</a:t>
            </a:r>
          </a:p>
        </p:txBody>
      </p:sp>
      <p:sp>
        <p:nvSpPr>
          <p:cNvPr id="55" name="TextBox 54"/>
          <p:cNvSpPr txBox="1"/>
          <p:nvPr/>
        </p:nvSpPr>
        <p:spPr>
          <a:xfrm>
            <a:off x="6115050" y="3640931"/>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Эрсдэлийн үед хамгаалуулах.</a:t>
            </a:r>
          </a:p>
        </p:txBody>
      </p:sp>
      <p:cxnSp>
        <p:nvCxnSpPr>
          <p:cNvPr id="56" name="Connector 55"/>
          <p:cNvCxnSpPr/>
          <p:nvPr/>
        </p:nvCxnSpPr>
        <p:spPr>
          <a:xfrm>
            <a:off x="628650" y="4243387"/>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376737"/>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11</a:t>
            </a:r>
          </a:p>
        </p:txBody>
      </p:sp>
      <p:sp>
        <p:nvSpPr>
          <p:cNvPr id="58" name="TextBox 57"/>
          <p:cNvSpPr txBox="1"/>
          <p:nvPr/>
        </p:nvSpPr>
        <p:spPr>
          <a:xfrm>
            <a:off x="2514600" y="4367212"/>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Зохистой амьжиргаа</a:t>
            </a:r>
          </a:p>
        </p:txBody>
      </p:sp>
      <p:sp>
        <p:nvSpPr>
          <p:cNvPr id="59" name="TextBox 58"/>
          <p:cNvSpPr txBox="1"/>
          <p:nvPr/>
        </p:nvSpPr>
        <p:spPr>
          <a:xfrm>
            <a:off x="6115050" y="4376737"/>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Хоол, хувцас, орон байр.</a:t>
            </a:r>
          </a:p>
        </p:txBody>
      </p:sp>
      <p:cxnSp>
        <p:nvCxnSpPr>
          <p:cNvPr id="60" name="Connector 59"/>
          <p:cNvCxnSpPr/>
          <p:nvPr/>
        </p:nvCxnSpPr>
        <p:spPr>
          <a:xfrm>
            <a:off x="628650" y="4979193"/>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5112543"/>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12; 13</a:t>
            </a:r>
          </a:p>
        </p:txBody>
      </p:sp>
      <p:sp>
        <p:nvSpPr>
          <p:cNvPr id="62" name="TextBox 61"/>
          <p:cNvSpPr txBox="1"/>
          <p:nvPr/>
        </p:nvSpPr>
        <p:spPr>
          <a:xfrm>
            <a:off x="2514600" y="5103018"/>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Эрүүл мэнд, боловсрол</a:t>
            </a:r>
          </a:p>
        </p:txBody>
      </p:sp>
      <p:sp>
        <p:nvSpPr>
          <p:cNvPr id="63" name="TextBox 62"/>
          <p:cNvSpPr txBox="1"/>
          <p:nvPr/>
        </p:nvSpPr>
        <p:spPr>
          <a:xfrm>
            <a:off x="6115050" y="5112543"/>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Үйлчилгээнд бодитоор хүрэх боломж.</a:t>
            </a:r>
          </a:p>
        </p:txBody>
      </p:sp>
      <p:sp>
        <p:nvSpPr>
          <p:cNvPr id="64" name="Rounded Rectangle 6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Төр нөөц боломжоо ашиглан ахиц гаргана. Ялгаварлалгүй байх үүргийг хойшлуулахгүй.</a:t>
            </a:r>
          </a:p>
        </p:txBody>
      </p:sp>
      <p:sp>
        <p:nvSpPr>
          <p:cNvPr id="71" name="Rectangle 7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GC3</a:t>
            </a:r>
          </a:p>
        </p:txBody>
      </p:sp>
      <p:sp>
        <p:nvSpPr>
          <p:cNvPr id="73" name="TextBox 7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4" name="TextBox 7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48869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Эрхээ шаардахын тулд</a:t>
            </a:r>
          </a:p>
          <a:p>
            <a:pPr>
              <a:lnSpc>
                <a:spcPts val="4941"/>
              </a:lnSpc>
              <a:spcBef>
                <a:spcPts val="0"/>
              </a:spcBef>
              <a:spcAft>
                <a:spcPts val="0"/>
              </a:spcAft>
              <a:defRPr sz="4050" b="1">
                <a:solidFill>
                  <a:srgbClr val="030A13"/>
                </a:solidFill>
                <a:latin typeface="Open Sans Condensed"/>
              </a:defRPr>
            </a:pPr>
            <a:r>
              <a:t>дуу хоолой, хамгаалалт хэрэгтэй.</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Эрхээ шаардахын тулд</a:t>
            </a:r>
          </a:p>
          <a:p>
            <a:pPr>
              <a:lnSpc>
                <a:spcPts val="4941"/>
              </a:lnSpc>
              <a:spcBef>
                <a:spcPts val="0"/>
              </a:spcBef>
              <a:spcAft>
                <a:spcPts val="0"/>
              </a:spcAft>
              <a:defRPr sz="4050" b="1">
                <a:solidFill>
                  <a:srgbClr val="F4F5F4"/>
                </a:solidFill>
                <a:latin typeface="Open Sans Condensed"/>
              </a:defRPr>
            </a:pPr>
            <a:r>
              <a:t>дуу хоолой, хамгаалалт хэрэгтэй.</a:t>
            </a:r>
          </a:p>
        </p:txBody>
      </p:sp>
      <p:sp>
        <p:nvSpPr>
          <p:cNvPr id="38" name="Rounded Rectangle 37"/>
          <p:cNvSpPr/>
          <p:nvPr/>
        </p:nvSpPr>
        <p:spPr>
          <a:xfrm>
            <a:off x="552450" y="2400300"/>
            <a:ext cx="4032442"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032442"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013392"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899092"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803842"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Иргэний болон улс төрийн эрхийн тухай пакт • 1966.12.16</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26 дугаар зүйл</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Хуулийн өмнө тэгш хамгаалуулна.</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14 дүгээр зүйл</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Шүүхийн өмнө тэгш байна.</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25 дугаар зүйл</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Иргэд төрийн хэрэгт оролцох боломжтой.</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Орлого бага байх нь хүний дуу хоолойг үгүйсгэх үндэслэл биш.</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ICCPR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52628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Төрийн үүргийг</a:t>
            </a:r>
          </a:p>
          <a:p>
            <a:pPr>
              <a:lnSpc>
                <a:spcPts val="4941"/>
              </a:lnSpc>
              <a:spcBef>
                <a:spcPts val="0"/>
              </a:spcBef>
              <a:spcAft>
                <a:spcPts val="0"/>
              </a:spcAft>
              <a:defRPr sz="4050" b="1">
                <a:solidFill>
                  <a:srgbClr val="030A13"/>
                </a:solidFill>
                <a:latin typeface="Open Sans Condensed"/>
              </a:defRPr>
            </a:pPr>
            <a:r>
              <a:t>гурван үйлдлээр санаарай.</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Төрийн үүргийг</a:t>
            </a:r>
          </a:p>
          <a:p>
            <a:pPr>
              <a:lnSpc>
                <a:spcPts val="4941"/>
              </a:lnSpc>
              <a:spcBef>
                <a:spcPts val="0"/>
              </a:spcBef>
              <a:spcAft>
                <a:spcPts val="0"/>
              </a:spcAft>
              <a:defRPr sz="4050" b="1">
                <a:solidFill>
                  <a:srgbClr val="F4F5F4"/>
                </a:solidFill>
                <a:latin typeface="Open Sans Condensed"/>
              </a:defRPr>
            </a:pPr>
            <a:r>
              <a:t>гурван үйлдлээр санаарай.</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Өөрөө зөрчихгүй</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Төр эрхэд үндэслэлгүй халдахгүй.</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Бусдаас хамгаална</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Ажил олгогч, үйлчилгээ үзүүлэгчийн зөрчлөөс</a:t>
            </a:r>
          </a:p>
          <a:p>
            <a:pPr>
              <a:lnSpc>
                <a:spcPts val="1921"/>
              </a:lnSpc>
              <a:spcBef>
                <a:spcPts val="0"/>
              </a:spcBef>
              <a:spcAft>
                <a:spcPts val="0"/>
              </a:spcAft>
              <a:defRPr sz="1575" b="0">
                <a:solidFill>
                  <a:srgbClr val="F4F5F4"/>
                </a:solidFill>
                <a:latin typeface="DejaVu Sans"/>
              </a:defRPr>
            </a:pPr>
            <a:r>
              <a:t>хамгаална.</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Боломж бүрдүүлнэ</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177"/>
              </a:lnSpc>
              <a:spcBef>
                <a:spcPts val="0"/>
              </a:spcBef>
              <a:spcAft>
                <a:spcPts val="0"/>
              </a:spcAft>
              <a:defRPr sz="1785" b="0">
                <a:solidFill>
                  <a:srgbClr val="F4F5F4"/>
                </a:solidFill>
                <a:latin typeface="DejaVu Sans"/>
              </a:defRPr>
            </a:pPr>
            <a:r>
              <a:t>Хууль, төсөв, үйлчилгээний хүртээмжийг хангана.</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Энгийнээр: зөрчихгүй → хамгаална → хэрэгжих боломж бүрдүүлнэ.</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GC3</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56388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6964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Нэг хүнд хэд хэдэн</a:t>
            </a:r>
          </a:p>
          <a:p>
            <a:pPr>
              <a:lnSpc>
                <a:spcPts val="4941"/>
              </a:lnSpc>
              <a:spcBef>
                <a:spcPts val="0"/>
              </a:spcBef>
              <a:spcAft>
                <a:spcPts val="0"/>
              </a:spcAft>
              <a:defRPr sz="4050" b="1">
                <a:solidFill>
                  <a:srgbClr val="030A13"/>
                </a:solidFill>
                <a:latin typeface="Open Sans Condensed"/>
              </a:defRPr>
            </a:pPr>
            <a:r>
              <a:t>саад давхцаж болно.</a:t>
            </a:r>
          </a:p>
        </p:txBody>
      </p:sp>
      <p:sp>
        <p:nvSpPr>
          <p:cNvPr id="37" name="TextBox 36"/>
          <p:cNvSpPr txBox="1"/>
          <p:nvPr/>
        </p:nvSpPr>
        <p:spPr>
          <a:xfrm>
            <a:off x="457200" y="942975"/>
            <a:ext cx="96964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Нэг хүнд хэд хэдэн</a:t>
            </a:r>
          </a:p>
          <a:p>
            <a:pPr>
              <a:lnSpc>
                <a:spcPts val="4941"/>
              </a:lnSpc>
              <a:spcBef>
                <a:spcPts val="0"/>
              </a:spcBef>
              <a:spcAft>
                <a:spcPts val="0"/>
              </a:spcAft>
              <a:defRPr sz="4050" b="1">
                <a:solidFill>
                  <a:srgbClr val="F4F5F4"/>
                </a:solidFill>
                <a:latin typeface="Open Sans Condensed"/>
              </a:defRPr>
            </a:pPr>
            <a:r>
              <a:t>саад давхцаж болно.</a:t>
            </a:r>
          </a:p>
        </p:txBody>
      </p:sp>
      <p:sp>
        <p:nvSpPr>
          <p:cNvPr id="38" name="Rounded Rectangle 37"/>
          <p:cNvSpPr/>
          <p:nvPr/>
        </p:nvSpPr>
        <p:spPr>
          <a:xfrm>
            <a:off x="523874" y="2943225"/>
            <a:ext cx="3619500" cy="2895600"/>
          </a:xfrm>
          <a:prstGeom prst="roundRect">
            <a:avLst>
              <a:gd name="adj" fmla="val 3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838450"/>
            <a:ext cx="3619500" cy="2895600"/>
          </a:xfrm>
          <a:prstGeom prst="roundRect">
            <a:avLst>
              <a:gd name="adj" fmla="val 328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847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867025"/>
            <a:ext cx="19050" cy="2838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700" y="2962275"/>
            <a:ext cx="3228975" cy="638175"/>
          </a:xfrm>
          <a:prstGeom prst="rect">
            <a:avLst/>
          </a:prstGeom>
          <a:noFill/>
        </p:spPr>
        <p:txBody>
          <a:bodyPr wrap="none" lIns="0" tIns="0" rIns="0" bIns="0">
            <a:spAutoFit/>
          </a:bodyPr>
          <a:lstStyle/>
          <a:p>
            <a:pPr>
              <a:lnSpc>
                <a:spcPts val="4758"/>
              </a:lnSpc>
              <a:spcBef>
                <a:spcPts val="0"/>
              </a:spcBef>
              <a:spcAft>
                <a:spcPts val="0"/>
              </a:spcAft>
              <a:defRPr sz="3900" b="1">
                <a:solidFill>
                  <a:srgbClr val="F1C75B"/>
                </a:solidFill>
                <a:latin typeface="Open Sans Condensed"/>
              </a:defRPr>
            </a:pPr>
            <a:r>
              <a:t>CRC</a:t>
            </a:r>
          </a:p>
        </p:txBody>
      </p:sp>
      <p:sp>
        <p:nvSpPr>
          <p:cNvPr id="44" name="TextBox 43"/>
          <p:cNvSpPr txBox="1"/>
          <p:nvPr/>
        </p:nvSpPr>
        <p:spPr>
          <a:xfrm>
            <a:off x="647700" y="3695700"/>
            <a:ext cx="3228975" cy="2571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1989.11.20</a:t>
            </a:r>
          </a:p>
        </p:txBody>
      </p:sp>
      <p:sp>
        <p:nvSpPr>
          <p:cNvPr id="45" name="TextBox 44"/>
          <p:cNvSpPr txBox="1"/>
          <p:nvPr/>
        </p:nvSpPr>
        <p:spPr>
          <a:xfrm>
            <a:off x="647700" y="4200525"/>
            <a:ext cx="3228975" cy="619125"/>
          </a:xfrm>
          <a:prstGeom prst="rect">
            <a:avLst/>
          </a:prstGeom>
          <a:noFill/>
        </p:spPr>
        <p:txBody>
          <a:bodyPr wrap="none" lIns="0" tIns="0" rIns="0" bIns="0">
            <a:spAutoFit/>
          </a:bodyPr>
          <a:lstStyle/>
          <a:p>
            <a:pPr>
              <a:lnSpc>
                <a:spcPts val="2470"/>
              </a:lnSpc>
              <a:spcBef>
                <a:spcPts val="0"/>
              </a:spcBef>
              <a:spcAft>
                <a:spcPts val="0"/>
              </a:spcAft>
              <a:defRPr sz="2025" b="1">
                <a:solidFill>
                  <a:srgbClr val="F4F5F4"/>
                </a:solidFill>
                <a:latin typeface="DejaVu Sans"/>
              </a:defRPr>
            </a:pPr>
            <a:r>
              <a:t>Хүүхэд</a:t>
            </a:r>
          </a:p>
        </p:txBody>
      </p:sp>
      <p:sp>
        <p:nvSpPr>
          <p:cNvPr id="46" name="TextBox 45"/>
          <p:cNvSpPr txBox="1"/>
          <p:nvPr/>
        </p:nvSpPr>
        <p:spPr>
          <a:xfrm>
            <a:off x="647700" y="4972050"/>
            <a:ext cx="3228975" cy="581025"/>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Амьжиргаа, хамгаалал —</a:t>
            </a:r>
          </a:p>
          <a:p>
            <a:pPr>
              <a:lnSpc>
                <a:spcPts val="2104"/>
              </a:lnSpc>
              <a:spcBef>
                <a:spcPts val="0"/>
              </a:spcBef>
              <a:spcAft>
                <a:spcPts val="0"/>
              </a:spcAft>
              <a:defRPr sz="1725" b="0">
                <a:solidFill>
                  <a:srgbClr val="F4F5F4"/>
                </a:solidFill>
                <a:latin typeface="DejaVu Sans"/>
              </a:defRPr>
            </a:pPr>
            <a:r>
              <a:t>26, 27 дугаар зүйл.</a:t>
            </a:r>
          </a:p>
        </p:txBody>
      </p:sp>
      <p:sp>
        <p:nvSpPr>
          <p:cNvPr id="47" name="Rounded Rectangle 46"/>
          <p:cNvSpPr/>
          <p:nvPr/>
        </p:nvSpPr>
        <p:spPr>
          <a:xfrm>
            <a:off x="4333875" y="2943225"/>
            <a:ext cx="3619500" cy="2895600"/>
          </a:xfrm>
          <a:prstGeom prst="roundRect">
            <a:avLst>
              <a:gd name="adj" fmla="val 3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67200" y="2838450"/>
            <a:ext cx="3619500" cy="2895600"/>
          </a:xfrm>
          <a:prstGeom prst="roundRect">
            <a:avLst>
              <a:gd name="adj" fmla="val 328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6725" y="2847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76725" y="2867025"/>
            <a:ext cx="19050" cy="2838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3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57700" y="2962275"/>
            <a:ext cx="3228975" cy="638175"/>
          </a:xfrm>
          <a:prstGeom prst="rect">
            <a:avLst/>
          </a:prstGeom>
          <a:noFill/>
        </p:spPr>
        <p:txBody>
          <a:bodyPr wrap="none" lIns="0" tIns="0" rIns="0" bIns="0">
            <a:spAutoFit/>
          </a:bodyPr>
          <a:lstStyle/>
          <a:p>
            <a:pPr>
              <a:lnSpc>
                <a:spcPts val="4758"/>
              </a:lnSpc>
              <a:spcBef>
                <a:spcPts val="0"/>
              </a:spcBef>
              <a:spcAft>
                <a:spcPts val="0"/>
              </a:spcAft>
              <a:defRPr sz="3900" b="1">
                <a:solidFill>
                  <a:srgbClr val="F1C75B"/>
                </a:solidFill>
                <a:latin typeface="Open Sans Condensed"/>
              </a:defRPr>
            </a:pPr>
            <a:r>
              <a:t>CEDAW</a:t>
            </a:r>
          </a:p>
        </p:txBody>
      </p:sp>
      <p:sp>
        <p:nvSpPr>
          <p:cNvPr id="53" name="TextBox 52"/>
          <p:cNvSpPr txBox="1"/>
          <p:nvPr/>
        </p:nvSpPr>
        <p:spPr>
          <a:xfrm>
            <a:off x="4457700" y="3695700"/>
            <a:ext cx="3228975" cy="2571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1979.12.18</a:t>
            </a:r>
          </a:p>
        </p:txBody>
      </p:sp>
      <p:sp>
        <p:nvSpPr>
          <p:cNvPr id="54" name="TextBox 53"/>
          <p:cNvSpPr txBox="1"/>
          <p:nvPr/>
        </p:nvSpPr>
        <p:spPr>
          <a:xfrm>
            <a:off x="4457700" y="4200525"/>
            <a:ext cx="3228975" cy="619125"/>
          </a:xfrm>
          <a:prstGeom prst="rect">
            <a:avLst/>
          </a:prstGeom>
          <a:noFill/>
        </p:spPr>
        <p:txBody>
          <a:bodyPr wrap="none" lIns="0" tIns="0" rIns="0" bIns="0">
            <a:spAutoFit/>
          </a:bodyPr>
          <a:lstStyle/>
          <a:p>
            <a:pPr>
              <a:lnSpc>
                <a:spcPts val="2470"/>
              </a:lnSpc>
              <a:spcBef>
                <a:spcPts val="0"/>
              </a:spcBef>
              <a:spcAft>
                <a:spcPts val="0"/>
              </a:spcAft>
              <a:defRPr sz="2025" b="1">
                <a:solidFill>
                  <a:srgbClr val="F4F5F4"/>
                </a:solidFill>
                <a:latin typeface="DejaVu Sans"/>
              </a:defRPr>
            </a:pPr>
            <a:r>
              <a:t>Эмэгтэйчүүд</a:t>
            </a:r>
          </a:p>
        </p:txBody>
      </p:sp>
      <p:sp>
        <p:nvSpPr>
          <p:cNvPr id="55" name="TextBox 54"/>
          <p:cNvSpPr txBox="1"/>
          <p:nvPr/>
        </p:nvSpPr>
        <p:spPr>
          <a:xfrm>
            <a:off x="4457700" y="4972050"/>
            <a:ext cx="3228975" cy="581025"/>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Ажил, эрүүл мэнд — 11, 12</a:t>
            </a:r>
          </a:p>
          <a:p>
            <a:pPr>
              <a:lnSpc>
                <a:spcPts val="2104"/>
              </a:lnSpc>
              <a:spcBef>
                <a:spcPts val="0"/>
              </a:spcBef>
              <a:spcAft>
                <a:spcPts val="0"/>
              </a:spcAft>
              <a:defRPr sz="1725" b="0">
                <a:solidFill>
                  <a:srgbClr val="F4F5F4"/>
                </a:solidFill>
                <a:latin typeface="DejaVu Sans"/>
              </a:defRPr>
            </a:pPr>
            <a:r>
              <a:t>дугаар зүйл.</a:t>
            </a:r>
          </a:p>
        </p:txBody>
      </p:sp>
      <p:sp>
        <p:nvSpPr>
          <p:cNvPr id="56" name="Rounded Rectangle 55"/>
          <p:cNvSpPr/>
          <p:nvPr/>
        </p:nvSpPr>
        <p:spPr>
          <a:xfrm>
            <a:off x="8143875" y="2943225"/>
            <a:ext cx="3619500" cy="2895600"/>
          </a:xfrm>
          <a:prstGeom prst="roundRect">
            <a:avLst>
              <a:gd name="adj" fmla="val 3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8077200" y="2838450"/>
            <a:ext cx="3619500" cy="2895600"/>
          </a:xfrm>
          <a:prstGeom prst="roundRect">
            <a:avLst>
              <a:gd name="adj" fmla="val 328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086725" y="2847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086725" y="2867025"/>
            <a:ext cx="19050" cy="2838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4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67699" y="2962275"/>
            <a:ext cx="3228975" cy="638175"/>
          </a:xfrm>
          <a:prstGeom prst="rect">
            <a:avLst/>
          </a:prstGeom>
          <a:noFill/>
        </p:spPr>
        <p:txBody>
          <a:bodyPr wrap="none" lIns="0" tIns="0" rIns="0" bIns="0">
            <a:spAutoFit/>
          </a:bodyPr>
          <a:lstStyle/>
          <a:p>
            <a:pPr>
              <a:lnSpc>
                <a:spcPts val="4758"/>
              </a:lnSpc>
              <a:spcBef>
                <a:spcPts val="0"/>
              </a:spcBef>
              <a:spcAft>
                <a:spcPts val="0"/>
              </a:spcAft>
              <a:defRPr sz="3900" b="1">
                <a:solidFill>
                  <a:srgbClr val="F1C75B"/>
                </a:solidFill>
                <a:latin typeface="Open Sans Condensed"/>
              </a:defRPr>
            </a:pPr>
            <a:r>
              <a:t>CRPD</a:t>
            </a:r>
          </a:p>
        </p:txBody>
      </p:sp>
      <p:sp>
        <p:nvSpPr>
          <p:cNvPr id="62" name="TextBox 61"/>
          <p:cNvSpPr txBox="1"/>
          <p:nvPr/>
        </p:nvSpPr>
        <p:spPr>
          <a:xfrm>
            <a:off x="8267699" y="3695700"/>
            <a:ext cx="3228975" cy="2571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2006.12.13</a:t>
            </a:r>
          </a:p>
        </p:txBody>
      </p:sp>
      <p:sp>
        <p:nvSpPr>
          <p:cNvPr id="63" name="TextBox 62"/>
          <p:cNvSpPr txBox="1"/>
          <p:nvPr/>
        </p:nvSpPr>
        <p:spPr>
          <a:xfrm>
            <a:off x="8267699" y="4200525"/>
            <a:ext cx="3228975" cy="619125"/>
          </a:xfrm>
          <a:prstGeom prst="rect">
            <a:avLst/>
          </a:prstGeom>
          <a:noFill/>
        </p:spPr>
        <p:txBody>
          <a:bodyPr wrap="none" lIns="0" tIns="0" rIns="0" bIns="0">
            <a:spAutoFit/>
          </a:bodyPr>
          <a:lstStyle/>
          <a:p>
            <a:pPr>
              <a:lnSpc>
                <a:spcPts val="2433"/>
              </a:lnSpc>
              <a:spcBef>
                <a:spcPts val="0"/>
              </a:spcBef>
              <a:spcAft>
                <a:spcPts val="0"/>
              </a:spcAft>
              <a:defRPr sz="1995" b="1">
                <a:solidFill>
                  <a:srgbClr val="F4F5F4"/>
                </a:solidFill>
                <a:latin typeface="DejaVu Sans"/>
              </a:defRPr>
            </a:pPr>
            <a:r>
              <a:t>Хөгжлийн</a:t>
            </a:r>
          </a:p>
          <a:p>
            <a:pPr>
              <a:lnSpc>
                <a:spcPts val="2433"/>
              </a:lnSpc>
              <a:spcBef>
                <a:spcPts val="0"/>
              </a:spcBef>
              <a:spcAft>
                <a:spcPts val="0"/>
              </a:spcAft>
              <a:defRPr sz="1995" b="1">
                <a:solidFill>
                  <a:srgbClr val="F4F5F4"/>
                </a:solidFill>
                <a:latin typeface="DejaVu Sans"/>
              </a:defRPr>
            </a:pPr>
            <a:r>
              <a:t>бэрхшээлтэй хүн</a:t>
            </a:r>
          </a:p>
        </p:txBody>
      </p:sp>
      <p:sp>
        <p:nvSpPr>
          <p:cNvPr id="64" name="TextBox 63"/>
          <p:cNvSpPr txBox="1"/>
          <p:nvPr/>
        </p:nvSpPr>
        <p:spPr>
          <a:xfrm>
            <a:off x="8267699" y="4972050"/>
            <a:ext cx="3228975" cy="581025"/>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Хүртээмж, хамгаалал — 9,</a:t>
            </a:r>
          </a:p>
          <a:p>
            <a:pPr>
              <a:lnSpc>
                <a:spcPts val="2104"/>
              </a:lnSpc>
              <a:spcBef>
                <a:spcPts val="0"/>
              </a:spcBef>
              <a:spcAft>
                <a:spcPts val="0"/>
              </a:spcAft>
              <a:defRPr sz="1725" b="0">
                <a:solidFill>
                  <a:srgbClr val="F4F5F4"/>
                </a:solidFill>
                <a:latin typeface="DejaVu Sans"/>
              </a:defRPr>
            </a:pPr>
            <a:r>
              <a:t>28 дугаар зүйл.</a:t>
            </a:r>
          </a:p>
        </p:txBody>
      </p:sp>
      <p:sp>
        <p:nvSpPr>
          <p:cNvPr id="65" name="Rounded Rectangle 64"/>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Ижил үйлчилгээ үзүүлэхээс гадна тухайн хүний саадыг арилгах хэрэгтэй.</a:t>
            </a:r>
          </a:p>
        </p:txBody>
      </p:sp>
      <p:sp>
        <p:nvSpPr>
          <p:cNvPr id="72" name="Rectangle 71"/>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CRC · CEDAW · CRPD</a:t>
            </a:r>
          </a:p>
        </p:txBody>
      </p:sp>
      <p:sp>
        <p:nvSpPr>
          <p:cNvPr id="74" name="TextBox 73"/>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5" name="TextBox 74"/>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k.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60147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Ажилтай байх нь</a:t>
            </a:r>
          </a:p>
          <a:p>
            <a:pPr>
              <a:lnSpc>
                <a:spcPts val="4941"/>
              </a:lnSpc>
              <a:spcBef>
                <a:spcPts val="0"/>
              </a:spcBef>
              <a:spcAft>
                <a:spcPts val="0"/>
              </a:spcAft>
              <a:defRPr sz="4050" b="1">
                <a:solidFill>
                  <a:srgbClr val="030A13"/>
                </a:solidFill>
                <a:latin typeface="Open Sans Condensed"/>
              </a:defRPr>
            </a:pPr>
            <a:r>
              <a:t>дангаараа хангалтгүй.</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Ажилтай байх нь</a:t>
            </a:r>
          </a:p>
          <a:p>
            <a:pPr>
              <a:lnSpc>
                <a:spcPts val="4941"/>
              </a:lnSpc>
              <a:spcBef>
                <a:spcPts val="0"/>
              </a:spcBef>
              <a:spcAft>
                <a:spcPts val="0"/>
              </a:spcAft>
              <a:defRPr sz="4050" b="1">
                <a:solidFill>
                  <a:srgbClr val="F4F5F4"/>
                </a:solidFill>
                <a:latin typeface="Open Sans Condensed"/>
              </a:defRPr>
            </a:pPr>
            <a:r>
              <a:t>дангаараа хангалтгүй.</a:t>
            </a:r>
          </a:p>
        </p:txBody>
      </p:sp>
      <p:sp>
        <p:nvSpPr>
          <p:cNvPr id="38" name="Rounded Rectangle 37"/>
          <p:cNvSpPr/>
          <p:nvPr/>
        </p:nvSpPr>
        <p:spPr>
          <a:xfrm>
            <a:off x="552450" y="2400300"/>
            <a:ext cx="499584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99584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97679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486249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476724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16.4 | Хөдөлмөрийн тухай • 2021.07.02 / 6</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Орлого</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Цалин өдөр тутмын хэрэгцээнд хүрч байна уу?</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Нөхцөл</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Ажлын байр аюулгүй, ялгаварлалгүй юу?</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Хамгаалалт</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Гэрээ, даатгал, гомдол гаргах боломж бий юу?</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Жишээ: ажилтай ч тогтворгүй орлого нь өрхийг эрсдэлтэй байлгаж болно.</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ХТ · ICESCR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ool.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6390639"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Төлбөргүй сургууль</a:t>
            </a:r>
          </a:p>
          <a:p>
            <a:pPr>
              <a:lnSpc>
                <a:spcPts val="4941"/>
              </a:lnSpc>
              <a:spcBef>
                <a:spcPts val="0"/>
              </a:spcBef>
              <a:spcAft>
                <a:spcPts val="0"/>
              </a:spcAft>
              <a:defRPr sz="4050" b="1">
                <a:solidFill>
                  <a:srgbClr val="030A13"/>
                </a:solidFill>
                <a:latin typeface="Open Sans Condensed"/>
              </a:defRPr>
            </a:pPr>
            <a:r>
              <a:t>зардалгүй гэсэн үг биш.</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Төлбөргүй сургууль</a:t>
            </a:r>
          </a:p>
          <a:p>
            <a:pPr>
              <a:lnSpc>
                <a:spcPts val="4941"/>
              </a:lnSpc>
              <a:spcBef>
                <a:spcPts val="0"/>
              </a:spcBef>
              <a:spcAft>
                <a:spcPts val="0"/>
              </a:spcAft>
              <a:defRPr sz="4050" b="1">
                <a:solidFill>
                  <a:srgbClr val="F4F5F4"/>
                </a:solidFill>
                <a:latin typeface="Open Sans Condensed"/>
              </a:defRPr>
            </a:pPr>
            <a:r>
              <a:t>зардалгүй гэсэн үг биш.</a:t>
            </a:r>
          </a:p>
        </p:txBody>
      </p:sp>
      <p:sp>
        <p:nvSpPr>
          <p:cNvPr id="38" name="Rounded Rectangle 37"/>
          <p:cNvSpPr/>
          <p:nvPr/>
        </p:nvSpPr>
        <p:spPr>
          <a:xfrm>
            <a:off x="552450" y="2400300"/>
            <a:ext cx="485821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85821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83916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472486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462961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16.7 | Боловсролын ерөнхий • 2023.07.07</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Тээвэр, байр</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Сургуульдаа очих, амьдрах зардал гарна.</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Хэрэгсэл, интернет</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Хичээлд оролцоход нэмэлт зардал хэрэгтэй.</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Үр дүн</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Элсэлтээс гадна ирц, төгсөлтийг харна.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Жишээ: сургалтын төлбөргүй ч унааны зардлаас болж ирц тасалдаж болно.</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БЕХ · CRC</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6766559"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15550" cy="1333500"/>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Үйлчилгээ байхаас гадна</a:t>
            </a:r>
          </a:p>
          <a:p>
            <a:pPr>
              <a:lnSpc>
                <a:spcPts val="4941"/>
              </a:lnSpc>
              <a:spcBef>
                <a:spcPts val="0"/>
              </a:spcBef>
              <a:spcAft>
                <a:spcPts val="0"/>
              </a:spcAft>
              <a:defRPr sz="4050" b="1">
                <a:solidFill>
                  <a:srgbClr val="030A13"/>
                </a:solidFill>
                <a:latin typeface="Open Sans Condensed"/>
              </a:defRPr>
            </a:pPr>
            <a:r>
              <a:t>хүрч чаддаг байх хэрэгтэй.</a:t>
            </a:r>
          </a:p>
        </p:txBody>
      </p:sp>
      <p:sp>
        <p:nvSpPr>
          <p:cNvPr id="37" name="TextBox 36"/>
          <p:cNvSpPr txBox="1"/>
          <p:nvPr/>
        </p:nvSpPr>
        <p:spPr>
          <a:xfrm>
            <a:off x="457200" y="942975"/>
            <a:ext cx="10115550" cy="1333500"/>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Үйлчилгээ байхаас гадна</a:t>
            </a:r>
          </a:p>
          <a:p>
            <a:pPr>
              <a:lnSpc>
                <a:spcPts val="4941"/>
              </a:lnSpc>
              <a:spcBef>
                <a:spcPts val="0"/>
              </a:spcBef>
              <a:spcAft>
                <a:spcPts val="0"/>
              </a:spcAft>
              <a:defRPr sz="4050" b="1">
                <a:solidFill>
                  <a:srgbClr val="F4F5F4"/>
                </a:solidFill>
                <a:latin typeface="Open Sans Condensed"/>
              </a:defRPr>
            </a:pPr>
            <a:r>
              <a:t>хүрч чаддаг байх хэрэгтэй.</a:t>
            </a:r>
          </a:p>
        </p:txBody>
      </p:sp>
      <p:sp>
        <p:nvSpPr>
          <p:cNvPr id="38" name="Rounded Rectangle 37"/>
          <p:cNvSpPr/>
          <p:nvPr/>
        </p:nvSpPr>
        <p:spPr>
          <a:xfrm>
            <a:off x="552450" y="2428875"/>
            <a:ext cx="485821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24100"/>
            <a:ext cx="485821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33625"/>
            <a:ext cx="483916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52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71750"/>
            <a:ext cx="472486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81250"/>
            <a:ext cx="462961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16.6 | ЭЗНСЭ-ийн пакт • 1966.12.16 / 12</a:t>
            </a:r>
          </a:p>
        </p:txBody>
      </p:sp>
      <p:sp>
        <p:nvSpPr>
          <p:cNvPr id="44" name="Rounded Rectangle 43"/>
          <p:cNvSpPr/>
          <p:nvPr/>
        </p:nvSpPr>
        <p:spPr>
          <a:xfrm>
            <a:off x="523874"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77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01</a:t>
            </a:r>
          </a:p>
        </p:txBody>
      </p:sp>
      <p:sp>
        <p:nvSpPr>
          <p:cNvPr id="50" name="TextBox 49"/>
          <p:cNvSpPr txBox="1"/>
          <p:nvPr/>
        </p:nvSpPr>
        <p:spPr>
          <a:xfrm>
            <a:off x="647700" y="4010025"/>
            <a:ext cx="2295525" cy="676275"/>
          </a:xfrm>
          <a:prstGeom prst="rect">
            <a:avLst/>
          </a:prstGeom>
          <a:noFill/>
        </p:spPr>
        <p:txBody>
          <a:bodyPr wrap="none" lIns="0" tIns="0" rIns="0" bIns="0">
            <a:spAutoFit/>
          </a:bodyPr>
          <a:lstStyle/>
          <a:p>
            <a:pPr>
              <a:lnSpc>
                <a:spcPts val="2745"/>
              </a:lnSpc>
              <a:spcBef>
                <a:spcPts val="0"/>
              </a:spcBef>
              <a:spcAft>
                <a:spcPts val="0"/>
              </a:spcAft>
              <a:defRPr sz="2250" b="1">
                <a:solidFill>
                  <a:srgbClr val="F4F5F4"/>
                </a:solidFill>
                <a:latin typeface="Open Sans Condensed"/>
              </a:defRPr>
            </a:pPr>
            <a:r>
              <a:t>Байгаа юу?</a:t>
            </a:r>
          </a:p>
        </p:txBody>
      </p:sp>
      <p:sp>
        <p:nvSpPr>
          <p:cNvPr id="51" name="TextBox 50"/>
          <p:cNvSpPr txBox="1"/>
          <p:nvPr/>
        </p:nvSpPr>
        <p:spPr>
          <a:xfrm>
            <a:off x="647700" y="4867275"/>
            <a:ext cx="2295525" cy="723900"/>
          </a:xfrm>
          <a:prstGeom prst="rect">
            <a:avLst/>
          </a:prstGeom>
          <a:noFill/>
        </p:spPr>
        <p:txBody>
          <a:bodyPr wrap="none" lIns="0" tIns="0" rIns="0" bIns="0">
            <a:spAutoFit/>
          </a:bodyPr>
          <a:lstStyle/>
          <a:p>
            <a:pPr>
              <a:lnSpc>
                <a:spcPts val="1866"/>
              </a:lnSpc>
              <a:spcBef>
                <a:spcPts val="0"/>
              </a:spcBef>
              <a:spcAft>
                <a:spcPts val="0"/>
              </a:spcAft>
              <a:defRPr sz="1530" b="0">
                <a:solidFill>
                  <a:srgbClr val="F4F5F4"/>
                </a:solidFill>
                <a:latin typeface="DejaVu Sans"/>
              </a:defRPr>
            </a:pPr>
            <a:r>
              <a:t>Шаардлагатай</a:t>
            </a:r>
          </a:p>
          <a:p>
            <a:pPr>
              <a:lnSpc>
                <a:spcPts val="1866"/>
              </a:lnSpc>
              <a:spcBef>
                <a:spcPts val="0"/>
              </a:spcBef>
              <a:spcAft>
                <a:spcPts val="0"/>
              </a:spcAft>
              <a:defRPr sz="1530" b="0">
                <a:solidFill>
                  <a:srgbClr val="F4F5F4"/>
                </a:solidFill>
                <a:latin typeface="DejaVu Sans"/>
              </a:defRPr>
            </a:pPr>
            <a:r>
              <a:t>үйлчилгээ байгаа</a:t>
            </a:r>
          </a:p>
          <a:p>
            <a:pPr>
              <a:lnSpc>
                <a:spcPts val="1866"/>
              </a:lnSpc>
              <a:spcBef>
                <a:spcPts val="0"/>
              </a:spcBef>
              <a:spcAft>
                <a:spcPts val="0"/>
              </a:spcAft>
              <a:defRPr sz="1530" b="0">
                <a:solidFill>
                  <a:srgbClr val="F4F5F4"/>
                </a:solidFill>
                <a:latin typeface="DejaVu Sans"/>
              </a:defRPr>
            </a:pPr>
            <a:r>
              <a:t>эсэх.</a:t>
            </a:r>
          </a:p>
        </p:txBody>
      </p:sp>
      <p:sp>
        <p:nvSpPr>
          <p:cNvPr id="52" name="Rounded Rectangle 51"/>
          <p:cNvSpPr/>
          <p:nvPr/>
        </p:nvSpPr>
        <p:spPr>
          <a:xfrm>
            <a:off x="3381375"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147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324225"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24225"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381375"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5052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02</a:t>
            </a:r>
          </a:p>
        </p:txBody>
      </p:sp>
      <p:sp>
        <p:nvSpPr>
          <p:cNvPr id="58" name="TextBox 57"/>
          <p:cNvSpPr txBox="1"/>
          <p:nvPr/>
        </p:nvSpPr>
        <p:spPr>
          <a:xfrm>
            <a:off x="3505200" y="4010025"/>
            <a:ext cx="2295525" cy="676275"/>
          </a:xfrm>
          <a:prstGeom prst="rect">
            <a:avLst/>
          </a:prstGeom>
          <a:noFill/>
        </p:spPr>
        <p:txBody>
          <a:bodyPr wrap="none" lIns="0" tIns="0" rIns="0" bIns="0">
            <a:spAutoFit/>
          </a:bodyPr>
          <a:lstStyle/>
          <a:p>
            <a:pPr>
              <a:lnSpc>
                <a:spcPts val="2635"/>
              </a:lnSpc>
              <a:spcBef>
                <a:spcPts val="0"/>
              </a:spcBef>
              <a:spcAft>
                <a:spcPts val="0"/>
              </a:spcAft>
              <a:defRPr sz="2160" b="1">
                <a:solidFill>
                  <a:srgbClr val="F4F5F4"/>
                </a:solidFill>
                <a:latin typeface="Open Sans Condensed"/>
              </a:defRPr>
            </a:pPr>
            <a:r>
              <a:t>Очих боломжтой</a:t>
            </a:r>
          </a:p>
          <a:p>
            <a:pPr>
              <a:lnSpc>
                <a:spcPts val="2635"/>
              </a:lnSpc>
              <a:spcBef>
                <a:spcPts val="0"/>
              </a:spcBef>
              <a:spcAft>
                <a:spcPts val="0"/>
              </a:spcAft>
              <a:defRPr sz="2160" b="1">
                <a:solidFill>
                  <a:srgbClr val="F4F5F4"/>
                </a:solidFill>
                <a:latin typeface="Open Sans Condensed"/>
              </a:defRPr>
            </a:pPr>
            <a:r>
              <a:t>юу?</a:t>
            </a:r>
          </a:p>
        </p:txBody>
      </p:sp>
      <p:sp>
        <p:nvSpPr>
          <p:cNvPr id="59" name="TextBox 58"/>
          <p:cNvSpPr txBox="1"/>
          <p:nvPr/>
        </p:nvSpPr>
        <p:spPr>
          <a:xfrm>
            <a:off x="3505200" y="4867275"/>
            <a:ext cx="2295525" cy="723900"/>
          </a:xfrm>
          <a:prstGeom prst="rect">
            <a:avLst/>
          </a:prstGeom>
          <a:noFill/>
        </p:spPr>
        <p:txBody>
          <a:bodyPr wrap="none" lIns="0" tIns="0" rIns="0" bIns="0">
            <a:spAutoFit/>
          </a:bodyPr>
          <a:lstStyle/>
          <a:p>
            <a:pPr>
              <a:lnSpc>
                <a:spcPts val="2013"/>
              </a:lnSpc>
              <a:spcBef>
                <a:spcPts val="0"/>
              </a:spcBef>
              <a:spcAft>
                <a:spcPts val="0"/>
              </a:spcAft>
              <a:defRPr sz="1650" b="0">
                <a:solidFill>
                  <a:srgbClr val="F4F5F4"/>
                </a:solidFill>
                <a:latin typeface="DejaVu Sans"/>
              </a:defRPr>
            </a:pPr>
            <a:r>
              <a:t>Зай, тээвэр,</a:t>
            </a:r>
          </a:p>
          <a:p>
            <a:pPr>
              <a:lnSpc>
                <a:spcPts val="2013"/>
              </a:lnSpc>
              <a:spcBef>
                <a:spcPts val="0"/>
              </a:spcBef>
              <a:spcAft>
                <a:spcPts val="0"/>
              </a:spcAft>
              <a:defRPr sz="1650" b="0">
                <a:solidFill>
                  <a:srgbClr val="F4F5F4"/>
                </a:solidFill>
                <a:latin typeface="DejaVu Sans"/>
              </a:defRPr>
            </a:pPr>
            <a:r>
              <a:t>барилгын хүртээмж.</a:t>
            </a:r>
          </a:p>
        </p:txBody>
      </p:sp>
      <p:sp>
        <p:nvSpPr>
          <p:cNvPr id="60" name="Rounded Rectangle 59"/>
          <p:cNvSpPr/>
          <p:nvPr/>
        </p:nvSpPr>
        <p:spPr>
          <a:xfrm>
            <a:off x="6238875"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61722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81725"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81725"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38875"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627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03</a:t>
            </a:r>
          </a:p>
        </p:txBody>
      </p:sp>
      <p:sp>
        <p:nvSpPr>
          <p:cNvPr id="66" name="TextBox 65"/>
          <p:cNvSpPr txBox="1"/>
          <p:nvPr/>
        </p:nvSpPr>
        <p:spPr>
          <a:xfrm>
            <a:off x="6362700" y="4010025"/>
            <a:ext cx="2295525" cy="676275"/>
          </a:xfrm>
          <a:prstGeom prst="rect">
            <a:avLst/>
          </a:prstGeom>
          <a:noFill/>
        </p:spPr>
        <p:txBody>
          <a:bodyPr wrap="none" lIns="0" tIns="0" rIns="0" bIns="0">
            <a:spAutoFit/>
          </a:bodyPr>
          <a:lstStyle/>
          <a:p>
            <a:pPr>
              <a:lnSpc>
                <a:spcPts val="2745"/>
              </a:lnSpc>
              <a:spcBef>
                <a:spcPts val="0"/>
              </a:spcBef>
              <a:spcAft>
                <a:spcPts val="0"/>
              </a:spcAft>
              <a:defRPr sz="2250" b="1">
                <a:solidFill>
                  <a:srgbClr val="F4F5F4"/>
                </a:solidFill>
                <a:latin typeface="Open Sans Condensed"/>
              </a:defRPr>
            </a:pPr>
            <a:r>
              <a:t>Зардлыг даах уу?</a:t>
            </a:r>
          </a:p>
        </p:txBody>
      </p:sp>
      <p:sp>
        <p:nvSpPr>
          <p:cNvPr id="67" name="TextBox 66"/>
          <p:cNvSpPr txBox="1"/>
          <p:nvPr/>
        </p:nvSpPr>
        <p:spPr>
          <a:xfrm>
            <a:off x="6362700" y="4867275"/>
            <a:ext cx="2295525" cy="7239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Төлбөрөөс гадна</a:t>
            </a:r>
          </a:p>
          <a:p>
            <a:pPr>
              <a:lnSpc>
                <a:spcPts val="2196"/>
              </a:lnSpc>
              <a:spcBef>
                <a:spcPts val="0"/>
              </a:spcBef>
              <a:spcAft>
                <a:spcPts val="0"/>
              </a:spcAft>
              <a:defRPr sz="1800" b="0">
                <a:solidFill>
                  <a:srgbClr val="F4F5F4"/>
                </a:solidFill>
                <a:latin typeface="DejaVu Sans"/>
              </a:defRPr>
            </a:pPr>
            <a:r>
              <a:t>очих зардал.</a:t>
            </a:r>
          </a:p>
        </p:txBody>
      </p:sp>
      <p:sp>
        <p:nvSpPr>
          <p:cNvPr id="68" name="Rounded Rectangle 67"/>
          <p:cNvSpPr/>
          <p:nvPr/>
        </p:nvSpPr>
        <p:spPr>
          <a:xfrm>
            <a:off x="9096375"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90297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039225"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39225"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096375"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202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04</a:t>
            </a:r>
          </a:p>
        </p:txBody>
      </p:sp>
      <p:sp>
        <p:nvSpPr>
          <p:cNvPr id="74" name="TextBox 73"/>
          <p:cNvSpPr txBox="1"/>
          <p:nvPr/>
        </p:nvSpPr>
        <p:spPr>
          <a:xfrm>
            <a:off x="9220200" y="4010025"/>
            <a:ext cx="2295525" cy="676275"/>
          </a:xfrm>
          <a:prstGeom prst="rect">
            <a:avLst/>
          </a:prstGeom>
          <a:noFill/>
        </p:spPr>
        <p:txBody>
          <a:bodyPr wrap="none" lIns="0" tIns="0" rIns="0" bIns="0">
            <a:spAutoFit/>
          </a:bodyPr>
          <a:lstStyle/>
          <a:p>
            <a:pPr>
              <a:lnSpc>
                <a:spcPts val="2745"/>
              </a:lnSpc>
              <a:spcBef>
                <a:spcPts val="0"/>
              </a:spcBef>
              <a:spcAft>
                <a:spcPts val="0"/>
              </a:spcAft>
              <a:defRPr sz="2250" b="1">
                <a:solidFill>
                  <a:srgbClr val="F4F5F4"/>
                </a:solidFill>
                <a:latin typeface="Open Sans Condensed"/>
              </a:defRPr>
            </a:pPr>
            <a:r>
              <a:t>Чанартай юу?</a:t>
            </a:r>
          </a:p>
        </p:txBody>
      </p:sp>
      <p:sp>
        <p:nvSpPr>
          <p:cNvPr id="75" name="TextBox 74"/>
          <p:cNvSpPr txBox="1"/>
          <p:nvPr/>
        </p:nvSpPr>
        <p:spPr>
          <a:xfrm>
            <a:off x="9220200" y="4867275"/>
            <a:ext cx="2295525" cy="7239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Хэрэгцээнд</a:t>
            </a:r>
          </a:p>
          <a:p>
            <a:pPr>
              <a:lnSpc>
                <a:spcPts val="2196"/>
              </a:lnSpc>
              <a:spcBef>
                <a:spcPts val="0"/>
              </a:spcBef>
              <a:spcAft>
                <a:spcPts val="0"/>
              </a:spcAft>
              <a:defRPr sz="1800" b="0">
                <a:solidFill>
                  <a:srgbClr val="F4F5F4"/>
                </a:solidFill>
                <a:latin typeface="DejaVu Sans"/>
              </a:defRPr>
            </a:pPr>
            <a:r>
              <a:t>нийцсэн тусламж.</a:t>
            </a:r>
          </a:p>
        </p:txBody>
      </p:sp>
      <p:sp>
        <p:nvSpPr>
          <p:cNvPr id="76" name="Rounded Rectangle 75"/>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Дөрвөн асуулт: байгаа юу → очих уу → төлөх үү → чанартай юу?</a:t>
            </a:r>
          </a:p>
        </p:txBody>
      </p:sp>
      <p:sp>
        <p:nvSpPr>
          <p:cNvPr id="83" name="Rectangle 82"/>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a:t>
            </a:r>
          </a:p>
        </p:txBody>
      </p:sp>
      <p:sp>
        <p:nvSpPr>
          <p:cNvPr id="85" name="TextBox 84"/>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6" name="TextBox 85"/>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1424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544050" cy="1323975"/>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Дэмжлэг хэрэгтэй хүндээ</a:t>
            </a:r>
          </a:p>
          <a:p>
            <a:pPr>
              <a:lnSpc>
                <a:spcPts val="5032"/>
              </a:lnSpc>
              <a:spcBef>
                <a:spcPts val="0"/>
              </a:spcBef>
              <a:spcAft>
                <a:spcPts val="0"/>
              </a:spcAft>
              <a:defRPr sz="4125" b="1">
                <a:solidFill>
                  <a:srgbClr val="030A13"/>
                </a:solidFill>
                <a:latin typeface="Open Sans Condensed"/>
              </a:defRPr>
            </a:pPr>
            <a:r>
              <a:t>хүрч байна уу?</a:t>
            </a:r>
          </a:p>
        </p:txBody>
      </p:sp>
      <p:sp>
        <p:nvSpPr>
          <p:cNvPr id="37" name="TextBox 36"/>
          <p:cNvSpPr txBox="1"/>
          <p:nvPr/>
        </p:nvSpPr>
        <p:spPr>
          <a:xfrm>
            <a:off x="457200" y="942975"/>
            <a:ext cx="9544050" cy="1323975"/>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Дэмжлэг хэрэгтэй хүндээ</a:t>
            </a:r>
          </a:p>
          <a:p>
            <a:pPr>
              <a:lnSpc>
                <a:spcPts val="5032"/>
              </a:lnSpc>
              <a:spcBef>
                <a:spcPts val="0"/>
              </a:spcBef>
              <a:spcAft>
                <a:spcPts val="0"/>
              </a:spcAft>
              <a:defRPr sz="4125" b="1">
                <a:solidFill>
                  <a:srgbClr val="F4F5F4"/>
                </a:solidFill>
                <a:latin typeface="Open Sans Condensed"/>
              </a:defRPr>
            </a:pPr>
            <a:r>
              <a:t>хүрч байна уу?</a:t>
            </a:r>
          </a:p>
        </p:txBody>
      </p:sp>
      <p:sp>
        <p:nvSpPr>
          <p:cNvPr id="38" name="Rounded Rectangle 37"/>
          <p:cNvSpPr/>
          <p:nvPr/>
        </p:nvSpPr>
        <p:spPr>
          <a:xfrm>
            <a:off x="552450" y="2428875"/>
            <a:ext cx="5202287"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24100"/>
            <a:ext cx="5202287"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33625"/>
            <a:ext cx="5183237"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52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71750"/>
            <a:ext cx="5068937"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81250"/>
            <a:ext cx="4973687"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16.5 | Нийгмийн халамжийн тухай • 2012.01.19</a:t>
            </a:r>
          </a:p>
        </p:txBody>
      </p:sp>
      <p:sp>
        <p:nvSpPr>
          <p:cNvPr id="44" name="Rounded Rectangle 43"/>
          <p:cNvSpPr/>
          <p:nvPr/>
        </p:nvSpPr>
        <p:spPr>
          <a:xfrm>
            <a:off x="523874" y="3152775"/>
            <a:ext cx="5562600" cy="2676525"/>
          </a:xfrm>
          <a:prstGeom prst="roundRect">
            <a:avLst>
              <a:gd name="adj" fmla="val 427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048000"/>
            <a:ext cx="5562600" cy="2676525"/>
          </a:xfrm>
          <a:prstGeom prst="roundRect">
            <a:avLst>
              <a:gd name="adj" fmla="val 355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057525"/>
            <a:ext cx="5543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076575"/>
            <a:ext cx="19050" cy="26193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05475"/>
            <a:ext cx="5429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275" y="3267075"/>
            <a:ext cx="51149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01</a:t>
            </a:r>
          </a:p>
        </p:txBody>
      </p:sp>
      <p:sp>
        <p:nvSpPr>
          <p:cNvPr id="50" name="TextBox 49"/>
          <p:cNvSpPr txBox="1"/>
          <p:nvPr/>
        </p:nvSpPr>
        <p:spPr>
          <a:xfrm>
            <a:off x="676275" y="4076699"/>
            <a:ext cx="5114925" cy="400050"/>
          </a:xfrm>
          <a:prstGeom prst="rect">
            <a:avLst/>
          </a:prstGeom>
          <a:noFill/>
        </p:spPr>
        <p:txBody>
          <a:bodyPr wrap="none" lIns="0" tIns="0" rIns="0" bIns="0">
            <a:spAutoFit/>
          </a:bodyPr>
          <a:lstStyle/>
          <a:p>
            <a:pPr>
              <a:lnSpc>
                <a:spcPts val="2836"/>
              </a:lnSpc>
              <a:spcBef>
                <a:spcPts val="0"/>
              </a:spcBef>
              <a:spcAft>
                <a:spcPts val="0"/>
              </a:spcAft>
              <a:defRPr sz="2325" b="1">
                <a:solidFill>
                  <a:srgbClr val="F4F5F4"/>
                </a:solidFill>
                <a:latin typeface="DejaVu Sans"/>
              </a:defRPr>
            </a:pPr>
            <a:r>
              <a:t>Хасагдлын алдаа</a:t>
            </a:r>
          </a:p>
        </p:txBody>
      </p:sp>
      <p:sp>
        <p:nvSpPr>
          <p:cNvPr id="51" name="TextBox 50"/>
          <p:cNvSpPr txBox="1"/>
          <p:nvPr/>
        </p:nvSpPr>
        <p:spPr>
          <a:xfrm>
            <a:off x="676275" y="4695825"/>
            <a:ext cx="5114925" cy="800100"/>
          </a:xfrm>
          <a:prstGeom prst="rect">
            <a:avLst/>
          </a:prstGeom>
          <a:noFill/>
        </p:spPr>
        <p:txBody>
          <a:bodyPr wrap="none" lIns="0" tIns="0" rIns="0" bIns="0">
            <a:spAutoFit/>
          </a:bodyPr>
          <a:lstStyle/>
          <a:p>
            <a:pPr>
              <a:lnSpc>
                <a:spcPts val="2653"/>
              </a:lnSpc>
              <a:spcBef>
                <a:spcPts val="0"/>
              </a:spcBef>
              <a:spcAft>
                <a:spcPts val="0"/>
              </a:spcAft>
              <a:defRPr sz="2175" b="0">
                <a:solidFill>
                  <a:srgbClr val="F4F5F4"/>
                </a:solidFill>
                <a:latin typeface="DejaVu Sans"/>
              </a:defRPr>
            </a:pPr>
            <a:r>
              <a:t>Шаардлага хангасан хүн</a:t>
            </a:r>
          </a:p>
          <a:p>
            <a:pPr>
              <a:lnSpc>
                <a:spcPts val="2653"/>
              </a:lnSpc>
              <a:spcBef>
                <a:spcPts val="0"/>
              </a:spcBef>
              <a:spcAft>
                <a:spcPts val="0"/>
              </a:spcAft>
              <a:defRPr sz="2175" b="0">
                <a:solidFill>
                  <a:srgbClr val="F4F5F4"/>
                </a:solidFill>
                <a:latin typeface="DejaVu Sans"/>
              </a:defRPr>
            </a:pPr>
            <a:r>
              <a:t>дэмжлэгээс үлдэх.</a:t>
            </a:r>
          </a:p>
        </p:txBody>
      </p:sp>
      <p:sp>
        <p:nvSpPr>
          <p:cNvPr id="52" name="Rounded Rectangle 51"/>
          <p:cNvSpPr/>
          <p:nvPr/>
        </p:nvSpPr>
        <p:spPr>
          <a:xfrm>
            <a:off x="6238875" y="3152775"/>
            <a:ext cx="5562600" cy="2676525"/>
          </a:xfrm>
          <a:prstGeom prst="roundRect">
            <a:avLst>
              <a:gd name="adj" fmla="val 427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172200" y="3048000"/>
            <a:ext cx="5562600" cy="2676525"/>
          </a:xfrm>
          <a:prstGeom prst="roundRect">
            <a:avLst>
              <a:gd name="adj" fmla="val 355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81725" y="3057525"/>
            <a:ext cx="5543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81725" y="3076575"/>
            <a:ext cx="19050" cy="26193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38875" y="5705475"/>
            <a:ext cx="5429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275" y="3267075"/>
            <a:ext cx="51149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02</a:t>
            </a:r>
          </a:p>
        </p:txBody>
      </p:sp>
      <p:sp>
        <p:nvSpPr>
          <p:cNvPr id="58" name="TextBox 57"/>
          <p:cNvSpPr txBox="1"/>
          <p:nvPr/>
        </p:nvSpPr>
        <p:spPr>
          <a:xfrm>
            <a:off x="6391275" y="4076699"/>
            <a:ext cx="5114925" cy="400050"/>
          </a:xfrm>
          <a:prstGeom prst="rect">
            <a:avLst/>
          </a:prstGeom>
          <a:noFill/>
        </p:spPr>
        <p:txBody>
          <a:bodyPr wrap="none" lIns="0" tIns="0" rIns="0" bIns="0">
            <a:spAutoFit/>
          </a:bodyPr>
          <a:lstStyle/>
          <a:p>
            <a:pPr>
              <a:lnSpc>
                <a:spcPts val="2836"/>
              </a:lnSpc>
              <a:spcBef>
                <a:spcPts val="0"/>
              </a:spcBef>
              <a:spcAft>
                <a:spcPts val="0"/>
              </a:spcAft>
              <a:defRPr sz="2325" b="1">
                <a:solidFill>
                  <a:srgbClr val="F4F5F4"/>
                </a:solidFill>
                <a:latin typeface="DejaVu Sans"/>
              </a:defRPr>
            </a:pPr>
            <a:r>
              <a:t>Хамрагдлын алдаа</a:t>
            </a:r>
          </a:p>
        </p:txBody>
      </p:sp>
      <p:sp>
        <p:nvSpPr>
          <p:cNvPr id="59" name="TextBox 58"/>
          <p:cNvSpPr txBox="1"/>
          <p:nvPr/>
        </p:nvSpPr>
        <p:spPr>
          <a:xfrm>
            <a:off x="6391275" y="4695825"/>
            <a:ext cx="5114925" cy="800100"/>
          </a:xfrm>
          <a:prstGeom prst="rect">
            <a:avLst/>
          </a:prstGeom>
          <a:noFill/>
        </p:spPr>
        <p:txBody>
          <a:bodyPr wrap="none" lIns="0" tIns="0" rIns="0" bIns="0">
            <a:spAutoFit/>
          </a:bodyPr>
          <a:lstStyle/>
          <a:p>
            <a:pPr>
              <a:lnSpc>
                <a:spcPts val="2653"/>
              </a:lnSpc>
              <a:spcBef>
                <a:spcPts val="0"/>
              </a:spcBef>
              <a:spcAft>
                <a:spcPts val="0"/>
              </a:spcAft>
              <a:defRPr sz="2175" b="0">
                <a:solidFill>
                  <a:srgbClr val="F4F5F4"/>
                </a:solidFill>
                <a:latin typeface="DejaVu Sans"/>
              </a:defRPr>
            </a:pPr>
            <a:r>
              <a:t>Шаардлага хангахгүй хүн</a:t>
            </a:r>
          </a:p>
          <a:p>
            <a:pPr>
              <a:lnSpc>
                <a:spcPts val="2653"/>
              </a:lnSpc>
              <a:spcBef>
                <a:spcPts val="0"/>
              </a:spcBef>
              <a:spcAft>
                <a:spcPts val="0"/>
              </a:spcAft>
              <a:defRPr sz="2175" b="0">
                <a:solidFill>
                  <a:srgbClr val="F4F5F4"/>
                </a:solidFill>
                <a:latin typeface="DejaVu Sans"/>
              </a:defRPr>
            </a:pPr>
            <a:r>
              <a:t>хамрагдах.</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Шалгуур ойлгомжтой, мэдээллээ засуулах, шийдвэрээ хянуулах боломжтой байна.</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НХ · ICESCR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5184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Кейс 1: орон байрны</a:t>
            </a:r>
          </a:p>
          <a:p>
            <a:pPr>
              <a:lnSpc>
                <a:spcPts val="4941"/>
              </a:lnSpc>
              <a:spcBef>
                <a:spcPts val="0"/>
              </a:spcBef>
              <a:spcAft>
                <a:spcPts val="0"/>
              </a:spcAft>
              <a:defRPr sz="4050" b="1">
                <a:solidFill>
                  <a:srgbClr val="030A13"/>
                </a:solidFill>
                <a:latin typeface="Open Sans Condensed"/>
              </a:defRPr>
            </a:pPr>
            <a:r>
              <a:t>бодлого хэнийг орхив?</a:t>
            </a:r>
          </a:p>
        </p:txBody>
      </p:sp>
      <p:sp>
        <p:nvSpPr>
          <p:cNvPr id="37" name="TextBox 36"/>
          <p:cNvSpPr txBox="1"/>
          <p:nvPr/>
        </p:nvSpPr>
        <p:spPr>
          <a:xfrm>
            <a:off x="457200" y="942975"/>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Кейс 1: орон байрны</a:t>
            </a:r>
          </a:p>
          <a:p>
            <a:pPr>
              <a:lnSpc>
                <a:spcPts val="4941"/>
              </a:lnSpc>
              <a:spcBef>
                <a:spcPts val="0"/>
              </a:spcBef>
              <a:spcAft>
                <a:spcPts val="0"/>
              </a:spcAft>
              <a:defRPr sz="4050" b="1">
                <a:solidFill>
                  <a:srgbClr val="F4F5F4"/>
                </a:solidFill>
                <a:latin typeface="Open Sans Condensed"/>
              </a:defRPr>
            </a:pPr>
            <a:r>
              <a:t>бодлого хэнийг орхив?</a:t>
            </a:r>
          </a:p>
        </p:txBody>
      </p:sp>
      <p:sp>
        <p:nvSpPr>
          <p:cNvPr id="38" name="Rounded Rectangle 37"/>
          <p:cNvSpPr/>
          <p:nvPr/>
        </p:nvSpPr>
        <p:spPr>
          <a:xfrm>
            <a:off x="552450" y="2400300"/>
            <a:ext cx="389481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89481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87576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76146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66621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Өмнөд Африк / Grootboom / 2000.10.04 / [2000] ZACC 19</a:t>
            </a:r>
          </a:p>
        </p:txBody>
      </p:sp>
      <p:sp>
        <p:nvSpPr>
          <p:cNvPr id="44" name="Rounded Rectangle 43"/>
          <p:cNvSpPr/>
          <p:nvPr/>
        </p:nvSpPr>
        <p:spPr>
          <a:xfrm>
            <a:off x="523874" y="2790825"/>
            <a:ext cx="764857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64857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6295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5152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Асуудал</a:t>
            </a:r>
          </a:p>
        </p:txBody>
      </p:sp>
      <p:sp>
        <p:nvSpPr>
          <p:cNvPr id="51" name="TextBox 50"/>
          <p:cNvSpPr txBox="1"/>
          <p:nvPr/>
        </p:nvSpPr>
        <p:spPr>
          <a:xfrm>
            <a:off x="1285875" y="3238500"/>
            <a:ext cx="6591300" cy="495299"/>
          </a:xfrm>
          <a:prstGeom prst="rect">
            <a:avLst/>
          </a:prstGeom>
          <a:noFill/>
        </p:spPr>
        <p:txBody>
          <a:bodyPr wrap="none" lIns="0" tIns="0" rIns="0" bIns="0">
            <a:spAutoFit/>
          </a:bodyPr>
          <a:lstStyle/>
          <a:p>
            <a:pPr>
              <a:lnSpc>
                <a:spcPts val="2067"/>
              </a:lnSpc>
              <a:spcBef>
                <a:spcPts val="0"/>
              </a:spcBef>
              <a:spcAft>
                <a:spcPts val="0"/>
              </a:spcAft>
              <a:defRPr sz="1695" b="0">
                <a:solidFill>
                  <a:srgbClr val="F4F5F4"/>
                </a:solidFill>
                <a:latin typeface="DejaVu Sans"/>
              </a:defRPr>
            </a:pPr>
            <a:r>
              <a:t>Хүнд нөхцөлтэй иргэдийн яаралтай хэрэгцээ орхигдсон.</a:t>
            </a:r>
          </a:p>
        </p:txBody>
      </p:sp>
      <p:cxnSp>
        <p:nvCxnSpPr>
          <p:cNvPr id="52" name="Connector 51"/>
          <p:cNvCxnSpPr/>
          <p:nvPr/>
        </p:nvCxnSpPr>
        <p:spPr>
          <a:xfrm>
            <a:off x="1276350" y="368617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Шийдвэр</a:t>
            </a:r>
          </a:p>
        </p:txBody>
      </p:sp>
      <p:sp>
        <p:nvSpPr>
          <p:cNvPr id="55" name="TextBox 54"/>
          <p:cNvSpPr txBox="1"/>
          <p:nvPr/>
        </p:nvSpPr>
        <p:spPr>
          <a:xfrm>
            <a:off x="1285875" y="4248150"/>
            <a:ext cx="659130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Бодлого яаралтай хэрэгцээг бодитой тусгах ёстой.</a:t>
            </a:r>
          </a:p>
        </p:txBody>
      </p:sp>
      <p:cxnSp>
        <p:nvCxnSpPr>
          <p:cNvPr id="56" name="Connector 55"/>
          <p:cNvCxnSpPr/>
          <p:nvPr/>
        </p:nvCxnSpPr>
        <p:spPr>
          <a:xfrm>
            <a:off x="1276350" y="469582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Сургамж</a:t>
            </a:r>
          </a:p>
        </p:txBody>
      </p:sp>
      <p:sp>
        <p:nvSpPr>
          <p:cNvPr id="59" name="TextBox 58"/>
          <p:cNvSpPr txBox="1"/>
          <p:nvPr/>
        </p:nvSpPr>
        <p:spPr>
          <a:xfrm>
            <a:off x="1285875" y="5257800"/>
            <a:ext cx="659130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Урт хугацааны төлөвлөгөө + яаралтай хамгаалалт.</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Бодлого хамгийн яаралтай хэрэгцээтэй хүмүүсийг орхиж болохгүй.</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GROOT</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8943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Кейс 2: эмчилгээний</a:t>
            </a:r>
          </a:p>
          <a:p>
            <a:pPr>
              <a:lnSpc>
                <a:spcPts val="4941"/>
              </a:lnSpc>
              <a:spcBef>
                <a:spcPts val="0"/>
              </a:spcBef>
              <a:spcAft>
                <a:spcPts val="0"/>
              </a:spcAft>
              <a:defRPr sz="4050" b="1">
                <a:solidFill>
                  <a:srgbClr val="030A13"/>
                </a:solidFill>
                <a:latin typeface="Open Sans Condensed"/>
              </a:defRPr>
            </a:pPr>
            <a:r>
              <a:t>хязгаарлалт үндэслэлтэй юу?</a:t>
            </a:r>
          </a:p>
        </p:txBody>
      </p:sp>
      <p:sp>
        <p:nvSpPr>
          <p:cNvPr id="37" name="TextBox 36"/>
          <p:cNvSpPr txBox="1"/>
          <p:nvPr/>
        </p:nvSpPr>
        <p:spPr>
          <a:xfrm>
            <a:off x="457200" y="942975"/>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Кейс 2: эмчилгээний</a:t>
            </a:r>
          </a:p>
          <a:p>
            <a:pPr>
              <a:lnSpc>
                <a:spcPts val="4941"/>
              </a:lnSpc>
              <a:spcBef>
                <a:spcPts val="0"/>
              </a:spcBef>
              <a:spcAft>
                <a:spcPts val="0"/>
              </a:spcAft>
              <a:defRPr sz="4050" b="1">
                <a:solidFill>
                  <a:srgbClr val="F4F5F4"/>
                </a:solidFill>
                <a:latin typeface="Open Sans Condensed"/>
              </a:defRPr>
            </a:pPr>
            <a:r>
              <a:t>хязгаарлалт үндэслэлтэй юу?</a:t>
            </a:r>
          </a:p>
        </p:txBody>
      </p:sp>
      <p:sp>
        <p:nvSpPr>
          <p:cNvPr id="38" name="Rounded Rectangle 37"/>
          <p:cNvSpPr/>
          <p:nvPr/>
        </p:nvSpPr>
        <p:spPr>
          <a:xfrm>
            <a:off x="552450" y="2400300"/>
            <a:ext cx="499584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99584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97679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486249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476724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Өмнөд Африк / Treatment Action Campaign / 2002.07.05 / [2002] ZACC 15</a:t>
            </a:r>
          </a:p>
        </p:txBody>
      </p:sp>
      <p:sp>
        <p:nvSpPr>
          <p:cNvPr id="44" name="Rounded Rectangle 43"/>
          <p:cNvSpPr/>
          <p:nvPr/>
        </p:nvSpPr>
        <p:spPr>
          <a:xfrm>
            <a:off x="523874" y="2790825"/>
            <a:ext cx="764857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64857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6295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5152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Асуудал</a:t>
            </a:r>
          </a:p>
        </p:txBody>
      </p:sp>
      <p:sp>
        <p:nvSpPr>
          <p:cNvPr id="51" name="TextBox 50"/>
          <p:cNvSpPr txBox="1"/>
          <p:nvPr/>
        </p:nvSpPr>
        <p:spPr>
          <a:xfrm>
            <a:off x="1285875" y="32385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Эхээс хүүхдэд ХДХВ дамжихаас сэргийлэх эмийн хүртээмж</a:t>
            </a:r>
          </a:p>
          <a:p>
            <a:pPr>
              <a:lnSpc>
                <a:spcPts val="1921"/>
              </a:lnSpc>
              <a:spcBef>
                <a:spcPts val="0"/>
              </a:spcBef>
              <a:spcAft>
                <a:spcPts val="0"/>
              </a:spcAft>
              <a:defRPr sz="1575" b="0">
                <a:solidFill>
                  <a:srgbClr val="F4F5F4"/>
                </a:solidFill>
                <a:latin typeface="DejaVu Sans"/>
              </a:defRPr>
            </a:pPr>
            <a:r>
              <a:t>хязгаарлагдсан.</a:t>
            </a:r>
          </a:p>
        </p:txBody>
      </p:sp>
      <p:cxnSp>
        <p:nvCxnSpPr>
          <p:cNvPr id="52" name="Connector 51"/>
          <p:cNvCxnSpPr/>
          <p:nvPr/>
        </p:nvCxnSpPr>
        <p:spPr>
          <a:xfrm>
            <a:off x="1276350" y="368617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Шийдвэр</a:t>
            </a:r>
          </a:p>
        </p:txBody>
      </p:sp>
      <p:sp>
        <p:nvSpPr>
          <p:cNvPr id="55" name="TextBox 54"/>
          <p:cNvSpPr txBox="1"/>
          <p:nvPr/>
        </p:nvSpPr>
        <p:spPr>
          <a:xfrm>
            <a:off x="1285875" y="4248150"/>
            <a:ext cx="6591300" cy="495299"/>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Шаардлага хангасан эмнэлгүүдэд тавьсан саадыг арилгах.</a:t>
            </a:r>
          </a:p>
        </p:txBody>
      </p:sp>
      <p:cxnSp>
        <p:nvCxnSpPr>
          <p:cNvPr id="56" name="Connector 55"/>
          <p:cNvCxnSpPr/>
          <p:nvPr/>
        </p:nvCxnSpPr>
        <p:spPr>
          <a:xfrm>
            <a:off x="1276350" y="469582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Сургамж</a:t>
            </a:r>
          </a:p>
        </p:txBody>
      </p:sp>
      <p:sp>
        <p:nvSpPr>
          <p:cNvPr id="59" name="TextBox 58"/>
          <p:cNvSpPr txBox="1"/>
          <p:nvPr/>
        </p:nvSpPr>
        <p:spPr>
          <a:xfrm>
            <a:off x="1285875" y="5257800"/>
            <a:ext cx="6591300" cy="495299"/>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Үйлчилгээний хязгаарлалт нотолгоотой, үндэслэлтэй байна.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Эмчилгээний хүртээмжийг хязгаарлах бол бодит үндэслэл шаардлагатай.</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TAC</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82702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Кейс 3: тэтгэмжийн хэмжээг</a:t>
            </a:r>
          </a:p>
          <a:p>
            <a:pPr>
              <a:lnSpc>
                <a:spcPts val="4941"/>
              </a:lnSpc>
              <a:spcBef>
                <a:spcPts val="0"/>
              </a:spcBef>
              <a:spcAft>
                <a:spcPts val="0"/>
              </a:spcAft>
              <a:defRPr sz="4050" b="1">
                <a:solidFill>
                  <a:srgbClr val="030A13"/>
                </a:solidFill>
                <a:latin typeface="Open Sans Condensed"/>
              </a:defRPr>
            </a:pPr>
            <a:r>
              <a:t>юунд үндэслэж тогтоох вэ?</a:t>
            </a:r>
          </a:p>
        </p:txBody>
      </p:sp>
      <p:sp>
        <p:nvSpPr>
          <p:cNvPr id="37" name="TextBox 36"/>
          <p:cNvSpPr txBox="1"/>
          <p:nvPr/>
        </p:nvSpPr>
        <p:spPr>
          <a:xfrm>
            <a:off x="457200" y="942975"/>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Кейс 3: тэтгэмжийн хэмжээг</a:t>
            </a:r>
          </a:p>
          <a:p>
            <a:pPr>
              <a:lnSpc>
                <a:spcPts val="4941"/>
              </a:lnSpc>
              <a:spcBef>
                <a:spcPts val="0"/>
              </a:spcBef>
              <a:spcAft>
                <a:spcPts val="0"/>
              </a:spcAft>
              <a:defRPr sz="4050" b="1">
                <a:solidFill>
                  <a:srgbClr val="F4F5F4"/>
                </a:solidFill>
                <a:latin typeface="Open Sans Condensed"/>
              </a:defRPr>
            </a:pPr>
            <a:r>
              <a:t>юунд үндэслэж тогтоох вэ?</a:t>
            </a:r>
          </a:p>
        </p:txBody>
      </p:sp>
      <p:sp>
        <p:nvSpPr>
          <p:cNvPr id="38" name="Rounded Rectangle 37"/>
          <p:cNvSpPr/>
          <p:nvPr/>
        </p:nvSpPr>
        <p:spPr>
          <a:xfrm>
            <a:off x="552450" y="2400300"/>
            <a:ext cx="3344298"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344298"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325248"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210948"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115698"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Герман / BVerfG / 2010.02.09 / 1 BvL 1/09 нар</a:t>
            </a:r>
          </a:p>
        </p:txBody>
      </p:sp>
      <p:sp>
        <p:nvSpPr>
          <p:cNvPr id="44" name="Rounded Rectangle 43"/>
          <p:cNvSpPr/>
          <p:nvPr/>
        </p:nvSpPr>
        <p:spPr>
          <a:xfrm>
            <a:off x="523874" y="2790825"/>
            <a:ext cx="764857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64857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6295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5152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Асуудал</a:t>
            </a:r>
          </a:p>
        </p:txBody>
      </p:sp>
      <p:sp>
        <p:nvSpPr>
          <p:cNvPr id="51" name="TextBox 50"/>
          <p:cNvSpPr txBox="1"/>
          <p:nvPr/>
        </p:nvSpPr>
        <p:spPr>
          <a:xfrm>
            <a:off x="1285875" y="32385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Амьжиргааны доод дэмжлэгийн тооцоолол маргаантай</a:t>
            </a:r>
          </a:p>
          <a:p>
            <a:pPr>
              <a:lnSpc>
                <a:spcPts val="1921"/>
              </a:lnSpc>
              <a:spcBef>
                <a:spcPts val="0"/>
              </a:spcBef>
              <a:spcAft>
                <a:spcPts val="0"/>
              </a:spcAft>
              <a:defRPr sz="1575" b="0">
                <a:solidFill>
                  <a:srgbClr val="F4F5F4"/>
                </a:solidFill>
                <a:latin typeface="DejaVu Sans"/>
              </a:defRPr>
            </a:pPr>
            <a:r>
              <a:t>байсан.</a:t>
            </a:r>
          </a:p>
        </p:txBody>
      </p:sp>
      <p:cxnSp>
        <p:nvCxnSpPr>
          <p:cNvPr id="52" name="Connector 51"/>
          <p:cNvCxnSpPr/>
          <p:nvPr/>
        </p:nvCxnSpPr>
        <p:spPr>
          <a:xfrm>
            <a:off x="1276350" y="368617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Шийдвэр</a:t>
            </a:r>
          </a:p>
        </p:txBody>
      </p:sp>
      <p:sp>
        <p:nvSpPr>
          <p:cNvPr id="55" name="TextBox 54"/>
          <p:cNvSpPr txBox="1"/>
          <p:nvPr/>
        </p:nvSpPr>
        <p:spPr>
          <a:xfrm>
            <a:off x="1285875" y="4248150"/>
            <a:ext cx="6591300" cy="495299"/>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Тооцоолол ил тод, бодит хэрэгцээнд үндэслэсэн байна.</a:t>
            </a:r>
          </a:p>
        </p:txBody>
      </p:sp>
      <p:cxnSp>
        <p:nvCxnSpPr>
          <p:cNvPr id="56" name="Connector 55"/>
          <p:cNvCxnSpPr/>
          <p:nvPr/>
        </p:nvCxnSpPr>
        <p:spPr>
          <a:xfrm>
            <a:off x="1276350" y="469582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Сургамж</a:t>
            </a:r>
          </a:p>
        </p:txBody>
      </p:sp>
      <p:sp>
        <p:nvSpPr>
          <p:cNvPr id="59" name="TextBox 58"/>
          <p:cNvSpPr txBox="1"/>
          <p:nvPr/>
        </p:nvSpPr>
        <p:spPr>
          <a:xfrm>
            <a:off x="1285875" y="5257800"/>
            <a:ext cx="659130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Дүнг хэлэхээс гадна яаж тооцсоныг тайлбарлана.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Дэмжлэгийн хэмжээ бодит хэрэгцээ, ил тод тооцоонд тулгуурлана.</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GER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86461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4297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Улс бүр өөр хэрэгсэлтэй.</a:t>
            </a:r>
          </a:p>
          <a:p>
            <a:pPr>
              <a:lnSpc>
                <a:spcPts val="4941"/>
              </a:lnSpc>
              <a:spcBef>
                <a:spcPts val="0"/>
              </a:spcBef>
              <a:spcAft>
                <a:spcPts val="0"/>
              </a:spcAft>
              <a:defRPr sz="4050" b="1">
                <a:solidFill>
                  <a:srgbClr val="030A13"/>
                </a:solidFill>
                <a:latin typeface="Open Sans Condensed"/>
              </a:defRPr>
            </a:pPr>
            <a:r>
              <a:t>Гол зорилго нь ижил.</a:t>
            </a:r>
          </a:p>
        </p:txBody>
      </p:sp>
      <p:sp>
        <p:nvSpPr>
          <p:cNvPr id="37" name="TextBox 36"/>
          <p:cNvSpPr txBox="1"/>
          <p:nvPr/>
        </p:nvSpPr>
        <p:spPr>
          <a:xfrm>
            <a:off x="457200" y="942975"/>
            <a:ext cx="94297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Улс бүр өөр хэрэгсэлтэй.</a:t>
            </a:r>
          </a:p>
          <a:p>
            <a:pPr>
              <a:lnSpc>
                <a:spcPts val="4941"/>
              </a:lnSpc>
              <a:spcBef>
                <a:spcPts val="0"/>
              </a:spcBef>
              <a:spcAft>
                <a:spcPts val="0"/>
              </a:spcAft>
              <a:defRPr sz="4050" b="1">
                <a:solidFill>
                  <a:srgbClr val="F4F5F4"/>
                </a:solidFill>
                <a:latin typeface="Open Sans Condensed"/>
              </a:defRPr>
            </a:pPr>
            <a:r>
              <a:t>Гол зорилго нь ижил.</a:t>
            </a:r>
          </a:p>
        </p:txBody>
      </p:sp>
      <p:sp>
        <p:nvSpPr>
          <p:cNvPr id="38" name="Rounded Rectangle 37"/>
          <p:cNvSpPr/>
          <p:nvPr/>
        </p:nvSpPr>
        <p:spPr>
          <a:xfrm>
            <a:off x="523874" y="2819400"/>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714625"/>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7241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743200"/>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150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700" y="2819400"/>
            <a:ext cx="2514600" cy="276225"/>
          </a:xfrm>
          <a:prstGeom prst="rect">
            <a:avLst/>
          </a:prstGeom>
          <a:noFill/>
        </p:spPr>
        <p:txBody>
          <a:bodyPr wrap="none" lIns="0" tIns="0" rIns="0" bIns="0">
            <a:spAutoFit/>
          </a:bodyPr>
          <a:lstStyle/>
          <a:p>
            <a:pPr>
              <a:lnSpc>
                <a:spcPts val="1738"/>
              </a:lnSpc>
              <a:spcBef>
                <a:spcPts val="0"/>
              </a:spcBef>
              <a:spcAft>
                <a:spcPts val="0"/>
              </a:spcAft>
              <a:defRPr sz="1425" b="1">
                <a:solidFill>
                  <a:srgbClr val="F1C75B"/>
                </a:solidFill>
                <a:latin typeface="DejaVu Sans"/>
              </a:defRPr>
            </a:pPr>
            <a:r>
              <a:t>Улс</a:t>
            </a:r>
          </a:p>
        </p:txBody>
      </p:sp>
      <p:sp>
        <p:nvSpPr>
          <p:cNvPr id="44" name="TextBox 43"/>
          <p:cNvSpPr txBox="1"/>
          <p:nvPr/>
        </p:nvSpPr>
        <p:spPr>
          <a:xfrm>
            <a:off x="3486150" y="2819400"/>
            <a:ext cx="4086225" cy="276225"/>
          </a:xfrm>
          <a:prstGeom prst="rect">
            <a:avLst/>
          </a:prstGeom>
          <a:noFill/>
        </p:spPr>
        <p:txBody>
          <a:bodyPr wrap="none" lIns="0" tIns="0" rIns="0" bIns="0">
            <a:spAutoFit/>
          </a:bodyPr>
          <a:lstStyle/>
          <a:p>
            <a:pPr>
              <a:lnSpc>
                <a:spcPts val="1738"/>
              </a:lnSpc>
              <a:spcBef>
                <a:spcPts val="0"/>
              </a:spcBef>
              <a:spcAft>
                <a:spcPts val="0"/>
              </a:spcAft>
              <a:defRPr sz="1425" b="1">
                <a:solidFill>
                  <a:srgbClr val="F1C75B"/>
                </a:solidFill>
                <a:latin typeface="DejaVu Sans"/>
              </a:defRPr>
            </a:pPr>
            <a:r>
              <a:t>Гол хэрэгсэл</a:t>
            </a:r>
          </a:p>
        </p:txBody>
      </p:sp>
      <p:sp>
        <p:nvSpPr>
          <p:cNvPr id="45" name="TextBox 44"/>
          <p:cNvSpPr txBox="1"/>
          <p:nvPr/>
        </p:nvSpPr>
        <p:spPr>
          <a:xfrm>
            <a:off x="7848600" y="2819400"/>
            <a:ext cx="3648075" cy="276225"/>
          </a:xfrm>
          <a:prstGeom prst="rect">
            <a:avLst/>
          </a:prstGeom>
          <a:noFill/>
        </p:spPr>
        <p:txBody>
          <a:bodyPr wrap="none" lIns="0" tIns="0" rIns="0" bIns="0">
            <a:spAutoFit/>
          </a:bodyPr>
          <a:lstStyle/>
          <a:p>
            <a:pPr>
              <a:lnSpc>
                <a:spcPts val="1738"/>
              </a:lnSpc>
              <a:spcBef>
                <a:spcPts val="0"/>
              </a:spcBef>
              <a:spcAft>
                <a:spcPts val="0"/>
              </a:spcAft>
              <a:defRPr sz="1425" b="1">
                <a:solidFill>
                  <a:srgbClr val="F1C75B"/>
                </a:solidFill>
                <a:latin typeface="DejaVu Sans"/>
              </a:defRPr>
            </a:pPr>
            <a:r>
              <a:t>Анхаарах зүйл</a:t>
            </a:r>
          </a:p>
        </p:txBody>
      </p:sp>
      <p:sp>
        <p:nvSpPr>
          <p:cNvPr id="46" name="TextBox 45"/>
          <p:cNvSpPr txBox="1"/>
          <p:nvPr/>
        </p:nvSpPr>
        <p:spPr>
          <a:xfrm>
            <a:off x="647700" y="3219450"/>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Монгол</a:t>
            </a:r>
          </a:p>
        </p:txBody>
      </p:sp>
      <p:sp>
        <p:nvSpPr>
          <p:cNvPr id="47" name="TextBox 46"/>
          <p:cNvSpPr txBox="1"/>
          <p:nvPr/>
        </p:nvSpPr>
        <p:spPr>
          <a:xfrm>
            <a:off x="3486150" y="3219450"/>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Хууль, халамж, үйлчилгээ</a:t>
            </a:r>
          </a:p>
        </p:txBody>
      </p:sp>
      <p:sp>
        <p:nvSpPr>
          <p:cNvPr id="48" name="TextBox 47"/>
          <p:cNvSpPr txBox="1"/>
          <p:nvPr/>
        </p:nvSpPr>
        <p:spPr>
          <a:xfrm>
            <a:off x="7848600" y="3219450"/>
            <a:ext cx="364807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Бодит хүртээмж</a:t>
            </a:r>
          </a:p>
        </p:txBody>
      </p:sp>
      <p:cxnSp>
        <p:nvCxnSpPr>
          <p:cNvPr id="49" name="Connector 48"/>
          <p:cNvCxnSpPr/>
          <p:nvPr/>
        </p:nvCxnSpPr>
        <p:spPr>
          <a:xfrm>
            <a:off x="638175" y="3638550"/>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47700" y="3705224"/>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Өмнөд Африк</a:t>
            </a:r>
          </a:p>
        </p:txBody>
      </p:sp>
      <p:sp>
        <p:nvSpPr>
          <p:cNvPr id="51" name="TextBox 50"/>
          <p:cNvSpPr txBox="1"/>
          <p:nvPr/>
        </p:nvSpPr>
        <p:spPr>
          <a:xfrm>
            <a:off x="3486150" y="3705224"/>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Бодлогод шүүхийн хяналт</a:t>
            </a:r>
          </a:p>
        </p:txBody>
      </p:sp>
      <p:sp>
        <p:nvSpPr>
          <p:cNvPr id="52" name="TextBox 51"/>
          <p:cNvSpPr txBox="1"/>
          <p:nvPr/>
        </p:nvSpPr>
        <p:spPr>
          <a:xfrm>
            <a:off x="7848600" y="3705224"/>
            <a:ext cx="364807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Хэнийг орхисныг шалгах</a:t>
            </a:r>
          </a:p>
        </p:txBody>
      </p:sp>
      <p:cxnSp>
        <p:nvCxnSpPr>
          <p:cNvPr id="53" name="Connector 52"/>
          <p:cNvCxnSpPr/>
          <p:nvPr/>
        </p:nvCxnSpPr>
        <p:spPr>
          <a:xfrm>
            <a:off x="638175" y="4124325"/>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47700" y="4190999"/>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Герман</a:t>
            </a:r>
          </a:p>
        </p:txBody>
      </p:sp>
      <p:sp>
        <p:nvSpPr>
          <p:cNvPr id="55" name="TextBox 54"/>
          <p:cNvSpPr txBox="1"/>
          <p:nvPr/>
        </p:nvSpPr>
        <p:spPr>
          <a:xfrm>
            <a:off x="3486150" y="4190999"/>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Амьжиргааны доод баталгаа</a:t>
            </a:r>
          </a:p>
        </p:txBody>
      </p:sp>
      <p:sp>
        <p:nvSpPr>
          <p:cNvPr id="56" name="TextBox 55"/>
          <p:cNvSpPr txBox="1"/>
          <p:nvPr/>
        </p:nvSpPr>
        <p:spPr>
          <a:xfrm>
            <a:off x="7848600" y="4190999"/>
            <a:ext cx="364807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Тооцооллын үндэслэл</a:t>
            </a:r>
          </a:p>
        </p:txBody>
      </p:sp>
      <p:cxnSp>
        <p:nvCxnSpPr>
          <p:cNvPr id="57" name="Connector 56"/>
          <p:cNvCxnSpPr/>
          <p:nvPr/>
        </p:nvCxnSpPr>
        <p:spPr>
          <a:xfrm>
            <a:off x="638175" y="4610100"/>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47700" y="4676775"/>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Финланд</a:t>
            </a:r>
          </a:p>
        </p:txBody>
      </p:sp>
      <p:sp>
        <p:nvSpPr>
          <p:cNvPr id="59" name="TextBox 58"/>
          <p:cNvSpPr txBox="1"/>
          <p:nvPr/>
        </p:nvSpPr>
        <p:spPr>
          <a:xfrm>
            <a:off x="3486150" y="4676775"/>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Орлогын дэмжлэгийн туршилт</a:t>
            </a:r>
          </a:p>
        </p:txBody>
      </p:sp>
      <p:sp>
        <p:nvSpPr>
          <p:cNvPr id="60" name="TextBox 59"/>
          <p:cNvSpPr txBox="1"/>
          <p:nvPr/>
        </p:nvSpPr>
        <p:spPr>
          <a:xfrm>
            <a:off x="7848600" y="4676775"/>
            <a:ext cx="364807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Нөлөөг судалж үнэлэх</a:t>
            </a:r>
          </a:p>
        </p:txBody>
      </p:sp>
      <p:cxnSp>
        <p:nvCxnSpPr>
          <p:cNvPr id="61" name="Connector 60"/>
          <p:cNvCxnSpPr/>
          <p:nvPr/>
        </p:nvCxnSpPr>
        <p:spPr>
          <a:xfrm>
            <a:off x="638175" y="5095875"/>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7700" y="5162550"/>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Бразил</a:t>
            </a:r>
          </a:p>
        </p:txBody>
      </p:sp>
      <p:sp>
        <p:nvSpPr>
          <p:cNvPr id="63" name="TextBox 62"/>
          <p:cNvSpPr txBox="1"/>
          <p:nvPr/>
        </p:nvSpPr>
        <p:spPr>
          <a:xfrm>
            <a:off x="3486150" y="5162550"/>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Орлого + суурь үйлчилгээ</a:t>
            </a:r>
          </a:p>
        </p:txBody>
      </p:sp>
      <p:sp>
        <p:nvSpPr>
          <p:cNvPr id="64" name="TextBox 63"/>
          <p:cNvSpPr txBox="1"/>
          <p:nvPr/>
        </p:nvSpPr>
        <p:spPr>
          <a:xfrm>
            <a:off x="7848600" y="5162550"/>
            <a:ext cx="364807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Үйлчилгээтэй уялдуулах</a:t>
            </a:r>
          </a:p>
        </p:txBody>
      </p:sp>
      <p:sp>
        <p:nvSpPr>
          <p:cNvPr id="65" name="Rounded Rectangle 64"/>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Энэ бол бодлогын харьцуулалт; улс орнуудын чансаа биш.</a:t>
            </a:r>
          </a:p>
        </p:txBody>
      </p:sp>
      <p:sp>
        <p:nvSpPr>
          <p:cNvPr id="72" name="Rectangle 71"/>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GROOT · GER · FIN · BRA</a:t>
            </a:r>
          </a:p>
        </p:txBody>
      </p:sp>
      <p:sp>
        <p:nvSpPr>
          <p:cNvPr id="74" name="TextBox 73"/>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5" name="TextBox 74"/>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90220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744075"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Финланд: орлогын дэмжлэг</a:t>
            </a:r>
          </a:p>
          <a:p>
            <a:pPr>
              <a:lnSpc>
                <a:spcPts val="4941"/>
              </a:lnSpc>
              <a:spcBef>
                <a:spcPts val="0"/>
              </a:spcBef>
              <a:spcAft>
                <a:spcPts val="0"/>
              </a:spcAft>
              <a:defRPr sz="4050" b="1">
                <a:solidFill>
                  <a:srgbClr val="030A13"/>
                </a:solidFill>
                <a:latin typeface="Open Sans Condensed"/>
              </a:defRPr>
            </a:pPr>
            <a:r>
              <a:t>ямар нөлөөтэй байсан бэ?</a:t>
            </a:r>
          </a:p>
        </p:txBody>
      </p:sp>
      <p:sp>
        <p:nvSpPr>
          <p:cNvPr id="37" name="TextBox 36"/>
          <p:cNvSpPr txBox="1"/>
          <p:nvPr/>
        </p:nvSpPr>
        <p:spPr>
          <a:xfrm>
            <a:off x="457200" y="942975"/>
            <a:ext cx="9744075"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Финланд: орлогын дэмжлэг</a:t>
            </a:r>
          </a:p>
          <a:p>
            <a:pPr>
              <a:lnSpc>
                <a:spcPts val="4941"/>
              </a:lnSpc>
              <a:spcBef>
                <a:spcPts val="0"/>
              </a:spcBef>
              <a:spcAft>
                <a:spcPts val="0"/>
              </a:spcAft>
              <a:defRPr sz="4050" b="1">
                <a:solidFill>
                  <a:srgbClr val="F4F5F4"/>
                </a:solidFill>
                <a:latin typeface="Open Sans Condensed"/>
              </a:defRPr>
            </a:pPr>
            <a:r>
              <a:t>ямар нөлөөтэй байсан бэ?</a:t>
            </a:r>
          </a:p>
        </p:txBody>
      </p:sp>
      <p:sp>
        <p:nvSpPr>
          <p:cNvPr id="38" name="Rounded Rectangle 37"/>
          <p:cNvSpPr/>
          <p:nvPr/>
        </p:nvSpPr>
        <p:spPr>
          <a:xfrm>
            <a:off x="552450" y="2428875"/>
            <a:ext cx="3413112"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24100"/>
            <a:ext cx="3413112"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33625"/>
            <a:ext cx="3394062"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52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71750"/>
            <a:ext cx="3279762"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81250"/>
            <a:ext cx="3184512"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Туршилт • 2017–2018 | Үр дүнгийн тайлан • 2020</a:t>
            </a:r>
          </a:p>
        </p:txBody>
      </p:sp>
      <p:sp>
        <p:nvSpPr>
          <p:cNvPr id="44" name="Rounded Rectangle 43"/>
          <p:cNvSpPr/>
          <p:nvPr/>
        </p:nvSpPr>
        <p:spPr>
          <a:xfrm>
            <a:off x="523874" y="2990850"/>
            <a:ext cx="5353050" cy="1352550"/>
          </a:xfrm>
          <a:prstGeom prst="roundRect">
            <a:avLst>
              <a:gd name="adj" fmla="val 845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886075"/>
            <a:ext cx="5353050" cy="1352550"/>
          </a:xfrm>
          <a:prstGeom prst="roundRect">
            <a:avLst>
              <a:gd name="adj" fmla="val 704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895600"/>
            <a:ext cx="5334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914650"/>
            <a:ext cx="19050" cy="1295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219575"/>
            <a:ext cx="5219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6750" y="2895600"/>
            <a:ext cx="4933950" cy="942975"/>
          </a:xfrm>
          <a:prstGeom prst="rect">
            <a:avLst/>
          </a:prstGeom>
          <a:noFill/>
        </p:spPr>
        <p:txBody>
          <a:bodyPr wrap="none" lIns="0" tIns="0" rIns="0" bIns="0">
            <a:spAutoFit/>
          </a:bodyPr>
          <a:lstStyle/>
          <a:p>
            <a:pPr>
              <a:lnSpc>
                <a:spcPts val="7411"/>
              </a:lnSpc>
              <a:spcBef>
                <a:spcPts val="0"/>
              </a:spcBef>
              <a:spcAft>
                <a:spcPts val="0"/>
              </a:spcAft>
              <a:defRPr sz="6075" b="1">
                <a:solidFill>
                  <a:srgbClr val="F1C75B"/>
                </a:solidFill>
                <a:latin typeface="Open Sans Condensed"/>
              </a:defRPr>
            </a:pPr>
            <a:r>
              <a:t>2,000</a:t>
            </a:r>
          </a:p>
        </p:txBody>
      </p:sp>
      <p:sp>
        <p:nvSpPr>
          <p:cNvPr id="50" name="TextBox 49"/>
          <p:cNvSpPr txBox="1"/>
          <p:nvPr/>
        </p:nvSpPr>
        <p:spPr>
          <a:xfrm>
            <a:off x="676275" y="3857625"/>
            <a:ext cx="4914900" cy="285750"/>
          </a:xfrm>
          <a:prstGeom prst="rect">
            <a:avLst/>
          </a:prstGeom>
          <a:noFill/>
        </p:spPr>
        <p:txBody>
          <a:bodyPr wrap="none" lIns="0" tIns="0" rIns="0" bIns="0">
            <a:spAutoFit/>
          </a:bodyPr>
          <a:lstStyle/>
          <a:p>
            <a:pPr>
              <a:lnSpc>
                <a:spcPts val="1738"/>
              </a:lnSpc>
              <a:spcBef>
                <a:spcPts val="0"/>
              </a:spcBef>
              <a:spcAft>
                <a:spcPts val="0"/>
              </a:spcAft>
              <a:defRPr sz="1425" b="1">
                <a:solidFill>
                  <a:srgbClr val="F4F5F4"/>
                </a:solidFill>
                <a:latin typeface="DejaVu Sans"/>
              </a:defRPr>
            </a:pPr>
            <a:r>
              <a:t>АЖИЛГҮЙ ОРОЛЦОГЧ</a:t>
            </a:r>
          </a:p>
        </p:txBody>
      </p:sp>
      <p:sp>
        <p:nvSpPr>
          <p:cNvPr id="51" name="Rounded Rectangle 50"/>
          <p:cNvSpPr/>
          <p:nvPr/>
        </p:nvSpPr>
        <p:spPr>
          <a:xfrm>
            <a:off x="6067425" y="2990850"/>
            <a:ext cx="5734050" cy="1352550"/>
          </a:xfrm>
          <a:prstGeom prst="roundRect">
            <a:avLst>
              <a:gd name="adj" fmla="val 845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000750" y="2886075"/>
            <a:ext cx="5734050" cy="1352550"/>
          </a:xfrm>
          <a:prstGeom prst="roundRect">
            <a:avLst>
              <a:gd name="adj" fmla="val 704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10275" y="2895600"/>
            <a:ext cx="5715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10275" y="2914650"/>
            <a:ext cx="19050" cy="1295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067425" y="4219575"/>
            <a:ext cx="5600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0300" y="2895600"/>
            <a:ext cx="5314950" cy="942975"/>
          </a:xfrm>
          <a:prstGeom prst="rect">
            <a:avLst/>
          </a:prstGeom>
          <a:noFill/>
        </p:spPr>
        <p:txBody>
          <a:bodyPr wrap="none" lIns="0" tIns="0" rIns="0" bIns="0">
            <a:spAutoFit/>
          </a:bodyPr>
          <a:lstStyle/>
          <a:p>
            <a:pPr>
              <a:lnSpc>
                <a:spcPts val="7411"/>
              </a:lnSpc>
              <a:spcBef>
                <a:spcPts val="0"/>
              </a:spcBef>
              <a:spcAft>
                <a:spcPts val="0"/>
              </a:spcAft>
              <a:defRPr sz="6075" b="1">
                <a:solidFill>
                  <a:srgbClr val="F1C75B"/>
                </a:solidFill>
                <a:latin typeface="Open Sans Condensed"/>
              </a:defRPr>
            </a:pPr>
            <a:r>
              <a:t>€560</a:t>
            </a:r>
          </a:p>
        </p:txBody>
      </p:sp>
      <p:sp>
        <p:nvSpPr>
          <p:cNvPr id="57" name="TextBox 56"/>
          <p:cNvSpPr txBox="1"/>
          <p:nvPr/>
        </p:nvSpPr>
        <p:spPr>
          <a:xfrm>
            <a:off x="6219825" y="3857625"/>
            <a:ext cx="5295900" cy="285750"/>
          </a:xfrm>
          <a:prstGeom prst="rect">
            <a:avLst/>
          </a:prstGeom>
          <a:noFill/>
        </p:spPr>
        <p:txBody>
          <a:bodyPr wrap="none" lIns="0" tIns="0" rIns="0" bIns="0">
            <a:spAutoFit/>
          </a:bodyPr>
          <a:lstStyle/>
          <a:p>
            <a:pPr>
              <a:lnSpc>
                <a:spcPts val="1738"/>
              </a:lnSpc>
              <a:spcBef>
                <a:spcPts val="0"/>
              </a:spcBef>
              <a:spcAft>
                <a:spcPts val="0"/>
              </a:spcAft>
              <a:defRPr sz="1425" b="1">
                <a:solidFill>
                  <a:srgbClr val="F4F5F4"/>
                </a:solidFill>
                <a:latin typeface="DejaVu Sans"/>
              </a:defRPr>
            </a:pPr>
            <a:r>
              <a:t>САР БҮР / НЭГ ХҮНД</a:t>
            </a:r>
          </a:p>
        </p:txBody>
      </p:sp>
      <p:sp>
        <p:nvSpPr>
          <p:cNvPr id="58" name="Rounded Rectangle 57"/>
          <p:cNvSpPr/>
          <p:nvPr/>
        </p:nvSpPr>
        <p:spPr>
          <a:xfrm>
            <a:off x="523874" y="4533900"/>
            <a:ext cx="5353050" cy="1304925"/>
          </a:xfrm>
          <a:prstGeom prst="roundRect">
            <a:avLst>
              <a:gd name="adj" fmla="val 875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57200" y="4429125"/>
            <a:ext cx="5353050" cy="1304925"/>
          </a:xfrm>
          <a:prstGeom prst="roundRect">
            <a:avLst>
              <a:gd name="adj" fmla="val 729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724" y="4438650"/>
            <a:ext cx="5334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724" y="4457700"/>
            <a:ext cx="19050" cy="12477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3874" y="5715000"/>
            <a:ext cx="5219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6750" y="4562475"/>
            <a:ext cx="4933950" cy="323850"/>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Сайн сайхан байдал</a:t>
            </a:r>
          </a:p>
        </p:txBody>
      </p:sp>
      <p:sp>
        <p:nvSpPr>
          <p:cNvPr id="64" name="TextBox 63"/>
          <p:cNvSpPr txBox="1"/>
          <p:nvPr/>
        </p:nvSpPr>
        <p:spPr>
          <a:xfrm>
            <a:off x="666750" y="5019675"/>
            <a:ext cx="4933950" cy="542925"/>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Өөрсдийн үнэлгээ илүү сайн байсан.</a:t>
            </a:r>
          </a:p>
        </p:txBody>
      </p:sp>
      <p:sp>
        <p:nvSpPr>
          <p:cNvPr id="65" name="Rounded Rectangle 64"/>
          <p:cNvSpPr/>
          <p:nvPr/>
        </p:nvSpPr>
        <p:spPr>
          <a:xfrm>
            <a:off x="6067425" y="4533900"/>
            <a:ext cx="5734050" cy="1304925"/>
          </a:xfrm>
          <a:prstGeom prst="roundRect">
            <a:avLst>
              <a:gd name="adj" fmla="val 875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6000750" y="4429125"/>
            <a:ext cx="5734050" cy="1304925"/>
          </a:xfrm>
          <a:prstGeom prst="roundRect">
            <a:avLst>
              <a:gd name="adj" fmla="val 729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10275" y="4438650"/>
            <a:ext cx="5715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010275" y="4457700"/>
            <a:ext cx="19050" cy="12477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067425" y="5715000"/>
            <a:ext cx="5600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10300" y="4562475"/>
            <a:ext cx="5314950" cy="323850"/>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Ажил эрхлэлт</a:t>
            </a:r>
          </a:p>
        </p:txBody>
      </p:sp>
      <p:sp>
        <p:nvSpPr>
          <p:cNvPr id="71" name="TextBox 70"/>
          <p:cNvSpPr txBox="1"/>
          <p:nvPr/>
        </p:nvSpPr>
        <p:spPr>
          <a:xfrm>
            <a:off x="6210300" y="5019675"/>
            <a:ext cx="5314950" cy="542925"/>
          </a:xfrm>
          <a:prstGeom prst="rect">
            <a:avLst/>
          </a:prstGeom>
          <a:noFill/>
        </p:spPr>
        <p:txBody>
          <a:bodyPr wrap="none" lIns="0" tIns="0" rIns="0" bIns="0">
            <a:spAutoFit/>
          </a:bodyPr>
          <a:lstStyle/>
          <a:p>
            <a:pPr>
              <a:lnSpc>
                <a:spcPts val="2122"/>
              </a:lnSpc>
              <a:spcBef>
                <a:spcPts val="0"/>
              </a:spcBef>
              <a:spcAft>
                <a:spcPts val="0"/>
              </a:spcAft>
              <a:defRPr sz="1740" b="0">
                <a:solidFill>
                  <a:srgbClr val="F4F5F4"/>
                </a:solidFill>
                <a:latin typeface="DejaVu Sans"/>
              </a:defRPr>
            </a:pPr>
            <a:r>
              <a:t>Нөлөө хязгаарлагдмал, тайлбарлах</a:t>
            </a:r>
          </a:p>
          <a:p>
            <a:pPr>
              <a:lnSpc>
                <a:spcPts val="2122"/>
              </a:lnSpc>
              <a:spcBef>
                <a:spcPts val="0"/>
              </a:spcBef>
              <a:spcAft>
                <a:spcPts val="0"/>
              </a:spcAft>
              <a:defRPr sz="1740" b="0">
                <a:solidFill>
                  <a:srgbClr val="F4F5F4"/>
                </a:solidFill>
                <a:latin typeface="DejaVu Sans"/>
              </a:defRPr>
            </a:pPr>
            <a:r>
              <a:t>нөхцөлтэй.</a:t>
            </a:r>
          </a:p>
        </p:txBody>
      </p:sp>
      <p:sp>
        <p:nvSpPr>
          <p:cNvPr id="72" name="Rounded Rectangle 71"/>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Энэ нь бүх хүн амыг хамарсан байнгын суурь орлого биш, туршилт байсан.</a:t>
            </a:r>
          </a:p>
        </p:txBody>
      </p:sp>
      <p:sp>
        <p:nvSpPr>
          <p:cNvPr id="79" name="Rectangle 78"/>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FIN</a:t>
            </a:r>
          </a:p>
        </p:txBody>
      </p:sp>
      <p:sp>
        <p:nvSpPr>
          <p:cNvPr id="81" name="TextBox 80"/>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2" name="TextBox 81"/>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93980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Бразил: орлогын дэмжлэгийг</a:t>
            </a:r>
          </a:p>
          <a:p>
            <a:pPr>
              <a:lnSpc>
                <a:spcPts val="4941"/>
              </a:lnSpc>
              <a:spcBef>
                <a:spcPts val="0"/>
              </a:spcBef>
              <a:spcAft>
                <a:spcPts val="0"/>
              </a:spcAft>
              <a:defRPr sz="4050" b="1">
                <a:solidFill>
                  <a:srgbClr val="030A13"/>
                </a:solidFill>
                <a:latin typeface="Open Sans Condensed"/>
              </a:defRPr>
            </a:pPr>
            <a:r>
              <a:t>үйлчилгээтэй холбодог.</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Бразил: орлогын дэмжлэгийг</a:t>
            </a:r>
          </a:p>
          <a:p>
            <a:pPr>
              <a:lnSpc>
                <a:spcPts val="4941"/>
              </a:lnSpc>
              <a:spcBef>
                <a:spcPts val="0"/>
              </a:spcBef>
              <a:spcAft>
                <a:spcPts val="0"/>
              </a:spcAft>
              <a:defRPr sz="4050" b="1">
                <a:solidFill>
                  <a:srgbClr val="F4F5F4"/>
                </a:solidFill>
                <a:latin typeface="Open Sans Condensed"/>
              </a:defRPr>
            </a:pPr>
            <a:r>
              <a:t>үйлчилгээтэй холбодог.</a:t>
            </a:r>
          </a:p>
        </p:txBody>
      </p:sp>
      <p:sp>
        <p:nvSpPr>
          <p:cNvPr id="38" name="Rounded Rectangle 37"/>
          <p:cNvSpPr/>
          <p:nvPr/>
        </p:nvSpPr>
        <p:spPr>
          <a:xfrm>
            <a:off x="552450" y="2400300"/>
            <a:ext cx="361955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61955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60050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48620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39095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Хууль №10.836 • 2004.01.09 | №14.601 • 2023.06.19</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Дэмжлэг</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Бага орлоготой өрхөд мөнгөн дэмжлэг.</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Уялдаа</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Хүүхдийн боловсрол, эрүүл мэндийн хяналттай холбоно.</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Анхаарах зүйл</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Үйлчилгээ өөрөө хүртээмжгүй бол өрхийг дангаар</a:t>
            </a:r>
          </a:p>
          <a:p>
            <a:pPr>
              <a:lnSpc>
                <a:spcPts val="1921"/>
              </a:lnSpc>
              <a:spcBef>
                <a:spcPts val="0"/>
              </a:spcBef>
              <a:spcAft>
                <a:spcPts val="0"/>
              </a:spcAft>
              <a:defRPr sz="1575" b="0">
                <a:solidFill>
                  <a:srgbClr val="F4F5F4"/>
                </a:solidFill>
                <a:latin typeface="DejaVu Sans"/>
              </a:defRPr>
            </a:pPr>
            <a:r>
              <a:t>буруутгахгүй.</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Сургамж: тэтгэмж ба үйлчилгээ хоёр бодитоор уялдах ёстой.</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BRA</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ШИЙДЭЛ БА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97739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Монголд хэрэгжүүлэх</a:t>
            </a:r>
          </a:p>
          <a:p>
            <a:pPr>
              <a:lnSpc>
                <a:spcPts val="4941"/>
              </a:lnSpc>
              <a:spcBef>
                <a:spcPts val="0"/>
              </a:spcBef>
              <a:spcAft>
                <a:spcPts val="0"/>
              </a:spcAft>
              <a:defRPr sz="4050" b="1">
                <a:solidFill>
                  <a:srgbClr val="030A13"/>
                </a:solidFill>
                <a:latin typeface="Open Sans Condensed"/>
              </a:defRPr>
            </a:pPr>
            <a:r>
              <a:t>гурван чиглэл.</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Монголд хэрэгжүүлэх</a:t>
            </a:r>
          </a:p>
          <a:p>
            <a:pPr>
              <a:lnSpc>
                <a:spcPts val="4941"/>
              </a:lnSpc>
              <a:spcBef>
                <a:spcPts val="0"/>
              </a:spcBef>
              <a:spcAft>
                <a:spcPts val="0"/>
              </a:spcAft>
              <a:defRPr sz="4050" b="1">
                <a:solidFill>
                  <a:srgbClr val="F4F5F4"/>
                </a:solidFill>
                <a:latin typeface="Open Sans Condensed"/>
              </a:defRPr>
            </a:pPr>
            <a:r>
              <a:t>гурван чиглэл.</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Хүртээмжийг сайжруулах</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214"/>
              </a:lnSpc>
              <a:spcBef>
                <a:spcPts val="0"/>
              </a:spcBef>
              <a:spcAft>
                <a:spcPts val="0"/>
              </a:spcAft>
              <a:defRPr sz="1815" b="0">
                <a:solidFill>
                  <a:srgbClr val="F4F5F4"/>
                </a:solidFill>
                <a:latin typeface="DejaVu Sans"/>
              </a:defRPr>
            </a:pPr>
            <a:r>
              <a:t>Зай, тээвэр, мэдээлэл, барилгын саадыг багасгах.</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Орлогын эрсдэлийг бууруулах</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2067"/>
              </a:lnSpc>
              <a:spcBef>
                <a:spcPts val="0"/>
              </a:spcBef>
              <a:spcAft>
                <a:spcPts val="0"/>
              </a:spcAft>
              <a:defRPr sz="1695" b="0">
                <a:solidFill>
                  <a:srgbClr val="F4F5F4"/>
                </a:solidFill>
                <a:latin typeface="DejaVu Sans"/>
              </a:defRPr>
            </a:pPr>
            <a:r>
              <a:t>Хэрэгцээнд нийцсэн дэмжлэг, хөдөлмөрийн боломж.</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Шийдвэрийг хянуулах</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Шалтгааныг мэдэх, мэдээллээ засах, гомдол гаргах.</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Хэмжих зүйл: үйлчилгээ авах хугацаа, хамрагдалт, шийдвэрлэсэн гомдол.</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 · SDG</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ШИЙДЭЛ БА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01498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48725" cy="1333500"/>
          </a:xfrm>
          <a:prstGeom prst="rect">
            <a:avLst/>
          </a:prstGeom>
          <a:noFill/>
        </p:spPr>
        <p:txBody>
          <a:bodyPr wrap="none" lIns="0" tIns="0" rIns="0" bIns="0">
            <a:spAutoFit/>
          </a:bodyPr>
          <a:lstStyle/>
          <a:p>
            <a:pPr>
              <a:lnSpc>
                <a:spcPts val="5123"/>
              </a:lnSpc>
              <a:spcBef>
                <a:spcPts val="0"/>
              </a:spcBef>
              <a:spcAft>
                <a:spcPts val="0"/>
              </a:spcAft>
              <a:defRPr sz="4200" b="1">
                <a:solidFill>
                  <a:srgbClr val="030A13"/>
                </a:solidFill>
                <a:latin typeface="Open Sans Condensed"/>
              </a:defRPr>
            </a:pPr>
            <a:r>
              <a:t>Эрх зөрчигдвөл</a:t>
            </a:r>
          </a:p>
          <a:p>
            <a:pPr>
              <a:lnSpc>
                <a:spcPts val="5123"/>
              </a:lnSpc>
              <a:spcBef>
                <a:spcPts val="0"/>
              </a:spcBef>
              <a:spcAft>
                <a:spcPts val="0"/>
              </a:spcAft>
              <a:defRPr sz="4200" b="1">
                <a:solidFill>
                  <a:srgbClr val="030A13"/>
                </a:solidFill>
                <a:latin typeface="Open Sans Condensed"/>
              </a:defRPr>
            </a:pPr>
            <a:r>
              <a:t>юунаас эхлэх вэ?</a:t>
            </a:r>
          </a:p>
        </p:txBody>
      </p:sp>
      <p:sp>
        <p:nvSpPr>
          <p:cNvPr id="37" name="TextBox 36"/>
          <p:cNvSpPr txBox="1"/>
          <p:nvPr/>
        </p:nvSpPr>
        <p:spPr>
          <a:xfrm>
            <a:off x="457200" y="942975"/>
            <a:ext cx="8848725" cy="1333500"/>
          </a:xfrm>
          <a:prstGeom prst="rect">
            <a:avLst/>
          </a:prstGeom>
          <a:noFill/>
        </p:spPr>
        <p:txBody>
          <a:bodyPr wrap="none" lIns="0" tIns="0" rIns="0" bIns="0">
            <a:spAutoFit/>
          </a:bodyPr>
          <a:lstStyle/>
          <a:p>
            <a:pPr>
              <a:lnSpc>
                <a:spcPts val="5123"/>
              </a:lnSpc>
              <a:spcBef>
                <a:spcPts val="0"/>
              </a:spcBef>
              <a:spcAft>
                <a:spcPts val="0"/>
              </a:spcAft>
              <a:defRPr sz="4200" b="1">
                <a:solidFill>
                  <a:srgbClr val="F4F5F4"/>
                </a:solidFill>
                <a:latin typeface="Open Sans Condensed"/>
              </a:defRPr>
            </a:pPr>
            <a:r>
              <a:t>Эрх зөрчигдвөл</a:t>
            </a:r>
          </a:p>
          <a:p>
            <a:pPr>
              <a:lnSpc>
                <a:spcPts val="5123"/>
              </a:lnSpc>
              <a:spcBef>
                <a:spcPts val="0"/>
              </a:spcBef>
              <a:spcAft>
                <a:spcPts val="0"/>
              </a:spcAft>
              <a:defRPr sz="4200" b="1">
                <a:solidFill>
                  <a:srgbClr val="F4F5F4"/>
                </a:solidFill>
                <a:latin typeface="Open Sans Condensed"/>
              </a:defRPr>
            </a:pPr>
            <a:r>
              <a:t>юунаас эхлэх вэ?</a:t>
            </a:r>
          </a:p>
        </p:txBody>
      </p:sp>
      <p:sp>
        <p:nvSpPr>
          <p:cNvPr id="38" name="Rounded Rectangle 37"/>
          <p:cNvSpPr/>
          <p:nvPr/>
        </p:nvSpPr>
        <p:spPr>
          <a:xfrm>
            <a:off x="552450" y="2419350"/>
            <a:ext cx="3000226"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14575"/>
            <a:ext cx="3000226"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24100"/>
            <a:ext cx="2981176"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4315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62225"/>
            <a:ext cx="2866876"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71725"/>
            <a:ext cx="2771626"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16.12; 16.14</a:t>
            </a:r>
          </a:p>
        </p:txBody>
      </p:sp>
      <p:sp>
        <p:nvSpPr>
          <p:cNvPr id="44" name="Oval 43"/>
          <p:cNvSpPr/>
          <p:nvPr/>
        </p:nvSpPr>
        <p:spPr>
          <a:xfrm>
            <a:off x="485775" y="281940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5775" y="287655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01</a:t>
            </a:r>
          </a:p>
        </p:txBody>
      </p:sp>
      <p:cxnSp>
        <p:nvCxnSpPr>
          <p:cNvPr id="46" name="Connector 45"/>
          <p:cNvCxnSpPr/>
          <p:nvPr/>
        </p:nvCxnSpPr>
        <p:spPr>
          <a:xfrm>
            <a:off x="695325" y="3248025"/>
            <a:ext cx="0" cy="323850"/>
          </a:xfrm>
          <a:prstGeom prst="line">
            <a:avLst/>
          </a:prstGeom>
          <a:ln w="8572">
            <a:solidFill>
              <a:srgbClr val="F1C75B"/>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1152525" y="285750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085850" y="275272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95375" y="276225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5375" y="278130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52525" y="3362325"/>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47775" y="282892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Баримтаа хадгалах</a:t>
            </a:r>
          </a:p>
        </p:txBody>
      </p:sp>
      <p:sp>
        <p:nvSpPr>
          <p:cNvPr id="53" name="TextBox 52"/>
          <p:cNvSpPr txBox="1"/>
          <p:nvPr/>
        </p:nvSpPr>
        <p:spPr>
          <a:xfrm>
            <a:off x="4591050" y="2838450"/>
            <a:ext cx="4162424" cy="438150"/>
          </a:xfrm>
          <a:prstGeom prst="rect">
            <a:avLst/>
          </a:prstGeom>
          <a:noFill/>
        </p:spPr>
        <p:txBody>
          <a:bodyPr wrap="none" lIns="0" tIns="0" rIns="0" bIns="0">
            <a:spAutoFit/>
          </a:bodyPr>
          <a:lstStyle/>
          <a:p>
            <a:pPr>
              <a:lnSpc>
                <a:spcPts val="1848"/>
              </a:lnSpc>
              <a:spcBef>
                <a:spcPts val="0"/>
              </a:spcBef>
              <a:spcAft>
                <a:spcPts val="0"/>
              </a:spcAft>
              <a:defRPr sz="1515" b="0">
                <a:solidFill>
                  <a:srgbClr val="F4F5F4"/>
                </a:solidFill>
                <a:latin typeface="DejaVu Sans"/>
              </a:defRPr>
            </a:pPr>
            <a:r>
              <a:t>Хүсэлт, хариу, огноо, холбогдох баримт.</a:t>
            </a:r>
          </a:p>
        </p:txBody>
      </p:sp>
      <p:sp>
        <p:nvSpPr>
          <p:cNvPr id="54" name="Oval 53"/>
          <p:cNvSpPr/>
          <p:nvPr/>
        </p:nvSpPr>
        <p:spPr>
          <a:xfrm>
            <a:off x="485775" y="356235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5775" y="361950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02</a:t>
            </a:r>
          </a:p>
        </p:txBody>
      </p:sp>
      <p:cxnSp>
        <p:nvCxnSpPr>
          <p:cNvPr id="56" name="Connector 55"/>
          <p:cNvCxnSpPr/>
          <p:nvPr/>
        </p:nvCxnSpPr>
        <p:spPr>
          <a:xfrm>
            <a:off x="695325" y="3990974"/>
            <a:ext cx="0" cy="323851"/>
          </a:xfrm>
          <a:prstGeom prst="line">
            <a:avLst/>
          </a:prstGeom>
          <a:ln w="8572">
            <a:solidFill>
              <a:srgbClr val="F1C75B"/>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1152525" y="360045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085850" y="349567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95375" y="350520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95375" y="352425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52525" y="4105274"/>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47775" y="357187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Шалтгааныг мэдэх</a:t>
            </a:r>
          </a:p>
        </p:txBody>
      </p:sp>
      <p:sp>
        <p:nvSpPr>
          <p:cNvPr id="63" name="TextBox 62"/>
          <p:cNvSpPr txBox="1"/>
          <p:nvPr/>
        </p:nvSpPr>
        <p:spPr>
          <a:xfrm>
            <a:off x="4591050" y="3581400"/>
            <a:ext cx="4162424" cy="438150"/>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Ямар шалгуур, хуулиар татгалзсан бэ?</a:t>
            </a:r>
          </a:p>
        </p:txBody>
      </p:sp>
      <p:sp>
        <p:nvSpPr>
          <p:cNvPr id="64" name="Oval 63"/>
          <p:cNvSpPr/>
          <p:nvPr/>
        </p:nvSpPr>
        <p:spPr>
          <a:xfrm>
            <a:off x="485775" y="430530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85775" y="436245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03</a:t>
            </a:r>
          </a:p>
        </p:txBody>
      </p:sp>
      <p:cxnSp>
        <p:nvCxnSpPr>
          <p:cNvPr id="66" name="Connector 65"/>
          <p:cNvCxnSpPr/>
          <p:nvPr/>
        </p:nvCxnSpPr>
        <p:spPr>
          <a:xfrm>
            <a:off x="695325" y="4733925"/>
            <a:ext cx="0" cy="323850"/>
          </a:xfrm>
          <a:prstGeom prst="line">
            <a:avLst/>
          </a:prstGeom>
          <a:ln w="8572">
            <a:solidFill>
              <a:srgbClr val="F1C75B"/>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1152525" y="434340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085850" y="423862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095375" y="424815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95375" y="426720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152525" y="4848225"/>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47775" y="431482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Хянуулах боломжоо асуух</a:t>
            </a:r>
          </a:p>
        </p:txBody>
      </p:sp>
      <p:sp>
        <p:nvSpPr>
          <p:cNvPr id="73" name="TextBox 72"/>
          <p:cNvSpPr txBox="1"/>
          <p:nvPr/>
        </p:nvSpPr>
        <p:spPr>
          <a:xfrm>
            <a:off x="4591050" y="4324350"/>
            <a:ext cx="4162424" cy="438150"/>
          </a:xfrm>
          <a:prstGeom prst="rect">
            <a:avLst/>
          </a:prstGeom>
          <a:noFill/>
        </p:spPr>
        <p:txBody>
          <a:bodyPr wrap="none" lIns="0" tIns="0" rIns="0" bIns="0">
            <a:spAutoFit/>
          </a:bodyPr>
          <a:lstStyle/>
          <a:p>
            <a:pPr>
              <a:lnSpc>
                <a:spcPts val="1701"/>
              </a:lnSpc>
              <a:spcBef>
                <a:spcPts val="0"/>
              </a:spcBef>
              <a:spcAft>
                <a:spcPts val="0"/>
              </a:spcAft>
              <a:defRPr sz="1395" b="0">
                <a:solidFill>
                  <a:srgbClr val="F4F5F4"/>
                </a:solidFill>
                <a:latin typeface="DejaVu Sans"/>
              </a:defRPr>
            </a:pPr>
            <a:r>
              <a:t>Эрх бүхий байгууллага, хууль зүйн</a:t>
            </a:r>
          </a:p>
          <a:p>
            <a:pPr>
              <a:lnSpc>
                <a:spcPts val="1701"/>
              </a:lnSpc>
              <a:spcBef>
                <a:spcPts val="0"/>
              </a:spcBef>
              <a:spcAft>
                <a:spcPts val="0"/>
              </a:spcAft>
              <a:defRPr sz="1395" b="0">
                <a:solidFill>
                  <a:srgbClr val="F4F5F4"/>
                </a:solidFill>
                <a:latin typeface="DejaVu Sans"/>
              </a:defRPr>
            </a:pPr>
            <a:r>
              <a:t>зөвлөгөө.</a:t>
            </a:r>
          </a:p>
        </p:txBody>
      </p:sp>
      <p:sp>
        <p:nvSpPr>
          <p:cNvPr id="74" name="Oval 73"/>
          <p:cNvSpPr/>
          <p:nvPr/>
        </p:nvSpPr>
        <p:spPr>
          <a:xfrm>
            <a:off x="485775" y="504825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85775" y="510540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04</a:t>
            </a:r>
          </a:p>
        </p:txBody>
      </p:sp>
      <p:sp>
        <p:nvSpPr>
          <p:cNvPr id="76" name="Rounded Rectangle 75"/>
          <p:cNvSpPr/>
          <p:nvPr/>
        </p:nvSpPr>
        <p:spPr>
          <a:xfrm>
            <a:off x="1152525" y="508635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1085850" y="498157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095375" y="499110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095375" y="501015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52525" y="5591175"/>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7775" y="505777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Шүүхийн хамгаалалт</a:t>
            </a:r>
          </a:p>
        </p:txBody>
      </p:sp>
      <p:sp>
        <p:nvSpPr>
          <p:cNvPr id="82" name="TextBox 81"/>
          <p:cNvSpPr txBox="1"/>
          <p:nvPr/>
        </p:nvSpPr>
        <p:spPr>
          <a:xfrm>
            <a:off x="4591050" y="5067300"/>
            <a:ext cx="4162424" cy="438150"/>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Харьяалал, журам, хугацааг нягтлах.</a:t>
            </a:r>
          </a:p>
        </p:txBody>
      </p:sp>
      <p:sp>
        <p:nvSpPr>
          <p:cNvPr id="83" name="Rounded Rectangle 82"/>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Гомдлын төрөл бүрийн журам, хугацаа өөр. Мэргэжлийн зөвлөгөөг эрт авна.</a:t>
            </a:r>
          </a:p>
        </p:txBody>
      </p:sp>
      <p:sp>
        <p:nvSpPr>
          <p:cNvPr id="90" name="Rectangle 89"/>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a:t>
            </a:r>
          </a:p>
        </p:txBody>
      </p:sp>
      <p:sp>
        <p:nvSpPr>
          <p:cNvPr id="92" name="TextBox 91"/>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93" name="TextBox 92"/>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ШИЙДЭЛ БА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05257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Орлого өөр байж болно.</a:t>
            </a:r>
          </a:p>
          <a:p>
            <a:pPr>
              <a:lnSpc>
                <a:spcPts val="4941"/>
              </a:lnSpc>
              <a:spcBef>
                <a:spcPts val="0"/>
              </a:spcBef>
              <a:spcAft>
                <a:spcPts val="0"/>
              </a:spcAft>
              <a:defRPr sz="4050" b="1">
                <a:solidFill>
                  <a:srgbClr val="030A13"/>
                </a:solidFill>
                <a:latin typeface="Open Sans Condensed"/>
              </a:defRPr>
            </a:pPr>
            <a:r>
              <a:t>Эрх ижил.</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Орлого өөр байж болно.</a:t>
            </a:r>
          </a:p>
          <a:p>
            <a:pPr>
              <a:lnSpc>
                <a:spcPts val="4941"/>
              </a:lnSpc>
              <a:spcBef>
                <a:spcPts val="0"/>
              </a:spcBef>
              <a:spcAft>
                <a:spcPts val="0"/>
              </a:spcAft>
              <a:defRPr sz="4050" b="1">
                <a:solidFill>
                  <a:srgbClr val="F4F5F4"/>
                </a:solidFill>
                <a:latin typeface="Open Sans Condensed"/>
              </a:defRPr>
            </a:pPr>
            <a:r>
              <a:t>Эрх ижил.</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Эрх тэгш</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Бага орлого хүний нэр төрийг бууруулахгүй.</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Бодит боломж</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Хууль байгаа төдийгүй хэрэгждэг байх ёстой.</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Хариуцлага</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141"/>
              </a:lnSpc>
              <a:spcBef>
                <a:spcPts val="0"/>
              </a:spcBef>
              <a:spcAft>
                <a:spcPts val="0"/>
              </a:spcAft>
              <a:defRPr sz="1755" b="0">
                <a:solidFill>
                  <a:srgbClr val="F4F5F4"/>
                </a:solidFill>
                <a:latin typeface="DejaVu Sans"/>
              </a:defRPr>
            </a:pPr>
            <a:r>
              <a:t>Шийдвэр үндэслэлтэй, хянуулах боломжтой байна.</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Хэлэлцүүлэг: Монголд эхлээд аль саадыг арилгах хэрэгтэй вэ?</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UDHR · ICESCR</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ЭХ СУРВАЛЖ / ЛАВЛАХ ХЭСЭГ</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09016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030A13"/>
                </a:solidFill>
                <a:latin typeface="Open Sans Condensed"/>
              </a:defRPr>
            </a:pPr>
            <a:r>
              <a:t>Эх сурвалж /</a:t>
            </a:r>
          </a:p>
          <a:p>
            <a:pPr>
              <a:lnSpc>
                <a:spcPts val="4575"/>
              </a:lnSpc>
              <a:spcBef>
                <a:spcPts val="0"/>
              </a:spcBef>
              <a:spcAft>
                <a:spcPts val="0"/>
              </a:spcAft>
              <a:defRPr sz="3750" b="1">
                <a:solidFill>
                  <a:srgbClr val="030A13"/>
                </a:solidFill>
                <a:latin typeface="Open Sans Condensed"/>
              </a:defRPr>
            </a:pPr>
            <a:r>
              <a:t>хууль ба олон улсын баримт бичиг</a:t>
            </a:r>
          </a:p>
        </p:txBody>
      </p:sp>
      <p:sp>
        <p:nvSpPr>
          <p:cNvPr id="37" name="TextBox 36"/>
          <p:cNvSpPr txBox="1"/>
          <p:nvPr/>
        </p:nvSpPr>
        <p:spPr>
          <a:xfrm>
            <a:off x="457200" y="942975"/>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F4F5F4"/>
                </a:solidFill>
                <a:latin typeface="Open Sans Condensed"/>
              </a:defRPr>
            </a:pPr>
            <a:r>
              <a:t>Эх сурвалж /</a:t>
            </a:r>
          </a:p>
          <a:p>
            <a:pPr>
              <a:lnSpc>
                <a:spcPts val="4575"/>
              </a:lnSpc>
              <a:spcBef>
                <a:spcPts val="0"/>
              </a:spcBef>
              <a:spcAft>
                <a:spcPts val="0"/>
              </a:spcAft>
              <a:defRPr sz="3750" b="1">
                <a:solidFill>
                  <a:srgbClr val="F4F5F4"/>
                </a:solidFill>
                <a:latin typeface="Open Sans Condensed"/>
              </a:defRPr>
            </a:pPr>
            <a:r>
              <a:t>хууль ба олон улсын баримт бичиг</a:t>
            </a:r>
          </a:p>
        </p:txBody>
      </p:sp>
      <p:sp>
        <p:nvSpPr>
          <p:cNvPr id="38" name="Rounded Rectangle 37"/>
          <p:cNvSpPr/>
          <p:nvPr/>
        </p:nvSpPr>
        <p:spPr>
          <a:xfrm>
            <a:off x="523874" y="2667000"/>
            <a:ext cx="11277600" cy="3162300"/>
          </a:xfrm>
          <a:prstGeom prst="roundRect">
            <a:avLst>
              <a:gd name="adj" fmla="val 361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11277600" cy="3162300"/>
          </a:xfrm>
          <a:prstGeom prst="roundRect">
            <a:avLst>
              <a:gd name="adj" fmla="val 301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105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0547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1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ҮХ</a:t>
            </a:r>
          </a:p>
        </p:txBody>
      </p:sp>
      <p:sp>
        <p:nvSpPr>
          <p:cNvPr id="44" name="TextBox 43"/>
          <p:cNvSpPr txBox="1"/>
          <p:nvPr/>
        </p:nvSpPr>
        <p:spPr>
          <a:xfrm>
            <a:off x="14954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Монгол Улсын Үндсэн хууль — 1992.01.13</a:t>
            </a:r>
          </a:p>
        </p:txBody>
      </p:sp>
      <p:sp>
        <p:nvSpPr>
          <p:cNvPr id="45" name="Rectangle 44">
            <a:hlinkClick r:id="rId3"/>
          </p:cNvPr>
          <p:cNvSpPr/>
          <p:nvPr/>
        </p:nvSpPr>
        <p:spPr>
          <a:xfrm>
            <a:off x="6381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8175" y="31718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ХТ</a:t>
            </a:r>
          </a:p>
        </p:txBody>
      </p:sp>
      <p:sp>
        <p:nvSpPr>
          <p:cNvPr id="47" name="TextBox 46"/>
          <p:cNvSpPr txBox="1"/>
          <p:nvPr/>
        </p:nvSpPr>
        <p:spPr>
          <a:xfrm>
            <a:off x="1495425" y="31718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Хөдөлмөрийн тухай хууль /шинэчилсэн найруулга/ —</a:t>
            </a:r>
          </a:p>
          <a:p>
            <a:pPr>
              <a:lnSpc>
                <a:spcPts val="1464"/>
              </a:lnSpc>
              <a:spcBef>
                <a:spcPts val="0"/>
              </a:spcBef>
              <a:spcAft>
                <a:spcPts val="0"/>
              </a:spcAft>
              <a:defRPr sz="1200" b="0">
                <a:solidFill>
                  <a:srgbClr val="F4F5F4"/>
                </a:solidFill>
                <a:latin typeface="DejaVu Sans"/>
              </a:defRPr>
            </a:pPr>
            <a:r>
              <a:t>2021.07.02</a:t>
            </a:r>
          </a:p>
        </p:txBody>
      </p:sp>
      <p:sp>
        <p:nvSpPr>
          <p:cNvPr id="48" name="Rectangle 47">
            <a:hlinkClick r:id="rId4"/>
          </p:cNvPr>
          <p:cNvSpPr/>
          <p:nvPr/>
        </p:nvSpPr>
        <p:spPr>
          <a:xfrm>
            <a:off x="638175" y="31718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175" y="365760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НХ</a:t>
            </a:r>
          </a:p>
        </p:txBody>
      </p:sp>
      <p:sp>
        <p:nvSpPr>
          <p:cNvPr id="50" name="TextBox 49"/>
          <p:cNvSpPr txBox="1"/>
          <p:nvPr/>
        </p:nvSpPr>
        <p:spPr>
          <a:xfrm>
            <a:off x="1495425" y="365760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Нийгмийн халамжийн тухай хууль /шинэчилсэн</a:t>
            </a:r>
          </a:p>
          <a:p>
            <a:pPr>
              <a:lnSpc>
                <a:spcPts val="1464"/>
              </a:lnSpc>
              <a:spcBef>
                <a:spcPts val="0"/>
              </a:spcBef>
              <a:spcAft>
                <a:spcPts val="0"/>
              </a:spcAft>
              <a:defRPr sz="1200" b="0">
                <a:solidFill>
                  <a:srgbClr val="F4F5F4"/>
                </a:solidFill>
                <a:latin typeface="DejaVu Sans"/>
              </a:defRPr>
            </a:pPr>
            <a:r>
              <a:t>найруулга/ — 2012.01.19</a:t>
            </a:r>
          </a:p>
        </p:txBody>
      </p:sp>
      <p:sp>
        <p:nvSpPr>
          <p:cNvPr id="51" name="Rectangle 50">
            <a:hlinkClick r:id="rId4"/>
          </p:cNvPr>
          <p:cNvSpPr/>
          <p:nvPr/>
        </p:nvSpPr>
        <p:spPr>
          <a:xfrm>
            <a:off x="638175" y="365760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8175" y="4143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БЕХ</a:t>
            </a:r>
          </a:p>
        </p:txBody>
      </p:sp>
      <p:sp>
        <p:nvSpPr>
          <p:cNvPr id="53" name="TextBox 52"/>
          <p:cNvSpPr txBox="1"/>
          <p:nvPr/>
        </p:nvSpPr>
        <p:spPr>
          <a:xfrm>
            <a:off x="1495425" y="4143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Боловсролын ерөнхий хууль /шинэчилсэн найруулга/</a:t>
            </a:r>
          </a:p>
          <a:p>
            <a:pPr>
              <a:lnSpc>
                <a:spcPts val="1464"/>
              </a:lnSpc>
              <a:spcBef>
                <a:spcPts val="0"/>
              </a:spcBef>
              <a:spcAft>
                <a:spcPts val="0"/>
              </a:spcAft>
              <a:defRPr sz="1200" b="0">
                <a:solidFill>
                  <a:srgbClr val="F4F5F4"/>
                </a:solidFill>
                <a:latin typeface="DejaVu Sans"/>
              </a:defRPr>
            </a:pPr>
            <a:r>
              <a:t>— 2023.07.07</a:t>
            </a:r>
          </a:p>
        </p:txBody>
      </p:sp>
      <p:sp>
        <p:nvSpPr>
          <p:cNvPr id="54" name="Rectangle 53">
            <a:hlinkClick r:id="rId4"/>
          </p:cNvPr>
          <p:cNvSpPr/>
          <p:nvPr/>
        </p:nvSpPr>
        <p:spPr>
          <a:xfrm>
            <a:off x="638175" y="4143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8175" y="46291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ХБХ</a:t>
            </a:r>
          </a:p>
        </p:txBody>
      </p:sp>
      <p:sp>
        <p:nvSpPr>
          <p:cNvPr id="56" name="TextBox 55"/>
          <p:cNvSpPr txBox="1"/>
          <p:nvPr/>
        </p:nvSpPr>
        <p:spPr>
          <a:xfrm>
            <a:off x="1495425" y="46291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Хөгжлийн бэрхшээлтэй хүний эрхийн тухай хууль —</a:t>
            </a:r>
          </a:p>
          <a:p>
            <a:pPr>
              <a:lnSpc>
                <a:spcPts val="1464"/>
              </a:lnSpc>
              <a:spcBef>
                <a:spcPts val="0"/>
              </a:spcBef>
              <a:spcAft>
                <a:spcPts val="0"/>
              </a:spcAft>
              <a:defRPr sz="1200" b="0">
                <a:solidFill>
                  <a:srgbClr val="F4F5F4"/>
                </a:solidFill>
                <a:latin typeface="DejaVu Sans"/>
              </a:defRPr>
            </a:pPr>
            <a:r>
              <a:t>2016.02.05</a:t>
            </a:r>
          </a:p>
        </p:txBody>
      </p:sp>
      <p:sp>
        <p:nvSpPr>
          <p:cNvPr id="57" name="Rectangle 56">
            <a:hlinkClick r:id="rId4"/>
          </p:cNvPr>
          <p:cNvSpPr/>
          <p:nvPr/>
        </p:nvSpPr>
        <p:spPr>
          <a:xfrm>
            <a:off x="638175" y="46291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8175" y="51149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UDHR</a:t>
            </a:r>
          </a:p>
        </p:txBody>
      </p:sp>
      <p:sp>
        <p:nvSpPr>
          <p:cNvPr id="59" name="TextBox 58"/>
          <p:cNvSpPr txBox="1"/>
          <p:nvPr/>
        </p:nvSpPr>
        <p:spPr>
          <a:xfrm>
            <a:off x="1495425" y="51149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Хүний эрхийн түгээмэл тунхаглал — 1948.12.10</a:t>
            </a:r>
          </a:p>
        </p:txBody>
      </p:sp>
      <p:sp>
        <p:nvSpPr>
          <p:cNvPr id="60" name="Rectangle 59">
            <a:hlinkClick r:id="rId5"/>
          </p:cNvPr>
          <p:cNvSpPr/>
          <p:nvPr/>
        </p:nvSpPr>
        <p:spPr>
          <a:xfrm>
            <a:off x="638175" y="51149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88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ICESCR</a:t>
            </a:r>
          </a:p>
        </p:txBody>
      </p:sp>
      <p:sp>
        <p:nvSpPr>
          <p:cNvPr id="62" name="TextBox 61"/>
          <p:cNvSpPr txBox="1"/>
          <p:nvPr/>
        </p:nvSpPr>
        <p:spPr>
          <a:xfrm>
            <a:off x="70961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Эдийн засаг, нийгэм, соёлын эрхийн тухай олон улсын</a:t>
            </a:r>
          </a:p>
          <a:p>
            <a:pPr>
              <a:lnSpc>
                <a:spcPts val="1464"/>
              </a:lnSpc>
              <a:spcBef>
                <a:spcPts val="0"/>
              </a:spcBef>
              <a:spcAft>
                <a:spcPts val="0"/>
              </a:spcAft>
              <a:defRPr sz="1200" b="0">
                <a:solidFill>
                  <a:srgbClr val="F4F5F4"/>
                </a:solidFill>
                <a:latin typeface="DejaVu Sans"/>
              </a:defRPr>
            </a:pPr>
            <a:r>
              <a:t>пакт — 1966.12.16; хүчин төгөлдөр: 1976.01.03</a:t>
            </a:r>
          </a:p>
        </p:txBody>
      </p:sp>
      <p:sp>
        <p:nvSpPr>
          <p:cNvPr id="63" name="Rectangle 62">
            <a:hlinkClick r:id="rId6"/>
          </p:cNvPr>
          <p:cNvSpPr/>
          <p:nvPr/>
        </p:nvSpPr>
        <p:spPr>
          <a:xfrm>
            <a:off x="62388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38875" y="31718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ICCPR</a:t>
            </a:r>
          </a:p>
        </p:txBody>
      </p:sp>
      <p:sp>
        <p:nvSpPr>
          <p:cNvPr id="65" name="TextBox 64"/>
          <p:cNvSpPr txBox="1"/>
          <p:nvPr/>
        </p:nvSpPr>
        <p:spPr>
          <a:xfrm>
            <a:off x="7096125" y="31718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Иргэний болон улс төрийн эрхийн тухай олон улсын</a:t>
            </a:r>
          </a:p>
          <a:p>
            <a:pPr>
              <a:lnSpc>
                <a:spcPts val="1464"/>
              </a:lnSpc>
              <a:spcBef>
                <a:spcPts val="0"/>
              </a:spcBef>
              <a:spcAft>
                <a:spcPts val="0"/>
              </a:spcAft>
              <a:defRPr sz="1200" b="0">
                <a:solidFill>
                  <a:srgbClr val="F4F5F4"/>
                </a:solidFill>
                <a:latin typeface="DejaVu Sans"/>
              </a:defRPr>
            </a:pPr>
            <a:r>
              <a:t>пакт — 1966.12.16; хүчин төгөлдөр: 1976.03.23</a:t>
            </a:r>
          </a:p>
        </p:txBody>
      </p:sp>
      <p:sp>
        <p:nvSpPr>
          <p:cNvPr id="66" name="Rectangle 65">
            <a:hlinkClick r:id="rId7"/>
          </p:cNvPr>
          <p:cNvSpPr/>
          <p:nvPr/>
        </p:nvSpPr>
        <p:spPr>
          <a:xfrm>
            <a:off x="6238875" y="31718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8875" y="365760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CRC</a:t>
            </a:r>
          </a:p>
        </p:txBody>
      </p:sp>
      <p:sp>
        <p:nvSpPr>
          <p:cNvPr id="68" name="TextBox 67"/>
          <p:cNvSpPr txBox="1"/>
          <p:nvPr/>
        </p:nvSpPr>
        <p:spPr>
          <a:xfrm>
            <a:off x="7096125" y="365760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Хүүхдийн эрхийн тухай конвенц — 1989.11.20; хүчин</a:t>
            </a:r>
          </a:p>
          <a:p>
            <a:pPr>
              <a:lnSpc>
                <a:spcPts val="1464"/>
              </a:lnSpc>
              <a:spcBef>
                <a:spcPts val="0"/>
              </a:spcBef>
              <a:spcAft>
                <a:spcPts val="0"/>
              </a:spcAft>
              <a:defRPr sz="1200" b="0">
                <a:solidFill>
                  <a:srgbClr val="F4F5F4"/>
                </a:solidFill>
                <a:latin typeface="DejaVu Sans"/>
              </a:defRPr>
            </a:pPr>
            <a:r>
              <a:t>төгөлдөр: 1990.09.02</a:t>
            </a:r>
          </a:p>
        </p:txBody>
      </p:sp>
      <p:sp>
        <p:nvSpPr>
          <p:cNvPr id="69" name="Rectangle 68">
            <a:hlinkClick r:id="rId8"/>
          </p:cNvPr>
          <p:cNvSpPr/>
          <p:nvPr/>
        </p:nvSpPr>
        <p:spPr>
          <a:xfrm>
            <a:off x="6238875" y="365760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38875" y="4143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CEDAW</a:t>
            </a:r>
          </a:p>
        </p:txBody>
      </p:sp>
      <p:sp>
        <p:nvSpPr>
          <p:cNvPr id="71" name="TextBox 70"/>
          <p:cNvSpPr txBox="1"/>
          <p:nvPr/>
        </p:nvSpPr>
        <p:spPr>
          <a:xfrm>
            <a:off x="7096125" y="4143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Эмэгтэйчүүдийг алагчлах бүх хэлбэрийг устгах тухай</a:t>
            </a:r>
          </a:p>
          <a:p>
            <a:pPr>
              <a:lnSpc>
                <a:spcPts val="1464"/>
              </a:lnSpc>
              <a:spcBef>
                <a:spcPts val="0"/>
              </a:spcBef>
              <a:spcAft>
                <a:spcPts val="0"/>
              </a:spcAft>
              <a:defRPr sz="1200" b="0">
                <a:solidFill>
                  <a:srgbClr val="F4F5F4"/>
                </a:solidFill>
                <a:latin typeface="DejaVu Sans"/>
              </a:defRPr>
            </a:pPr>
            <a:r>
              <a:t>конвенц — 1979.12.18; хүчин төгөлдөр: 1981.09.03</a:t>
            </a:r>
          </a:p>
        </p:txBody>
      </p:sp>
      <p:sp>
        <p:nvSpPr>
          <p:cNvPr id="72" name="Rectangle 71">
            <a:hlinkClick r:id="rId9"/>
          </p:cNvPr>
          <p:cNvSpPr/>
          <p:nvPr/>
        </p:nvSpPr>
        <p:spPr>
          <a:xfrm>
            <a:off x="6238875" y="4143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8875" y="46291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CRPD</a:t>
            </a:r>
          </a:p>
        </p:txBody>
      </p:sp>
      <p:sp>
        <p:nvSpPr>
          <p:cNvPr id="74" name="TextBox 73"/>
          <p:cNvSpPr txBox="1"/>
          <p:nvPr/>
        </p:nvSpPr>
        <p:spPr>
          <a:xfrm>
            <a:off x="7096125" y="46291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Хөгжлийн бэрхшээлтэй хүмүүсийн эрхийн тухай</a:t>
            </a:r>
          </a:p>
          <a:p>
            <a:pPr>
              <a:lnSpc>
                <a:spcPts val="1464"/>
              </a:lnSpc>
              <a:spcBef>
                <a:spcPts val="0"/>
              </a:spcBef>
              <a:spcAft>
                <a:spcPts val="0"/>
              </a:spcAft>
              <a:defRPr sz="1200" b="0">
                <a:solidFill>
                  <a:srgbClr val="F4F5F4"/>
                </a:solidFill>
                <a:latin typeface="DejaVu Sans"/>
              </a:defRPr>
            </a:pPr>
            <a:r>
              <a:t>конвенц — 2006.12.13; хүчин төгөлдөр: 2008.05.03</a:t>
            </a:r>
          </a:p>
        </p:txBody>
      </p:sp>
      <p:sp>
        <p:nvSpPr>
          <p:cNvPr id="75" name="Rectangle 74">
            <a:hlinkClick r:id="rId10"/>
          </p:cNvPr>
          <p:cNvSpPr/>
          <p:nvPr/>
        </p:nvSpPr>
        <p:spPr>
          <a:xfrm>
            <a:off x="6238875" y="46291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Баримт бичгийн нэр дээр дарж албан ёсны эх сурвалжийг нээнэ.</a:t>
            </a:r>
          </a:p>
        </p:txBody>
      </p:sp>
      <p:sp>
        <p:nvSpPr>
          <p:cNvPr id="83" name="Rectangle 82"/>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a:t>
            </a:r>
          </a:p>
        </p:txBody>
      </p:sp>
      <p:sp>
        <p:nvSpPr>
          <p:cNvPr id="85" name="TextBox 84"/>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6" name="TextBox 85"/>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ЭХ СУРВАЛЖ / ЛАВЛАХ ХЭСЭГ</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12776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030A13"/>
                </a:solidFill>
                <a:latin typeface="Open Sans Condensed"/>
              </a:defRPr>
            </a:pPr>
            <a:r>
              <a:t>Эх сурвалж /</a:t>
            </a:r>
          </a:p>
          <a:p>
            <a:pPr>
              <a:lnSpc>
                <a:spcPts val="4575"/>
              </a:lnSpc>
              <a:spcBef>
                <a:spcPts val="0"/>
              </a:spcBef>
              <a:spcAft>
                <a:spcPts val="0"/>
              </a:spcAft>
              <a:defRPr sz="3750" b="1">
                <a:solidFill>
                  <a:srgbClr val="030A13"/>
                </a:solidFill>
                <a:latin typeface="Open Sans Condensed"/>
              </a:defRPr>
            </a:pPr>
            <a:r>
              <a:t>судалгаа ба бодит кейс</a:t>
            </a:r>
          </a:p>
        </p:txBody>
      </p:sp>
      <p:sp>
        <p:nvSpPr>
          <p:cNvPr id="37" name="TextBox 36"/>
          <p:cNvSpPr txBox="1"/>
          <p:nvPr/>
        </p:nvSpPr>
        <p:spPr>
          <a:xfrm>
            <a:off x="457200" y="942975"/>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F4F5F4"/>
                </a:solidFill>
                <a:latin typeface="Open Sans Condensed"/>
              </a:defRPr>
            </a:pPr>
            <a:r>
              <a:t>Эх сурвалж /</a:t>
            </a:r>
          </a:p>
          <a:p>
            <a:pPr>
              <a:lnSpc>
                <a:spcPts val="4575"/>
              </a:lnSpc>
              <a:spcBef>
                <a:spcPts val="0"/>
              </a:spcBef>
              <a:spcAft>
                <a:spcPts val="0"/>
              </a:spcAft>
              <a:defRPr sz="3750" b="1">
                <a:solidFill>
                  <a:srgbClr val="F4F5F4"/>
                </a:solidFill>
                <a:latin typeface="Open Sans Condensed"/>
              </a:defRPr>
            </a:pPr>
            <a:r>
              <a:t>судалгаа ба бодит кейс</a:t>
            </a:r>
          </a:p>
        </p:txBody>
      </p:sp>
      <p:sp>
        <p:nvSpPr>
          <p:cNvPr id="38" name="Rounded Rectangle 37"/>
          <p:cNvSpPr/>
          <p:nvPr/>
        </p:nvSpPr>
        <p:spPr>
          <a:xfrm>
            <a:off x="523874" y="2667000"/>
            <a:ext cx="11277600" cy="3162300"/>
          </a:xfrm>
          <a:prstGeom prst="roundRect">
            <a:avLst>
              <a:gd name="adj" fmla="val 361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11277600" cy="3162300"/>
          </a:xfrm>
          <a:prstGeom prst="roundRect">
            <a:avLst>
              <a:gd name="adj" fmla="val 301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105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0547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1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POV</a:t>
            </a:r>
          </a:p>
        </p:txBody>
      </p:sp>
      <p:sp>
        <p:nvSpPr>
          <p:cNvPr id="44" name="TextBox 43"/>
          <p:cNvSpPr txBox="1"/>
          <p:nvPr/>
        </p:nvSpPr>
        <p:spPr>
          <a:xfrm>
            <a:off x="14954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ҮСХ, Дэлхийн банк: Mongolia Poverty Update 2022, 2024</a:t>
            </a:r>
          </a:p>
          <a:p>
            <a:pPr>
              <a:lnSpc>
                <a:spcPts val="1464"/>
              </a:lnSpc>
              <a:spcBef>
                <a:spcPts val="0"/>
              </a:spcBef>
              <a:spcAft>
                <a:spcPts val="0"/>
              </a:spcAft>
              <a:defRPr sz="1200" b="0">
                <a:solidFill>
                  <a:srgbClr val="F4F5F4"/>
                </a:solidFill>
                <a:latin typeface="DejaVu Sans"/>
              </a:defRPr>
            </a:pPr>
            <a:r>
              <a:t>онд нийтэлсэн; үндэсний ядуурлын түвшин</a:t>
            </a:r>
          </a:p>
        </p:txBody>
      </p:sp>
      <p:sp>
        <p:nvSpPr>
          <p:cNvPr id="45" name="Rectangle 44">
            <a:hlinkClick r:id="rId3"/>
          </p:cNvPr>
          <p:cNvSpPr/>
          <p:nvPr/>
        </p:nvSpPr>
        <p:spPr>
          <a:xfrm>
            <a:off x="6381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8175" y="3381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GROOT</a:t>
            </a:r>
          </a:p>
        </p:txBody>
      </p:sp>
      <p:sp>
        <p:nvSpPr>
          <p:cNvPr id="47" name="TextBox 46"/>
          <p:cNvSpPr txBox="1"/>
          <p:nvPr/>
        </p:nvSpPr>
        <p:spPr>
          <a:xfrm>
            <a:off x="1495425" y="3381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Government of the Republic of South Africa v Grootboom</a:t>
            </a:r>
          </a:p>
          <a:p>
            <a:pPr>
              <a:lnSpc>
                <a:spcPts val="1464"/>
              </a:lnSpc>
              <a:spcBef>
                <a:spcPts val="0"/>
              </a:spcBef>
              <a:spcAft>
                <a:spcPts val="0"/>
              </a:spcAft>
              <a:defRPr sz="1200" b="0">
                <a:solidFill>
                  <a:srgbClr val="F4F5F4"/>
                </a:solidFill>
                <a:latin typeface="DejaVu Sans"/>
              </a:defRPr>
            </a:pPr>
            <a:r>
              <a:t>[2000] ZACC 19 — 2000.10.04</a:t>
            </a:r>
          </a:p>
        </p:txBody>
      </p:sp>
      <p:sp>
        <p:nvSpPr>
          <p:cNvPr id="48" name="Rectangle 47">
            <a:hlinkClick r:id="rId4"/>
          </p:cNvPr>
          <p:cNvSpPr/>
          <p:nvPr/>
        </p:nvSpPr>
        <p:spPr>
          <a:xfrm>
            <a:off x="638175" y="3381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175" y="4076699"/>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TAC</a:t>
            </a:r>
          </a:p>
        </p:txBody>
      </p:sp>
      <p:sp>
        <p:nvSpPr>
          <p:cNvPr id="50" name="TextBox 49"/>
          <p:cNvSpPr txBox="1"/>
          <p:nvPr/>
        </p:nvSpPr>
        <p:spPr>
          <a:xfrm>
            <a:off x="1495425" y="4076699"/>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Minister of Health v Treatment Action Campaign (No 2)</a:t>
            </a:r>
          </a:p>
          <a:p>
            <a:pPr>
              <a:lnSpc>
                <a:spcPts val="1464"/>
              </a:lnSpc>
              <a:spcBef>
                <a:spcPts val="0"/>
              </a:spcBef>
              <a:spcAft>
                <a:spcPts val="0"/>
              </a:spcAft>
              <a:defRPr sz="1200" b="0">
                <a:solidFill>
                  <a:srgbClr val="F4F5F4"/>
                </a:solidFill>
                <a:latin typeface="DejaVu Sans"/>
              </a:defRPr>
            </a:pPr>
            <a:r>
              <a:t>[2002] ZACC 15 — 2002.07.05</a:t>
            </a:r>
          </a:p>
        </p:txBody>
      </p:sp>
      <p:sp>
        <p:nvSpPr>
          <p:cNvPr id="51" name="Rectangle 50">
            <a:hlinkClick r:id="rId5"/>
          </p:cNvPr>
          <p:cNvSpPr/>
          <p:nvPr/>
        </p:nvSpPr>
        <p:spPr>
          <a:xfrm>
            <a:off x="638175" y="4076699"/>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8175" y="47720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GER</a:t>
            </a:r>
          </a:p>
        </p:txBody>
      </p:sp>
      <p:sp>
        <p:nvSpPr>
          <p:cNvPr id="53" name="TextBox 52"/>
          <p:cNvSpPr txBox="1"/>
          <p:nvPr/>
        </p:nvSpPr>
        <p:spPr>
          <a:xfrm>
            <a:off x="1495425" y="47720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BVerfG, 1 BvL 1/09, 1 BvL 3/09, 1 BvL 4/09 — 2010.02.09,</a:t>
            </a:r>
          </a:p>
          <a:p>
            <a:pPr>
              <a:lnSpc>
                <a:spcPts val="1464"/>
              </a:lnSpc>
              <a:spcBef>
                <a:spcPts val="0"/>
              </a:spcBef>
              <a:spcAft>
                <a:spcPts val="0"/>
              </a:spcAft>
              <a:defRPr sz="1200" b="0">
                <a:solidFill>
                  <a:srgbClr val="F4F5F4"/>
                </a:solidFill>
                <a:latin typeface="DejaVu Sans"/>
              </a:defRPr>
            </a:pPr>
            <a:r>
              <a:t>амьжиргааны доод баталгаа</a:t>
            </a:r>
          </a:p>
        </p:txBody>
      </p:sp>
      <p:sp>
        <p:nvSpPr>
          <p:cNvPr id="54" name="Rectangle 53">
            <a:hlinkClick r:id="rId6"/>
          </p:cNvPr>
          <p:cNvSpPr/>
          <p:nvPr/>
        </p:nvSpPr>
        <p:spPr>
          <a:xfrm>
            <a:off x="638175" y="47720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88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FIN</a:t>
            </a:r>
          </a:p>
        </p:txBody>
      </p:sp>
      <p:sp>
        <p:nvSpPr>
          <p:cNvPr id="56" name="TextBox 55"/>
          <p:cNvSpPr txBox="1"/>
          <p:nvPr/>
        </p:nvSpPr>
        <p:spPr>
          <a:xfrm>
            <a:off x="70961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Kela: Финландын суурь орлогын туршилт, 2017–2018;</a:t>
            </a:r>
          </a:p>
          <a:p>
            <a:pPr>
              <a:lnSpc>
                <a:spcPts val="1464"/>
              </a:lnSpc>
              <a:spcBef>
                <a:spcPts val="0"/>
              </a:spcBef>
              <a:spcAft>
                <a:spcPts val="0"/>
              </a:spcAft>
              <a:defRPr sz="1200" b="0">
                <a:solidFill>
                  <a:srgbClr val="F4F5F4"/>
                </a:solidFill>
                <a:latin typeface="DejaVu Sans"/>
              </a:defRPr>
            </a:pPr>
            <a:r>
              <a:t>эцсийн үр дүн 2020</a:t>
            </a:r>
          </a:p>
        </p:txBody>
      </p:sp>
      <p:sp>
        <p:nvSpPr>
          <p:cNvPr id="57" name="Rectangle 56">
            <a:hlinkClick r:id="rId7"/>
          </p:cNvPr>
          <p:cNvSpPr/>
          <p:nvPr/>
        </p:nvSpPr>
        <p:spPr>
          <a:xfrm>
            <a:off x="62388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8875" y="3381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BRA</a:t>
            </a:r>
          </a:p>
        </p:txBody>
      </p:sp>
      <p:sp>
        <p:nvSpPr>
          <p:cNvPr id="59" name="TextBox 58"/>
          <p:cNvSpPr txBox="1"/>
          <p:nvPr/>
        </p:nvSpPr>
        <p:spPr>
          <a:xfrm>
            <a:off x="7096125" y="3381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Бразил: Lei nº 10.836 — 2004.01.09; Lei nº 14.601 —</a:t>
            </a:r>
          </a:p>
          <a:p>
            <a:pPr>
              <a:lnSpc>
                <a:spcPts val="1464"/>
              </a:lnSpc>
              <a:spcBef>
                <a:spcPts val="0"/>
              </a:spcBef>
              <a:spcAft>
                <a:spcPts val="0"/>
              </a:spcAft>
              <a:defRPr sz="1200" b="0">
                <a:solidFill>
                  <a:srgbClr val="F4F5F4"/>
                </a:solidFill>
                <a:latin typeface="DejaVu Sans"/>
              </a:defRPr>
            </a:pPr>
            <a:r>
              <a:t>2023.06.19</a:t>
            </a:r>
          </a:p>
        </p:txBody>
      </p:sp>
      <p:sp>
        <p:nvSpPr>
          <p:cNvPr id="60" name="Rectangle 59">
            <a:hlinkClick r:id="rId8"/>
          </p:cNvPr>
          <p:cNvSpPr/>
          <p:nvPr/>
        </p:nvSpPr>
        <p:spPr>
          <a:xfrm>
            <a:off x="6238875" y="3381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8875" y="4076699"/>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GC3</a:t>
            </a:r>
          </a:p>
        </p:txBody>
      </p:sp>
      <p:sp>
        <p:nvSpPr>
          <p:cNvPr id="62" name="TextBox 61"/>
          <p:cNvSpPr txBox="1"/>
          <p:nvPr/>
        </p:nvSpPr>
        <p:spPr>
          <a:xfrm>
            <a:off x="7096125" y="4076699"/>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CESCR, Ерөнхий тайлбар №3 — 1990.12.14; улсын</a:t>
            </a:r>
          </a:p>
          <a:p>
            <a:pPr>
              <a:lnSpc>
                <a:spcPts val="1464"/>
              </a:lnSpc>
              <a:spcBef>
                <a:spcPts val="0"/>
              </a:spcBef>
              <a:spcAft>
                <a:spcPts val="0"/>
              </a:spcAft>
              <a:defRPr sz="1200" b="0">
                <a:solidFill>
                  <a:srgbClr val="F4F5F4"/>
                </a:solidFill>
                <a:latin typeface="DejaVu Sans"/>
              </a:defRPr>
            </a:pPr>
            <a:r>
              <a:t>үүрэг, доод цөм шаардлага</a:t>
            </a:r>
          </a:p>
        </p:txBody>
      </p:sp>
      <p:sp>
        <p:nvSpPr>
          <p:cNvPr id="63" name="Rectangle 62">
            <a:hlinkClick r:id="rId9"/>
          </p:cNvPr>
          <p:cNvSpPr/>
          <p:nvPr/>
        </p:nvSpPr>
        <p:spPr>
          <a:xfrm>
            <a:off x="6238875" y="4076699"/>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38875" y="47720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SDG</a:t>
            </a:r>
          </a:p>
        </p:txBody>
      </p:sp>
      <p:sp>
        <p:nvSpPr>
          <p:cNvPr id="65" name="TextBox 64"/>
          <p:cNvSpPr txBox="1"/>
          <p:nvPr/>
        </p:nvSpPr>
        <p:spPr>
          <a:xfrm>
            <a:off x="7096125" y="47720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НҮБ, A/RES/70/1 — 2015.09.25, Тогтвортой хөгжлийн</a:t>
            </a:r>
          </a:p>
          <a:p>
            <a:pPr>
              <a:lnSpc>
                <a:spcPts val="1464"/>
              </a:lnSpc>
              <a:spcBef>
                <a:spcPts val="0"/>
              </a:spcBef>
              <a:spcAft>
                <a:spcPts val="0"/>
              </a:spcAft>
              <a:defRPr sz="1200" b="0">
                <a:solidFill>
                  <a:srgbClr val="F4F5F4"/>
                </a:solidFill>
                <a:latin typeface="DejaVu Sans"/>
              </a:defRPr>
            </a:pPr>
            <a:r>
              <a:t>зорилго</a:t>
            </a:r>
          </a:p>
        </p:txBody>
      </p:sp>
      <p:sp>
        <p:nvSpPr>
          <p:cNvPr id="66" name="Rectangle 65">
            <a:hlinkClick r:id="rId10"/>
          </p:cNvPr>
          <p:cNvSpPr/>
          <p:nvPr/>
        </p:nvSpPr>
        <p:spPr>
          <a:xfrm>
            <a:off x="6238875" y="47720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Хэрэглэхийн өмнө хүчин төгөлдөр хууль, статистикийн анхдагч эхийг нягтална.</a:t>
            </a:r>
          </a:p>
        </p:txBody>
      </p:sp>
      <p:sp>
        <p:nvSpPr>
          <p:cNvPr id="74" name="Rectangle 73"/>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a:t>
            </a:r>
          </a:p>
        </p:txBody>
      </p:sp>
      <p:sp>
        <p:nvSpPr>
          <p:cNvPr id="76" name="TextBox 75"/>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7" name="TextBox 76"/>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ойлгомжтой 3D хувилбар</dc:title>
  <dc:subject>МУИС • Багш: Б. Тамир • 30 слайд • Ярих текст, шилжих өгүүлбэртэй</dc:subject>
  <dc:creator>Б. Саранчимэг · Ш. Түвшинбаяр ·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