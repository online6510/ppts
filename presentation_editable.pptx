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Илтгэлийн үндсэн санаа: нийгэм, эдийн засгийн байр суурь нь хүний нэр төр, эрхийн үнэ цэнийг бууруулах үндэслэл биш. “Доод давхраа” гэдэг нэр томьёог хүнийг үнэлсэн утгаар бус нийгмийн бүтцийн шинжилгээний утгаар хэрэглэнэ.</a:t>
            </a:r>
          </a:p>
          <a:p/>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"cover",</a:t>
            </a:r>
          </a:p>
          <a:p>
            <a:r>
              <a:t>  "section": "МУИС • ОЮУТНЫ ИЛТГЭЛ",</a:t>
            </a:r>
          </a:p>
          <a:p>
            <a:r>
              <a:t>  "title": "Нийгмийн доод давхраа\nба хүний эрх",</a:t>
            </a:r>
          </a:p>
          <a:p>
            <a:r>
              <a:t>  "sub": "Ядуурал • Тэгш боломж • Эрх зүйн хамгаалалт",</a:t>
            </a:r>
          </a:p>
          <a:p>
            <a:r>
              <a:t>  "people": "Оюутнууд: Б. Саранчимэг\nШ. Түвшинбаяр\nБ. Энхзаяа\n\nБагш: Б. Тамир",</a:t>
            </a:r>
          </a:p>
          <a:p>
            <a:r>
              <a:t>  "sources": [</a:t>
            </a:r>
          </a:p>
          <a:p>
            <a:r>
              <a:t>    "ҮХ",</a:t>
            </a:r>
          </a:p>
          <a:p>
            <a:r>
              <a:t>    "UDHR"</a:t>
            </a:r>
          </a:p>
          <a:p>
            <a:r>
              <a:t>  ]</a:t>
            </a:r>
          </a:p>
          <a:p>
            <a:r>
              <a:t>}</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Илтгэл гурван түвшнийг ялгана: эрх зүйн стандарт, бодит хүртээмж, хэрэгжүүлэх механизм. Статистик нь асуудлын хүрээг, шүүхийн шийдвэр нь эрхийн хэрэгжилтийг, улсын харьцуулалт нь бодлогын сонголтыг тайлбарлана.</a:t>
            </a:r>
          </a:p>
          <a:p/>
          <a:p>
            <a:r>
              <a:t>Гол байр суурь: халамжийн асуудлыг эрх, хүртээмж, хариуцлагатай холбож үзнэ.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"01 / АСУУДЛЫГ ТОДОРХОЙЛОХ",</a:t>
            </a:r>
          </a:p>
          <a:p>
            <a:r>
              <a:t>  "title": "Энэ илтгэл ямар асуултад хариулах вэ?",</a:t>
            </a:r>
          </a:p>
          <a:p>
            <a:r>
              <a:t>  "cards": [</a:t>
            </a:r>
          </a:p>
          <a:p>
            <a:r>
              <a:t>    [</a:t>
            </a:r>
          </a:p>
          <a:p>
            <a:r>
              <a:t>      "01  Нөхцөл",</a:t>
            </a:r>
          </a:p>
          <a:p>
            <a:r>
              <a:t>      "Ядуурал хүний эрхээ бодитоор эдлэх боломжийг хэрхэн хязгаарладаг вэ?"</a:t>
            </a:r>
          </a:p>
          <a:p>
            <a:r>
              <a:t>    ],</a:t>
            </a:r>
          </a:p>
          <a:p>
            <a:r>
              <a:t>    [</a:t>
            </a:r>
          </a:p>
          <a:p>
            <a:r>
              <a:t>      "02  Баталгаа",</a:t>
            </a:r>
          </a:p>
          <a:p>
            <a:r>
              <a:t>      "Монголын хууль ба олон улсын баримт бичиг ямар хамгаалалт тогтоодог вэ?"</a:t>
            </a:r>
          </a:p>
          <a:p>
            <a:r>
              <a:t>    ],</a:t>
            </a:r>
          </a:p>
          <a:p>
            <a:r>
              <a:t>    [</a:t>
            </a:r>
          </a:p>
          <a:p>
            <a:r>
              <a:t>      "03  Шийдэл",</a:t>
            </a:r>
          </a:p>
          <a:p>
            <a:r>
              <a:t>      "Шүүхийн кейс, бусад орны туршлагаас Монголд юу хэрэгжүүлж болох вэ?"</a:t>
            </a:r>
          </a:p>
          <a:p>
            <a:r>
              <a:t>    ]</a:t>
            </a:r>
          </a:p>
          <a:p>
            <a:r>
              <a:t>  ],</a:t>
            </a:r>
          </a:p>
          <a:p>
            <a:r>
              <a:t>  "take": "Гол байр суурь: халамжийн асуудлыг эрх, хүртээмж, хариуцлагатай холбож үзнэ.",</a:t>
            </a:r>
          </a:p>
          <a:p>
            <a:r>
              <a:t>  "sources": [</a:t>
            </a:r>
          </a:p>
          <a:p>
            <a:r>
              <a:t>    "ҮХ",</a:t>
            </a:r>
          </a:p>
          <a:p>
            <a:r>
              <a:t>    "ICESCR"</a:t>
            </a:r>
          </a:p>
          <a:p>
            <a:r>
              <a:t>  ]</a:t>
            </a:r>
          </a:p>
          <a:p>
            <a:r>
              <a:t>}</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Бага орлоготой бүх хүн ижил нөхцөлтэй биш. Өрхийн хэмжээ, асаргааны ачаалал, газар зүйн байршил, хөгжлийн бэрхшээл зэрэг нь ижил орлоготой хүмүүсийн бодит боломжийг өөрчилдөг. UDHR-ийн 1, 2 дугаар зүйл нэр төр ба ялгаварлан гадуурхахгүй байх зарчмын суурь болно.</a:t>
            </a:r>
          </a:p>
          <a:p/>
          <a:p>
            <a:r>
              <a:t>Цаашид “бага орлоготой”, “ядууралд өртсөн”, “эмзэг нөхцөлтэй” гэсэн тодорхой үг хэрэглэнэ.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"01 / НЭР ТОМЬЁО",</a:t>
            </a:r>
          </a:p>
          <a:p>
            <a:r>
              <a:t>  "title": "“Доод давхраа” гэдэг нь хүний үнэ цэнэ биш",</a:t>
            </a:r>
          </a:p>
          <a:p>
            <a:r>
              <a:t>  "cards": [</a:t>
            </a:r>
          </a:p>
          <a:p>
            <a:r>
              <a:t>    [</a:t>
            </a:r>
          </a:p>
          <a:p>
            <a:r>
              <a:t>      "Эдийн засгийн байр суурь",</a:t>
            </a:r>
          </a:p>
          <a:p>
            <a:r>
              <a:t>      "Орлого, хөрөнгө, тогтвортой ажлын боломж бага; эдийн засгийн цочролд өртөх эрсдэл өндөр."</a:t>
            </a:r>
          </a:p>
          <a:p>
            <a:r>
              <a:t>    ],</a:t>
            </a:r>
          </a:p>
          <a:p>
            <a:r>
              <a:t>    [</a:t>
            </a:r>
          </a:p>
          <a:p>
            <a:r>
              <a:t>      "Нийгмийн боломж",</a:t>
            </a:r>
          </a:p>
          <a:p>
            <a:r>
              <a:t>      "Чанартай боловсрол, эрүүл мэнд, орон сууц, мэдээлэлд хүрэх боломж харилцан адилгүй."</a:t>
            </a:r>
          </a:p>
          <a:p>
            <a:r>
              <a:t>    ],</a:t>
            </a:r>
          </a:p>
          <a:p>
            <a:r>
              <a:t>    [</a:t>
            </a:r>
          </a:p>
          <a:p>
            <a:r>
              <a:t>      "Эрхийн субъект",</a:t>
            </a:r>
          </a:p>
          <a:p>
            <a:r>
              <a:t>      "Орлогоос үл хамааран хүн бүр ижил нэр төртэй, эрх эдлэгч. Ядуу хүнийг буруутгах нь бүтцийн шалтгааныг бүдгэрүүлдэг."</a:t>
            </a:r>
          </a:p>
          <a:p>
            <a:r>
              <a:t>    ]</a:t>
            </a:r>
          </a:p>
          <a:p>
            <a:r>
              <a:t>  ],</a:t>
            </a:r>
          </a:p>
          <a:p>
            <a:r>
              <a:t>  "take": "Цаашид “бага орлоготой”, “ядууралд өртсөн”, “эмзэг нөхцөлтэй” гэсэн тодорхой үг хэрэглэнэ.",</a:t>
            </a:r>
          </a:p>
          <a:p>
            <a:r>
              <a:t>  "sources": [</a:t>
            </a:r>
          </a:p>
          <a:p>
            <a:r>
              <a:t>    "UDHR",</a:t>
            </a:r>
          </a:p>
          <a:p>
            <a:r>
              <a:t>    "ҮХ"</a:t>
            </a:r>
          </a:p>
          <a:p>
            <a:r>
              <a:t>  ]</a:t>
            </a:r>
          </a:p>
          <a:p>
            <a:r>
              <a:t>}</a:t>
            </a:r>
          </a:p>
          <a:p/>
          <a:p>
            <a:r>
              <a:t>ЭХ СУРВАЛЖ:</a:t>
            </a:r>
          </a:p>
          <a:p>
            <a:r>
              <a:t>[UDHR] Хүний эрхийн түгээмэл тунхаглал — 1948.12.10</a:t>
            </a:r>
          </a:p>
          <a:p>
            <a:r>
              <a:t>https://www.ohchr.org/en/human-rights/universal-declaration/translations/mongolian</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Үндэсний ядуурлын хувь, олон улсын ам.долларын босго, олон хэмжээст ядуурлын индекс нь өөр аргачлалтай. Эдгээрийг нэг графикт шууд ижил хэмжүүр мэт харьцуулж болохгүй. Өрхийн хэрэглээнд суурилсан ядуурал нь бэлэн мөнгөн орлоготой яг адил ойлголт биш.</a:t>
            </a:r>
          </a:p>
          <a:p/>
          <a:p>
            <a:r>
              <a:t>Нэг үзүүлэлт бүх асуудлыг тайлбарлахгүй. Орлого, үйлчилгээний хүртээмж, эрхийн хамгаалалтыг хамт үнэлнэ.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"01 / ХЭМЖИЛТ",</a:t>
            </a:r>
          </a:p>
          <a:p>
            <a:r>
              <a:t>  "title": "Ядуурлыг орлогоор л хэмжиж болохгүй",</a:t>
            </a:r>
          </a:p>
          <a:p>
            <a:r>
              <a:t>  "cards": [</a:t>
            </a:r>
          </a:p>
          <a:p>
            <a:r>
              <a:t>    [</a:t>
            </a:r>
          </a:p>
          <a:p>
            <a:r>
              <a:t>      "Мөнгөн ядуурал",</a:t>
            </a:r>
          </a:p>
          <a:p>
            <a:r>
              <a:t>      "Хэрэглээ эсвэл орлого тогтоосон босгоос доогуур байх. Үндэсний босго нь тухайн улсын нөхцөлд тулгуурлана."</a:t>
            </a:r>
          </a:p>
          <a:p>
            <a:r>
              <a:t>    ],</a:t>
            </a:r>
          </a:p>
          <a:p>
            <a:r>
              <a:t>    [</a:t>
            </a:r>
          </a:p>
          <a:p>
            <a:r>
              <a:t>      "Олон хэмжээст хомсдол",</a:t>
            </a:r>
          </a:p>
          <a:p>
            <a:r>
              <a:t>      "Боловсрол, эрүүл мэнд, ундны ус, ариун цэвэр, орон сууцны дутагдлыг хамтад нь харна."</a:t>
            </a:r>
          </a:p>
          <a:p>
            <a:r>
              <a:t>    ],</a:t>
            </a:r>
          </a:p>
          <a:p>
            <a:r>
              <a:t>    [</a:t>
            </a:r>
          </a:p>
          <a:p>
            <a:r>
              <a:t>      "Нийгмийн гадуурхал",</a:t>
            </a:r>
          </a:p>
          <a:p>
            <a:r>
              <a:t>      "Баримт бичиг, тээвэр, хэл, цахим ур чадвар, ялгаварлал зэргээс үйлчилгээ авч чадахгүй болох."</a:t>
            </a:r>
          </a:p>
          <a:p>
            <a:r>
              <a:t>    ]</a:t>
            </a:r>
          </a:p>
          <a:p>
            <a:r>
              <a:t>  ],</a:t>
            </a:r>
          </a:p>
          <a:p>
            <a:r>
              <a:t>  "take": "Нэг үзүүлэлт бүх асуудлыг тайлбарлахгүй. Орлого, үйлчилгээний хүртээмж, эрхийн хамгаалалтыг хамт үнэлнэ.",</a:t>
            </a:r>
          </a:p>
          <a:p>
            <a:r>
              <a:t>  "sources": [</a:t>
            </a:r>
          </a:p>
          <a:p>
            <a:r>
              <a:t>    "POV",</a:t>
            </a:r>
          </a:p>
          <a:p>
            <a:r>
              <a:t>    "SDG"</a:t>
            </a:r>
          </a:p>
          <a:p>
            <a:r>
              <a:t>  ]</a:t>
            </a:r>
          </a:p>
          <a:p>
            <a:r>
              <a:t>}</a:t>
            </a:r>
          </a:p>
          <a:p/>
          <a:p>
            <a:r>
              <a:t>ЭХ СУРВАЛЖ:</a:t>
            </a:r>
          </a:p>
          <a:p>
            <a:r>
              <a:t>[POV] ҮСХ, Дэлхийн банк: Mongolia Poverty Update 2022, 2024 онд нийтэлсэн; үндэсний ядуурлын түвшин</a:t>
            </a:r>
          </a:p>
          <a:p>
            <a:r>
              <a:t>https://www.worldbank.org/en/country/mongolia/publication</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ҮСХ–Дэлхийн банкны үндэсний ядуурлын тооцоолол: 2016 онд 29.6%, 2018 онд 28.4%, 2020 онд 27.8%, 2022 онд 27.1%. 2016–2022 оны өөрчлөлт нь 2.5 нэгж хувь; “2.5 хувиар буурсан” гэж нэрлэхгүй. Эдгээр нь түүхэн тоон цуваа бөгөөд 2026 оны өнөөгийн ядуурлын түвшин гэж тайлбарлахгүй. Улс хоорондын харьцуулалт хийхэд ижил босго, ижил аргачлал шаардлагатай.</a:t>
            </a:r>
          </a:p>
          <a:p/>
          <a:p>
            <a:r>
              <a:t>2022 онд 27.1% буюу ойролцоогоор 4 хүн тутмын 1 нь үндэсний ядуурлын босгоос доогуур хэрэглээтэй.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"chart",</a:t>
            </a:r>
          </a:p>
          <a:p>
            <a:r>
              <a:t>  "section": "01 / МОНГОЛЫН НӨХЦӨЛ",</a:t>
            </a:r>
          </a:p>
          <a:p>
            <a:r>
              <a:t>  "title": "Ядуурал буурсан ч хамрах хүрээ өндөр хэвээр",</a:t>
            </a:r>
          </a:p>
          <a:p>
            <a:r>
              <a:t>  "values": [</a:t>
            </a:r>
          </a:p>
          <a:p>
            <a:r>
              <a:t>    29.6,</a:t>
            </a:r>
          </a:p>
          <a:p>
            <a:r>
              <a:t>    28.4,</a:t>
            </a:r>
          </a:p>
          <a:p>
            <a:r>
              <a:t>    27.8,</a:t>
            </a:r>
          </a:p>
          <a:p>
            <a:r>
              <a:t>    27.1</a:t>
            </a:r>
          </a:p>
          <a:p>
            <a:r>
              <a:t>  ],</a:t>
            </a:r>
          </a:p>
          <a:p>
            <a:r>
              <a:t>  "labels": [</a:t>
            </a:r>
          </a:p>
          <a:p>
            <a:r>
              <a:t>    "2016",</a:t>
            </a:r>
          </a:p>
          <a:p>
            <a:r>
              <a:t>    "2018",</a:t>
            </a:r>
          </a:p>
          <a:p>
            <a:r>
              <a:t>    "2020",</a:t>
            </a:r>
          </a:p>
          <a:p>
            <a:r>
              <a:t>    "2022"</a:t>
            </a:r>
          </a:p>
          <a:p>
            <a:r>
              <a:t>  ],</a:t>
            </a:r>
          </a:p>
          <a:p>
            <a:r>
              <a:t>  "take": "2022 онд 27.1% буюу ойролцоогоор 4 хүн тутмын 1 нь үндэсний ядуурлын босгоос доогуур хэрэглээтэй.",</a:t>
            </a:r>
          </a:p>
          <a:p>
            <a:r>
              <a:t>  "sources": [</a:t>
            </a:r>
          </a:p>
          <a:p>
            <a:r>
              <a:t>    "POV"</a:t>
            </a:r>
          </a:p>
          <a:p>
            <a:r>
              <a:t>  ]</a:t>
            </a:r>
          </a:p>
          <a:p>
            <a:r>
              <a:t>}</a:t>
            </a:r>
          </a:p>
          <a:p/>
          <a:p>
            <a:r>
              <a:t>ЭХ СУРВАЛЖ:</a:t>
            </a:r>
          </a:p>
          <a:p>
            <a:r>
              <a:t>[POV] ҮСХ, Дэлхийн банк: Mongolia Poverty Update 2022, 2024 онд нийтэлсэн; үндэсний ядуурлын түвшин</a:t>
            </a:r>
          </a:p>
          <a:p>
            <a:r>
              <a:t>https://www.worldbank.org/en/country/mongolia/publication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бол тайлбарлах загвар; тоон шалтгаант нөлөөг нотолсон график биш. Нэг удаагийн тэтгэмж өрхийн бүх асуудлыг шийдэхгүй. Үйлчилгээний төлбөрөөс гадна очих зардал, хүлээх хугацаа, асаргааны үүрэг зэрэг далд зардал эрхийн хүртээмжид нөлөөлнө.</a:t>
            </a:r>
          </a:p>
          <a:p/>
          <a:p>
            <a:r>
              <a:t>Гинжин холбоог таслах арга: суурь үйлчилгээ + орлогын хамгаалалт + эрхээ шаардах боломж.</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"flow",</a:t>
            </a:r>
          </a:p>
          <a:p>
            <a:r>
              <a:t>  "section": "01 / ШАЛТГААН БА ҮР ДАГАВАР",</a:t>
            </a:r>
          </a:p>
          <a:p>
            <a:r>
              <a:t>  "title": "Ядуурал ба эрхийн зөрчил бие биеэ бэхжүүлдэг",</a:t>
            </a:r>
          </a:p>
          <a:p>
            <a:r>
              <a:t>  "steps": [</a:t>
            </a:r>
          </a:p>
          <a:p>
            <a:r>
              <a:t>    [</a:t>
            </a:r>
          </a:p>
          <a:p>
            <a:r>
              <a:t>      "Орлогын эрсдэл",</a:t>
            </a:r>
          </a:p>
          <a:p>
            <a:r>
              <a:t>      "Ажлын тогтворгүй байдал\nҮнэ, өрийн дарамт"</a:t>
            </a:r>
          </a:p>
          <a:p>
            <a:r>
              <a:t>    ],</a:t>
            </a:r>
          </a:p>
          <a:p>
            <a:r>
              <a:t>    [</a:t>
            </a:r>
          </a:p>
          <a:p>
            <a:r>
              <a:t>      "Үйлчилгээний саад",</a:t>
            </a:r>
          </a:p>
          <a:p>
            <a:r>
              <a:t>      "Тээврийн зардал\nБаримт бичиг, хүртээмж"</a:t>
            </a:r>
          </a:p>
          <a:p>
            <a:r>
              <a:t>    ],</a:t>
            </a:r>
          </a:p>
          <a:p>
            <a:r>
              <a:t>    [</a:t>
            </a:r>
          </a:p>
          <a:p>
            <a:r>
              <a:t>      "Боломж хумигдах",</a:t>
            </a:r>
          </a:p>
          <a:p>
            <a:r>
              <a:t>      "Хичээл тасалдах\nЭмчилгээ хойшлох"</a:t>
            </a:r>
          </a:p>
          <a:p>
            <a:r>
              <a:t>    ],</a:t>
            </a:r>
          </a:p>
          <a:p>
            <a:r>
              <a:t>    [</a:t>
            </a:r>
          </a:p>
          <a:p>
            <a:r>
              <a:t>      "Эмзэг байдал",</a:t>
            </a:r>
          </a:p>
          <a:p>
            <a:r>
              <a:t>      "Ур чадвар, эрүүл мэнд доройтох\nОрлого дахин буурах"</a:t>
            </a:r>
          </a:p>
          <a:p>
            <a:r>
              <a:t>    ]</a:t>
            </a:r>
          </a:p>
          <a:p>
            <a:r>
              <a:t>  ],</a:t>
            </a:r>
          </a:p>
          <a:p>
            <a:r>
              <a:t>  "take": "Гинжин холбоог таслах арга: суурь үйлчилгээ + орлогын хамгаалалт + эрхээ шаардах боломж.",</a:t>
            </a:r>
          </a:p>
          <a:p>
            <a:r>
              <a:t>  "sources": [</a:t>
            </a:r>
          </a:p>
          <a:p>
            <a:r>
              <a:t>    "ICESCR",</a:t>
            </a:r>
          </a:p>
          <a:p>
            <a:r>
              <a:t>    "CRC"</a:t>
            </a:r>
          </a:p>
          <a:p>
            <a:r>
              <a:t>  ]</a:t>
            </a:r>
          </a:p>
          <a:p>
            <a:r>
              <a:t>}</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[CRC] Хүүхдийн эрхийн тухай конвенц — 1989.11.20; хүчин төгөлдөр: 1990.09.02</a:t>
            </a:r>
          </a:p>
          <a:p>
            <a:r>
              <a:t>https://www.ohchr.org/en/instruments-mechanisms/instruments/convention-rights-child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Хүний эрхийн хандлагын гол ялгаа нь үүрэг хүлээгч, хариуцлага, гомдол шийдвэрлэх механизмыг тодорхой болгодогт оршино. Эрх эдлэх нь бүх үйлчилгээг ямар ч нөхцөлгүй, үнэ төлбөргүй олгоно гэсэн үг биш; хууль ёсны, үндэслэлтэй, ялгаварлаагүй зохицуулалт шаардлагатай.</a:t>
            </a:r>
          </a:p>
          <a:p/>
          <a:p>
            <a:r>
              <a:t>Хандив, сайн дурын тусламж нь төрийн хуулиар хүлээсэн үүргийг орлохгүй.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"02 / ХҮНИЙ ЭРХИЙН СУУРЬ",</a:t>
            </a:r>
          </a:p>
          <a:p>
            <a:r>
              <a:t>  "title": "Эрхийн хандлага: тусламж хүсэгчээс эрх эдлэгч рүү",</a:t>
            </a:r>
          </a:p>
          <a:p>
            <a:r>
              <a:t>  "cards": [</a:t>
            </a:r>
          </a:p>
          <a:p>
            <a:r>
              <a:t>    [</a:t>
            </a:r>
          </a:p>
          <a:p>
            <a:r>
              <a:t>      "Хүн бүр эрх эдэлнэ",</a:t>
            </a:r>
          </a:p>
          <a:p>
            <a:r>
              <a:t>      "Хүний эрхийн түгээмэл тунхаглал, 1948.12.10: 1 дүгээр зүйл — нэр төр, эрхийн тэгш байдал; 2 — ялгаварлахгүй байх."</a:t>
            </a:r>
          </a:p>
          <a:p>
            <a:r>
              <a:t>    ],</a:t>
            </a:r>
          </a:p>
          <a:p>
            <a:r>
              <a:t>    [</a:t>
            </a:r>
          </a:p>
          <a:p>
            <a:r>
              <a:t>      "Улс үүрэг хүлээнэ",</a:t>
            </a:r>
          </a:p>
          <a:p>
            <a:r>
              <a:t>      "ICESCR, 1966.12.16: 2.1 — нөөц бололцоогоо дээд хэмжээгээр ашиглан эрхийг дэвшилттэй хэрэгжүүлэх."</a:t>
            </a:r>
          </a:p>
          <a:p>
            <a:r>
              <a:t>    ],</a:t>
            </a:r>
          </a:p>
          <a:p>
            <a:r>
              <a:t>    [</a:t>
            </a:r>
          </a:p>
          <a:p>
            <a:r>
              <a:t>      "Шийдвэрийг хянуулна",</a:t>
            </a:r>
          </a:p>
          <a:p>
            <a:r>
              <a:t>      "Үндсэн хууль, 1992.01.13: 16.12 — өргөдөл, гомдол; 16.14 — шүүхээр хамгаалуулах, хууль зүйн туслалцаа."</a:t>
            </a:r>
          </a:p>
          <a:p>
            <a:r>
              <a:t>    ]</a:t>
            </a:r>
          </a:p>
          <a:p>
            <a:r>
              <a:t>  ],</a:t>
            </a:r>
          </a:p>
          <a:p>
            <a:r>
              <a:t>  "take": "Хандив, сайн дурын тусламж нь төрийн хуулиар хүлээсэн үүргийг орлохгүй.",</a:t>
            </a:r>
          </a:p>
          <a:p>
            <a:r>
              <a:t>  "sources": [</a:t>
            </a:r>
          </a:p>
          <a:p>
            <a:r>
              <a:t>    "UDHR",</a:t>
            </a:r>
          </a:p>
          <a:p>
            <a:r>
              <a:t>    "ICESCR",</a:t>
            </a:r>
          </a:p>
          <a:p>
            <a:r>
              <a:t>    "ҮХ"</a:t>
            </a:r>
          </a:p>
          <a:p>
            <a:r>
              <a:t>  ]</a:t>
            </a:r>
          </a:p>
          <a:p>
            <a:r>
              <a:t>}</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хууль 1992 оны 1 дүгээр сарын 13-нд батлагдаж, 1992 оны 2 дугаар сарын 12-ноос хүчин төгөлдөр болсон. Батлагдсан огноо, хүчин төгөлдөр болсон огноо хоёрыг ялгана. 16.7-д төрөөс бүх нийтийн ерөнхий боловсролыг төлбөргүй олгох тухай, 16.6-д эмнэлгийн төлбөргүй тусламжийн болзол, журмыг хуулиар тогтоох тухай зохицуулдаг.</a:t>
            </a:r>
          </a:p>
          <a:p/>
          <a:p>
            <a:r>
              <a:t>Энд болон бусад слайдад хуулийн агуулгыг хураангуйлсан; үгчилсэн эшлэл биш.</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"02 / МОНГОЛЫН ЭРХ ЗҮЙ",</a:t>
            </a:r>
          </a:p>
          <a:p>
            <a:r>
              <a:t>  "title": "Үндсэн хууль: орлогоос үл хамаарах баталгаа",</a:t>
            </a:r>
          </a:p>
          <a:p>
            <a:r>
              <a:t>  "headers": [</a:t>
            </a:r>
          </a:p>
          <a:p>
            <a:r>
              <a:t>    "Заалт • 1992.01.13",</a:t>
            </a:r>
          </a:p>
          <a:p>
            <a:r>
              <a:t>    "Агуулгын товч тайлбар",</a:t>
            </a:r>
          </a:p>
          <a:p>
            <a:r>
              <a:t>    "Бодит хэрэглээ"</a:t>
            </a:r>
          </a:p>
          <a:p>
            <a:r>
              <a:t>  ],</a:t>
            </a:r>
          </a:p>
          <a:p>
            <a:r>
              <a:t>  "rows": [</a:t>
            </a:r>
          </a:p>
          <a:p>
            <a:r>
              <a:t>    [</a:t>
            </a:r>
          </a:p>
          <a:p>
            <a:r>
              <a:t>      "14.1; 14.2",</a:t>
            </a:r>
          </a:p>
          <a:p>
            <a:r>
              <a:t>      "Хуулийн өмнө эрх тэгш; хөрөнгө чинээ зэрэг үндэслэлээр ялгаварлахгүй",</a:t>
            </a:r>
          </a:p>
          <a:p>
            <a:r>
              <a:t>      "Үйлчилгээний шалгуур хүнийг дорд үзэж болохгүй"</a:t>
            </a:r>
          </a:p>
          <a:p>
            <a:r>
              <a:t>    ],</a:t>
            </a:r>
          </a:p>
          <a:p>
            <a:r>
              <a:t>    [</a:t>
            </a:r>
          </a:p>
          <a:p>
            <a:r>
              <a:t>      "16.4",</a:t>
            </a:r>
          </a:p>
          <a:p>
            <a:r>
              <a:t>      "Ажил, хөдөлмөрөө сонгох; хөдөлмөрийн аятай нөхцөл; цалин",</a:t>
            </a:r>
          </a:p>
          <a:p>
            <a:r>
              <a:t>      "Аюулгүй ажил, хуульд нийцсэн хөлс"</a:t>
            </a:r>
          </a:p>
          <a:p>
            <a:r>
              <a:t>    ],</a:t>
            </a:r>
          </a:p>
          <a:p>
            <a:r>
              <a:t>    [</a:t>
            </a:r>
          </a:p>
          <a:p>
            <a:r>
              <a:t>      "16.5",</a:t>
            </a:r>
          </a:p>
          <a:p>
            <a:r>
              <a:t>      "Хуульд заасан нөхцөлд эд, мөнгөний тусламж авах",</a:t>
            </a:r>
          </a:p>
          <a:p>
            <a:r>
              <a:t>      "Өндөр нас, хөдөлмөрийн чадвар алдалт зэрэг"</a:t>
            </a:r>
          </a:p>
          <a:p>
            <a:r>
              <a:t>    ],</a:t>
            </a:r>
          </a:p>
          <a:p>
            <a:r>
              <a:t>    [</a:t>
            </a:r>
          </a:p>
          <a:p>
            <a:r>
              <a:t>      "16.6; 16.7",</a:t>
            </a:r>
          </a:p>
          <a:p>
            <a:r>
              <a:t>      "Эрүүл мэндээ хамгаалуулах; сурч боловсрох",</a:t>
            </a:r>
          </a:p>
          <a:p>
            <a:r>
              <a:t>      "Төлбөргүй үйлчилгээний хүрээг хууль тогтооно"</a:t>
            </a:r>
          </a:p>
          <a:p>
            <a:r>
              <a:t>    ],</a:t>
            </a:r>
          </a:p>
          <a:p>
            <a:r>
              <a:t>    [</a:t>
            </a:r>
          </a:p>
          <a:p>
            <a:r>
              <a:t>      "19.1",</a:t>
            </a:r>
          </a:p>
          <a:p>
            <a:r>
              <a:t>      "Эдийн засаг, нийгэм, хууль зүйн баталгааг бүрдүүлэх төрийн үүрэг",</a:t>
            </a:r>
          </a:p>
          <a:p>
            <a:r>
              <a:t>      "Эрхийн хэрэгжилтийг төсөв, бодлогоор хангах"</a:t>
            </a:r>
          </a:p>
          <a:p>
            <a:r>
              <a:t>    ]</a:t>
            </a:r>
          </a:p>
          <a:p>
            <a:r>
              <a:t>  ],</a:t>
            </a:r>
          </a:p>
          <a:p>
            <a:r>
              <a:t>  "take": "Энд болон бусад слайдад хуулийн агуулгыг хураангуйлсан; үгчилсэн эшлэл биш.",</a:t>
            </a:r>
          </a:p>
          <a:p>
            <a:r>
              <a:t>  "sources": [</a:t>
            </a:r>
          </a:p>
          <a:p>
            <a:r>
              <a:t>    "ҮХ"</a:t>
            </a:r>
          </a:p>
          <a:p>
            <a:r>
              <a:t>  ]</a:t>
            </a:r>
          </a:p>
          <a:p>
            <a:r>
              <a:t>}</a:t>
            </a:r>
          </a:p>
          <a:p/>
          <a:p>
            <a:r>
              <a:t>ЭХ СУРВАЛЖ:</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Хөдөлмөрийн тухай хуулийн шинэчилсэн найруулга 2021.07.02-нд батлагдаж 2022.01.01-нээс мөрдөгдсөн. Нийгмийн халамжийн тусламж нь төрлөөсөө хамааран өөр өөр шалгууртай; ядуу хүн бүр бүх тэтгэмжийг автоматаар авахгүй. Хуулийн тодорхой заалтыг бодит хэрэгт хэрэглэхийн өмнө хүчин төгөлдөр нэгтгэсэн эхийг шалгах шаардлагатай.</a:t>
            </a:r>
          </a:p>
          <a:p/>
          <a:p>
            <a:r>
              <a:t>Батлагдсан он нь сүүлийн нэмэлт, өөрчлөлтийн он гэсэн үг биш. Одоогийн найруулгыг Legalinfo-оос нягтална.</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"02 / САЛБАРЫН ХУУЛЬ",</a:t>
            </a:r>
          </a:p>
          <a:p>
            <a:r>
              <a:t>  "title": "Эрхийг хэрэгжүүлэх дотоодын гол хуулиуд",</a:t>
            </a:r>
          </a:p>
          <a:p>
            <a:r>
              <a:t>  "headers": [</a:t>
            </a:r>
          </a:p>
          <a:p>
            <a:r>
              <a:t>    "Хууль • баталсан огноо",</a:t>
            </a:r>
          </a:p>
          <a:p>
            <a:r>
              <a:t>    "Холбогдох зохицуулалт",</a:t>
            </a:r>
          </a:p>
          <a:p>
            <a:r>
              <a:t>    "Хэрэгжилтийг шалгах асуулт"</a:t>
            </a:r>
          </a:p>
          <a:p>
            <a:r>
              <a:t>  ],</a:t>
            </a:r>
          </a:p>
          <a:p>
            <a:r>
              <a:t>  "rows": [</a:t>
            </a:r>
          </a:p>
          <a:p>
            <a:r>
              <a:t>    [</a:t>
            </a:r>
          </a:p>
          <a:p>
            <a:r>
              <a:t>      "Хөдөлмөрийн тухай\n2021.07.02",</a:t>
            </a:r>
          </a:p>
          <a:p>
            <a:r>
              <a:t>      "6 дугаар зүйл: хөдөлмөрт ялгаварлан гадуурхахыг хориглох",</a:t>
            </a:r>
          </a:p>
          <a:p>
            <a:r>
              <a:t>      "Сонгон шалгаруулалт, цалин тэгш үү?"</a:t>
            </a:r>
          </a:p>
          <a:p>
            <a:r>
              <a:t>    ],</a:t>
            </a:r>
          </a:p>
          <a:p>
            <a:r>
              <a:t>    [</a:t>
            </a:r>
          </a:p>
          <a:p>
            <a:r>
              <a:t>      "Нийгмийн халамжийн тухай\n2012.01.19",</a:t>
            </a:r>
          </a:p>
          <a:p>
            <a:r>
              <a:t>      "Нийгмийн халамжийн тэтгэвэр, тэтгэмж, үйлчилгээ",</a:t>
            </a:r>
          </a:p>
          <a:p>
            <a:r>
              <a:t>      "Хуулийн шалгуур хангасан хүнд хүрч байна уу?"</a:t>
            </a:r>
          </a:p>
          <a:p>
            <a:r>
              <a:t>    ],</a:t>
            </a:r>
          </a:p>
          <a:p>
            <a:r>
              <a:t>    [</a:t>
            </a:r>
          </a:p>
          <a:p>
            <a:r>
              <a:t>      "Боловсролын ерөнхий хууль\n2023.07.07",</a:t>
            </a:r>
          </a:p>
          <a:p>
            <a:r>
              <a:t>      "Боловсролын тэгш боломж, хүртээмжийн зохицуулалт",</a:t>
            </a:r>
          </a:p>
          <a:p>
            <a:r>
              <a:t>      "Төлбөрөөс гаднах саадыг арилгасан уу?"</a:t>
            </a:r>
          </a:p>
          <a:p>
            <a:r>
              <a:t>    ],</a:t>
            </a:r>
          </a:p>
          <a:p>
            <a:r>
              <a:t>    [</a:t>
            </a:r>
          </a:p>
          <a:p>
            <a:r>
              <a:t>      "Хөгжлийн бэрхшээлтэй хүний эрхийн тухай\n2016.02.05",</a:t>
            </a:r>
          </a:p>
          <a:p>
            <a:r>
              <a:t>      "Ялгаварлалгүй оролцоо, хүртээмжийн зохицуулалт",</a:t>
            </a:r>
          </a:p>
          <a:p>
            <a:r>
              <a:t>      "Орчин, мэдээлэл, үйлчилгээ хүртээмжтэй юу?"</a:t>
            </a:r>
          </a:p>
          <a:p>
            <a:r>
              <a:t>    ]</a:t>
            </a:r>
          </a:p>
          <a:p>
            <a:r>
              <a:t>  ],</a:t>
            </a:r>
          </a:p>
          <a:p>
            <a:r>
              <a:t>  "take": "Батлагдсан он нь сүүлийн нэмэлт, өөрчлөлтийн он гэсэн үг биш. Одоогийн найруулгыг Legalinfo-оос нягтална.",</a:t>
            </a:r>
          </a:p>
          <a:p>
            <a:r>
              <a:t>  "sources": [</a:t>
            </a:r>
          </a:p>
          <a:p>
            <a:r>
              <a:t>    "ХТ",</a:t>
            </a:r>
          </a:p>
          <a:p>
            <a:r>
              <a:t>    "НХ",</a:t>
            </a:r>
          </a:p>
          <a:p>
            <a:r>
              <a:t>    "БЕХ",</a:t>
            </a:r>
          </a:p>
          <a:p>
            <a:r>
              <a:t>    "ХБХ"</a:t>
            </a:r>
          </a:p>
          <a:p>
            <a:r>
              <a:t>  ]</a:t>
            </a:r>
          </a:p>
          <a:p>
            <a:r>
              <a:t>}</a:t>
            </a:r>
          </a:p>
          <a:p/>
          <a:p>
            <a:r>
              <a:t>ЭХ СУРВАЛЖ:</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 олон улсын гэрээ, бодлогын зорилго нь эрх зүйн өөр шинжтэй. Монгол Улс тухайн гэрээгээр ямар үүрэг хүлээснийг тайлбарлахдаа нэгдэн орсон байдал, хүчин төгөлдөр үйлчлэл, тайлбар болон нэмэлт протоколын статусыг тусад нь шалгана. Энэ слайд нэгдэн орсон огноог мэдээлээгүй.</a:t>
            </a:r>
          </a:p>
          <a:p/>
          <a:p>
            <a:r>
              <a:t>Огноонууд нь олон улсын баримт бичгийг баталсан өдөр; Монгол Улс нэгдсэн огноо биш.</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"timeline",</a:t>
            </a:r>
          </a:p>
          <a:p>
            <a:r>
              <a:t>  "section": "03 / ОЛОН УЛСЫН СТАНДАРТ",</a:t>
            </a:r>
          </a:p>
          <a:p>
            <a:r>
              <a:t>  "title": "Олон улсын эрх зүйн гол үе шатууд",</a:t>
            </a:r>
          </a:p>
          <a:p>
            <a:r>
              <a:t>  "events": [</a:t>
            </a:r>
          </a:p>
          <a:p>
            <a:r>
              <a:t>    [</a:t>
            </a:r>
          </a:p>
          <a:p>
            <a:r>
              <a:t>      "1948.12.10",</a:t>
            </a:r>
          </a:p>
          <a:p>
            <a:r>
              <a:t>      "Түгээмэл тунхаглал",</a:t>
            </a:r>
          </a:p>
          <a:p>
            <a:r>
              <a:t>      "Хүн бүрийн нэр төр, суурь эрх"</a:t>
            </a:r>
          </a:p>
          <a:p>
            <a:r>
              <a:t>    ],</a:t>
            </a:r>
          </a:p>
          <a:p>
            <a:r>
              <a:t>    [</a:t>
            </a:r>
          </a:p>
          <a:p>
            <a:r>
              <a:t>      "1966.12.16",</a:t>
            </a:r>
          </a:p>
          <a:p>
            <a:r>
              <a:t>      "Хоёр олон улсын пакт",</a:t>
            </a:r>
          </a:p>
          <a:p>
            <a:r>
              <a:t>      "Иргэний ба нийгэм, эдийн засгийн эрх"</a:t>
            </a:r>
          </a:p>
          <a:p>
            <a:r>
              <a:t>    ],</a:t>
            </a:r>
          </a:p>
          <a:p>
            <a:r>
              <a:t>    [</a:t>
            </a:r>
          </a:p>
          <a:p>
            <a:r>
              <a:t>      "1989.11.20",</a:t>
            </a:r>
          </a:p>
          <a:p>
            <a:r>
              <a:t>      "Хүүхдийн эрхийн конвенц",</a:t>
            </a:r>
          </a:p>
          <a:p>
            <a:r>
              <a:t>      "Хүүхдийн хамгаалалт, хөгжил"</a:t>
            </a:r>
          </a:p>
          <a:p>
            <a:r>
              <a:t>    ],</a:t>
            </a:r>
          </a:p>
          <a:p>
            <a:r>
              <a:t>    [</a:t>
            </a:r>
          </a:p>
          <a:p>
            <a:r>
              <a:t>      "2006.12.13",</a:t>
            </a:r>
          </a:p>
          <a:p>
            <a:r>
              <a:t>      "ХБХ-ийн эрхийн конвенц",</a:t>
            </a:r>
          </a:p>
          <a:p>
            <a:r>
              <a:t>      "Хүртээмж ба тэгш оролцоо"</a:t>
            </a:r>
          </a:p>
          <a:p>
            <a:r>
              <a:t>    ],</a:t>
            </a:r>
          </a:p>
          <a:p>
            <a:r>
              <a:t>    [</a:t>
            </a:r>
          </a:p>
          <a:p>
            <a:r>
              <a:t>      "2015.09.25",</a:t>
            </a:r>
          </a:p>
          <a:p>
            <a:r>
              <a:t>      "ТХЗ • 2030 хөтөлбөр",</a:t>
            </a:r>
          </a:p>
          <a:p>
            <a:r>
              <a:t>      "Ядуурал, тэгш бус байдлыг бууруулах"</a:t>
            </a:r>
          </a:p>
          <a:p>
            <a:r>
              <a:t>    ]</a:t>
            </a:r>
          </a:p>
          <a:p>
            <a:r>
              <a:t>  ],</a:t>
            </a:r>
          </a:p>
          <a:p>
            <a:r>
              <a:t>  "take": "Огноонууд нь олон улсын баримт бичгийг баталсан өдөр; Монгол Улс нэгдсэн огноо биш.",</a:t>
            </a:r>
          </a:p>
          <a:p>
            <a:r>
              <a:t>  "sources": [</a:t>
            </a:r>
          </a:p>
          <a:p>
            <a:r>
              <a:t>    "UDHR",</a:t>
            </a:r>
          </a:p>
          <a:p>
            <a:r>
              <a:t>    "ICESCR",</a:t>
            </a:r>
          </a:p>
          <a:p>
            <a:r>
              <a:t>    "ICCPR",</a:t>
            </a:r>
          </a:p>
          <a:p>
            <a:r>
              <a:t>    "CRC",</a:t>
            </a:r>
          </a:p>
          <a:p>
            <a:r>
              <a:t>    "CRPD",</a:t>
            </a:r>
          </a:p>
          <a:p>
            <a:r>
              <a:t>    "SDG"</a:t>
            </a:r>
          </a:p>
          <a:p>
            <a:r>
              <a:t>  ]</a:t>
            </a:r>
          </a:p>
          <a:p>
            <a:r>
              <a:t>}</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Тунхаглалыг НҮБ-ын Ерөнхий Ассамблей 217 A (III) тогтоолоор баталсан. Энэ баримт бичгийн бүх заалтыг дангаар нь “шууд хэрэгжих олон улсын гэрээний хууль” гэж тайлбарлаж болохгүй. Хожмын гэрээ, үндэсний хууль, шүүхийн практикт үзүүлсэн нөлөөг нь тайлбарлана.</a:t>
            </a:r>
          </a:p>
          <a:p/>
          <a:p>
            <a:r>
              <a:t>Түгээмэл тунхаглал нь гэрээ биш; хүний эрхийн нийтлэг стандартын суурь баримт бичиг.</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"03 / ТҮГЭЭМЭЛ ТУНХАГЛАЛ",</a:t>
            </a:r>
          </a:p>
          <a:p>
            <a:r>
              <a:t>  "title": "1948.12.10 • Нэр төртэй амьдрах суурь стандарт",</a:t>
            </a:r>
          </a:p>
          <a:p>
            <a:r>
              <a:t>  "headers": [</a:t>
            </a:r>
          </a:p>
          <a:p>
            <a:r>
              <a:t>    "UDHR-ийн зүйл",</a:t>
            </a:r>
          </a:p>
          <a:p>
            <a:r>
              <a:t>    "Хамгаалж буй эрх",</a:t>
            </a:r>
          </a:p>
          <a:p>
            <a:r>
              <a:t>    "Ядууралтай холбоо"</a:t>
            </a:r>
          </a:p>
          <a:p>
            <a:r>
              <a:t>  ],</a:t>
            </a:r>
          </a:p>
          <a:p>
            <a:r>
              <a:t>  "rows": [</a:t>
            </a:r>
          </a:p>
          <a:p>
            <a:r>
              <a:t>    [</a:t>
            </a:r>
          </a:p>
          <a:p>
            <a:r>
              <a:t>      "1, 2",</a:t>
            </a:r>
          </a:p>
          <a:p>
            <a:r>
              <a:t>      "Эрх тэгш байдал; ялгаварлан гадуурхахгүй байх",</a:t>
            </a:r>
          </a:p>
          <a:p>
            <a:r>
              <a:t>      "Бага орлогыг доромжлох үндэслэл болгохгүй"</a:t>
            </a:r>
          </a:p>
          <a:p>
            <a:r>
              <a:t>    ],</a:t>
            </a:r>
          </a:p>
          <a:p>
            <a:r>
              <a:t>    [</a:t>
            </a:r>
          </a:p>
          <a:p>
            <a:r>
              <a:t>      "22",</a:t>
            </a:r>
          </a:p>
          <a:p>
            <a:r>
              <a:t>      "Нийгмийн хамгаалал",</a:t>
            </a:r>
          </a:p>
          <a:p>
            <a:r>
              <a:t>      "Эрсдэлд орсон үед баталгаатай дэмжлэг"</a:t>
            </a:r>
          </a:p>
          <a:p>
            <a:r>
              <a:t>    ],</a:t>
            </a:r>
          </a:p>
          <a:p>
            <a:r>
              <a:t>    [</a:t>
            </a:r>
          </a:p>
          <a:p>
            <a:r>
              <a:t>      "23",</a:t>
            </a:r>
          </a:p>
          <a:p>
            <a:r>
              <a:t>      "Хөдөлмөр; шударга, таатай цалин хөлс",</a:t>
            </a:r>
          </a:p>
          <a:p>
            <a:r>
              <a:t>      "Ажилтай ч ядуурах эрсдэлийг авч үзнэ"</a:t>
            </a:r>
          </a:p>
          <a:p>
            <a:r>
              <a:t>    ],</a:t>
            </a:r>
          </a:p>
          <a:p>
            <a:r>
              <a:t>    [</a:t>
            </a:r>
          </a:p>
          <a:p>
            <a:r>
              <a:t>      "25",</a:t>
            </a:r>
          </a:p>
          <a:p>
            <a:r>
              <a:t>      "Зохистой амьжиргаа; хоол, орон байр, эрүүл мэнд",</a:t>
            </a:r>
          </a:p>
          <a:p>
            <a:r>
              <a:t>      "Амьдралын суурь хэрэгцээг эрхтэй холбох"</a:t>
            </a:r>
          </a:p>
          <a:p>
            <a:r>
              <a:t>    ],</a:t>
            </a:r>
          </a:p>
          <a:p>
            <a:r>
              <a:t>    [</a:t>
            </a:r>
          </a:p>
          <a:p>
            <a:r>
              <a:t>      "26",</a:t>
            </a:r>
          </a:p>
          <a:p>
            <a:r>
              <a:t>      "Боловсрол",</a:t>
            </a:r>
          </a:p>
          <a:p>
            <a:r>
              <a:t>      "Бага шатны боловсрол үнэ төлбөргүй, заавал байх"</a:t>
            </a:r>
          </a:p>
          <a:p>
            <a:r>
              <a:t>    ]</a:t>
            </a:r>
          </a:p>
          <a:p>
            <a:r>
              <a:t>  ],</a:t>
            </a:r>
          </a:p>
          <a:p>
            <a:r>
              <a:t>  "take": "Түгээмэл тунхаглал нь гэрээ биш; хүний эрхийн нийтлэг стандартын суурь баримт бичиг.",</a:t>
            </a:r>
          </a:p>
          <a:p>
            <a:r>
              <a:t>  "sources": [</a:t>
            </a:r>
          </a:p>
          <a:p>
            <a:r>
              <a:t>    "UDHR"</a:t>
            </a:r>
          </a:p>
          <a:p>
            <a:r>
              <a:t>  ]</a:t>
            </a:r>
          </a:p>
          <a:p>
            <a:r>
              <a:t>}</a:t>
            </a:r>
          </a:p>
          <a:p/>
          <a:p>
            <a:r>
              <a:t>ЭХ СУРВАЛЖ:</a:t>
            </a:r>
          </a:p>
          <a:p>
            <a:r>
              <a:t>[UDHR] Хүний эрхийн түгээмэл тунхаглал — 1948.12.10</a:t>
            </a:r>
          </a:p>
          <a:p>
            <a:r>
              <a:t>https://www.ohchr.org/en/human-rights/universal-declaration/translations/mongolian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ICESCR-ийн 2.1-д улс дангаараа болон олон улсын тусламж, хамтын ажиллагаагаар нөөц боломжоо дээд хэмжээгээр ашиглан арга хэмжээ авахыг заасан. CESCR-ийн Ерөнхий тайлбар №3 (1990.12.14) нь даруй авах арга хэмжээ болон эрхийн наад захын цөм үүргийг тайлбарладаг. Ерөнхий тайлбар нь пактын өөрийнх нь шинэ зүйл биш.</a:t>
            </a:r>
          </a:p>
          <a:p/>
          <a:p>
            <a:r>
              <a:t>Хүчин төгөлдөр болсон: 1976.01.03. Нөөц хязгаарлагдмал ч бодит алхам хийх үүрэг хэвээр.</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"03 / ЭДИЙН ЗАСАГ, НИЙГМИЙН ЭРХ",</a:t>
            </a:r>
          </a:p>
          <a:p>
            <a:r>
              <a:t>  "title": "1966.12.16 • ICESCR ямар хамгаалалт тогтоодог вэ?",</a:t>
            </a:r>
          </a:p>
          <a:p>
            <a:r>
              <a:t>  "headers": [</a:t>
            </a:r>
          </a:p>
          <a:p>
            <a:r>
              <a:t>    "Зүйл",</a:t>
            </a:r>
          </a:p>
          <a:p>
            <a:r>
              <a:t>    "Эрхийн агуулга",</a:t>
            </a:r>
          </a:p>
          <a:p>
            <a:r>
              <a:t>    "Бодлогын жишээ"</a:t>
            </a:r>
          </a:p>
          <a:p>
            <a:r>
              <a:t>  ],</a:t>
            </a:r>
          </a:p>
          <a:p>
            <a:r>
              <a:t>  "rows": [</a:t>
            </a:r>
          </a:p>
          <a:p>
            <a:r>
              <a:t>    [</a:t>
            </a:r>
          </a:p>
          <a:p>
            <a:r>
              <a:t>      "2.1; 2.2",</a:t>
            </a:r>
          </a:p>
          <a:p>
            <a:r>
              <a:t>      "Дэвшилттэй хэрэгжилт; ялгаварлалгүй байдал",</a:t>
            </a:r>
          </a:p>
          <a:p>
            <a:r>
              <a:t>      "Нөөц ба хэрэгжилтийн ахицыг тайлагнах"</a:t>
            </a:r>
          </a:p>
          <a:p>
            <a:r>
              <a:t>    ],</a:t>
            </a:r>
          </a:p>
          <a:p>
            <a:r>
              <a:t>    [</a:t>
            </a:r>
          </a:p>
          <a:p>
            <a:r>
              <a:t>      "6; 7",</a:t>
            </a:r>
          </a:p>
          <a:p>
            <a:r>
              <a:t>      "Хөдөлмөрлөх; шударга, таатай нөхцөл",</a:t>
            </a:r>
          </a:p>
          <a:p>
            <a:r>
              <a:t>      "Аюулгүй ажлын байр, зохистой цалин"</a:t>
            </a:r>
          </a:p>
          <a:p>
            <a:r>
              <a:t>    ],</a:t>
            </a:r>
          </a:p>
          <a:p>
            <a:r>
              <a:t>    [</a:t>
            </a:r>
          </a:p>
          <a:p>
            <a:r>
              <a:t>      "9",</a:t>
            </a:r>
          </a:p>
          <a:p>
            <a:r>
              <a:t>      "Нийгмийн хамгаалал, нийгмийн даатгал",</a:t>
            </a:r>
          </a:p>
          <a:p>
            <a:r>
              <a:t>      "Өндөр нас, ажилгүйдэл, бусад эрсдэлийн хамгаалалт"</a:t>
            </a:r>
          </a:p>
          <a:p>
            <a:r>
              <a:t>    ],</a:t>
            </a:r>
          </a:p>
          <a:p>
            <a:r>
              <a:t>    [</a:t>
            </a:r>
          </a:p>
          <a:p>
            <a:r>
              <a:t>      "11",</a:t>
            </a:r>
          </a:p>
          <a:p>
            <a:r>
              <a:t>      "Зохистой амьжиргаа; өлсгөлөнгөөс ангид байх",</a:t>
            </a:r>
          </a:p>
          <a:p>
            <a:r>
              <a:t>      "Хоол хүнс, хувцас, орон байрны бодлого"</a:t>
            </a:r>
          </a:p>
          <a:p>
            <a:r>
              <a:t>    ],</a:t>
            </a:r>
          </a:p>
          <a:p>
            <a:r>
              <a:t>    [</a:t>
            </a:r>
          </a:p>
          <a:p>
            <a:r>
              <a:t>      "12; 13",</a:t>
            </a:r>
          </a:p>
          <a:p>
            <a:r>
              <a:t>      "Эрүүл мэнд; боловсрол",</a:t>
            </a:r>
          </a:p>
          <a:p>
            <a:r>
              <a:t>      "Хүртээмжтэй анхан шатны тусламж, боловсрол"</a:t>
            </a:r>
          </a:p>
          <a:p>
            <a:r>
              <a:t>    ]</a:t>
            </a:r>
          </a:p>
          <a:p>
            <a:r>
              <a:t>  ],</a:t>
            </a:r>
          </a:p>
          <a:p>
            <a:r>
              <a:t>  "take": "Хүчин төгөлдөр болсон: 1976.01.03. Нөөц хязгаарлагдмал ч бодит алхам хийх үүрэг хэвээр.",</a:t>
            </a:r>
          </a:p>
          <a:p>
            <a:r>
              <a:t>  "sources": [</a:t>
            </a:r>
          </a:p>
          <a:p>
            <a:r>
              <a:t>    "ICESCR",</a:t>
            </a:r>
          </a:p>
          <a:p>
            <a:r>
              <a:t>    "GC3"</a:t>
            </a:r>
          </a:p>
          <a:p>
            <a:r>
              <a:t>  ]</a:t>
            </a:r>
          </a:p>
          <a:p>
            <a:r>
              <a:t>}</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ICCPR нь Иргэний болон улс төрийн эрхийн тухай олон улсын пактын товчлол. 14.3(d)-ийн үнэ төлбөргүй хууль зүйн туслалцааны нөхцөл нь эрүүгийн яллагдагчид хамаардаг; бүх иргэний болон захиргааны маргаанд автоматаар үнэ төлбөргүй өмгөөлөгч олгоно гэж тайлбарлаж болохгүй. 25 дугаар зүйлийн оролцооны эрх нь иргэдэд хамаарах тусгай зохицуулалт. 26 дугаар зүйл дэх тэгш хамгаалалт болон 2.3 дахь үр нөлөөтэй эрх сэргээх арга хэрэгсэл нь хүртээмжтэй хамгаалалтын үндэс болдог.</a:t>
            </a:r>
          </a:p>
          <a:p/>
          <a:p>
            <a:r>
              <a:t>Хүчин төгөлдөр: 1976.03.23. Орлогоос үл хамаарах хамгаалалт нь нийгмийн эрхээ шаардах боломжийг дэмжинэ.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"03 / ИРГЭНИЙ БОЛОН УЛС ТӨРИЙН ЭРХ",</a:t>
            </a:r>
          </a:p>
          <a:p>
            <a:r>
              <a:t>  "title": "1966.12.16 • Ядуу хүн ч дуу хоолой, хамгаалалттай",</a:t>
            </a:r>
          </a:p>
          <a:p>
            <a:r>
              <a:t>  "cards": [</a:t>
            </a:r>
          </a:p>
          <a:p>
            <a:r>
              <a:t>    [</a:t>
            </a:r>
          </a:p>
          <a:p>
            <a:r>
              <a:t>      "Хуулийн өмнө тэгш",</a:t>
            </a:r>
          </a:p>
          <a:p>
            <a:r>
              <a:t>      "ICCPR-ийн 26 дугаар зүйл: хүн бүр хуулийн өмнө тэгш; эд хөрөнгө болон бусад байдлаар ялгаварлахгүй, тэгш хамгаалуулах."</a:t>
            </a:r>
          </a:p>
          <a:p>
            <a:r>
              <a:t>    ],</a:t>
            </a:r>
          </a:p>
          <a:p>
            <a:r>
              <a:t>    [</a:t>
            </a:r>
          </a:p>
          <a:p>
            <a:r>
              <a:t>      "Шүүхэд хүрэх боломж",</a:t>
            </a:r>
          </a:p>
          <a:p>
            <a:r>
              <a:t>      "14.1 — шүүхийн өмнө тэгш байх.\n14.3(d) — эрүүгийн хэрэгт шударга ёсны шаардлагаар, төлбөрийн чадваргүй бол үнэ төлбөргүй өмгөөлөл."</a:t>
            </a:r>
          </a:p>
          <a:p>
            <a:r>
              <a:t>    ],</a:t>
            </a:r>
          </a:p>
          <a:p>
            <a:r>
              <a:t>    [</a:t>
            </a:r>
          </a:p>
          <a:p>
            <a:r>
              <a:t>      "Оролцох эрх",</a:t>
            </a:r>
          </a:p>
          <a:p>
            <a:r>
              <a:t>      "25 дугаар зүйл: иргэд төрийн хэрэгт оролцох, сонгох, сонгогдох боломжтой. Ядуурал нь иргэний дуу хоолойг үгүйсгэх үндэслэл биш."</a:t>
            </a:r>
          </a:p>
          <a:p>
            <a:r>
              <a:t>    ]</a:t>
            </a:r>
          </a:p>
          <a:p>
            <a:r>
              <a:t>  ],</a:t>
            </a:r>
          </a:p>
          <a:p>
            <a:r>
              <a:t>  "take": "Хүчин төгөлдөр: 1976.03.23. Орлогоос үл хамаарах хамгаалалт нь нийгмийн эрхээ шаардах боломжийг дэмжинэ.",</a:t>
            </a:r>
          </a:p>
          <a:p>
            <a:r>
              <a:t>  "sources": [</a:t>
            </a:r>
          </a:p>
          <a:p>
            <a:r>
              <a:t>    "ICCPR"</a:t>
            </a:r>
          </a:p>
          <a:p>
            <a:r>
              <a:t>  ]</a:t>
            </a:r>
          </a:p>
          <a:p>
            <a:r>
              <a:t>}</a:t>
            </a:r>
          </a:p>
          <a:p/>
          <a:p>
            <a:r>
              <a:t>ЭХ СУРВАЛЖ:</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Хүндэтгэх–хамгаалах–хангах нь хүний эрхийн үүргийг задлан тайлбарлах нийтлэг хүрээ. Пактын бүх үүрэг нэгэн зэрэг бүрэн үр дүнд хүрэх шаардлага гэсэн үг биш. Харин ялгаварлан гадуурхахгүй байх, бодитой зорилтот арга хэмжээ авах зэрэг үүргийг зөвхөн ирээдүйд хойшлуулж болохгүй.</a:t>
            </a:r>
          </a:p>
          <a:p/>
          <a:p>
            <a:r>
              <a:t>“Төсөв хүрэхгүй” гэдэг тайлбар нь ялгаварлал, дур зоргын шийдвэрийг зөвтгөхгүй.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"03 / ТӨРИЙН ҮҮРЭГ",</a:t>
            </a:r>
          </a:p>
          <a:p>
            <a:r>
              <a:t>  "title": "Төрийн үүргийг гурван түвшинд шалгана",</a:t>
            </a:r>
          </a:p>
          <a:p>
            <a:r>
              <a:t>  "cards": [</a:t>
            </a:r>
          </a:p>
          <a:p>
            <a:r>
              <a:t>    [</a:t>
            </a:r>
          </a:p>
          <a:p>
            <a:r>
              <a:t>      "Хүндэтгэх",</a:t>
            </a:r>
          </a:p>
          <a:p>
            <a:r>
              <a:t>      "Төр өөрөө эрхэд үндэслэлгүй халдахгүй. Жишээ: хууль ёсны хамгаалалтгүй албадан нүүлгэхээс зайлсхийх."</a:t>
            </a:r>
          </a:p>
          <a:p>
            <a:r>
              <a:t>    ],</a:t>
            </a:r>
          </a:p>
          <a:p>
            <a:r>
              <a:t>    [</a:t>
            </a:r>
          </a:p>
          <a:p>
            <a:r>
              <a:t>      "Хамгаалах",</a:t>
            </a:r>
          </a:p>
          <a:p>
            <a:r>
              <a:t>      "Гуравдагч этгээдийн зөрчлөөс хамгаална. Жишээ: ажил олгогчийн ялгаварлал, аюултай нөхцөлд хяналт тавих."</a:t>
            </a:r>
          </a:p>
          <a:p>
            <a:r>
              <a:t>    ],</a:t>
            </a:r>
          </a:p>
          <a:p>
            <a:r>
              <a:t>    [</a:t>
            </a:r>
          </a:p>
          <a:p>
            <a:r>
              <a:t>      "Хангах",</a:t>
            </a:r>
          </a:p>
          <a:p>
            <a:r>
              <a:t>      "Хууль, төсөв, үйлчилгээ, хүртээмжийг бүрдүүлнэ. Жишээ: анхан шатны тусламж, нийгмийн хамгаалалд бодит хүрэх боломж."</a:t>
            </a:r>
          </a:p>
          <a:p>
            <a:r>
              <a:t>    ]</a:t>
            </a:r>
          </a:p>
          <a:p>
            <a:r>
              <a:t>  ],</a:t>
            </a:r>
          </a:p>
          <a:p>
            <a:r>
              <a:t>  "take": "“Төсөв хүрэхгүй” гэдэг тайлбар нь ялгаварлал, дур зоргын шийдвэрийг зөвтгөхгүй.",</a:t>
            </a:r>
          </a:p>
          <a:p>
            <a:r>
              <a:t>  "sources": [</a:t>
            </a:r>
          </a:p>
          <a:p>
            <a:r>
              <a:t>    "ICESCR",</a:t>
            </a:r>
          </a:p>
          <a:p>
            <a:r>
              <a:t>    "GC3"</a:t>
            </a:r>
          </a:p>
          <a:p>
            <a:r>
              <a:t>  ]</a:t>
            </a:r>
          </a:p>
          <a:p>
            <a:r>
              <a:t>}</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Ядуурал, хүйс, хөгжлийн бэрхшээл, оршин суугаа газар зэрэг хүчин зүйл давхцахад үйлчилгээний саад нэмэгдэж болно. Гэхдээ эдгээр бүлгийн бүх хүнийг автоматаар “ядуу” гэж ангилахгүй. Хэрэгцээний бодит үнэлгээ, хувийн сонголт, оролцоог хүндэтгэх нь чухал.</a:t>
            </a:r>
          </a:p>
          <a:p/>
          <a:p>
            <a:r>
              <a:t>Нэг хүнд хэд хэдэн саад давхцаж болно. Ижил үйлчилгээ бүх хүнд ижил үр дүн өгөхгүй.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"03 / ОГТЛОЛЦСОН ЭМЗЭГ БАЙДАЛ",</a:t>
            </a:r>
          </a:p>
          <a:p>
            <a:r>
              <a:t>  "title": "Хүүхэд, эмэгтэйчүүд, хөгжлийн бэрхшээлтэй хүн",</a:t>
            </a:r>
          </a:p>
          <a:p>
            <a:r>
              <a:t>  "headers": [</a:t>
            </a:r>
          </a:p>
          <a:p>
            <a:r>
              <a:t>    "Конвенц • баталсан өдөр",</a:t>
            </a:r>
          </a:p>
          <a:p>
            <a:r>
              <a:t>    "Холбогдох зүйл",</a:t>
            </a:r>
          </a:p>
          <a:p>
            <a:r>
              <a:t>    "Ямар саадыг шийдэх вэ?"</a:t>
            </a:r>
          </a:p>
          <a:p>
            <a:r>
              <a:t>  ],</a:t>
            </a:r>
          </a:p>
          <a:p>
            <a:r>
              <a:t>  "rows": [</a:t>
            </a:r>
          </a:p>
          <a:p>
            <a:r>
              <a:t>    [</a:t>
            </a:r>
          </a:p>
          <a:p>
            <a:r>
              <a:t>      "CRC • 1989.11.20",</a:t>
            </a:r>
          </a:p>
          <a:p>
            <a:r>
              <a:t>      "2 — ялгаварлахгүй; 3 — дээд ашиг сонирхол; 26, 27 — хамгаалал, амьжиргаа",</a:t>
            </a:r>
          </a:p>
          <a:p>
            <a:r>
              <a:t>      "Өрхийн ядуурлаас шалтгаалсан хүүхдийн хомсдол"</a:t>
            </a:r>
          </a:p>
          <a:p>
            <a:r>
              <a:t>    ],</a:t>
            </a:r>
          </a:p>
          <a:p>
            <a:r>
              <a:t>    [</a:t>
            </a:r>
          </a:p>
          <a:p>
            <a:r>
              <a:t>      "CEDAW • 1979.12.18",</a:t>
            </a:r>
          </a:p>
          <a:p>
            <a:r>
              <a:t>      "11 — хөдөлмөр; 12 — эрүүл мэнд; 14 — хөдөөгийн эмэгтэйчүүд",</a:t>
            </a:r>
          </a:p>
          <a:p>
            <a:r>
              <a:t>      "Асаргааны ачаалал, ажлын ба үйлчилгээний тэгш бус байдал"</a:t>
            </a:r>
          </a:p>
          <a:p>
            <a:r>
              <a:t>    ],</a:t>
            </a:r>
          </a:p>
          <a:p>
            <a:r>
              <a:t>    [</a:t>
            </a:r>
          </a:p>
          <a:p>
            <a:r>
              <a:t>      "CRPD • 2006.12.13",</a:t>
            </a:r>
          </a:p>
          <a:p>
            <a:r>
              <a:t>      "9 — хүртээмж; 24 — боловсрол; 27 — ажил; 28 — амьжиргаа, хамгаалал",</a:t>
            </a:r>
          </a:p>
          <a:p>
            <a:r>
              <a:t>      "Биеийн орчин, мэдээлэл, ажилд оролцох саад"</a:t>
            </a:r>
          </a:p>
          <a:p>
            <a:r>
              <a:t>    ]</a:t>
            </a:r>
          </a:p>
          <a:p>
            <a:r>
              <a:t>  ],</a:t>
            </a:r>
          </a:p>
          <a:p>
            <a:r>
              <a:t>  "take": "Нэг хүнд хэд хэдэн саад давхцаж болно. Ижил үйлчилгээ бүх хүнд ижил үр дүн өгөхгүй.",</a:t>
            </a:r>
          </a:p>
          <a:p>
            <a:r>
              <a:t>  "sources": [</a:t>
            </a:r>
          </a:p>
          <a:p>
            <a:r>
              <a:t>    "CRC",</a:t>
            </a:r>
          </a:p>
          <a:p>
            <a:r>
              <a:t>    "CEDAW",</a:t>
            </a:r>
          </a:p>
          <a:p>
            <a:r>
              <a:t>    "CRPD"</a:t>
            </a:r>
          </a:p>
          <a:p>
            <a:r>
              <a:t>  ]</a:t>
            </a:r>
          </a:p>
          <a:p>
            <a:r>
              <a:t>}</a:t>
            </a:r>
          </a:p>
          <a:p/>
          <a:p>
            <a:r>
              <a:t>ЭХ СУРВАЛЖ:</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слайдын эрсдэлийн жагсаалт нь Монгол дахь давтамжийг хэмжсэн статистик биш. Хөдөлмөрийн харилцаа байгаа эсэх, гэрээний төрөл, даатгалын үүргийг бодит баримтаар тогтооно. Хамгийн бага цалингийн хувьсах хэмжээг баталгаажаагүй тул энд дурдаагүй.</a:t>
            </a:r>
          </a:p>
          <a:p/>
          <a:p>
            <a:r>
              <a:t>Шийдэл: зохистой нөхцөл + хэрэгжих хяналт + ажилтны гомдол гаргах аюулгүй боломж.</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"04 / ХӨДӨЛМӨР",</a:t>
            </a:r>
          </a:p>
          <a:p>
            <a:r>
              <a:t>  "title": "Ажилтай байх нь дангаараа ядуурлаас хамгаалахгүй",</a:t>
            </a:r>
          </a:p>
          <a:p>
            <a:r>
              <a:t>  "cards": [</a:t>
            </a:r>
          </a:p>
          <a:p>
            <a:r>
              <a:t>    [</a:t>
            </a:r>
          </a:p>
          <a:p>
            <a:r>
              <a:t>      "Эрхийн тулгуур",</a:t>
            </a:r>
          </a:p>
          <a:p>
            <a:r>
              <a:t>      "Үндсэн хууль • 1992.01.13: 16.4.\nХөдөлмөрийн тухай хууль • 2021.07.02: 6 дугаар зүйл.\nICESCR • 1966.12.16: 6, 7 дугаар зүйл."</a:t>
            </a:r>
          </a:p>
          <a:p>
            <a:r>
              <a:t>    ],</a:t>
            </a:r>
          </a:p>
          <a:p>
            <a:r>
              <a:t>    [</a:t>
            </a:r>
          </a:p>
          <a:p>
            <a:r>
              <a:t>      "Эрсдэлийн цэг",</a:t>
            </a:r>
          </a:p>
          <a:p>
            <a:r>
              <a:t>      "Бага цалин, тогтворгүй цаг, албан бус ажил; хөдөлмөрийн аюулгүй байдал; даатгалын хамрагдалтын тасалдал."</a:t>
            </a:r>
          </a:p>
          <a:p>
            <a:r>
              <a:t>    ],</a:t>
            </a:r>
          </a:p>
          <a:p>
            <a:r>
              <a:t>    [</a:t>
            </a:r>
          </a:p>
          <a:p>
            <a:r>
              <a:t>      "Шалгах баримт",</a:t>
            </a:r>
          </a:p>
          <a:p>
            <a:r>
              <a:t>      "Гэрээ, ажлын цагийн бүртгэл, цалин олголт, даатгалын мэдээлэл. Хууль ёсны шаардлагыг ажилтанд ойлгомжтой тайлбарлах."</a:t>
            </a:r>
          </a:p>
          <a:p>
            <a:r>
              <a:t>    ]</a:t>
            </a:r>
          </a:p>
          <a:p>
            <a:r>
              <a:t>  ],</a:t>
            </a:r>
          </a:p>
          <a:p>
            <a:r>
              <a:t>  "take": "Шийдэл: зохистой нөхцөл + хэрэгжих хяналт + ажилтны гомдол гаргах аюулгүй боломж.",</a:t>
            </a:r>
          </a:p>
          <a:p>
            <a:r>
              <a:t>  "sources": [</a:t>
            </a:r>
          </a:p>
          <a:p>
            <a:r>
              <a:t>    "ҮХ",</a:t>
            </a:r>
          </a:p>
          <a:p>
            <a:r>
              <a:t>    "ХТ",</a:t>
            </a:r>
          </a:p>
          <a:p>
            <a:r>
              <a:t>    "ICESCR"</a:t>
            </a:r>
          </a:p>
          <a:p>
            <a:r>
              <a:t>  ]</a:t>
            </a:r>
          </a:p>
          <a:p>
            <a:r>
              <a:t>}</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Бага орлоготой хүүхэд бүр сургууль завсарддаг гэж ерөнхийлөхгүй. Шалгах асуулт нь орлогын ялгаанаас шалтгаалан ямар зардал суралцах боломжийг хязгаарлаж байгааг тогтоох юм. Боловсролын ерөнхий хуулийн хамгийн сүүлийн заалтыг хэрэглэхийн өмнө Legalinfo дахь нэгтгэсэн эхийг шалгана.</a:t>
            </a:r>
          </a:p>
          <a:p/>
          <a:p>
            <a:r>
              <a:t>Элсэлтээс гадна ирц, төгсөлт, сурлагын ахиц, гомдол шийдвэрлэлтийг хэмжинэ.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"04 / БОЛОВСРОЛ",</a:t>
            </a:r>
          </a:p>
          <a:p>
            <a:r>
              <a:t>  "title": "Төлбөргүй сургууль ≠ зардалгүй суралцах",</a:t>
            </a:r>
          </a:p>
          <a:p>
            <a:r>
              <a:t>  "cards": [</a:t>
            </a:r>
          </a:p>
          <a:p>
            <a:r>
              <a:t>    [</a:t>
            </a:r>
          </a:p>
          <a:p>
            <a:r>
              <a:t>      "Баталгаа",</a:t>
            </a:r>
          </a:p>
          <a:p>
            <a:r>
              <a:t>      "Үндсэн хууль • 1992.01.13: 16.7.\nБоловсролын ерөнхий хууль • 2023.07.07.\nCRC • 1989.11.20: 28 дугаар зүйл."</a:t>
            </a:r>
          </a:p>
          <a:p>
            <a:r>
              <a:t>    ],</a:t>
            </a:r>
          </a:p>
          <a:p>
            <a:r>
              <a:t>    [</a:t>
            </a:r>
          </a:p>
          <a:p>
            <a:r>
              <a:t>      "Далд саад",</a:t>
            </a:r>
          </a:p>
          <a:p>
            <a:r>
              <a:t>      "Тээвэр, хэрэгсэл, дотуур байр, интернет, төхөөрөмжийн зардал; асаргаа, хөдөлмөрийн ачаалал."</a:t>
            </a:r>
          </a:p>
          <a:p>
            <a:r>
              <a:t>    ],</a:t>
            </a:r>
          </a:p>
          <a:p>
            <a:r>
              <a:t>    [</a:t>
            </a:r>
          </a:p>
          <a:p>
            <a:r>
              <a:t>      "Хэрэгжүүлэх арга",</a:t>
            </a:r>
          </a:p>
          <a:p>
            <a:r>
              <a:t>      "Сургуулиас завсардах эрсдэлийг эрт илрүүлэх; хэрэгцээнд нийцсэн дэмжлэг; хүртээмжтэй сургалтын орчин."</a:t>
            </a:r>
          </a:p>
          <a:p>
            <a:r>
              <a:t>    ]</a:t>
            </a:r>
          </a:p>
          <a:p>
            <a:r>
              <a:t>  ],</a:t>
            </a:r>
          </a:p>
          <a:p>
            <a:r>
              <a:t>  "take": "Элсэлтээс гадна ирц, төгсөлт, сурлагын ахиц, гомдол шийдвэрлэлтийг хэмжинэ.",</a:t>
            </a:r>
          </a:p>
          <a:p>
            <a:r>
              <a:t>  "sources": [</a:t>
            </a:r>
          </a:p>
          <a:p>
            <a:r>
              <a:t>    "ҮХ",</a:t>
            </a:r>
          </a:p>
          <a:p>
            <a:r>
              <a:t>    "БЕХ",</a:t>
            </a:r>
          </a:p>
          <a:p>
            <a:r>
              <a:t>    "CRC"</a:t>
            </a:r>
          </a:p>
          <a:p>
            <a:r>
              <a:t>  ]</a:t>
            </a:r>
          </a:p>
          <a:p>
            <a:r>
              <a:t>}</a:t>
            </a:r>
          </a:p>
          <a:p/>
          <a:p>
            <a:r>
              <a:t>ЭХ СУРВАЛЖ:</a:t>
            </a:r>
          </a:p>
          <a:p>
            <a:r>
              <a:t>[ҮХ] Монгол Улсын Үндсэн хууль — 1992.01.13</a:t>
            </a:r>
          </a:p>
          <a:p>
            <a:r>
              <a:t>https://legalinfo.mn/mn/detail/367</a:t>
            </a:r>
          </a:p>
          <a:p>
            <a:r>
              <a:t>[БЕХ] Боловсролын ерөнхий хууль /шинэчилсэн найруулга/ — 2023.07.07</a:t>
            </a:r>
          </a:p>
          <a:p>
            <a:r>
              <a:t>https://legalinfo.mn</a:t>
            </a:r>
          </a:p>
          <a:p>
            <a:r>
              <a:t>[CRC] Хүүхдийн эрхийн тухай конвенц — 1989.11.20; хүчин төгөлдөр: 1990.09.02</a:t>
            </a:r>
          </a:p>
          <a:p>
            <a:r>
              <a:t>https://www.ohchr.org/en/instruments-mechanisms/instruments/convention-rights-child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хуулийн 16.2-ыг тусдаа орон сууц үнэгүй авах эрх гэж тайлбарлахгүй. ICESCR-ийн 11 дүгээр зүйл дэх зохистой орон байр нь үйлчилгээ, аюулгүй байдал, амьдрах нөхцөлтэй холбоотой. Эмнэлгийн тусламжийн төлбөргүй хүрээ нь дотоодын хуулиар тогтоогдоно.</a:t>
            </a:r>
          </a:p>
          <a:p/>
          <a:p>
            <a:r>
              <a:t>Эрхийг зөвхөн барилга, орны тоогоор биш бодит хэрэглэгчийн боломж, үр дүнгээр үнэлнэ.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"04 / ЭРҮҮЛ МЭНД, ОРОН БАЙР",</a:t>
            </a:r>
          </a:p>
          <a:p>
            <a:r>
              <a:t>  "title": "Эрүүл орчин ба үйлчилгээ нь суурь боломж",</a:t>
            </a:r>
          </a:p>
          <a:p>
            <a:r>
              <a:t>  "cards": [</a:t>
            </a:r>
          </a:p>
          <a:p>
            <a:r>
              <a:t>    [</a:t>
            </a:r>
          </a:p>
          <a:p>
            <a:r>
              <a:t>      "Эрүүл мэнд",</a:t>
            </a:r>
          </a:p>
          <a:p>
            <a:r>
              <a:t>      "Үндсэн хууль • 1992.01.13: 16.6.\nICESCR • 1966.12.16: 12 дугаар зүйл.\nТусламж авах зардал, зай, хугацааг хамтад нь үнэлнэ."</a:t>
            </a:r>
          </a:p>
          <a:p>
            <a:r>
              <a:t>    ],</a:t>
            </a:r>
          </a:p>
          <a:p>
            <a:r>
              <a:t>    [</a:t>
            </a:r>
          </a:p>
          <a:p>
            <a:r>
              <a:t>      "Орчин, орон байр",</a:t>
            </a:r>
          </a:p>
          <a:p>
            <a:r>
              <a:t>      "Үндсэн хууль: 16.2 — эрүүл, аюулгүй орчин.\nICESCR: 11 — зохистой амьжиргаа, орон байр.\nУс, дулаан, ариун цэвэр, аюулгүй байдлыг харна."</a:t>
            </a:r>
          </a:p>
          <a:p>
            <a:r>
              <a:t>    ],</a:t>
            </a:r>
          </a:p>
          <a:p>
            <a:r>
              <a:t>    [</a:t>
            </a:r>
          </a:p>
          <a:p>
            <a:r>
              <a:t>      "Хүртээмж",</a:t>
            </a:r>
          </a:p>
          <a:p>
            <a:r>
              <a:t>      "Үйлчилгээ байгаа эсэх → очиж чадах эсэх → төлж чадах эсэх → чанартай эсэх.\nБүртгэл, хөгжлийн бэрхшээл, тээврийн саадыг илрүүлнэ."</a:t>
            </a:r>
          </a:p>
          <a:p>
            <a:r>
              <a:t>    ]</a:t>
            </a:r>
          </a:p>
          <a:p>
            <a:r>
              <a:t>  ],</a:t>
            </a:r>
          </a:p>
          <a:p>
            <a:r>
              <a:t>  "take": "Эрхийг зөвхөн барилга, орны тоогоор биш бодит хэрэглэгчийн боломж, үр дүнгээр үнэлнэ.",</a:t>
            </a:r>
          </a:p>
          <a:p>
            <a:r>
              <a:t>  "sources": [</a:t>
            </a:r>
          </a:p>
          <a:p>
            <a:r>
              <a:t>    "ҮХ",</a:t>
            </a:r>
          </a:p>
          <a:p>
            <a:r>
              <a:t>    "ICESCR"</a:t>
            </a:r>
          </a:p>
          <a:p>
            <a:r>
              <a:t>  ]</a:t>
            </a:r>
          </a:p>
          <a:p>
            <a:r>
              <a:t>}</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Халамж ба нийгмийн даатгал нь санхүүжилт, шимтгэл, эрх үүсэх нөхцөлөөр ялгаатай. Тэтгэмжийн хэмжээ, эрх үүсэх нас, орлогын босго нь өөрчлөгдөж болох тул баталгаажаагүй дүн оруулаагүй. Жагсаалтад ил тод байдал гэдэг нь өрхийн эмзэг мэдээллийг олон нийтэд дэлгэнэ гэсэн үг биш.</a:t>
            </a:r>
          </a:p>
          <a:p/>
          <a:p>
            <a:r>
              <a:t>Зорилтот дэмжлэгийн үр ашгийг хүний нэр төр, хувийн мэдээллийн хамгаалалттай хамт үнэлнэ.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"04 / НИЙГМИЙН ХАМГААЛАЛ",</a:t>
            </a:r>
          </a:p>
          <a:p>
            <a:r>
              <a:t>  "title": "Халамжийн шийдвэр ил тод, хянуулах боломжтой байх",</a:t>
            </a:r>
          </a:p>
          <a:p>
            <a:r>
              <a:t>  "cards": [</a:t>
            </a:r>
          </a:p>
          <a:p>
            <a:r>
              <a:t>    [</a:t>
            </a:r>
          </a:p>
          <a:p>
            <a:r>
              <a:t>      "Хуулийн үндэс",</a:t>
            </a:r>
          </a:p>
          <a:p>
            <a:r>
              <a:t>      "Үндсэн хууль • 1992.01.13: 16.5.\nНийгмийн халамжийн тухай хууль • 2012.01.19.\nICESCR • 1966.12.16: 9 дүгээр зүйл."</a:t>
            </a:r>
          </a:p>
          <a:p>
            <a:r>
              <a:t>    ],</a:t>
            </a:r>
          </a:p>
          <a:p>
            <a:r>
              <a:t>    [</a:t>
            </a:r>
          </a:p>
          <a:p>
            <a:r>
              <a:t>      "Хоёр төрлийн алдаа",</a:t>
            </a:r>
          </a:p>
          <a:p>
            <a:r>
              <a:t>      "Хасагдлын алдаа: шаардлага хангасан хүн дэмжлэгээс үлдэх.\nХамрагдлын алдаа: шаардлага хангахгүй хүн хамрагдах."</a:t>
            </a:r>
          </a:p>
          <a:p>
            <a:r>
              <a:t>    ],</a:t>
            </a:r>
          </a:p>
          <a:p>
            <a:r>
              <a:t>    [</a:t>
            </a:r>
          </a:p>
          <a:p>
            <a:r>
              <a:t>      "Сайн ажиллагаа",</a:t>
            </a:r>
          </a:p>
          <a:p>
            <a:r>
              <a:t>      "Ойлгомжтой шалгуур; мэдээллээ засуулах боломж; үндэслэл бүхий шийдвэр; гомдол гаргах хүртээмжтэй суваг."</a:t>
            </a:r>
          </a:p>
          <a:p>
            <a:r>
              <a:t>    ]</a:t>
            </a:r>
          </a:p>
          <a:p>
            <a:r>
              <a:t>  ],</a:t>
            </a:r>
          </a:p>
          <a:p>
            <a:r>
              <a:t>  "take": "Зорилтот дэмжлэгийн үр ашгийг хүний нэр төр, хувийн мэдээллийн хамгаалалттай хамт үнэлнэ.",</a:t>
            </a:r>
          </a:p>
          <a:p>
            <a:r>
              <a:t>  "sources": [</a:t>
            </a:r>
          </a:p>
          <a:p>
            <a:r>
              <a:t>    "ҮХ",</a:t>
            </a:r>
          </a:p>
          <a:p>
            <a:r>
              <a:t>    "НХ",</a:t>
            </a:r>
          </a:p>
          <a:p>
            <a:r>
              <a:t>    "ICESCR"</a:t>
            </a:r>
          </a:p>
          <a:p>
            <a:r>
              <a:t>  ]</a:t>
            </a:r>
          </a:p>
          <a:p>
            <a:r>
              <a:t>}</a:t>
            </a:r>
          </a:p>
          <a:p/>
          <a:p>
            <a:r>
              <a:t>ЭХ СУРВАЛЖ:</a:t>
            </a:r>
          </a:p>
          <a:p>
            <a:r>
              <a:t>[ҮХ] Монгол Улсын Үндсэн хууль — 1992.01.13</a:t>
            </a:r>
          </a:p>
          <a:p>
            <a:r>
              <a:t>https://legalinfo.mn/mn/detail/367</a:t>
            </a:r>
          </a:p>
          <a:p>
            <a:r>
              <a:t>[НХ] Нийгмийн халамжийн тухай хууль /шинэчилсэн найруулга/ — 2012.01.19</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Хэргийн бүтэн нэр: Government of the Republic of South Africa and Others v Grootboom and Others. Үндсэн хуулийн шүүхийн шийдвэр: 2000.10.04. 26(2)-ын хүрээнд боломжит нөөцөд тулгуурласан үндэслэлтэй арга хэмжээ авах үүргийг тайлбарласан. Энэхүү шийдвэр Монголын шүүхэд шууд заавал дагах прецедент биш.</a:t>
            </a:r>
          </a:p>
          <a:p/>
          <a:p>
            <a:r>
              <a:t>Шүүх хүн бүрд нэн даруй байшин олгох ерөнхий шийдвэр гаргаагүй; бодлогын үндэслэлтэй байдлыг хянасан.</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"case",</a:t>
            </a:r>
          </a:p>
          <a:p>
            <a:r>
              <a:t>  "section": "05 / БОДИТ КЕЙС 01",</a:t>
            </a:r>
          </a:p>
          <a:p>
            <a:r>
              <a:t>  "title": "Өмнөд Африк: орон байрны бодлого хэнийг орхив?",</a:t>
            </a:r>
          </a:p>
          <a:p>
            <a:r>
              <a:t>  "date": "2000.10.04 • Grootboom • [2000] ZACC 19",</a:t>
            </a:r>
          </a:p>
          <a:p>
            <a:r>
              <a:t>  "facts": "Орон байргүй, хүнд нөхцөлд амьдарч байсан иргэд төрийн орон сууцны хөтөлбөр яаралтай хэрэгцээг нь хангахгүй байгааг шүүхэд маргасан.",</a:t>
            </a:r>
          </a:p>
          <a:p>
            <a:r>
              <a:t>  "rule": "Өмнөд Африкийн Үндсэн хууль • 1996.12.10 (гарын үсэг зурсан); 26 дугаар зүйл. Шүүх бодлого нь онцгой гачигдалтай хүмүүсийн яаралтай хэрэгцээг бодитой тусгах ёстой гэж үзсэн.",</a:t>
            </a:r>
          </a:p>
          <a:p>
            <a:r>
              <a:t>  "lesson": "Монголд авах санаа: урт хугацааны орон сууцны бодлогын хажуугаар түр хамгаалах байр, ус, ариун цэвэр зэрэг яаралтай хэрэгцээг тусад нь шийдэх.",</a:t>
            </a:r>
          </a:p>
          <a:p>
            <a:r>
              <a:t>  "take": "Шүүх хүн бүрд нэн даруй байшин олгох ерөнхий шийдвэр гаргаагүй; бодлогын үндэслэлтэй байдлыг хянасан.",</a:t>
            </a:r>
          </a:p>
          <a:p>
            <a:r>
              <a:t>  "sources": [</a:t>
            </a:r>
          </a:p>
          <a:p>
            <a:r>
              <a:t>    "GROOT"</a:t>
            </a:r>
          </a:p>
          <a:p>
            <a:r>
              <a:t>  ]</a:t>
            </a:r>
          </a:p>
          <a:p>
            <a:r>
              <a:t>}</a:t>
            </a:r>
          </a:p>
          <a:p/>
          <a:p>
            <a:r>
              <a:t>ЭХ СУРВАЛЖ:</a:t>
            </a:r>
          </a:p>
          <a:p>
            <a:r>
              <a:t>[GROOT] Government of the Republic of South Africa v Grootboom [2000] ZACC 19 — 2000.10.04</a:t>
            </a:r>
          </a:p>
          <a:p>
            <a:r>
              <a:t>https://www.saflii.org/za/cases/ZACC/2000/19.html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Хэргийн нэр: Minister of Health and Others v Treatment Action Campaign and Others (No 2). 2002.07.05. Шийдвэрийг бүх эмийг хүн бүрд үнэ төлбөргүй олгох тухай ерөнхий шийдвэр гэж тайлбарлахгүй. Гол асуудал нь эхээс хүүхдэд ХДХВ дамжихаас сэргийлэх эмийн хүртээмжид тавьсан тодорхой хязгаарлалт байв.</a:t>
            </a:r>
          </a:p>
          <a:p/>
          <a:p>
            <a:r>
              <a:t>Эрүүл мэндийн бодлогын сонголт нь эрхийн хүртээмжийг үндэслэлгүй хязгаарлаж болохгүй.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"case",</a:t>
            </a:r>
          </a:p>
          <a:p>
            <a:r>
              <a:t>  "section": "05 / БОДИТ КЕЙС 02",</a:t>
            </a:r>
          </a:p>
          <a:p>
            <a:r>
              <a:t>  "title": "Өмнөд Африк: эхээс хүүхдэд ХДХВ дамжихаас сэргийлэх",</a:t>
            </a:r>
          </a:p>
          <a:p>
            <a:r>
              <a:t>  "date": "2002.07.05 • Treatment Action Campaign • [2002] ZACC 15",</a:t>
            </a:r>
          </a:p>
          <a:p>
            <a:r>
              <a:t>  "facts": "Невирапин эмийг улсын эрүүл мэндийн салбарт зөвхөн сонгосон туршилтын цэгүүдээр хязгаарласан бодлого нь бусад эмнэлгийн эх, хүүхдийн хүртээмжийг хааж байв.",</a:t>
            </a:r>
          </a:p>
          <a:p>
            <a:r>
              <a:t>  "rule": "Өмнөд Африкийн Үндсэн хууль • 1996.12.10 (гарын үсэг зурсан); 27 дугаар зүйл. Шүүх эмнэлгийн шаардлага хангасан газруудад хэрэглэхэд саад болсон хязгаарлалтыг арилгахыг даалгасан.",</a:t>
            </a:r>
          </a:p>
          <a:p>
            <a:r>
              <a:t>  "lesson": "Монголд авах санаа: бодлогын хязгаарлалт нь нотолгоонд суурилсан уу, орлогогүй иргэдэд ямар бодит нөлөө үзүүлж байна вэ гэдгийг хянах.",</a:t>
            </a:r>
          </a:p>
          <a:p>
            <a:r>
              <a:t>  "take": "Эрүүл мэндийн бодлогын сонголт нь эрхийн хүртээмжийг үндэслэлгүй хязгаарлаж болохгүй.",</a:t>
            </a:r>
          </a:p>
          <a:p>
            <a:r>
              <a:t>  "sources": [</a:t>
            </a:r>
          </a:p>
          <a:p>
            <a:r>
              <a:t>    "TAC"</a:t>
            </a:r>
          </a:p>
          <a:p>
            <a:r>
              <a:t>  ]</a:t>
            </a:r>
          </a:p>
          <a:p>
            <a:r>
              <a:t>}</a:t>
            </a:r>
          </a:p>
          <a:p/>
          <a:p>
            <a:r>
              <a:t>ЭХ СУРВАЛЖ:</a:t>
            </a:r>
          </a:p>
          <a:p>
            <a:r>
              <a:t>[TAC] Minister of Health v Treatment Action Campaign (No 2) [2002] ZACC 15 — 2002.07.05</a:t>
            </a:r>
          </a:p>
          <a:p>
            <a:r>
              <a:t>https://www.saflii.org/za/cases/ZACC/2002/15.html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Германы Холбооны Үндсэн хуулийн шүүхийн 2010.02.09-ний шийдвэр, нэгтгэсэн хэргүүд: 1 BvL 1/09, 1 BvL 3/09, 1 BvL 4/09. Хамгаалалт нь бие махбодын амьжиргаанаас гадна нийгэм, соёл, улс төрийн амьдралд наад захын оролцоог хамарна. Германы үндэсний баталгааг Монголд шууд үйлчлэх хууль мэт хэрэглэхгүй.</a:t>
            </a:r>
          </a:p>
          <a:p/>
          <a:p>
            <a:r>
              <a:t>Шүүх нэг “зөв” мөнгөн дүн тогтоохоос илүү тооцооллын арга, үндэслэл, баталгааг шаардсан.</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"case",</a:t>
            </a:r>
          </a:p>
          <a:p>
            <a:r>
              <a:t>  "section": "05 / БОДИТ КЕЙС 03",</a:t>
            </a:r>
          </a:p>
          <a:p>
            <a:r>
              <a:t>  "title": "Герман: амьжиргааны доод хэмжээг яаж тооцох вэ?",</a:t>
            </a:r>
          </a:p>
          <a:p>
            <a:r>
              <a:t>  "date": "2010.02.09 • BVerfG • 1 BvL 1/09 нар",</a:t>
            </a:r>
          </a:p>
          <a:p>
            <a:r>
              <a:t>  "facts": "Hartz IV тогтолцооны зарим суурь тэтгэмж, ялангуяа хүүхдийн хэрэгцээний тооцоолол нь ил тод, бодит үндэслэлтэй эсэх талаар маргасан.",</a:t>
            </a:r>
          </a:p>
          <a:p>
            <a:r>
              <a:t>  "rule": "Германы Үндсэн хууль • 1949.05.23; 1(1) ба 20(1). Хүний нэр төр ба нийгмийн төрийн зарчмаас амьжиргааны наад захын баталгааг тайлбарласан.",</a:t>
            </a:r>
          </a:p>
          <a:p>
            <a:r>
              <a:t>  "lesson": "Монголд авах санаа: тэтгэмжийн хэмжээг зөвхөн улс төрийн сонголтоор бус бодит хэрэгцээ, ойлгомжтой аргачлал, тогтмол шинэчлэлээр үндэслэх.",</a:t>
            </a:r>
          </a:p>
          <a:p>
            <a:r>
              <a:t>  "take": "Шүүх нэг “зөв” мөнгөн дүн тогтоохоос илүү тооцооллын арга, үндэслэл, баталгааг шаардсан.",</a:t>
            </a:r>
          </a:p>
          <a:p>
            <a:r>
              <a:t>  "sources": [</a:t>
            </a:r>
          </a:p>
          <a:p>
            <a:r>
              <a:t>    "GER"</a:t>
            </a:r>
          </a:p>
          <a:p>
            <a:r>
              <a:t>  ]</a:t>
            </a:r>
          </a:p>
          <a:p>
            <a:r>
              <a:t>}</a:t>
            </a:r>
          </a:p>
          <a:p/>
          <a:p>
            <a:r>
              <a:t>ЭХ СУРВАЛЖ:</a:t>
            </a:r>
          </a:p>
          <a:p>
            <a:r>
              <a:t>[GER] BVerfG, 1 BvL 1/09, 1 BvL 3/09, 1 BvL 4/09 — 2010.02.09, амьжиргааны доод баталгаа</a:t>
            </a:r>
          </a:p>
          <a:p>
            <a:r>
              <a:t>https://www.bundesverfassungsgericht.de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Улс орнуудын төсвийн чадавх, хүн ам, институц, хөдөлмөрийн зах зээл өөр. Иймээс нэг орны тэтгэмжийн хэмжээг ханшаар хөрвүүлээд шууд хуулбарлах нь хангалтгүй. Харьцуулах нэгж нь эрхийн баталгаа, хэрэгжүүлэх механизм, хамрагдалт, гомдол, үр дүн байх ёстой.</a:t>
            </a:r>
          </a:p>
          <a:p/>
          <a:p>
            <a:r>
              <a:t>Энэ хүснэгт бол бодлогын харьцуулалт; улсын “хүний эрхийн чансаа” биш.</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"06 / УЛС ОРНУУДЫН ХАРЬЦУУЛАЛТ",</a:t>
            </a:r>
          </a:p>
          <a:p>
            <a:r>
              <a:t>  "title": "Ижил зорилго, өөр өөр хэрэгсэл",</a:t>
            </a:r>
          </a:p>
          <a:p>
            <a:r>
              <a:t>  "headers": [</a:t>
            </a:r>
          </a:p>
          <a:p>
            <a:r>
              <a:t>    "Улс • жишээ",</a:t>
            </a:r>
          </a:p>
          <a:p>
            <a:r>
              <a:t>    "Хамгаалалтын хэрэгсэл",</a:t>
            </a:r>
          </a:p>
          <a:p>
            <a:r>
              <a:t>    "Давуу тал / анхаарах зүйл"</a:t>
            </a:r>
          </a:p>
          <a:p>
            <a:r>
              <a:t>  ],</a:t>
            </a:r>
          </a:p>
          <a:p>
            <a:r>
              <a:t>  "rows": [</a:t>
            </a:r>
          </a:p>
          <a:p>
            <a:r>
              <a:t>    [</a:t>
            </a:r>
          </a:p>
          <a:p>
            <a:r>
              <a:t>      "Монгол • Үндсэн хууль 1992.01.13",</a:t>
            </a:r>
          </a:p>
          <a:p>
            <a:r>
              <a:t>      "Үндсэн эрх + хуульд заасан халамж, үйлчилгээ",</a:t>
            </a:r>
          </a:p>
          <a:p>
            <a:r>
              <a:t>      "Шалгуур ба бодит хүртээмжийг уялдуулах"</a:t>
            </a:r>
          </a:p>
          <a:p>
            <a:r>
              <a:t>    ],</a:t>
            </a:r>
          </a:p>
          <a:p>
            <a:r>
              <a:t>    [</a:t>
            </a:r>
          </a:p>
          <a:p>
            <a:r>
              <a:t>      "Өмнөд Африк • 1996.12.10\n(гарын үсэг зурсан)",</a:t>
            </a:r>
          </a:p>
          <a:p>
            <a:r>
              <a:t>      "Нийгмийн эрхийн хэрэгжилтэд шүүхийн хяналт",</a:t>
            </a:r>
          </a:p>
          <a:p>
            <a:r>
              <a:t>      "Бодлого гачигдалтай хүмүүсийг орхисон эсэх"</a:t>
            </a:r>
          </a:p>
          <a:p>
            <a:r>
              <a:t>    ],</a:t>
            </a:r>
          </a:p>
          <a:p>
            <a:r>
              <a:t>    [</a:t>
            </a:r>
          </a:p>
          <a:p>
            <a:r>
              <a:t>      "Герман • 1949.05.23",</a:t>
            </a:r>
          </a:p>
          <a:p>
            <a:r>
              <a:t>      "Нэр төрд нийцэх амьжиргааны доод баталгаа",</a:t>
            </a:r>
          </a:p>
          <a:p>
            <a:r>
              <a:t>      "Тэтгэмжийн тооцоолол үндэслэлтэй байх"</a:t>
            </a:r>
          </a:p>
          <a:p>
            <a:r>
              <a:t>    ],</a:t>
            </a:r>
          </a:p>
          <a:p>
            <a:r>
              <a:t>    [</a:t>
            </a:r>
          </a:p>
          <a:p>
            <a:r>
              <a:t>      "Финланд • 2017–2018 туршилт",</a:t>
            </a:r>
          </a:p>
          <a:p>
            <a:r>
              <a:t>      "Нөхцөл багатай тогтмол мөнгөн дэмжлэг",</a:t>
            </a:r>
          </a:p>
          <a:p>
            <a:r>
              <a:t>      "Туршилтын үр дүнг бүх хүн амд шууд дүгнэхгүй"</a:t>
            </a:r>
          </a:p>
          <a:p>
            <a:r>
              <a:t>    ],</a:t>
            </a:r>
          </a:p>
          <a:p>
            <a:r>
              <a:t>    [</a:t>
            </a:r>
          </a:p>
          <a:p>
            <a:r>
              <a:t>      "Бразил • хууль 2023.06.19",</a:t>
            </a:r>
          </a:p>
          <a:p>
            <a:r>
              <a:t>      "Bolsa Família: зорилтот орлогын дэмжлэг",</a:t>
            </a:r>
          </a:p>
          <a:p>
            <a:r>
              <a:t>      "Боловсрол, эрүүл мэндийн үйлчилгээтэй холбох"</a:t>
            </a:r>
          </a:p>
          <a:p>
            <a:r>
              <a:t>    ]</a:t>
            </a:r>
          </a:p>
          <a:p>
            <a:r>
              <a:t>  ],</a:t>
            </a:r>
          </a:p>
          <a:p>
            <a:r>
              <a:t>  "take": "Энэ хүснэгт бол бодлогын харьцуулалт; улсын “хүний эрхийн чансаа” биш.",</a:t>
            </a:r>
          </a:p>
          <a:p>
            <a:r>
              <a:t>  "sources": [</a:t>
            </a:r>
          </a:p>
          <a:p>
            <a:r>
              <a:t>    "ҮХ",</a:t>
            </a:r>
          </a:p>
          <a:p>
            <a:r>
              <a:t>    "GROOT",</a:t>
            </a:r>
          </a:p>
          <a:p>
            <a:r>
              <a:t>    "GER",</a:t>
            </a:r>
          </a:p>
          <a:p>
            <a:r>
              <a:t>    "FIN",</a:t>
            </a:r>
          </a:p>
          <a:p>
            <a:r>
              <a:t>    "BRA"</a:t>
            </a:r>
          </a:p>
          <a:p>
            <a:r>
              <a:t>  ]</a:t>
            </a:r>
          </a:p>
          <a:p>
            <a:r>
              <a:t>}</a:t>
            </a:r>
          </a:p>
          <a:p/>
          <a:p>
            <a:r>
              <a:t>ЭХ СУРВАЛЖ:</a:t>
            </a:r>
          </a:p>
          <a:p>
            <a:r>
              <a:t>[ҮХ] Монгол Улсын Үндсэн хууль — 1992.01.13</a:t>
            </a:r>
          </a:p>
          <a:p>
            <a:r>
              <a:t>https://legalinfo.mn/mn/detail/367</a:t>
            </a:r>
          </a:p>
          <a:p>
            <a:r>
              <a:t>[GROOT] Government of the Republic of South Africa v Grootboom [2000] ZACC 19 — 2000.10.04</a:t>
            </a:r>
          </a:p>
          <a:p>
            <a:r>
              <a:t>https://www.saflii.org/za/cases/ZACC/2000/19.html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Финландын бүх хүн амд хэрэгжүүлсэн байнгын суурь орлого биш, сонгосон ажилгүй хүмүүсийг хамарсан туршилт. Сайн сайхан байдлын хэсэг нь асуумжийн хариунд тулгуурласан тул ажиглагдсан бүх ялгааг мөнгөний шалтгаант нөлөө гэж дүгнэхгүй. Ажил эрхлэлтийн хэмжээг нарийвчлан тайлбарлахад туршилтын жил, хяналтын бүлэг, бодлогын өөрчлөлтийг салгана.</a:t>
            </a:r>
          </a:p>
          <a:p/>
          <a:p>
            <a:r>
              <a:t>Сургамж: мөнгөн дэмжлэгийн нөлөөг зөвхөн ажилд орсон тоогоор биш хүний амьдралын чанараар үнэлнэ.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"06 / ФИНЛАНДЫН ТУРШИЛТ",</a:t>
            </a:r>
          </a:p>
          <a:p>
            <a:r>
              <a:t>  "title": "Финланд: орлогын баталгаа ба сайн сайхан байдал",</a:t>
            </a:r>
          </a:p>
          <a:p>
            <a:r>
              <a:t>  "cards": [</a:t>
            </a:r>
          </a:p>
          <a:p>
            <a:r>
              <a:t>    [</a:t>
            </a:r>
          </a:p>
          <a:p>
            <a:r>
              <a:t>      "Загвар • 2017–2018",</a:t>
            </a:r>
          </a:p>
          <a:p>
            <a:r>
              <a:t>      "2,000 ажилгүй хүн; сар бүр €560. Туршилтын мөнгө нь ажилд орох эсэхээс хамааран зогсохгүй байхаар загварчилсан."</a:t>
            </a:r>
          </a:p>
          <a:p>
            <a:r>
              <a:t>    ],</a:t>
            </a:r>
          </a:p>
          <a:p>
            <a:r>
              <a:t>    [</a:t>
            </a:r>
          </a:p>
          <a:p>
            <a:r>
              <a:t>      "Юуг ажигласан бэ?",</a:t>
            </a:r>
          </a:p>
          <a:p>
            <a:r>
              <a:t>      "Kela-ийн 2020 оны тайланд амьдралын сэтгэл ханамж, эдийн засгийн аюулгүй байдлын үнэлгээ илүү сайн байсныг мэдээлсэн."</a:t>
            </a:r>
          </a:p>
          <a:p>
            <a:r>
              <a:t>    ],</a:t>
            </a:r>
          </a:p>
          <a:p>
            <a:r>
              <a:t>    [</a:t>
            </a:r>
          </a:p>
          <a:p>
            <a:r>
              <a:t>      "Хязгаарлалт",</a:t>
            </a:r>
          </a:p>
          <a:p>
            <a:r>
              <a:t>      "Ажил эрхлэлтийн нөлөө хязгаарлагдмал; хоёр дахь жилд бусад бодлогын өөрчлөлт нөлөөлсөн. Судалгааны хариу өгөх ялгааг ч харгалзана."</a:t>
            </a:r>
          </a:p>
          <a:p>
            <a:r>
              <a:t>    ]</a:t>
            </a:r>
          </a:p>
          <a:p>
            <a:r>
              <a:t>  ],</a:t>
            </a:r>
          </a:p>
          <a:p>
            <a:r>
              <a:t>  "take": "Сургамж: мөнгөн дэмжлэгийн нөлөөг зөвхөн ажилд орсон тоогоор биш хүний амьдралын чанараар үнэлнэ.",</a:t>
            </a:r>
          </a:p>
          <a:p>
            <a:r>
              <a:t>  "sources": [</a:t>
            </a:r>
          </a:p>
          <a:p>
            <a:r>
              <a:t>    "FIN"</a:t>
            </a:r>
          </a:p>
          <a:p>
            <a:r>
              <a:t>  ]</a:t>
            </a:r>
          </a:p>
          <a:p>
            <a:r>
              <a:t>}</a:t>
            </a:r>
          </a:p>
          <a:p/>
          <a:p>
            <a:r>
              <a:t>ЭХ СУРВАЛЖ:</a:t>
            </a:r>
          </a:p>
          <a:p>
            <a:r>
              <a:t>[FIN] Kela: Финландын суурь орлогын туршилт, 2017–2018; эцсийн үр дүн 2020</a:t>
            </a:r>
          </a:p>
          <a:p>
            <a:r>
              <a:t>https://www.kela.fi/basic-income-experiment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Bolsa Família нь бүх хүнд ижил мөнгө олгодог суурь орлого биш. Өрхийн бүрэлдэхүүн, орлого, хөтөлбөрийн тухайн үеийн журмаас хамаарах зохицуулалттай. Ядуурал буурсан хувь, өгөөжийн тоон дүнг баталгаажуулаагүй тул энэ слайдад шалтгаант үр дүнгийн тоо оруулаагүй.</a:t>
            </a:r>
          </a:p>
          <a:p/>
          <a:p>
            <a:r>
              <a:t>Монголд авах санаа: тэтгэмжийг үйлчилгээтэй холбохдоо тухайн үйлчилгээ бодитоор хүрдэг эсэхийг шалгана.</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"06 / БРАЗИЛЫН ЖИШЭЭ",</a:t>
            </a:r>
          </a:p>
          <a:p>
            <a:r>
              <a:t>  "title": "Bolsa Família: орлого ба үйлчилгээг холбох нь",</a:t>
            </a:r>
          </a:p>
          <a:p>
            <a:r>
              <a:t>  "cards": [</a:t>
            </a:r>
          </a:p>
          <a:p>
            <a:r>
              <a:t>    [</a:t>
            </a:r>
          </a:p>
          <a:p>
            <a:r>
              <a:t>      "Эрх зүйн огноо",</a:t>
            </a:r>
          </a:p>
          <a:p>
            <a:r>
              <a:t>      "Анхны хөтөлбөрийн хууль: №10.836 • 2004.01.09.\nШинэ хууль: №14.601 • 2023.06.19."</a:t>
            </a:r>
          </a:p>
          <a:p>
            <a:r>
              <a:t>    ],</a:t>
            </a:r>
          </a:p>
          <a:p>
            <a:r>
              <a:t>    [</a:t>
            </a:r>
          </a:p>
          <a:p>
            <a:r>
              <a:t>      "Бодлогын механизм",</a:t>
            </a:r>
          </a:p>
          <a:p>
            <a:r>
              <a:t>      "Бага орлоготой өрхөд мөнгөн дэмжлэг олгож, хүүхдийн боловсрол, эрүүл мэндийн хяналттай холбоотой нөхцөлүүдийг ашигладаг."</a:t>
            </a:r>
          </a:p>
          <a:p>
            <a:r>
              <a:t>    ],</a:t>
            </a:r>
          </a:p>
          <a:p>
            <a:r>
              <a:t>    [</a:t>
            </a:r>
          </a:p>
          <a:p>
            <a:r>
              <a:t>      "Эрхийн шүүлтүүр",</a:t>
            </a:r>
          </a:p>
          <a:p>
            <a:r>
              <a:t>      "Сургууль, эмнэлэг нь өөрөө хүртээмжгүй бол өрхийг дангаар буруутгаж болохгүй. Бүртгэл шинэчлэх, тайлбар авах, гомдол гаргах боломж чухал."</a:t>
            </a:r>
          </a:p>
          <a:p>
            <a:r>
              <a:t>    ]</a:t>
            </a:r>
          </a:p>
          <a:p>
            <a:r>
              <a:t>  ],</a:t>
            </a:r>
          </a:p>
          <a:p>
            <a:r>
              <a:t>  "take": "Монголд авах санаа: тэтгэмжийг үйлчилгээтэй холбохдоо тухайн үйлчилгээ бодитоор хүрдэг эсэхийг шалгана.",</a:t>
            </a:r>
          </a:p>
          <a:p>
            <a:r>
              <a:t>  "sources": [</a:t>
            </a:r>
          </a:p>
          <a:p>
            <a:r>
              <a:t>    "BRA"</a:t>
            </a:r>
          </a:p>
          <a:p>
            <a:r>
              <a:t>  ]</a:t>
            </a:r>
          </a:p>
          <a:p>
            <a:r>
              <a:t>}</a:t>
            </a:r>
          </a:p>
          <a:p/>
          <a:p>
            <a:r>
              <a:t>ЭХ СУРВАЛЖ:</a:t>
            </a:r>
          </a:p>
          <a:p>
            <a:r>
              <a:t>[BRA] Бразил: Lei nº 10.836 — 2004.01.09; Lei nº 14.601 — 2023.06.19</a:t>
            </a:r>
          </a:p>
          <a:p>
            <a:r>
              <a:t>https://www.planalto.gov.br/ccivil_03/_ato2023-2026/2023/lei/l14601.htm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Хэрэгжилтийн үзүүлэлт бүр тодорхой эх үүсвэр, суурь түвшин, хэмжих хугацаа, хариуцах байгууллагатай байх шаардлагатай. Эмзэг бүлгийн мэдээллийг орлого, хүйс, байршил, хөгжлийн бэрхшээлээр задалж болох ч нууцлал, жижиг бүлгийг таних эрсдэлийг тооцно. Тоон зорилтот хувь нь суурь мэдээлэлгүй тул зохиогоогүй.</a:t>
            </a:r>
          </a:p>
          <a:p/>
          <a:p>
            <a:r>
              <a:t>Эдгээр нь илтгэлийн бодлогын санал; одоо хүчин төгөлдөр хуульд бүгд заасан гэсэн үг биш.</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"07 / МОНГОЛД ХЭРЭГЖҮҮЛЭХ САНАЛ",</a:t>
            </a:r>
          </a:p>
          <a:p>
            <a:r>
              <a:t>  "title": "Эрхийг бодит болгох таван чиглэл",</a:t>
            </a:r>
          </a:p>
          <a:p>
            <a:r>
              <a:t>  "headers": [</a:t>
            </a:r>
          </a:p>
          <a:p>
            <a:r>
              <a:t>    "Санал",</a:t>
            </a:r>
          </a:p>
          <a:p>
            <a:r>
              <a:t>    "Хэрэгжүүлэх жишээ",</a:t>
            </a:r>
          </a:p>
          <a:p>
            <a:r>
              <a:t>    "Үр дүнг хэмжих үзүүлэлт"</a:t>
            </a:r>
          </a:p>
          <a:p>
            <a:r>
              <a:t>  ],</a:t>
            </a:r>
          </a:p>
          <a:p>
            <a:r>
              <a:t>  "rows": [</a:t>
            </a:r>
          </a:p>
          <a:p>
            <a:r>
              <a:t>    [</a:t>
            </a:r>
          </a:p>
          <a:p>
            <a:r>
              <a:t>      "1. Нэг цэгийн хүртээмж",</a:t>
            </a:r>
          </a:p>
          <a:p>
            <a:r>
              <a:t>      "Халамж, бүртгэл, хууль зүйн мэдээллийг холбох",</a:t>
            </a:r>
          </a:p>
          <a:p>
            <a:r>
              <a:t>      "Хүсэлт шийдвэрлэх хугацаа; давтан очилт"</a:t>
            </a:r>
          </a:p>
          <a:p>
            <a:r>
              <a:t>    ],</a:t>
            </a:r>
          </a:p>
          <a:p>
            <a:r>
              <a:t>    [</a:t>
            </a:r>
          </a:p>
          <a:p>
            <a:r>
              <a:t>      "2. Гомдлын бодит механизм",</a:t>
            </a:r>
          </a:p>
          <a:p>
            <a:r>
              <a:t>      "Шийдвэрийн үндэслэл, хянуулах сувгийг мэдээлэх",</a:t>
            </a:r>
          </a:p>
          <a:p>
            <a:r>
              <a:t>      "Хугацаандаа шийдсэн гомдлын хувь"</a:t>
            </a:r>
          </a:p>
          <a:p>
            <a:r>
              <a:t>    ],</a:t>
            </a:r>
          </a:p>
          <a:p>
            <a:r>
              <a:t>    [</a:t>
            </a:r>
          </a:p>
          <a:p>
            <a:r>
              <a:t>      "3. Суурь үйлчилгээний саад бууруулах",</a:t>
            </a:r>
          </a:p>
          <a:p>
            <a:r>
              <a:t>      "Тээвэр, хүртээмж, сургалтын далд зардлын дэмжлэг",</a:t>
            </a:r>
          </a:p>
          <a:p>
            <a:r>
              <a:t>      "Хичээлийн ирц; үйлчилгээ тасалдсан тохиолдол"</a:t>
            </a:r>
          </a:p>
          <a:p>
            <a:r>
              <a:t>    ],</a:t>
            </a:r>
          </a:p>
          <a:p>
            <a:r>
              <a:t>    [</a:t>
            </a:r>
          </a:p>
          <a:p>
            <a:r>
              <a:t>      "4. Орлогын хамгаалал",</a:t>
            </a:r>
          </a:p>
          <a:p>
            <a:r>
              <a:t>      "Эрсдэлд тохирсон дэмжлэг, хөдөлмөрийн зуучлал",</a:t>
            </a:r>
          </a:p>
          <a:p>
            <a:r>
              <a:t>      "Хамрагдалт; эрх бүхий өрхийн хасагдлын алдаа"</a:t>
            </a:r>
          </a:p>
          <a:p>
            <a:r>
              <a:t>    ],</a:t>
            </a:r>
          </a:p>
          <a:p>
            <a:r>
              <a:t>    [</a:t>
            </a:r>
          </a:p>
          <a:p>
            <a:r>
              <a:t>      "5. Төсвийн үндэслэл, оролцоо",</a:t>
            </a:r>
          </a:p>
          <a:p>
            <a:r>
              <a:t>      "Хэрэгцээнд тулгуурласан тооцоо, иргэдийн санал",</a:t>
            </a:r>
          </a:p>
          <a:p>
            <a:r>
              <a:t>      "Нийтэлсэн аргачлал; хэрэгжилтийн тайлан"</a:t>
            </a:r>
          </a:p>
          <a:p>
            <a:r>
              <a:t>    ]</a:t>
            </a:r>
          </a:p>
          <a:p>
            <a:r>
              <a:t>  ],</a:t>
            </a:r>
          </a:p>
          <a:p>
            <a:r>
              <a:t>  "take": "Эдгээр нь илтгэлийн бодлогын санал; одоо хүчин төгөлдөр хуульд бүгд заасан гэсэн үг биш.",</a:t>
            </a:r>
          </a:p>
          <a:p>
            <a:r>
              <a:t>  "sources": [</a:t>
            </a:r>
          </a:p>
          <a:p>
            <a:r>
              <a:t>    "ҮХ",</a:t>
            </a:r>
          </a:p>
          <a:p>
            <a:r>
              <a:t>    "ICESCR",</a:t>
            </a:r>
          </a:p>
          <a:p>
            <a:r>
              <a:t>    "SDG"</a:t>
            </a:r>
          </a:p>
          <a:p>
            <a:r>
              <a:t>  ]</a:t>
            </a:r>
          </a:p>
          <a:p>
            <a:r>
              <a:t>}</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ерөнхий мэдээлэл, тодорхой хэргийн хууль зүйн зөвлөгөө биш. Бүх маргаан заавал эдгээр дөрвөн алхмыг нэг ижил дарааллаар туулна гэсэн үг биш. ХЭҮК-д хандах нь шүүхэд нэхэмжлэл гаргах хугацааг автоматаар зогсооно гэж үзэхгүй. Нууц мэдээллийг илгээхдээ хамгаалж, мэргэжлийн зөвлөгөөг эрт авах нь зүйтэй.</a:t>
            </a:r>
          </a:p>
          <a:p/>
          <a:p>
            <a:r>
              <a:t>Үндсэн хууль • 1992.01.13: 16.12, 16.14. Гомдлын төрөл бүрийн журам, хугацаа өөр.</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"flow",</a:t>
            </a:r>
          </a:p>
          <a:p>
            <a:r>
              <a:t>  "section": "07 / ЭРХЭЭ ХАМГААЛАХ",</a:t>
            </a:r>
          </a:p>
          <a:p>
            <a:r>
              <a:t>  "title": "Үйлчилгээ авах боломж хаагдвал ямар дарааллаар хандах вэ?",</a:t>
            </a:r>
          </a:p>
          <a:p>
            <a:r>
              <a:t>  "steps": [</a:t>
            </a:r>
          </a:p>
          <a:p>
            <a:r>
              <a:t>    [</a:t>
            </a:r>
          </a:p>
          <a:p>
            <a:r>
              <a:t>      "Баримтжуулах",</a:t>
            </a:r>
          </a:p>
          <a:p>
            <a:r>
              <a:t>      "Хүсэлт, хариу, огноо\nТөлбөр, холбогдох баримт"</a:t>
            </a:r>
          </a:p>
          <a:p>
            <a:r>
              <a:t>    ],</a:t>
            </a:r>
          </a:p>
          <a:p>
            <a:r>
              <a:t>    [</a:t>
            </a:r>
          </a:p>
          <a:p>
            <a:r>
              <a:t>      "Үндэслэл авах",</a:t>
            </a:r>
          </a:p>
          <a:p>
            <a:r>
              <a:t>      "Татгалзсан шалтгаан\nШалгуур, хууль зүйн үндэс"</a:t>
            </a:r>
          </a:p>
          <a:p>
            <a:r>
              <a:t>    ],</a:t>
            </a:r>
          </a:p>
          <a:p>
            <a:r>
              <a:t>    [</a:t>
            </a:r>
          </a:p>
          <a:p>
            <a:r>
              <a:t>      "Хянуулах",</a:t>
            </a:r>
          </a:p>
          <a:p>
            <a:r>
              <a:t>      "Эрх бүхий байгууллага\nХЭҮК, хууль зүйн зөвлөгөө"</a:t>
            </a:r>
          </a:p>
          <a:p>
            <a:r>
              <a:t>    ],</a:t>
            </a:r>
          </a:p>
          <a:p>
            <a:r>
              <a:t>    [</a:t>
            </a:r>
          </a:p>
          <a:p>
            <a:r>
              <a:t>      "Шүүхээр хамгаалах",</a:t>
            </a:r>
          </a:p>
          <a:p>
            <a:r>
              <a:t>      "Маргааны харьяаллыг тогтоох\nХугацаа, журмыг нягтлах"</a:t>
            </a:r>
          </a:p>
          <a:p>
            <a:r>
              <a:t>    ]</a:t>
            </a:r>
          </a:p>
          <a:p>
            <a:r>
              <a:t>  ],</a:t>
            </a:r>
          </a:p>
          <a:p>
            <a:r>
              <a:t>  "take": "Үндсэн хууль • 1992.01.13: 16.12, 16.14. Гомдлын төрөл бүрийн журам, хугацаа өөр.",</a:t>
            </a:r>
          </a:p>
          <a:p>
            <a:r>
              <a:t>  "sources": [</a:t>
            </a:r>
          </a:p>
          <a:p>
            <a:r>
              <a:t>    "ҮХ"</a:t>
            </a:r>
          </a:p>
          <a:p>
            <a:r>
              <a:t>  ]</a:t>
            </a:r>
          </a:p>
          <a:p>
            <a:r>
              <a:t>}</a:t>
            </a:r>
          </a:p>
          <a:p/>
          <a:p>
            <a:r>
              <a:t>ЭХ СУРВАЛЖ:</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Дүгнэлтийг гурван асуудалтай холбож хэлнэ: мөнгөний дэмжлэг, чанартай суурь үйлчилгээ, эрхээ хамгаалах механизм. Шүүхийн кейсүүд нь бодлого хэрэгжүүлж байгаа эсэхээс гадна хэнийг орхиж байгааг хянах шаардлагатайг харуулдаг.</a:t>
            </a:r>
          </a:p>
          <a:p/>
          <a:p>
            <a:r>
              <a:t>Хэлэлцүүлэг: Монголд хамгийн түрүүнд аль саадыг арилгавал иргэдийн эрхийн бодит боломж нэмэгдэх вэ?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"08 / ДҮГНЭЛТ",</a:t>
            </a:r>
          </a:p>
          <a:p>
            <a:r>
              <a:t>  "title": "Нэр төртэй амьдрал бол бодлогын гол шалгуур",</a:t>
            </a:r>
          </a:p>
          <a:p>
            <a:r>
              <a:t>  "cards": [</a:t>
            </a:r>
          </a:p>
          <a:p>
            <a:r>
              <a:t>    [</a:t>
            </a:r>
          </a:p>
          <a:p>
            <a:r>
              <a:t>      "01  Эрх тэгш",</a:t>
            </a:r>
          </a:p>
          <a:p>
            <a:r>
              <a:t>      "Орлого бага байх нь хүний эрх, нэр төрийг бууруулахгүй. Ялгаварлалгүй байдал бол суурь шаардлага."</a:t>
            </a:r>
          </a:p>
          <a:p>
            <a:r>
              <a:t>    ],</a:t>
            </a:r>
          </a:p>
          <a:p>
            <a:r>
              <a:t>    [</a:t>
            </a:r>
          </a:p>
          <a:p>
            <a:r>
              <a:t>      "02  Бодит хүртээмж",</a:t>
            </a:r>
          </a:p>
          <a:p>
            <a:r>
              <a:t>      "Хуулийн заалт нь төсөв, үйлчилгээ, мэдээлэл, орчны хүртээмжээр дамжин бодит боломж болно."</a:t>
            </a:r>
          </a:p>
          <a:p>
            <a:r>
              <a:t>    ],</a:t>
            </a:r>
          </a:p>
          <a:p>
            <a:r>
              <a:t>    [</a:t>
            </a:r>
          </a:p>
          <a:p>
            <a:r>
              <a:t>      "03  Хариуцлага",</a:t>
            </a:r>
          </a:p>
          <a:p>
            <a:r>
              <a:t>      "Тооцоолол ил тод, шийдвэр үндэслэлтэй, гомдол хянуулах боломжтой үед хамгаалалт үр дүнтэй."</a:t>
            </a:r>
          </a:p>
          <a:p>
            <a:r>
              <a:t>    ]</a:t>
            </a:r>
          </a:p>
          <a:p>
            <a:r>
              <a:t>  ],</a:t>
            </a:r>
          </a:p>
          <a:p>
            <a:r>
              <a:t>  "take": "Хэлэлцүүлэг: Монголд хамгийн түрүүнд аль саадыг арилгавал иргэдийн эрхийн бодит боломж нэмэгдэх вэ?",</a:t>
            </a:r>
          </a:p>
          <a:p>
            <a:r>
              <a:t>  "sources": [</a:t>
            </a:r>
          </a:p>
          <a:p>
            <a:r>
              <a:t>    "ҮХ",</a:t>
            </a:r>
          </a:p>
          <a:p>
            <a:r>
              <a:t>    "UDHR",</a:t>
            </a:r>
          </a:p>
          <a:p>
            <a:r>
              <a:t>    "ICESCR"</a:t>
            </a:r>
          </a:p>
          <a:p>
            <a:r>
              <a:t>  ]</a:t>
            </a:r>
          </a:p>
          <a:p>
            <a:r>
              <a:t>}</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Огноонууд нь баримт бичгийн батлагдсан огноо. Хуулийн агуулгыг сургалтын зориулалтаар хураангуйлсан бөгөөд үгчилсэн эшлэл биш. Монголын хуулийн хамгийн сүүлийн нэмэлт, өөрчлөлт, тухайн хэрэгт хэрэглэх найруулгыг албан ёсны нэгтгэсэн эхээс дахин нягтална.</a:t>
            </a:r>
          </a:p>
          <a:p/>
          <a:p>
            <a:r>
              <a:t>Албан ёсны эх: legalinfo.mn • ohchr.org. Слайдын тайлбар хэсэгт холбогдох эх сурвалжийн холбоос бий.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"refs",</a:t>
            </a:r>
          </a:p>
          <a:p>
            <a:r>
              <a:t>  "section": "09 / ЭХ СУРВАЛЖ • 1/2",</a:t>
            </a:r>
          </a:p>
          <a:p>
            <a:r>
              <a:t>  "title": "Монголын хууль ба олон улсын баримт бичиг",</a:t>
            </a:r>
          </a:p>
          <a:p>
            <a:r>
              <a:t>  "refs": [</a:t>
            </a:r>
          </a:p>
          <a:p>
            <a:r>
              <a:t>    "ҮХ",</a:t>
            </a:r>
          </a:p>
          <a:p>
            <a:r>
              <a:t>    "ХТ",</a:t>
            </a:r>
          </a:p>
          <a:p>
            <a:r>
              <a:t>    "НХ",</a:t>
            </a:r>
          </a:p>
          <a:p>
            <a:r>
              <a:t>    "БЕХ",</a:t>
            </a:r>
          </a:p>
          <a:p>
            <a:r>
              <a:t>    "ХБХ",</a:t>
            </a:r>
          </a:p>
          <a:p>
            <a:r>
              <a:t>    "UDHR",</a:t>
            </a:r>
          </a:p>
          <a:p>
            <a:r>
              <a:t>    "ICESCR",</a:t>
            </a:r>
          </a:p>
          <a:p>
            <a:r>
              <a:t>    "ICCPR",</a:t>
            </a:r>
          </a:p>
          <a:p>
            <a:r>
              <a:t>    "CRC",</a:t>
            </a:r>
          </a:p>
          <a:p>
            <a:r>
              <a:t>    "CEDAW",</a:t>
            </a:r>
          </a:p>
          <a:p>
            <a:r>
              <a:t>    "CRPD"</a:t>
            </a:r>
          </a:p>
          <a:p>
            <a:r>
              <a:t>  ],</a:t>
            </a:r>
          </a:p>
          <a:p>
            <a:r>
              <a:t>  "take": "Албан ёсны эх: legalinfo.mn • ohchr.org. Слайдын тайлбар хэсэгт холбогдох эх сурвалжийн холбоос бий.",</a:t>
            </a:r>
          </a:p>
          <a:p>
            <a:r>
              <a:t>  "sources": []</a:t>
            </a:r>
          </a:p>
          <a:p>
            <a:r>
              <a:t>}</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Судалгааны тоо, кейсийн огноо, хэрэг дугаар нь нийтэд түгээмэл мэдээлэгдсэн баримтад тулгуурласан. Энэ орчинд эх сурвалжийн сайтуудад хандахад 403 хариу ирсэн тул сүүлийн хувилбарыг онлайн нягталсан гэж үзэхгүй. Ядуурлын график 2016–2022 оны түүхэн өгөгдөл; 2026 оны түвшин биш. Эндхүү эх сурвалжийн холбоосын зарим нь байгууллагын хайлт/нийтлэлийн нүүр хуудас тул баримт бичгийн гарчиг, огноо, хэрэг дугаараар хайна. Материалыг ашиглахын өмнө хууль, статистикийн анхдагч эхийг нягтлахыг зөвлөж байна.</a:t>
            </a:r>
          </a:p>
          <a:p/>
          <a:p>
            <a:r>
              <a:t>Хязгаарлалт: албан ёсны сайтуудад шууд нэвтрэхийг орчны сүлжээ хаасан; эхүүдийг онлайн дахин тулгаж баталгаажуулаагүй.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"refs",</a:t>
            </a:r>
          </a:p>
          <a:p>
            <a:r>
              <a:t>  "section": "09 / ЭХ СУРВАЛЖ • 2/2",</a:t>
            </a:r>
          </a:p>
          <a:p>
            <a:r>
              <a:t>  "title": "Судалгаа, шүүхийн кейс ба мэдээллийн тайлбар",</a:t>
            </a:r>
          </a:p>
          <a:p>
            <a:r>
              <a:t>  "refs": [</a:t>
            </a:r>
          </a:p>
          <a:p>
            <a:r>
              <a:t>    "POV",</a:t>
            </a:r>
          </a:p>
          <a:p>
            <a:r>
              <a:t>    "GROOT",</a:t>
            </a:r>
          </a:p>
          <a:p>
            <a:r>
              <a:t>    "TAC",</a:t>
            </a:r>
          </a:p>
          <a:p>
            <a:r>
              <a:t>    "GER",</a:t>
            </a:r>
          </a:p>
          <a:p>
            <a:r>
              <a:t>    "FIN",</a:t>
            </a:r>
          </a:p>
          <a:p>
            <a:r>
              <a:t>    "BRA",</a:t>
            </a:r>
          </a:p>
          <a:p>
            <a:r>
              <a:t>    "GC3",</a:t>
            </a:r>
          </a:p>
          <a:p>
            <a:r>
              <a:t>    "SDG"</a:t>
            </a:r>
          </a:p>
          <a:p>
            <a:r>
              <a:t>  ],</a:t>
            </a:r>
          </a:p>
          <a:p>
            <a:r>
              <a:t>  "take": "Хязгаарлалт: албан ёсны сайтуудад шууд нэвтрэхийг орчны сүлжээ хаасан; эхүүдийг онлайн дахин тулгаж баталгаажуулаагүй.",</a:t>
            </a:r>
          </a:p>
          <a:p>
            <a:r>
              <a:t>  "sources": []</a:t>
            </a:r>
          </a:p>
          <a:p>
            <a:r>
              <a:t>}</a:t>
            </a:r>
          </a:p>
          <a:p/>
          <a:p>
            <a:r>
              <a:t>ЭХ СУРВАЛЖ:</a:t>
            </a:r>
          </a:p>
          <a:p>
            <a:r>
              <a:t>[POV] ҮСХ, Дэлхийн банк: Mongolia Poverty Update 2022, 2024 онд нийтэлсэн; үндэсний ядуурлын түвшин</a:t>
            </a:r>
          </a:p>
          <a:p>
            <a:r>
              <a:t>https://www.worldbank.org/en/country/mongolia/publication</a:t>
            </a:r>
          </a:p>
          <a:p>
            <a:r>
              <a:t>[GROOT] Government of the Republic of South Africa v Grootboom [2000] ZACC 19 — 2000.10.04</a:t>
            </a:r>
          </a:p>
          <a:p>
            <a:r>
              <a:t>https://www.saflii.org/za/cases/ZACC/2000/19.html</a:t>
            </a:r>
          </a:p>
          <a:p>
            <a:r>
              <a:t>[TAC] Minister of Health v Treatment Action Campaign (No 2) [2002] ZACC 15 — 2002.07.05</a:t>
            </a:r>
          </a:p>
          <a:p>
            <a:r>
              <a:t>https://www.saflii.org/za/cases/ZACC/2002/15.html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r>
              <a:t>[GC3] CESCR, Ерөнхий тайлбар №3 — 1990.12.14; улсын үүрэг, доод цөм шаардлага</a:t>
            </a:r>
          </a:p>
          <a:p>
            <a:r>
              <a:t>https://www.ohchr.org/en/documents/general-comments-and-recommendations/general-comment-no-3-nature-states-parties-obligations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legalinfo.mn/mn/detail/367" TargetMode="External"/><Relationship Id="rId4" Type="http://schemas.openxmlformats.org/officeDocument/2006/relationships/hyperlink" Target="https://legalinfo.mn" TargetMode="External"/><Relationship Id="rId5" Type="http://schemas.openxmlformats.org/officeDocument/2006/relationships/hyperlink" Target="https://www.ohchr.org/en/human-rights/universal-declaration/translations/mongolian" TargetMode="External"/><Relationship Id="rId6" Type="http://schemas.openxmlformats.org/officeDocument/2006/relationships/hyperlink" Target="https://www.ohchr.org/en/instruments-mechanisms/instruments/international-covenant-economic-social-and-cultural-rights" TargetMode="External"/><Relationship Id="rId7" Type="http://schemas.openxmlformats.org/officeDocument/2006/relationships/hyperlink" Target="https://www.ohchr.org/en/instruments-mechanisms/instruments/international-covenant-civil-and-political-rights" TargetMode="External"/><Relationship Id="rId8" Type="http://schemas.openxmlformats.org/officeDocument/2006/relationships/hyperlink" Target="https://www.ohchr.org/en/instruments-mechanisms/instruments/convention-rights-child" TargetMode="External"/><Relationship Id="rId9" Type="http://schemas.openxmlformats.org/officeDocument/2006/relationships/hyperlink" Target="https://www.ohchr.org/en/instruments-mechanisms/instruments/convention-elimination-all-forms-discrimination-against-women" TargetMode="External"/><Relationship Id="rId10" Type="http://schemas.openxmlformats.org/officeDocument/2006/relationships/hyperlink" Target="https://www.ohchr.org/en/instruments-mechanisms/instruments/convention-rights-persons-disabilities" TargetMode="External"/><Relationship Id="rId1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worldbank.org/en/country/mongolia/publication" TargetMode="External"/><Relationship Id="rId4" Type="http://schemas.openxmlformats.org/officeDocument/2006/relationships/hyperlink" Target="https://www.saflii.org/za/cases/ZACC/2000/19.html" TargetMode="External"/><Relationship Id="rId5" Type="http://schemas.openxmlformats.org/officeDocument/2006/relationships/hyperlink" Target="https://www.saflii.org/za/cases/ZACC/2002/15.html" TargetMode="External"/><Relationship Id="rId6" Type="http://schemas.openxmlformats.org/officeDocument/2006/relationships/hyperlink" Target="https://www.bundesverfassungsgericht.de" TargetMode="External"/><Relationship Id="rId7" Type="http://schemas.openxmlformats.org/officeDocument/2006/relationships/hyperlink" Target="https://www.kela.fi/basic-income-experiment" TargetMode="External"/><Relationship Id="rId8" Type="http://schemas.openxmlformats.org/officeDocument/2006/relationships/hyperlink" Target="https://www.planalto.gov.br/ccivil_03/_ato2023-2026/2023/lei/l14601.htm" TargetMode="External"/><Relationship Id="rId9" Type="http://schemas.openxmlformats.org/officeDocument/2006/relationships/hyperlink" Target="https://www.ohchr.org/en/documents/general-comments-and-recommendations/general-comment-no-3-nature-states-parties-obligations" TargetMode="External"/><Relationship Id="rId10" Type="http://schemas.openxmlformats.org/officeDocument/2006/relationships/hyperlink" Target="https://sdgs.un.org/2030agenda" TargetMode="External"/><Relationship Id="rId11"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МУИС • ОЮУТНЫ ИЛТГЭЛ</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ounded Rectangle 33"/>
          <p:cNvSpPr/>
          <p:nvPr/>
        </p:nvSpPr>
        <p:spPr>
          <a:xfrm>
            <a:off x="533400" y="1076325"/>
            <a:ext cx="1348680"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66724" y="971550"/>
            <a:ext cx="1348680"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6250" y="981075"/>
            <a:ext cx="132963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76250" y="100012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33400" y="1219200"/>
            <a:ext cx="121533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1025" y="1028700"/>
            <a:ext cx="1120080"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МУИС / ХҮНИЙ ЭРХ</a:t>
            </a:r>
          </a:p>
        </p:txBody>
      </p:sp>
      <p:sp>
        <p:nvSpPr>
          <p:cNvPr id="40" name="TextBox 39"/>
          <p:cNvSpPr txBox="1"/>
          <p:nvPr/>
        </p:nvSpPr>
        <p:spPr>
          <a:xfrm>
            <a:off x="476250" y="1704975"/>
            <a:ext cx="6057900" cy="1790700"/>
          </a:xfrm>
          <a:prstGeom prst="rect">
            <a:avLst/>
          </a:prstGeom>
          <a:noFill/>
        </p:spPr>
        <p:txBody>
          <a:bodyPr wrap="none" lIns="0" tIns="0" rIns="0" bIns="0">
            <a:spAutoFit/>
          </a:bodyPr>
          <a:lstStyle/>
          <a:p>
            <a:pPr>
              <a:lnSpc>
                <a:spcPts val="6588"/>
              </a:lnSpc>
              <a:spcBef>
                <a:spcPts val="0"/>
              </a:spcBef>
              <a:spcAft>
                <a:spcPts val="0"/>
              </a:spcAft>
              <a:defRPr sz="5400" b="1">
                <a:solidFill>
                  <a:srgbClr val="030A13"/>
                </a:solidFill>
                <a:latin typeface="Open Sans Condensed"/>
              </a:defRPr>
            </a:pPr>
            <a:r>
              <a:t>НИЙГМИЙН</a:t>
            </a:r>
          </a:p>
          <a:p>
            <a:pPr>
              <a:lnSpc>
                <a:spcPts val="6588"/>
              </a:lnSpc>
              <a:spcBef>
                <a:spcPts val="0"/>
              </a:spcBef>
              <a:spcAft>
                <a:spcPts val="0"/>
              </a:spcAft>
              <a:defRPr sz="5400" b="1">
                <a:solidFill>
                  <a:srgbClr val="030A13"/>
                </a:solidFill>
                <a:latin typeface="Open Sans Condensed"/>
              </a:defRPr>
            </a:pPr>
            <a:r>
              <a:t>ДООД ДАВХРАА</a:t>
            </a:r>
          </a:p>
        </p:txBody>
      </p:sp>
      <p:sp>
        <p:nvSpPr>
          <p:cNvPr id="41" name="TextBox 40"/>
          <p:cNvSpPr txBox="1"/>
          <p:nvPr/>
        </p:nvSpPr>
        <p:spPr>
          <a:xfrm>
            <a:off x="457200" y="1676400"/>
            <a:ext cx="6057900" cy="1790700"/>
          </a:xfrm>
          <a:prstGeom prst="rect">
            <a:avLst/>
          </a:prstGeom>
          <a:noFill/>
        </p:spPr>
        <p:txBody>
          <a:bodyPr wrap="none" lIns="0" tIns="0" rIns="0" bIns="0">
            <a:spAutoFit/>
          </a:bodyPr>
          <a:lstStyle/>
          <a:p>
            <a:pPr>
              <a:lnSpc>
                <a:spcPts val="6588"/>
              </a:lnSpc>
              <a:spcBef>
                <a:spcPts val="0"/>
              </a:spcBef>
              <a:spcAft>
                <a:spcPts val="0"/>
              </a:spcAft>
              <a:defRPr sz="5400" b="1">
                <a:solidFill>
                  <a:srgbClr val="F4F5F4"/>
                </a:solidFill>
                <a:latin typeface="Open Sans Condensed"/>
              </a:defRPr>
            </a:pPr>
            <a:r>
              <a:t>НИЙГМИЙН</a:t>
            </a:r>
          </a:p>
          <a:p>
            <a:pPr>
              <a:lnSpc>
                <a:spcPts val="6588"/>
              </a:lnSpc>
              <a:spcBef>
                <a:spcPts val="0"/>
              </a:spcBef>
              <a:spcAft>
                <a:spcPts val="0"/>
              </a:spcAft>
              <a:defRPr sz="5400" b="1">
                <a:solidFill>
                  <a:srgbClr val="F4F5F4"/>
                </a:solidFill>
                <a:latin typeface="Open Sans Condensed"/>
              </a:defRPr>
            </a:pPr>
            <a:r>
              <a:t>ДООД ДАВХРАА</a:t>
            </a:r>
          </a:p>
        </p:txBody>
      </p:sp>
      <p:sp>
        <p:nvSpPr>
          <p:cNvPr id="42" name="TextBox 41"/>
          <p:cNvSpPr txBox="1"/>
          <p:nvPr/>
        </p:nvSpPr>
        <p:spPr>
          <a:xfrm>
            <a:off x="476250" y="3590925"/>
            <a:ext cx="5962650" cy="876300"/>
          </a:xfrm>
          <a:prstGeom prst="rect">
            <a:avLst/>
          </a:prstGeom>
          <a:noFill/>
        </p:spPr>
        <p:txBody>
          <a:bodyPr wrap="none" lIns="0" tIns="0" rIns="0" bIns="0">
            <a:spAutoFit/>
          </a:bodyPr>
          <a:lstStyle/>
          <a:p>
            <a:pPr>
              <a:lnSpc>
                <a:spcPts val="5307"/>
              </a:lnSpc>
              <a:spcBef>
                <a:spcPts val="0"/>
              </a:spcBef>
              <a:spcAft>
                <a:spcPts val="0"/>
              </a:spcAft>
              <a:defRPr sz="4350" b="1">
                <a:solidFill>
                  <a:srgbClr val="030A13"/>
                </a:solidFill>
                <a:latin typeface="Open Sans Condensed"/>
              </a:defRPr>
            </a:pPr>
            <a:r>
              <a:t>БА ХҮНИЙ ЭРХ</a:t>
            </a:r>
          </a:p>
        </p:txBody>
      </p:sp>
      <p:sp>
        <p:nvSpPr>
          <p:cNvPr id="43" name="TextBox 42"/>
          <p:cNvSpPr txBox="1"/>
          <p:nvPr/>
        </p:nvSpPr>
        <p:spPr>
          <a:xfrm>
            <a:off x="457200" y="3562350"/>
            <a:ext cx="5962650" cy="876300"/>
          </a:xfrm>
          <a:prstGeom prst="rect">
            <a:avLst/>
          </a:prstGeom>
          <a:noFill/>
        </p:spPr>
        <p:txBody>
          <a:bodyPr wrap="none" lIns="0" tIns="0" rIns="0" bIns="0">
            <a:spAutoFit/>
          </a:bodyPr>
          <a:lstStyle/>
          <a:p>
            <a:pPr>
              <a:lnSpc>
                <a:spcPts val="5307"/>
              </a:lnSpc>
              <a:spcBef>
                <a:spcPts val="0"/>
              </a:spcBef>
              <a:spcAft>
                <a:spcPts val="0"/>
              </a:spcAft>
              <a:defRPr sz="4350" b="1">
                <a:solidFill>
                  <a:srgbClr val="F1C75B"/>
                </a:solidFill>
                <a:latin typeface="Open Sans Condensed"/>
              </a:defRPr>
            </a:pPr>
            <a:r>
              <a:t>БА ХҮНИЙ ЭРХ</a:t>
            </a:r>
          </a:p>
        </p:txBody>
      </p:sp>
      <p:sp>
        <p:nvSpPr>
          <p:cNvPr id="44" name="TextBox 43"/>
          <p:cNvSpPr txBox="1"/>
          <p:nvPr/>
        </p:nvSpPr>
        <p:spPr>
          <a:xfrm>
            <a:off x="495299" y="4543425"/>
            <a:ext cx="4591050" cy="6286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Ядуурал. Тэгш боломж.</a:t>
            </a:r>
          </a:p>
          <a:p>
            <a:pPr>
              <a:lnSpc>
                <a:spcPts val="2104"/>
              </a:lnSpc>
              <a:spcBef>
                <a:spcPts val="0"/>
              </a:spcBef>
              <a:spcAft>
                <a:spcPts val="0"/>
              </a:spcAft>
              <a:defRPr sz="1725" b="0">
                <a:solidFill>
                  <a:srgbClr val="F4F5F4"/>
                </a:solidFill>
                <a:latin typeface="DejaVu Sans"/>
              </a:defRPr>
            </a:pPr>
            <a:r>
              <a:t>Нэр төртэй амьдрал.</a:t>
            </a:r>
          </a:p>
        </p:txBody>
      </p:sp>
      <p:cxnSp>
        <p:nvCxnSpPr>
          <p:cNvPr id="45" name="Connector 44"/>
          <p:cNvCxnSpPr/>
          <p:nvPr/>
        </p:nvCxnSpPr>
        <p:spPr>
          <a:xfrm>
            <a:off x="495299" y="5381625"/>
            <a:ext cx="3981451" cy="0"/>
          </a:xfrm>
          <a:prstGeom prst="line">
            <a:avLst/>
          </a:prstGeom>
          <a:ln w="7620">
            <a:solidFill>
              <a:srgbClr val="68717B"/>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95299" y="5581650"/>
            <a:ext cx="5334000" cy="495299"/>
          </a:xfrm>
          <a:prstGeom prst="rect">
            <a:avLst/>
          </a:prstGeom>
          <a:noFill/>
        </p:spPr>
        <p:txBody>
          <a:bodyPr wrap="none" lIns="0" tIns="0" rIns="0" bIns="0">
            <a:spAutoFit/>
          </a:bodyPr>
          <a:lstStyle/>
          <a:p>
            <a:pPr>
              <a:lnSpc>
                <a:spcPts val="1647"/>
              </a:lnSpc>
              <a:spcBef>
                <a:spcPts val="0"/>
              </a:spcBef>
              <a:spcAft>
                <a:spcPts val="0"/>
              </a:spcAft>
              <a:defRPr sz="1350" b="0">
                <a:solidFill>
                  <a:srgbClr val="F4F5F4"/>
                </a:solidFill>
                <a:latin typeface="DejaVu Sans"/>
              </a:defRPr>
            </a:pPr>
            <a:r>
              <a:t>Оюутнууд: Б. Саранчимэг,</a:t>
            </a:r>
          </a:p>
          <a:p>
            <a:pPr>
              <a:lnSpc>
                <a:spcPts val="1647"/>
              </a:lnSpc>
              <a:spcBef>
                <a:spcPts val="0"/>
              </a:spcBef>
              <a:spcAft>
                <a:spcPts val="0"/>
              </a:spcAft>
              <a:defRPr sz="1350" b="0">
                <a:solidFill>
                  <a:srgbClr val="F4F5F4"/>
                </a:solidFill>
                <a:latin typeface="DejaVu Sans"/>
              </a:defRPr>
            </a:pPr>
            <a:r>
              <a:t>Ш. Түвшинбаяр, Б. Энхзаяа</a:t>
            </a:r>
          </a:p>
        </p:txBody>
      </p:sp>
      <p:sp>
        <p:nvSpPr>
          <p:cNvPr id="47" name="TextBox 46"/>
          <p:cNvSpPr txBox="1"/>
          <p:nvPr/>
        </p:nvSpPr>
        <p:spPr>
          <a:xfrm>
            <a:off x="495299" y="6134100"/>
            <a:ext cx="5334000" cy="276225"/>
          </a:xfrm>
          <a:prstGeom prst="rect">
            <a:avLst/>
          </a:prstGeom>
          <a:noFill/>
        </p:spPr>
        <p:txBody>
          <a:bodyPr wrap="none" lIns="0" tIns="0" rIns="0" bIns="0">
            <a:spAutoFit/>
          </a:bodyPr>
          <a:lstStyle/>
          <a:p>
            <a:pPr>
              <a:lnSpc>
                <a:spcPts val="1647"/>
              </a:lnSpc>
              <a:spcBef>
                <a:spcPts val="0"/>
              </a:spcBef>
              <a:spcAft>
                <a:spcPts val="0"/>
              </a:spcAft>
              <a:defRPr sz="1350" b="1">
                <a:solidFill>
                  <a:srgbClr val="F1C75B"/>
                </a:solidFill>
                <a:latin typeface="DejaVu Sans"/>
              </a:defRPr>
            </a:pPr>
            <a:r>
              <a:t>Багш: Б. Тамир</a:t>
            </a:r>
          </a:p>
        </p:txBody>
      </p:sp>
      <p:sp>
        <p:nvSpPr>
          <p:cNvPr id="48" name="Rectangle 47"/>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UDHR</a:t>
            </a:r>
          </a:p>
        </p:txBody>
      </p:sp>
      <p:sp>
        <p:nvSpPr>
          <p:cNvPr id="50" name="TextBox 49"/>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51" name="TextBox 50"/>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191250" cy="1276350"/>
          </a:xfrm>
          <a:prstGeom prst="rect">
            <a:avLst/>
          </a:prstGeom>
          <a:noFill/>
        </p:spPr>
        <p:txBody>
          <a:bodyPr wrap="none" lIns="0" tIns="0" rIns="0" bIns="0">
            <a:spAutoFit/>
          </a:bodyPr>
          <a:lstStyle/>
          <a:p>
            <a:pPr>
              <a:lnSpc>
                <a:spcPts val="4995"/>
              </a:lnSpc>
              <a:spcBef>
                <a:spcPts val="0"/>
              </a:spcBef>
              <a:spcAft>
                <a:spcPts val="0"/>
              </a:spcAft>
              <a:defRPr sz="4095" b="1">
                <a:solidFill>
                  <a:srgbClr val="030A13"/>
                </a:solidFill>
                <a:latin typeface="Open Sans Condensed"/>
              </a:defRPr>
            </a:pPr>
            <a:r>
              <a:t>НЭГ АСУУДАЛ.</a:t>
            </a:r>
          </a:p>
          <a:p>
            <a:pPr>
              <a:lnSpc>
                <a:spcPts val="4995"/>
              </a:lnSpc>
              <a:spcBef>
                <a:spcPts val="0"/>
              </a:spcBef>
              <a:spcAft>
                <a:spcPts val="0"/>
              </a:spcAft>
              <a:defRPr sz="4095" b="1">
                <a:solidFill>
                  <a:srgbClr val="030A13"/>
                </a:solidFill>
                <a:latin typeface="Open Sans Condensed"/>
              </a:defRPr>
            </a:pPr>
            <a:r>
              <a:t>ГУРВАН АСУУЛТ.</a:t>
            </a:r>
          </a:p>
        </p:txBody>
      </p:sp>
      <p:sp>
        <p:nvSpPr>
          <p:cNvPr id="35" name="TextBox 34"/>
          <p:cNvSpPr txBox="1"/>
          <p:nvPr/>
        </p:nvSpPr>
        <p:spPr>
          <a:xfrm>
            <a:off x="457200" y="942975"/>
            <a:ext cx="6191250" cy="1276350"/>
          </a:xfrm>
          <a:prstGeom prst="rect">
            <a:avLst/>
          </a:prstGeom>
          <a:noFill/>
        </p:spPr>
        <p:txBody>
          <a:bodyPr wrap="none" lIns="0" tIns="0" rIns="0" bIns="0">
            <a:spAutoFit/>
          </a:bodyPr>
          <a:lstStyle/>
          <a:p>
            <a:pPr>
              <a:lnSpc>
                <a:spcPts val="4995"/>
              </a:lnSpc>
              <a:spcBef>
                <a:spcPts val="0"/>
              </a:spcBef>
              <a:spcAft>
                <a:spcPts val="0"/>
              </a:spcAft>
              <a:defRPr sz="4095" b="1">
                <a:solidFill>
                  <a:srgbClr val="F4F5F4"/>
                </a:solidFill>
                <a:latin typeface="Open Sans Condensed"/>
              </a:defRPr>
            </a:pPr>
            <a:r>
              <a:t>НЭГ АСУУДАЛ.</a:t>
            </a:r>
          </a:p>
          <a:p>
            <a:pPr>
              <a:lnSpc>
                <a:spcPts val="4995"/>
              </a:lnSpc>
              <a:spcBef>
                <a:spcPts val="0"/>
              </a:spcBef>
              <a:spcAft>
                <a:spcPts val="0"/>
              </a:spcAft>
              <a:defRPr sz="4095" b="1">
                <a:solidFill>
                  <a:srgbClr val="F4F5F4"/>
                </a:solidFill>
                <a:latin typeface="Open Sans Condensed"/>
              </a:defRPr>
            </a:pPr>
            <a:r>
              <a:t>ГУРВАН АСУУЛТ.</a:t>
            </a:r>
          </a:p>
        </p:txBody>
      </p:sp>
      <p:sp>
        <p:nvSpPr>
          <p:cNvPr id="36" name="Rounded Rectangle 35"/>
          <p:cNvSpPr/>
          <p:nvPr/>
        </p:nvSpPr>
        <p:spPr>
          <a:xfrm>
            <a:off x="523874" y="2600325"/>
            <a:ext cx="6286500" cy="942975"/>
          </a:xfrm>
          <a:prstGeom prst="roundRect">
            <a:avLst>
              <a:gd name="adj" fmla="val 1212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495550"/>
            <a:ext cx="6286500" cy="942975"/>
          </a:xfrm>
          <a:prstGeom prst="roundRect">
            <a:avLst>
              <a:gd name="adj" fmla="val 1010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505075"/>
            <a:ext cx="6267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524125"/>
            <a:ext cx="19050" cy="8858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3419475"/>
            <a:ext cx="6153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125" y="2628900"/>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01</a:t>
            </a:r>
          </a:p>
        </p:txBody>
      </p:sp>
      <p:sp>
        <p:nvSpPr>
          <p:cNvPr id="42" name="TextBox 41"/>
          <p:cNvSpPr txBox="1"/>
          <p:nvPr/>
        </p:nvSpPr>
        <p:spPr>
          <a:xfrm>
            <a:off x="1200150" y="2619375"/>
            <a:ext cx="536257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01 Нөхцөл</a:t>
            </a:r>
          </a:p>
        </p:txBody>
      </p:sp>
      <p:sp>
        <p:nvSpPr>
          <p:cNvPr id="43" name="TextBox 42"/>
          <p:cNvSpPr txBox="1"/>
          <p:nvPr/>
        </p:nvSpPr>
        <p:spPr>
          <a:xfrm>
            <a:off x="1200150" y="2971800"/>
            <a:ext cx="5362575" cy="438150"/>
          </a:xfrm>
          <a:prstGeom prst="rect">
            <a:avLst/>
          </a:prstGeom>
          <a:noFill/>
        </p:spPr>
        <p:txBody>
          <a:bodyPr wrap="none" lIns="0" tIns="0" rIns="0" bIns="0">
            <a:spAutoFit/>
          </a:bodyPr>
          <a:lstStyle/>
          <a:p>
            <a:pPr>
              <a:lnSpc>
                <a:spcPts val="1720"/>
              </a:lnSpc>
              <a:spcBef>
                <a:spcPts val="0"/>
              </a:spcBef>
              <a:spcAft>
                <a:spcPts val="0"/>
              </a:spcAft>
              <a:defRPr sz="1410" b="0">
                <a:solidFill>
                  <a:srgbClr val="F4F5F4"/>
                </a:solidFill>
                <a:latin typeface="DejaVu Sans"/>
              </a:defRPr>
            </a:pPr>
            <a:r>
              <a:t>Ядуурал хүний эрхээ бодитоор эдлэх боломжийг хэрхэн</a:t>
            </a:r>
          </a:p>
          <a:p>
            <a:pPr>
              <a:lnSpc>
                <a:spcPts val="1720"/>
              </a:lnSpc>
              <a:spcBef>
                <a:spcPts val="0"/>
              </a:spcBef>
              <a:spcAft>
                <a:spcPts val="0"/>
              </a:spcAft>
              <a:defRPr sz="1410" b="0">
                <a:solidFill>
                  <a:srgbClr val="F4F5F4"/>
                </a:solidFill>
                <a:latin typeface="DejaVu Sans"/>
              </a:defRPr>
            </a:pPr>
            <a:r>
              <a:t>хязгаарладаг вэ?</a:t>
            </a:r>
          </a:p>
        </p:txBody>
      </p:sp>
      <p:sp>
        <p:nvSpPr>
          <p:cNvPr id="44" name="Rounded Rectangle 43"/>
          <p:cNvSpPr/>
          <p:nvPr/>
        </p:nvSpPr>
        <p:spPr>
          <a:xfrm>
            <a:off x="523874" y="3657600"/>
            <a:ext cx="6286500" cy="942975"/>
          </a:xfrm>
          <a:prstGeom prst="roundRect">
            <a:avLst>
              <a:gd name="adj" fmla="val 1212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552825"/>
            <a:ext cx="6286500" cy="942975"/>
          </a:xfrm>
          <a:prstGeom prst="roundRect">
            <a:avLst>
              <a:gd name="adj" fmla="val 1010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562350"/>
            <a:ext cx="6267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581400"/>
            <a:ext cx="19050" cy="8858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4476750"/>
            <a:ext cx="6153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125" y="36861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02</a:t>
            </a:r>
          </a:p>
        </p:txBody>
      </p:sp>
      <p:sp>
        <p:nvSpPr>
          <p:cNvPr id="50" name="TextBox 49"/>
          <p:cNvSpPr txBox="1"/>
          <p:nvPr/>
        </p:nvSpPr>
        <p:spPr>
          <a:xfrm>
            <a:off x="1200150" y="3676649"/>
            <a:ext cx="536257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02 Баталгаа</a:t>
            </a:r>
          </a:p>
        </p:txBody>
      </p:sp>
      <p:sp>
        <p:nvSpPr>
          <p:cNvPr id="51" name="TextBox 50"/>
          <p:cNvSpPr txBox="1"/>
          <p:nvPr/>
        </p:nvSpPr>
        <p:spPr>
          <a:xfrm>
            <a:off x="1200150" y="4029075"/>
            <a:ext cx="5362575" cy="438150"/>
          </a:xfrm>
          <a:prstGeom prst="rect">
            <a:avLst/>
          </a:prstGeom>
          <a:noFill/>
        </p:spPr>
        <p:txBody>
          <a:bodyPr wrap="none" lIns="0" tIns="0" rIns="0" bIns="0">
            <a:spAutoFit/>
          </a:bodyPr>
          <a:lstStyle/>
          <a:p>
            <a:pPr>
              <a:lnSpc>
                <a:spcPts val="1720"/>
              </a:lnSpc>
              <a:spcBef>
                <a:spcPts val="0"/>
              </a:spcBef>
              <a:spcAft>
                <a:spcPts val="0"/>
              </a:spcAft>
              <a:defRPr sz="1410" b="0">
                <a:solidFill>
                  <a:srgbClr val="F4F5F4"/>
                </a:solidFill>
                <a:latin typeface="DejaVu Sans"/>
              </a:defRPr>
            </a:pPr>
            <a:r>
              <a:t>Монголын хууль ба олон улсын баримт бичиг ямар</a:t>
            </a:r>
          </a:p>
          <a:p>
            <a:pPr>
              <a:lnSpc>
                <a:spcPts val="1720"/>
              </a:lnSpc>
              <a:spcBef>
                <a:spcPts val="0"/>
              </a:spcBef>
              <a:spcAft>
                <a:spcPts val="0"/>
              </a:spcAft>
              <a:defRPr sz="1410" b="0">
                <a:solidFill>
                  <a:srgbClr val="F4F5F4"/>
                </a:solidFill>
                <a:latin typeface="DejaVu Sans"/>
              </a:defRPr>
            </a:pPr>
            <a:r>
              <a:t>хамгаалалт тогтоодог вэ?</a:t>
            </a:r>
          </a:p>
        </p:txBody>
      </p:sp>
      <p:sp>
        <p:nvSpPr>
          <p:cNvPr id="52" name="Rounded Rectangle 51"/>
          <p:cNvSpPr/>
          <p:nvPr/>
        </p:nvSpPr>
        <p:spPr>
          <a:xfrm>
            <a:off x="523874" y="4714875"/>
            <a:ext cx="6286500" cy="942975"/>
          </a:xfrm>
          <a:prstGeom prst="roundRect">
            <a:avLst>
              <a:gd name="adj" fmla="val 1212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57200" y="4610100"/>
            <a:ext cx="6286500" cy="942975"/>
          </a:xfrm>
          <a:prstGeom prst="roundRect">
            <a:avLst>
              <a:gd name="adj" fmla="val 1010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6724" y="4619625"/>
            <a:ext cx="6267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724" y="4638675"/>
            <a:ext cx="19050" cy="8858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3874" y="5534025"/>
            <a:ext cx="6153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9125" y="4743450"/>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03</a:t>
            </a:r>
          </a:p>
        </p:txBody>
      </p:sp>
      <p:sp>
        <p:nvSpPr>
          <p:cNvPr id="58" name="TextBox 57"/>
          <p:cNvSpPr txBox="1"/>
          <p:nvPr/>
        </p:nvSpPr>
        <p:spPr>
          <a:xfrm>
            <a:off x="1200150" y="4733925"/>
            <a:ext cx="536257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03 Шийдэл</a:t>
            </a:r>
          </a:p>
        </p:txBody>
      </p:sp>
      <p:sp>
        <p:nvSpPr>
          <p:cNvPr id="59" name="TextBox 58"/>
          <p:cNvSpPr txBox="1"/>
          <p:nvPr/>
        </p:nvSpPr>
        <p:spPr>
          <a:xfrm>
            <a:off x="1200150" y="5086350"/>
            <a:ext cx="5362575" cy="438150"/>
          </a:xfrm>
          <a:prstGeom prst="rect">
            <a:avLst/>
          </a:prstGeom>
          <a:noFill/>
        </p:spPr>
        <p:txBody>
          <a:bodyPr wrap="none" lIns="0" tIns="0" rIns="0" bIns="0">
            <a:spAutoFit/>
          </a:bodyPr>
          <a:lstStyle/>
          <a:p>
            <a:pPr>
              <a:lnSpc>
                <a:spcPts val="1720"/>
              </a:lnSpc>
              <a:spcBef>
                <a:spcPts val="0"/>
              </a:spcBef>
              <a:spcAft>
                <a:spcPts val="0"/>
              </a:spcAft>
              <a:defRPr sz="1410" b="0">
                <a:solidFill>
                  <a:srgbClr val="F4F5F4"/>
                </a:solidFill>
                <a:latin typeface="DejaVu Sans"/>
              </a:defRPr>
            </a:pPr>
            <a:r>
              <a:t>Шүүхийн кейс, бусад орны туршлагаас Монголд юу</a:t>
            </a:r>
          </a:p>
          <a:p>
            <a:pPr>
              <a:lnSpc>
                <a:spcPts val="1720"/>
              </a:lnSpc>
              <a:spcBef>
                <a:spcPts val="0"/>
              </a:spcBef>
              <a:spcAft>
                <a:spcPts val="0"/>
              </a:spcAft>
              <a:defRPr sz="1410" b="0">
                <a:solidFill>
                  <a:srgbClr val="F4F5F4"/>
                </a:solidFill>
                <a:latin typeface="DejaVu Sans"/>
              </a:defRPr>
            </a:pPr>
            <a:r>
              <a:t>хэрэгжүүлж болох вэ?</a:t>
            </a:r>
          </a:p>
        </p:txBody>
      </p:sp>
      <p:sp>
        <p:nvSpPr>
          <p:cNvPr id="60" name="Rounded Rectangle 59"/>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Гол байр суурь: халамжийн асуудлыг эрх, хүртээмж, хариуцлагатай холбож үзнэ.</a:t>
            </a:r>
          </a:p>
        </p:txBody>
      </p:sp>
      <p:sp>
        <p:nvSpPr>
          <p:cNvPr id="67" name="Rectangle 66"/>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a:t>
            </a:r>
          </a:p>
        </p:txBody>
      </p:sp>
      <p:sp>
        <p:nvSpPr>
          <p:cNvPr id="69" name="TextBox 68"/>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rrier.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НЭР ТОМЬЁО</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096000" cy="1323975"/>
          </a:xfrm>
          <a:prstGeom prst="rect">
            <a:avLst/>
          </a:prstGeom>
          <a:noFill/>
        </p:spPr>
        <p:txBody>
          <a:bodyPr wrap="none" lIns="0" tIns="0" rIns="0" bIns="0">
            <a:spAutoFit/>
          </a:bodyPr>
          <a:lstStyle/>
          <a:p>
            <a:pPr>
              <a:lnSpc>
                <a:spcPts val="5197"/>
              </a:lnSpc>
              <a:spcBef>
                <a:spcPts val="0"/>
              </a:spcBef>
              <a:spcAft>
                <a:spcPts val="0"/>
              </a:spcAft>
              <a:defRPr sz="4260" b="1">
                <a:solidFill>
                  <a:srgbClr val="030A13"/>
                </a:solidFill>
                <a:latin typeface="Open Sans Condensed"/>
              </a:defRPr>
            </a:pPr>
            <a:r>
              <a:t>БАЙР СУУРЬ ӨӨР.</a:t>
            </a:r>
          </a:p>
          <a:p>
            <a:pPr>
              <a:lnSpc>
                <a:spcPts val="5197"/>
              </a:lnSpc>
              <a:spcBef>
                <a:spcPts val="0"/>
              </a:spcBef>
              <a:spcAft>
                <a:spcPts val="0"/>
              </a:spcAft>
              <a:defRPr sz="4260" b="1">
                <a:solidFill>
                  <a:srgbClr val="030A13"/>
                </a:solidFill>
                <a:latin typeface="Open Sans Condensed"/>
              </a:defRPr>
            </a:pPr>
            <a:r>
              <a:t>ЭРХ ИЖИЛ.</a:t>
            </a:r>
          </a:p>
        </p:txBody>
      </p:sp>
      <p:sp>
        <p:nvSpPr>
          <p:cNvPr id="35" name="TextBox 34"/>
          <p:cNvSpPr txBox="1"/>
          <p:nvPr/>
        </p:nvSpPr>
        <p:spPr>
          <a:xfrm>
            <a:off x="457200" y="942975"/>
            <a:ext cx="6096000" cy="1323975"/>
          </a:xfrm>
          <a:prstGeom prst="rect">
            <a:avLst/>
          </a:prstGeom>
          <a:noFill/>
        </p:spPr>
        <p:txBody>
          <a:bodyPr wrap="none" lIns="0" tIns="0" rIns="0" bIns="0">
            <a:spAutoFit/>
          </a:bodyPr>
          <a:lstStyle/>
          <a:p>
            <a:pPr>
              <a:lnSpc>
                <a:spcPts val="5197"/>
              </a:lnSpc>
              <a:spcBef>
                <a:spcPts val="0"/>
              </a:spcBef>
              <a:spcAft>
                <a:spcPts val="0"/>
              </a:spcAft>
              <a:defRPr sz="4260" b="1">
                <a:solidFill>
                  <a:srgbClr val="F4F5F4"/>
                </a:solidFill>
                <a:latin typeface="Open Sans Condensed"/>
              </a:defRPr>
            </a:pPr>
            <a:r>
              <a:t>БАЙР СУУРЬ ӨӨР.</a:t>
            </a:r>
          </a:p>
          <a:p>
            <a:pPr>
              <a:lnSpc>
                <a:spcPts val="5197"/>
              </a:lnSpc>
              <a:spcBef>
                <a:spcPts val="0"/>
              </a:spcBef>
              <a:spcAft>
                <a:spcPts val="0"/>
              </a:spcAft>
              <a:defRPr sz="4260" b="1">
                <a:solidFill>
                  <a:srgbClr val="F4F5F4"/>
                </a:solidFill>
                <a:latin typeface="Open Sans Condensed"/>
              </a:defRPr>
            </a:pPr>
            <a:r>
              <a:t>ЭРХ ИЖИЛ.</a:t>
            </a:r>
          </a:p>
        </p:txBody>
      </p:sp>
      <p:sp>
        <p:nvSpPr>
          <p:cNvPr id="36" name="Rounded Rectangle 35"/>
          <p:cNvSpPr/>
          <p:nvPr/>
        </p:nvSpPr>
        <p:spPr>
          <a:xfrm>
            <a:off x="523874" y="2571750"/>
            <a:ext cx="6553200" cy="962024"/>
          </a:xfrm>
          <a:prstGeom prst="roundRect">
            <a:avLst>
              <a:gd name="adj" fmla="val 118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466975"/>
            <a:ext cx="6553200" cy="962024"/>
          </a:xfrm>
          <a:prstGeom prst="roundRect">
            <a:avLst>
              <a:gd name="adj" fmla="val 9900"/>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476500"/>
            <a:ext cx="65341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495550"/>
            <a:ext cx="19050" cy="9048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3409950"/>
            <a:ext cx="64198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125" y="260032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01</a:t>
            </a:r>
          </a:p>
        </p:txBody>
      </p:sp>
      <p:sp>
        <p:nvSpPr>
          <p:cNvPr id="42" name="TextBox 41"/>
          <p:cNvSpPr txBox="1"/>
          <p:nvPr/>
        </p:nvSpPr>
        <p:spPr>
          <a:xfrm>
            <a:off x="1200150" y="2590800"/>
            <a:ext cx="562927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Эдийн засгийн байр суурь</a:t>
            </a:r>
          </a:p>
        </p:txBody>
      </p:sp>
      <p:sp>
        <p:nvSpPr>
          <p:cNvPr id="43" name="TextBox 42"/>
          <p:cNvSpPr txBox="1"/>
          <p:nvPr/>
        </p:nvSpPr>
        <p:spPr>
          <a:xfrm>
            <a:off x="1200150" y="2943225"/>
            <a:ext cx="5629275" cy="457200"/>
          </a:xfrm>
          <a:prstGeom prst="rect">
            <a:avLst/>
          </a:prstGeom>
          <a:noFill/>
        </p:spPr>
        <p:txBody>
          <a:bodyPr wrap="none" lIns="0" tIns="0" rIns="0" bIns="0">
            <a:spAutoFit/>
          </a:bodyPr>
          <a:lstStyle/>
          <a:p>
            <a:pPr>
              <a:lnSpc>
                <a:spcPts val="1784"/>
              </a:lnSpc>
              <a:spcBef>
                <a:spcPts val="0"/>
              </a:spcBef>
              <a:spcAft>
                <a:spcPts val="0"/>
              </a:spcAft>
              <a:defRPr sz="1462" b="0">
                <a:solidFill>
                  <a:srgbClr val="F4F5F4"/>
                </a:solidFill>
                <a:latin typeface="DejaVu Sans"/>
              </a:defRPr>
            </a:pPr>
            <a:r>
              <a:t>Орлого, хөрөнгө, тогтвортой ажлын боломж бага; эдийн</a:t>
            </a:r>
          </a:p>
          <a:p>
            <a:pPr>
              <a:lnSpc>
                <a:spcPts val="1784"/>
              </a:lnSpc>
              <a:spcBef>
                <a:spcPts val="0"/>
              </a:spcBef>
              <a:spcAft>
                <a:spcPts val="0"/>
              </a:spcAft>
              <a:defRPr sz="1462" b="0">
                <a:solidFill>
                  <a:srgbClr val="F4F5F4"/>
                </a:solidFill>
                <a:latin typeface="DejaVu Sans"/>
              </a:defRPr>
            </a:pPr>
            <a:r>
              <a:t>засгийн цочролд өртөх эрсдэл өндөр.</a:t>
            </a:r>
          </a:p>
        </p:txBody>
      </p:sp>
      <p:sp>
        <p:nvSpPr>
          <p:cNvPr id="44" name="Rounded Rectangle 43"/>
          <p:cNvSpPr/>
          <p:nvPr/>
        </p:nvSpPr>
        <p:spPr>
          <a:xfrm>
            <a:off x="523874" y="3648075"/>
            <a:ext cx="6553200" cy="962024"/>
          </a:xfrm>
          <a:prstGeom prst="roundRect">
            <a:avLst>
              <a:gd name="adj" fmla="val 118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543300"/>
            <a:ext cx="6553200" cy="962024"/>
          </a:xfrm>
          <a:prstGeom prst="roundRect">
            <a:avLst>
              <a:gd name="adj" fmla="val 9900"/>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552825"/>
            <a:ext cx="65341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571875"/>
            <a:ext cx="19050" cy="9048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4486275"/>
            <a:ext cx="64198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125" y="3676649"/>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02</a:t>
            </a:r>
          </a:p>
        </p:txBody>
      </p:sp>
      <p:sp>
        <p:nvSpPr>
          <p:cNvPr id="50" name="TextBox 49"/>
          <p:cNvSpPr txBox="1"/>
          <p:nvPr/>
        </p:nvSpPr>
        <p:spPr>
          <a:xfrm>
            <a:off x="1200150" y="3667125"/>
            <a:ext cx="562927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Нийгмийн боломж</a:t>
            </a:r>
          </a:p>
        </p:txBody>
      </p:sp>
      <p:sp>
        <p:nvSpPr>
          <p:cNvPr id="51" name="TextBox 50"/>
          <p:cNvSpPr txBox="1"/>
          <p:nvPr/>
        </p:nvSpPr>
        <p:spPr>
          <a:xfrm>
            <a:off x="1200150" y="4019549"/>
            <a:ext cx="5629275" cy="457200"/>
          </a:xfrm>
          <a:prstGeom prst="rect">
            <a:avLst/>
          </a:prstGeom>
          <a:noFill/>
        </p:spPr>
        <p:txBody>
          <a:bodyPr wrap="none" lIns="0" tIns="0" rIns="0" bIns="0">
            <a:spAutoFit/>
          </a:bodyPr>
          <a:lstStyle/>
          <a:p>
            <a:pPr>
              <a:lnSpc>
                <a:spcPts val="1784"/>
              </a:lnSpc>
              <a:spcBef>
                <a:spcPts val="0"/>
              </a:spcBef>
              <a:spcAft>
                <a:spcPts val="0"/>
              </a:spcAft>
              <a:defRPr sz="1462" b="0">
                <a:solidFill>
                  <a:srgbClr val="F4F5F4"/>
                </a:solidFill>
                <a:latin typeface="DejaVu Sans"/>
              </a:defRPr>
            </a:pPr>
            <a:r>
              <a:t>Чанартай боловсрол, эрүүл мэнд, орон сууц, мэдээлэлд</a:t>
            </a:r>
          </a:p>
          <a:p>
            <a:pPr>
              <a:lnSpc>
                <a:spcPts val="1784"/>
              </a:lnSpc>
              <a:spcBef>
                <a:spcPts val="0"/>
              </a:spcBef>
              <a:spcAft>
                <a:spcPts val="0"/>
              </a:spcAft>
              <a:defRPr sz="1462" b="0">
                <a:solidFill>
                  <a:srgbClr val="F4F5F4"/>
                </a:solidFill>
                <a:latin typeface="DejaVu Sans"/>
              </a:defRPr>
            </a:pPr>
            <a:r>
              <a:t>хүрэх боломж харилцан адилгүй.</a:t>
            </a:r>
          </a:p>
        </p:txBody>
      </p:sp>
      <p:sp>
        <p:nvSpPr>
          <p:cNvPr id="52" name="Rounded Rectangle 51"/>
          <p:cNvSpPr/>
          <p:nvPr/>
        </p:nvSpPr>
        <p:spPr>
          <a:xfrm>
            <a:off x="523874" y="4724400"/>
            <a:ext cx="6553200" cy="962024"/>
          </a:xfrm>
          <a:prstGeom prst="roundRect">
            <a:avLst>
              <a:gd name="adj" fmla="val 118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57200" y="4619625"/>
            <a:ext cx="6553200" cy="962024"/>
          </a:xfrm>
          <a:prstGeom prst="roundRect">
            <a:avLst>
              <a:gd name="adj" fmla="val 9900"/>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6724" y="4629150"/>
            <a:ext cx="65341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724" y="4648200"/>
            <a:ext cx="19050" cy="9048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3874" y="5562600"/>
            <a:ext cx="64198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9125" y="47529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03</a:t>
            </a:r>
          </a:p>
        </p:txBody>
      </p:sp>
      <p:sp>
        <p:nvSpPr>
          <p:cNvPr id="58" name="TextBox 57"/>
          <p:cNvSpPr txBox="1"/>
          <p:nvPr/>
        </p:nvSpPr>
        <p:spPr>
          <a:xfrm>
            <a:off x="1200150" y="4743450"/>
            <a:ext cx="562927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Эрхийн субъект</a:t>
            </a:r>
          </a:p>
        </p:txBody>
      </p:sp>
      <p:sp>
        <p:nvSpPr>
          <p:cNvPr id="59" name="TextBox 58"/>
          <p:cNvSpPr txBox="1"/>
          <p:nvPr/>
        </p:nvSpPr>
        <p:spPr>
          <a:xfrm>
            <a:off x="1200150" y="5095875"/>
            <a:ext cx="5629275" cy="457200"/>
          </a:xfrm>
          <a:prstGeom prst="rect">
            <a:avLst/>
          </a:prstGeom>
          <a:noFill/>
        </p:spPr>
        <p:txBody>
          <a:bodyPr wrap="none" lIns="0" tIns="0" rIns="0" bIns="0">
            <a:spAutoFit/>
          </a:bodyPr>
          <a:lstStyle/>
          <a:p>
            <a:pPr>
              <a:lnSpc>
                <a:spcPts val="1601"/>
              </a:lnSpc>
              <a:spcBef>
                <a:spcPts val="0"/>
              </a:spcBef>
              <a:spcAft>
                <a:spcPts val="0"/>
              </a:spcAft>
              <a:defRPr sz="1312" b="0">
                <a:solidFill>
                  <a:srgbClr val="F4F5F4"/>
                </a:solidFill>
                <a:latin typeface="DejaVu Sans"/>
              </a:defRPr>
            </a:pPr>
            <a:r>
              <a:t>Орлогоос үл хамааран хүн бүр ижил нэр төртэй, эрх эдлэгч.</a:t>
            </a:r>
          </a:p>
          <a:p>
            <a:pPr>
              <a:lnSpc>
                <a:spcPts val="1601"/>
              </a:lnSpc>
              <a:spcBef>
                <a:spcPts val="0"/>
              </a:spcBef>
              <a:spcAft>
                <a:spcPts val="0"/>
              </a:spcAft>
              <a:defRPr sz="1312" b="0">
                <a:solidFill>
                  <a:srgbClr val="F4F5F4"/>
                </a:solidFill>
                <a:latin typeface="DejaVu Sans"/>
              </a:defRPr>
            </a:pPr>
            <a:r>
              <a:t>Ядуу хүнийг буруутгах нь бүтцийн шалтгааныг бүдгэрүүлдэг.</a:t>
            </a:r>
          </a:p>
        </p:txBody>
      </p:sp>
      <p:sp>
        <p:nvSpPr>
          <p:cNvPr id="60" name="Rounded Rectangle 59"/>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Цаашид “бага орлоготой”, “ядууралд өртсөн”, “эмзэг нөхцөлтэй” гэсэн тодорхой үг хэрэглэнэ.</a:t>
            </a:r>
          </a:p>
        </p:txBody>
      </p:sp>
      <p:sp>
        <p:nvSpPr>
          <p:cNvPr id="67" name="Rectangle 66"/>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ҮХ</a:t>
            </a:r>
          </a:p>
        </p:txBody>
      </p:sp>
      <p:sp>
        <p:nvSpPr>
          <p:cNvPr id="69" name="TextBox 68"/>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ХЭМЖИЛТ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896100" cy="1409700"/>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ЯДУУРЛЫГ</a:t>
            </a:r>
          </a:p>
          <a:p>
            <a:pPr>
              <a:lnSpc>
                <a:spcPts val="5032"/>
              </a:lnSpc>
              <a:spcBef>
                <a:spcPts val="0"/>
              </a:spcBef>
              <a:spcAft>
                <a:spcPts val="0"/>
              </a:spcAft>
              <a:defRPr sz="4125" b="1">
                <a:solidFill>
                  <a:srgbClr val="030A13"/>
                </a:solidFill>
                <a:latin typeface="Open Sans Condensed"/>
              </a:defRPr>
            </a:pPr>
            <a:r>
              <a:t>ГУРВАН ӨНЦГӨӨС ХАРНА.</a:t>
            </a:r>
          </a:p>
        </p:txBody>
      </p:sp>
      <p:sp>
        <p:nvSpPr>
          <p:cNvPr id="35" name="TextBox 34"/>
          <p:cNvSpPr txBox="1"/>
          <p:nvPr/>
        </p:nvSpPr>
        <p:spPr>
          <a:xfrm>
            <a:off x="457200" y="942975"/>
            <a:ext cx="6896100" cy="1409700"/>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ЯДУУРЛЫГ</a:t>
            </a:r>
          </a:p>
          <a:p>
            <a:pPr>
              <a:lnSpc>
                <a:spcPts val="5032"/>
              </a:lnSpc>
              <a:spcBef>
                <a:spcPts val="0"/>
              </a:spcBef>
              <a:spcAft>
                <a:spcPts val="0"/>
              </a:spcAft>
              <a:defRPr sz="4125" b="1">
                <a:solidFill>
                  <a:srgbClr val="F4F5F4"/>
                </a:solidFill>
                <a:latin typeface="Open Sans Condensed"/>
              </a:defRPr>
            </a:pPr>
            <a:r>
              <a:t>ГУРВАН ӨНЦГӨӨС ХАРНА.</a:t>
            </a:r>
          </a:p>
        </p:txBody>
      </p:sp>
      <p:sp>
        <p:nvSpPr>
          <p:cNvPr id="36" name="Rounded Rectangle 35"/>
          <p:cNvSpPr/>
          <p:nvPr/>
        </p:nvSpPr>
        <p:spPr>
          <a:xfrm>
            <a:off x="552450" y="2647950"/>
            <a:ext cx="217445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2543175"/>
            <a:ext cx="217445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2552700"/>
            <a:ext cx="215540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257175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790825"/>
            <a:ext cx="204110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600325"/>
            <a:ext cx="194585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ОРЛОГО / ХОМСДОЛ / ГАДУУРХАЛ</a:t>
            </a:r>
          </a:p>
        </p:txBody>
      </p:sp>
      <p:sp>
        <p:nvSpPr>
          <p:cNvPr id="42" name="Rounded Rectangle 41"/>
          <p:cNvSpPr/>
          <p:nvPr/>
        </p:nvSpPr>
        <p:spPr>
          <a:xfrm>
            <a:off x="523874" y="3438525"/>
            <a:ext cx="3619500" cy="2400300"/>
          </a:xfrm>
          <a:prstGeom prst="roundRect">
            <a:avLst>
              <a:gd name="adj" fmla="val 476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7200" y="3333750"/>
            <a:ext cx="3619500" cy="2400300"/>
          </a:xfrm>
          <a:prstGeom prst="roundRect">
            <a:avLst>
              <a:gd name="adj" fmla="val 396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66724" y="33432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3362325"/>
            <a:ext cx="19050" cy="2343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23874"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700" y="3524250"/>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Мөнгөн ядуурал</a:t>
            </a:r>
          </a:p>
        </p:txBody>
      </p:sp>
      <p:sp>
        <p:nvSpPr>
          <p:cNvPr id="48" name="TextBox 47"/>
          <p:cNvSpPr txBox="1"/>
          <p:nvPr/>
        </p:nvSpPr>
        <p:spPr>
          <a:xfrm>
            <a:off x="647700" y="4143375"/>
            <a:ext cx="3238500" cy="1428750"/>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Хэрэглээ эсвэл орлого</a:t>
            </a:r>
          </a:p>
          <a:p>
            <a:pPr>
              <a:lnSpc>
                <a:spcPts val="1921"/>
              </a:lnSpc>
              <a:spcBef>
                <a:spcPts val="0"/>
              </a:spcBef>
              <a:spcAft>
                <a:spcPts val="0"/>
              </a:spcAft>
              <a:defRPr sz="1575" b="0">
                <a:solidFill>
                  <a:srgbClr val="F4F5F4"/>
                </a:solidFill>
                <a:latin typeface="DejaVu Sans"/>
              </a:defRPr>
            </a:pPr>
            <a:r>
              <a:t>тогтоосон босгоос доогуур</a:t>
            </a:r>
          </a:p>
          <a:p>
            <a:pPr>
              <a:lnSpc>
                <a:spcPts val="1921"/>
              </a:lnSpc>
              <a:spcBef>
                <a:spcPts val="0"/>
              </a:spcBef>
              <a:spcAft>
                <a:spcPts val="0"/>
              </a:spcAft>
              <a:defRPr sz="1575" b="0">
                <a:solidFill>
                  <a:srgbClr val="F4F5F4"/>
                </a:solidFill>
                <a:latin typeface="DejaVu Sans"/>
              </a:defRPr>
            </a:pPr>
            <a:r>
              <a:t>байх. Үндэсний босго нь</a:t>
            </a:r>
          </a:p>
          <a:p>
            <a:pPr>
              <a:lnSpc>
                <a:spcPts val="1921"/>
              </a:lnSpc>
              <a:spcBef>
                <a:spcPts val="0"/>
              </a:spcBef>
              <a:spcAft>
                <a:spcPts val="0"/>
              </a:spcAft>
              <a:defRPr sz="1575" b="0">
                <a:solidFill>
                  <a:srgbClr val="F4F5F4"/>
                </a:solidFill>
                <a:latin typeface="DejaVu Sans"/>
              </a:defRPr>
            </a:pPr>
            <a:r>
              <a:t>тухайн улсын нөхцөлд</a:t>
            </a:r>
          </a:p>
          <a:p>
            <a:pPr>
              <a:lnSpc>
                <a:spcPts val="1921"/>
              </a:lnSpc>
              <a:spcBef>
                <a:spcPts val="0"/>
              </a:spcBef>
              <a:spcAft>
                <a:spcPts val="0"/>
              </a:spcAft>
              <a:defRPr sz="1575" b="0">
                <a:solidFill>
                  <a:srgbClr val="F4F5F4"/>
                </a:solidFill>
                <a:latin typeface="DejaVu Sans"/>
              </a:defRPr>
            </a:pPr>
            <a:r>
              <a:t>тулгуурлана.</a:t>
            </a:r>
          </a:p>
        </p:txBody>
      </p:sp>
      <p:sp>
        <p:nvSpPr>
          <p:cNvPr id="49" name="Rounded Rectangle 48"/>
          <p:cNvSpPr/>
          <p:nvPr/>
        </p:nvSpPr>
        <p:spPr>
          <a:xfrm>
            <a:off x="4333875" y="3438525"/>
            <a:ext cx="3619500" cy="2400300"/>
          </a:xfrm>
          <a:prstGeom prst="roundRect">
            <a:avLst>
              <a:gd name="adj" fmla="val 476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267200" y="3333750"/>
            <a:ext cx="3619500" cy="2400300"/>
          </a:xfrm>
          <a:prstGeom prst="roundRect">
            <a:avLst>
              <a:gd name="adj" fmla="val 396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276725" y="33432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276725" y="3362325"/>
            <a:ext cx="19050" cy="2343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333875"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457700" y="3524250"/>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Олон хэмжээст хомсдол</a:t>
            </a:r>
          </a:p>
        </p:txBody>
      </p:sp>
      <p:sp>
        <p:nvSpPr>
          <p:cNvPr id="55" name="TextBox 54"/>
          <p:cNvSpPr txBox="1"/>
          <p:nvPr/>
        </p:nvSpPr>
        <p:spPr>
          <a:xfrm>
            <a:off x="4457700" y="4143375"/>
            <a:ext cx="3238500" cy="1428750"/>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Боловсрол, эрүүл мэнд,</a:t>
            </a:r>
          </a:p>
          <a:p>
            <a:pPr>
              <a:lnSpc>
                <a:spcPts val="1921"/>
              </a:lnSpc>
              <a:spcBef>
                <a:spcPts val="0"/>
              </a:spcBef>
              <a:spcAft>
                <a:spcPts val="0"/>
              </a:spcAft>
              <a:defRPr sz="1575" b="0">
                <a:solidFill>
                  <a:srgbClr val="F4F5F4"/>
                </a:solidFill>
                <a:latin typeface="DejaVu Sans"/>
              </a:defRPr>
            </a:pPr>
            <a:r>
              <a:t>ундны ус, ариун цэвэр, орон</a:t>
            </a:r>
          </a:p>
          <a:p>
            <a:pPr>
              <a:lnSpc>
                <a:spcPts val="1921"/>
              </a:lnSpc>
              <a:spcBef>
                <a:spcPts val="0"/>
              </a:spcBef>
              <a:spcAft>
                <a:spcPts val="0"/>
              </a:spcAft>
              <a:defRPr sz="1575" b="0">
                <a:solidFill>
                  <a:srgbClr val="F4F5F4"/>
                </a:solidFill>
                <a:latin typeface="DejaVu Sans"/>
              </a:defRPr>
            </a:pPr>
            <a:r>
              <a:t>сууцны дутагдлыг хамтад нь</a:t>
            </a:r>
          </a:p>
          <a:p>
            <a:pPr>
              <a:lnSpc>
                <a:spcPts val="1921"/>
              </a:lnSpc>
              <a:spcBef>
                <a:spcPts val="0"/>
              </a:spcBef>
              <a:spcAft>
                <a:spcPts val="0"/>
              </a:spcAft>
              <a:defRPr sz="1575" b="0">
                <a:solidFill>
                  <a:srgbClr val="F4F5F4"/>
                </a:solidFill>
                <a:latin typeface="DejaVu Sans"/>
              </a:defRPr>
            </a:pPr>
            <a:r>
              <a:t>харна.</a:t>
            </a:r>
          </a:p>
        </p:txBody>
      </p:sp>
      <p:sp>
        <p:nvSpPr>
          <p:cNvPr id="56" name="Rounded Rectangle 55"/>
          <p:cNvSpPr/>
          <p:nvPr/>
        </p:nvSpPr>
        <p:spPr>
          <a:xfrm>
            <a:off x="8143875" y="3438525"/>
            <a:ext cx="3619500" cy="2400300"/>
          </a:xfrm>
          <a:prstGeom prst="roundRect">
            <a:avLst>
              <a:gd name="adj" fmla="val 476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8077200" y="3333750"/>
            <a:ext cx="3619500" cy="2400300"/>
          </a:xfrm>
          <a:prstGeom prst="roundRect">
            <a:avLst>
              <a:gd name="adj" fmla="val 396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086725" y="33432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086725" y="3362325"/>
            <a:ext cx="19050" cy="2343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43875"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267699" y="3524250"/>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Нийгмийн гадуурхал</a:t>
            </a:r>
          </a:p>
        </p:txBody>
      </p:sp>
      <p:sp>
        <p:nvSpPr>
          <p:cNvPr id="62" name="TextBox 61"/>
          <p:cNvSpPr txBox="1"/>
          <p:nvPr/>
        </p:nvSpPr>
        <p:spPr>
          <a:xfrm>
            <a:off x="8267699" y="4143375"/>
            <a:ext cx="3238500" cy="1428750"/>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Баримт бичиг, тээвэр, хэл,</a:t>
            </a:r>
          </a:p>
          <a:p>
            <a:pPr>
              <a:lnSpc>
                <a:spcPts val="1921"/>
              </a:lnSpc>
              <a:spcBef>
                <a:spcPts val="0"/>
              </a:spcBef>
              <a:spcAft>
                <a:spcPts val="0"/>
              </a:spcAft>
              <a:defRPr sz="1575" b="0">
                <a:solidFill>
                  <a:srgbClr val="F4F5F4"/>
                </a:solidFill>
                <a:latin typeface="DejaVu Sans"/>
              </a:defRPr>
            </a:pPr>
            <a:r>
              <a:t>цахим ур чадвар, ялгаварлал</a:t>
            </a:r>
          </a:p>
          <a:p>
            <a:pPr>
              <a:lnSpc>
                <a:spcPts val="1921"/>
              </a:lnSpc>
              <a:spcBef>
                <a:spcPts val="0"/>
              </a:spcBef>
              <a:spcAft>
                <a:spcPts val="0"/>
              </a:spcAft>
              <a:defRPr sz="1575" b="0">
                <a:solidFill>
                  <a:srgbClr val="F4F5F4"/>
                </a:solidFill>
                <a:latin typeface="DejaVu Sans"/>
              </a:defRPr>
            </a:pPr>
            <a:r>
              <a:t>зэргээс үйлчилгээ авч</a:t>
            </a:r>
          </a:p>
          <a:p>
            <a:pPr>
              <a:lnSpc>
                <a:spcPts val="1921"/>
              </a:lnSpc>
              <a:spcBef>
                <a:spcPts val="0"/>
              </a:spcBef>
              <a:spcAft>
                <a:spcPts val="0"/>
              </a:spcAft>
              <a:defRPr sz="1575" b="0">
                <a:solidFill>
                  <a:srgbClr val="F4F5F4"/>
                </a:solidFill>
                <a:latin typeface="DejaVu Sans"/>
              </a:defRPr>
            </a:pPr>
            <a:r>
              <a:t>чадахгүй болох.</a:t>
            </a:r>
          </a:p>
        </p:txBody>
      </p:sp>
      <p:sp>
        <p:nvSpPr>
          <p:cNvPr id="63" name="Rounded Rectangle 62"/>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Нэг үзүүлэлт бүх асуудлыг тайлбарлахгүй. Орлого, үйлчилгээний хүртээмж, эрхийн хамгаалалтыг хамт үнэлнэ.</a:t>
            </a:r>
          </a:p>
        </p:txBody>
      </p:sp>
      <p:sp>
        <p:nvSpPr>
          <p:cNvPr id="70" name="Rectangle 69"/>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POV · SDG</a:t>
            </a:r>
          </a:p>
        </p:txBody>
      </p:sp>
      <p:sp>
        <p:nvSpPr>
          <p:cNvPr id="72" name="TextBox 71"/>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3" name="TextBox 72"/>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МОНГОЛЫН НӨХЦӨЛ</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5905500" cy="771525"/>
          </a:xfrm>
          <a:prstGeom prst="rect">
            <a:avLst/>
          </a:prstGeom>
          <a:noFill/>
        </p:spPr>
        <p:txBody>
          <a:bodyPr wrap="none" lIns="0" tIns="0" rIns="0" bIns="0">
            <a:spAutoFit/>
          </a:bodyPr>
          <a:lstStyle/>
          <a:p>
            <a:pPr>
              <a:lnSpc>
                <a:spcPts val="4758"/>
              </a:lnSpc>
              <a:spcBef>
                <a:spcPts val="0"/>
              </a:spcBef>
              <a:spcAft>
                <a:spcPts val="0"/>
              </a:spcAft>
              <a:defRPr sz="3900" b="1">
                <a:solidFill>
                  <a:srgbClr val="030A13"/>
                </a:solidFill>
                <a:latin typeface="Open Sans Condensed"/>
              </a:defRPr>
            </a:pPr>
            <a:r>
              <a:t>ЯДУУРАЛ / МОНГОЛ</a:t>
            </a:r>
          </a:p>
        </p:txBody>
      </p:sp>
      <p:sp>
        <p:nvSpPr>
          <p:cNvPr id="35" name="TextBox 34"/>
          <p:cNvSpPr txBox="1"/>
          <p:nvPr/>
        </p:nvSpPr>
        <p:spPr>
          <a:xfrm>
            <a:off x="457200" y="942975"/>
            <a:ext cx="5905500" cy="771525"/>
          </a:xfrm>
          <a:prstGeom prst="rect">
            <a:avLst/>
          </a:prstGeom>
          <a:noFill/>
        </p:spPr>
        <p:txBody>
          <a:bodyPr wrap="none" lIns="0" tIns="0" rIns="0" bIns="0">
            <a:spAutoFit/>
          </a:bodyPr>
          <a:lstStyle/>
          <a:p>
            <a:pPr>
              <a:lnSpc>
                <a:spcPts val="4758"/>
              </a:lnSpc>
              <a:spcBef>
                <a:spcPts val="0"/>
              </a:spcBef>
              <a:spcAft>
                <a:spcPts val="0"/>
              </a:spcAft>
              <a:defRPr sz="3900" b="1">
                <a:solidFill>
                  <a:srgbClr val="F4F5F4"/>
                </a:solidFill>
                <a:latin typeface="Open Sans Condensed"/>
              </a:defRPr>
            </a:pPr>
            <a:r>
              <a:t>ЯДУУРАЛ / МОНГОЛ</a:t>
            </a:r>
          </a:p>
        </p:txBody>
      </p:sp>
      <p:sp>
        <p:nvSpPr>
          <p:cNvPr id="36" name="TextBox 35"/>
          <p:cNvSpPr txBox="1"/>
          <p:nvPr/>
        </p:nvSpPr>
        <p:spPr>
          <a:xfrm>
            <a:off x="409575" y="1990725"/>
            <a:ext cx="5534025" cy="1428750"/>
          </a:xfrm>
          <a:prstGeom prst="rect">
            <a:avLst/>
          </a:prstGeom>
          <a:noFill/>
        </p:spPr>
        <p:txBody>
          <a:bodyPr wrap="none" lIns="0" tIns="0" rIns="0" bIns="0">
            <a:spAutoFit/>
          </a:bodyPr>
          <a:lstStyle/>
          <a:p>
            <a:pPr>
              <a:lnSpc>
                <a:spcPts val="11236"/>
              </a:lnSpc>
              <a:spcBef>
                <a:spcPts val="0"/>
              </a:spcBef>
              <a:spcAft>
                <a:spcPts val="0"/>
              </a:spcAft>
              <a:defRPr sz="9210" b="1">
                <a:solidFill>
                  <a:srgbClr val="F1C75B"/>
                </a:solidFill>
                <a:latin typeface="Open Sans Condensed"/>
              </a:defRPr>
            </a:pPr>
            <a:r>
              <a:t>27.1%</a:t>
            </a:r>
          </a:p>
        </p:txBody>
      </p:sp>
      <p:sp>
        <p:nvSpPr>
          <p:cNvPr id="37" name="TextBox 36"/>
          <p:cNvSpPr txBox="1"/>
          <p:nvPr/>
        </p:nvSpPr>
        <p:spPr>
          <a:xfrm>
            <a:off x="514350" y="3571875"/>
            <a:ext cx="4543425" cy="733425"/>
          </a:xfrm>
          <a:prstGeom prst="rect">
            <a:avLst/>
          </a:prstGeom>
          <a:noFill/>
        </p:spPr>
        <p:txBody>
          <a:bodyPr wrap="none" lIns="0" tIns="0" rIns="0" bIns="0">
            <a:spAutoFit/>
          </a:bodyPr>
          <a:lstStyle/>
          <a:p>
            <a:pPr>
              <a:lnSpc>
                <a:spcPts val="2561"/>
              </a:lnSpc>
              <a:spcBef>
                <a:spcPts val="0"/>
              </a:spcBef>
              <a:spcAft>
                <a:spcPts val="0"/>
              </a:spcAft>
              <a:defRPr sz="2100" b="1">
                <a:solidFill>
                  <a:srgbClr val="F4F5F4"/>
                </a:solidFill>
                <a:latin typeface="DejaVu Sans"/>
              </a:defRPr>
            </a:pPr>
            <a:r>
              <a:t>2022 оны үндэсний</a:t>
            </a:r>
          </a:p>
          <a:p>
            <a:pPr>
              <a:lnSpc>
                <a:spcPts val="2561"/>
              </a:lnSpc>
              <a:spcBef>
                <a:spcPts val="0"/>
              </a:spcBef>
              <a:spcAft>
                <a:spcPts val="0"/>
              </a:spcAft>
              <a:defRPr sz="2100" b="1">
                <a:solidFill>
                  <a:srgbClr val="F4F5F4"/>
                </a:solidFill>
                <a:latin typeface="DejaVu Sans"/>
              </a:defRPr>
            </a:pPr>
            <a:r>
              <a:t>ядуурлын түвшин</a:t>
            </a:r>
          </a:p>
        </p:txBody>
      </p:sp>
      <p:sp>
        <p:nvSpPr>
          <p:cNvPr id="38" name="TextBox 37"/>
          <p:cNvSpPr txBox="1"/>
          <p:nvPr/>
        </p:nvSpPr>
        <p:spPr>
          <a:xfrm>
            <a:off x="514350" y="4676775"/>
            <a:ext cx="4514850" cy="781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Ойролцоогоор 4 хүн тутмын 1.</a:t>
            </a:r>
          </a:p>
          <a:p>
            <a:pPr>
              <a:lnSpc>
                <a:spcPts val="2104"/>
              </a:lnSpc>
              <a:spcBef>
                <a:spcPts val="0"/>
              </a:spcBef>
              <a:spcAft>
                <a:spcPts val="0"/>
              </a:spcAft>
              <a:defRPr sz="1725" b="0">
                <a:solidFill>
                  <a:srgbClr val="F4F5F4"/>
                </a:solidFill>
                <a:latin typeface="DejaVu Sans"/>
              </a:defRPr>
            </a:pPr>
            <a:r>
              <a:t>2016–2022: −2.5 нэгж хувь.</a:t>
            </a:r>
          </a:p>
        </p:txBody>
      </p:sp>
      <p:sp>
        <p:nvSpPr>
          <p:cNvPr id="39" name="Rounded Rectangle 38"/>
          <p:cNvSpPr/>
          <p:nvPr/>
        </p:nvSpPr>
        <p:spPr>
          <a:xfrm>
            <a:off x="5943600" y="1885950"/>
            <a:ext cx="5838825" cy="3981450"/>
          </a:xfrm>
          <a:prstGeom prst="roundRect">
            <a:avLst>
              <a:gd name="adj" fmla="val 287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876925" y="1781175"/>
            <a:ext cx="5838825" cy="3981450"/>
          </a:xfrm>
          <a:prstGeom prst="roundRect">
            <a:avLst>
              <a:gd name="adj" fmla="val 239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86450" y="1790700"/>
            <a:ext cx="58197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86450" y="1809750"/>
            <a:ext cx="19050" cy="39243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43600" y="5743575"/>
            <a:ext cx="57054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96000" y="1924049"/>
            <a:ext cx="5334000" cy="276225"/>
          </a:xfrm>
          <a:prstGeom prst="rect">
            <a:avLst/>
          </a:prstGeom>
          <a:noFill/>
        </p:spPr>
        <p:txBody>
          <a:bodyPr wrap="none" lIns="0" tIns="0" rIns="0" bIns="0">
            <a:spAutoFit/>
          </a:bodyPr>
          <a:lstStyle/>
          <a:p>
            <a:pPr>
              <a:lnSpc>
                <a:spcPts val="1280"/>
              </a:lnSpc>
              <a:spcBef>
                <a:spcPts val="0"/>
              </a:spcBef>
              <a:spcAft>
                <a:spcPts val="0"/>
              </a:spcAft>
              <a:defRPr sz="1050" b="0">
                <a:solidFill>
                  <a:srgbClr val="B3C2D3"/>
                </a:solidFill>
                <a:latin typeface="DejaVu Sans Mono"/>
              </a:defRPr>
            </a:pPr>
            <a:r>
              <a:t>ҮНДЭСНИЙ БОСГО / ХҮН АМЫН ХУВЬ</a:t>
            </a:r>
          </a:p>
        </p:txBody>
      </p:sp>
      <p:cxnSp>
        <p:nvCxnSpPr>
          <p:cNvPr id="45" name="Connector 44"/>
          <p:cNvCxnSpPr/>
          <p:nvPr/>
        </p:nvCxnSpPr>
        <p:spPr>
          <a:xfrm>
            <a:off x="6162675" y="5248275"/>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010275" y="5153025"/>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0</a:t>
            </a:r>
          </a:p>
        </p:txBody>
      </p:sp>
      <p:cxnSp>
        <p:nvCxnSpPr>
          <p:cNvPr id="47" name="Connector 46"/>
          <p:cNvCxnSpPr/>
          <p:nvPr/>
        </p:nvCxnSpPr>
        <p:spPr>
          <a:xfrm>
            <a:off x="6162675" y="4524375"/>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010275" y="4429125"/>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10</a:t>
            </a:r>
          </a:p>
        </p:txBody>
      </p:sp>
      <p:cxnSp>
        <p:nvCxnSpPr>
          <p:cNvPr id="49" name="Connector 48"/>
          <p:cNvCxnSpPr/>
          <p:nvPr/>
        </p:nvCxnSpPr>
        <p:spPr>
          <a:xfrm>
            <a:off x="6162675" y="3800475"/>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010275" y="3705224"/>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20</a:t>
            </a:r>
          </a:p>
        </p:txBody>
      </p:sp>
      <p:cxnSp>
        <p:nvCxnSpPr>
          <p:cNvPr id="51" name="Connector 50"/>
          <p:cNvCxnSpPr/>
          <p:nvPr/>
        </p:nvCxnSpPr>
        <p:spPr>
          <a:xfrm>
            <a:off x="6162675" y="3076575"/>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010275" y="2981325"/>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30</a:t>
            </a:r>
          </a:p>
        </p:txBody>
      </p:sp>
      <p:sp>
        <p:nvSpPr>
          <p:cNvPr id="53" name="Freeform 52"/>
          <p:cNvSpPr/>
          <p:nvPr/>
        </p:nvSpPr>
        <p:spPr>
          <a:xfrm>
            <a:off x="7038975" y="2952750"/>
            <a:ext cx="152400" cy="2295525"/>
          </a:xfrm>
          <a:custGeom>
            <a:avLst/>
            <a:gdLst/>
            <a:ahLst/>
            <a:cxnLst/>
            <a:rect l="l" t="t" r="r" b="b"/>
            <a:pathLst>
              <a:path w="16" h="241">
                <a:moveTo>
                  <a:pt x="0" y="16"/>
                </a:moveTo>
                <a:lnTo>
                  <a:pt x="16" y="0"/>
                </a:lnTo>
                <a:lnTo>
                  <a:pt x="16" y="225"/>
                </a:lnTo>
                <a:lnTo>
                  <a:pt x="0" y="241"/>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524625" y="3105531"/>
            <a:ext cx="514350" cy="2142744"/>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524625" y="3105531"/>
            <a:ext cx="66198" cy="2142744"/>
          </a:xfrm>
          <a:prstGeom prst="rect">
            <a:avLst/>
          </a:prstGeom>
          <a:solidFill>
            <a:srgbClr val="FFFFFF">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88918" y="3105531"/>
            <a:ext cx="66198" cy="2142744"/>
          </a:xfrm>
          <a:prstGeom prst="rect">
            <a:avLst/>
          </a:prstGeom>
          <a:solidFill>
            <a:srgbClr val="FFFFFF">
              <a:alpha val="1137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653212" y="3105531"/>
            <a:ext cx="66198" cy="2142744"/>
          </a:xfrm>
          <a:prstGeom prst="rect">
            <a:avLst/>
          </a:prstGeom>
          <a:solidFill>
            <a:srgbClr val="FFFFFF">
              <a:alpha val="975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17506" y="3105531"/>
            <a:ext cx="66198" cy="2142744"/>
          </a:xfrm>
          <a:prstGeom prst="rect">
            <a:avLst/>
          </a:prstGeom>
          <a:solidFill>
            <a:srgbClr val="FFFFFF">
              <a:alpha val="812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781800" y="3105531"/>
            <a:ext cx="66198" cy="2142744"/>
          </a:xfrm>
          <a:prstGeom prst="rect">
            <a:avLst/>
          </a:prstGeom>
          <a:solidFill>
            <a:srgbClr val="FFFFFF">
              <a:alpha val="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846093" y="3105531"/>
            <a:ext cx="66198" cy="2142744"/>
          </a:xfrm>
          <a:prstGeom prst="rect">
            <a:avLst/>
          </a:prstGeom>
          <a:solidFill>
            <a:srgbClr val="FFFFFF">
              <a:alpha val="487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910387" y="3105531"/>
            <a:ext cx="66198" cy="2142744"/>
          </a:xfrm>
          <a:prstGeom prst="rect">
            <a:avLst/>
          </a:prstGeom>
          <a:solidFill>
            <a:srgbClr val="FFFFFF">
              <a:alpha val="325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974681" y="3105531"/>
            <a:ext cx="66198" cy="2142744"/>
          </a:xfrm>
          <a:prstGeom prst="rect">
            <a:avLst/>
          </a:prstGeom>
          <a:solidFill>
            <a:srgbClr val="FFFFFF">
              <a:alpha val="162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Freeform 62"/>
          <p:cNvSpPr/>
          <p:nvPr/>
        </p:nvSpPr>
        <p:spPr>
          <a:xfrm>
            <a:off x="6524625" y="2952750"/>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10325" y="2619756"/>
            <a:ext cx="942975" cy="314325"/>
          </a:xfrm>
          <a:prstGeom prst="rect">
            <a:avLst/>
          </a:prstGeom>
          <a:noFill/>
        </p:spPr>
        <p:txBody>
          <a:bodyPr wrap="none" lIns="0" tIns="0" rIns="0" bIns="0">
            <a:spAutoFit/>
          </a:bodyPr>
          <a:lstStyle/>
          <a:p>
            <a:pPr algn="ctr">
              <a:lnSpc>
                <a:spcPts val="1921"/>
              </a:lnSpc>
              <a:spcBef>
                <a:spcPts val="0"/>
              </a:spcBef>
              <a:spcAft>
                <a:spcPts val="0"/>
              </a:spcAft>
              <a:defRPr sz="1575" b="1">
                <a:solidFill>
                  <a:srgbClr val="F4F5F4"/>
                </a:solidFill>
                <a:latin typeface="DejaVu Sans"/>
              </a:defRPr>
            </a:pPr>
            <a:r>
              <a:t>29.6%</a:t>
            </a:r>
          </a:p>
        </p:txBody>
      </p:sp>
      <p:sp>
        <p:nvSpPr>
          <p:cNvPr id="65" name="TextBox 64"/>
          <p:cNvSpPr txBox="1"/>
          <p:nvPr/>
        </p:nvSpPr>
        <p:spPr>
          <a:xfrm>
            <a:off x="6410325" y="5391150"/>
            <a:ext cx="933449" cy="228600"/>
          </a:xfrm>
          <a:prstGeom prst="rect">
            <a:avLst/>
          </a:prstGeom>
          <a:noFill/>
        </p:spPr>
        <p:txBody>
          <a:bodyPr wrap="none" lIns="0" tIns="0" rIns="0" bIns="0">
            <a:spAutoFit/>
          </a:bodyPr>
          <a:lstStyle/>
          <a:p>
            <a:pPr algn="ctr">
              <a:lnSpc>
                <a:spcPts val="1372"/>
              </a:lnSpc>
              <a:spcBef>
                <a:spcPts val="0"/>
              </a:spcBef>
              <a:spcAft>
                <a:spcPts val="0"/>
              </a:spcAft>
              <a:defRPr sz="1125" b="0">
                <a:solidFill>
                  <a:srgbClr val="B3C2D3"/>
                </a:solidFill>
                <a:latin typeface="DejaVu Sans Mono"/>
              </a:defRPr>
            </a:pPr>
            <a:r>
              <a:t>2016</a:t>
            </a:r>
          </a:p>
        </p:txBody>
      </p:sp>
      <p:sp>
        <p:nvSpPr>
          <p:cNvPr id="66" name="Freeform 65"/>
          <p:cNvSpPr/>
          <p:nvPr/>
        </p:nvSpPr>
        <p:spPr>
          <a:xfrm>
            <a:off x="8267700" y="3038475"/>
            <a:ext cx="152400" cy="2209800"/>
          </a:xfrm>
          <a:custGeom>
            <a:avLst/>
            <a:gdLst/>
            <a:ahLst/>
            <a:cxnLst/>
            <a:rect l="l" t="t" r="r" b="b"/>
            <a:pathLst>
              <a:path w="16" h="232">
                <a:moveTo>
                  <a:pt x="0" y="16"/>
                </a:moveTo>
                <a:lnTo>
                  <a:pt x="16" y="0"/>
                </a:lnTo>
                <a:lnTo>
                  <a:pt x="16" y="216"/>
                </a:lnTo>
                <a:lnTo>
                  <a:pt x="0" y="232"/>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753349" y="3192399"/>
            <a:ext cx="514350" cy="2055875"/>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53349" y="3192399"/>
            <a:ext cx="66198" cy="2055875"/>
          </a:xfrm>
          <a:prstGeom prst="rect">
            <a:avLst/>
          </a:prstGeom>
          <a:solidFill>
            <a:srgbClr val="FFFFFF">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817643" y="3192399"/>
            <a:ext cx="66198" cy="2055875"/>
          </a:xfrm>
          <a:prstGeom prst="rect">
            <a:avLst/>
          </a:prstGeom>
          <a:solidFill>
            <a:srgbClr val="FFFFFF">
              <a:alpha val="1137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7881937" y="3192399"/>
            <a:ext cx="66198" cy="2055875"/>
          </a:xfrm>
          <a:prstGeom prst="rect">
            <a:avLst/>
          </a:prstGeom>
          <a:solidFill>
            <a:srgbClr val="FFFFFF">
              <a:alpha val="975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946231" y="3192399"/>
            <a:ext cx="66198" cy="2055875"/>
          </a:xfrm>
          <a:prstGeom prst="rect">
            <a:avLst/>
          </a:prstGeom>
          <a:solidFill>
            <a:srgbClr val="FFFFFF">
              <a:alpha val="812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010524" y="3192399"/>
            <a:ext cx="66198" cy="2055875"/>
          </a:xfrm>
          <a:prstGeom prst="rect">
            <a:avLst/>
          </a:prstGeom>
          <a:solidFill>
            <a:srgbClr val="FFFFFF">
              <a:alpha val="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074818" y="3192399"/>
            <a:ext cx="66198" cy="2055875"/>
          </a:xfrm>
          <a:prstGeom prst="rect">
            <a:avLst/>
          </a:prstGeom>
          <a:solidFill>
            <a:srgbClr val="FFFFFF">
              <a:alpha val="487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139112" y="3192399"/>
            <a:ext cx="66198" cy="2055875"/>
          </a:xfrm>
          <a:prstGeom prst="rect">
            <a:avLst/>
          </a:prstGeom>
          <a:solidFill>
            <a:srgbClr val="FFFFFF">
              <a:alpha val="325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203406" y="3192399"/>
            <a:ext cx="66198" cy="2055875"/>
          </a:xfrm>
          <a:prstGeom prst="rect">
            <a:avLst/>
          </a:prstGeom>
          <a:solidFill>
            <a:srgbClr val="FFFFFF">
              <a:alpha val="162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Freeform 75"/>
          <p:cNvSpPr/>
          <p:nvPr/>
        </p:nvSpPr>
        <p:spPr>
          <a:xfrm>
            <a:off x="7753350" y="3038475"/>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639049" y="2706624"/>
            <a:ext cx="942975" cy="314325"/>
          </a:xfrm>
          <a:prstGeom prst="rect">
            <a:avLst/>
          </a:prstGeom>
          <a:noFill/>
        </p:spPr>
        <p:txBody>
          <a:bodyPr wrap="none" lIns="0" tIns="0" rIns="0" bIns="0">
            <a:spAutoFit/>
          </a:bodyPr>
          <a:lstStyle/>
          <a:p>
            <a:pPr algn="ctr">
              <a:lnSpc>
                <a:spcPts val="1921"/>
              </a:lnSpc>
              <a:spcBef>
                <a:spcPts val="0"/>
              </a:spcBef>
              <a:spcAft>
                <a:spcPts val="0"/>
              </a:spcAft>
              <a:defRPr sz="1575" b="1">
                <a:solidFill>
                  <a:srgbClr val="F4F5F4"/>
                </a:solidFill>
                <a:latin typeface="DejaVu Sans"/>
              </a:defRPr>
            </a:pPr>
            <a:r>
              <a:t>28.4%</a:t>
            </a:r>
          </a:p>
        </p:txBody>
      </p:sp>
      <p:sp>
        <p:nvSpPr>
          <p:cNvPr id="78" name="TextBox 77"/>
          <p:cNvSpPr txBox="1"/>
          <p:nvPr/>
        </p:nvSpPr>
        <p:spPr>
          <a:xfrm>
            <a:off x="7639049" y="5391150"/>
            <a:ext cx="933449" cy="228600"/>
          </a:xfrm>
          <a:prstGeom prst="rect">
            <a:avLst/>
          </a:prstGeom>
          <a:noFill/>
        </p:spPr>
        <p:txBody>
          <a:bodyPr wrap="none" lIns="0" tIns="0" rIns="0" bIns="0">
            <a:spAutoFit/>
          </a:bodyPr>
          <a:lstStyle/>
          <a:p>
            <a:pPr algn="ctr">
              <a:lnSpc>
                <a:spcPts val="1372"/>
              </a:lnSpc>
              <a:spcBef>
                <a:spcPts val="0"/>
              </a:spcBef>
              <a:spcAft>
                <a:spcPts val="0"/>
              </a:spcAft>
              <a:defRPr sz="1125" b="0">
                <a:solidFill>
                  <a:srgbClr val="B3C2D3"/>
                </a:solidFill>
                <a:latin typeface="DejaVu Sans Mono"/>
              </a:defRPr>
            </a:pPr>
            <a:r>
              <a:t>2018</a:t>
            </a:r>
          </a:p>
        </p:txBody>
      </p:sp>
      <p:sp>
        <p:nvSpPr>
          <p:cNvPr id="79" name="Freeform 78"/>
          <p:cNvSpPr/>
          <p:nvPr/>
        </p:nvSpPr>
        <p:spPr>
          <a:xfrm>
            <a:off x="9496425" y="3086100"/>
            <a:ext cx="152400" cy="2162175"/>
          </a:xfrm>
          <a:custGeom>
            <a:avLst/>
            <a:gdLst/>
            <a:ahLst/>
            <a:cxnLst/>
            <a:rect l="l" t="t" r="r" b="b"/>
            <a:pathLst>
              <a:path w="16" h="227">
                <a:moveTo>
                  <a:pt x="0" y="16"/>
                </a:moveTo>
                <a:lnTo>
                  <a:pt x="16" y="0"/>
                </a:lnTo>
                <a:lnTo>
                  <a:pt x="16" y="211"/>
                </a:lnTo>
                <a:lnTo>
                  <a:pt x="0" y="227"/>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2075" y="3235833"/>
            <a:ext cx="514350" cy="2012441"/>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982075" y="3235833"/>
            <a:ext cx="66198" cy="2012441"/>
          </a:xfrm>
          <a:prstGeom prst="rect">
            <a:avLst/>
          </a:prstGeom>
          <a:solidFill>
            <a:srgbClr val="FFFFFF">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9046368" y="3235833"/>
            <a:ext cx="66198" cy="2012441"/>
          </a:xfrm>
          <a:prstGeom prst="rect">
            <a:avLst/>
          </a:prstGeom>
          <a:solidFill>
            <a:srgbClr val="FFFFFF">
              <a:alpha val="1137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110662" y="3235833"/>
            <a:ext cx="66198" cy="2012441"/>
          </a:xfrm>
          <a:prstGeom prst="rect">
            <a:avLst/>
          </a:prstGeom>
          <a:solidFill>
            <a:srgbClr val="FFFFFF">
              <a:alpha val="975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174956" y="3235833"/>
            <a:ext cx="66198" cy="2012441"/>
          </a:xfrm>
          <a:prstGeom prst="rect">
            <a:avLst/>
          </a:prstGeom>
          <a:solidFill>
            <a:srgbClr val="FFFFFF">
              <a:alpha val="812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239250" y="3235833"/>
            <a:ext cx="66198" cy="2012441"/>
          </a:xfrm>
          <a:prstGeom prst="rect">
            <a:avLst/>
          </a:prstGeom>
          <a:solidFill>
            <a:srgbClr val="FFFFFF">
              <a:alpha val="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303543" y="3235833"/>
            <a:ext cx="66198" cy="2012441"/>
          </a:xfrm>
          <a:prstGeom prst="rect">
            <a:avLst/>
          </a:prstGeom>
          <a:solidFill>
            <a:srgbClr val="FFFFFF">
              <a:alpha val="487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367837" y="3235833"/>
            <a:ext cx="66198" cy="2012441"/>
          </a:xfrm>
          <a:prstGeom prst="rect">
            <a:avLst/>
          </a:prstGeom>
          <a:solidFill>
            <a:srgbClr val="FFFFFF">
              <a:alpha val="325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432131" y="3235833"/>
            <a:ext cx="66198" cy="2012441"/>
          </a:xfrm>
          <a:prstGeom prst="rect">
            <a:avLst/>
          </a:prstGeom>
          <a:solidFill>
            <a:srgbClr val="FFFFFF">
              <a:alpha val="162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Freeform 88"/>
          <p:cNvSpPr/>
          <p:nvPr/>
        </p:nvSpPr>
        <p:spPr>
          <a:xfrm>
            <a:off x="8982075" y="3086100"/>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867775" y="2750058"/>
            <a:ext cx="942975" cy="314325"/>
          </a:xfrm>
          <a:prstGeom prst="rect">
            <a:avLst/>
          </a:prstGeom>
          <a:noFill/>
        </p:spPr>
        <p:txBody>
          <a:bodyPr wrap="none" lIns="0" tIns="0" rIns="0" bIns="0">
            <a:spAutoFit/>
          </a:bodyPr>
          <a:lstStyle/>
          <a:p>
            <a:pPr algn="ctr">
              <a:lnSpc>
                <a:spcPts val="1921"/>
              </a:lnSpc>
              <a:spcBef>
                <a:spcPts val="0"/>
              </a:spcBef>
              <a:spcAft>
                <a:spcPts val="0"/>
              </a:spcAft>
              <a:defRPr sz="1575" b="1">
                <a:solidFill>
                  <a:srgbClr val="F4F5F4"/>
                </a:solidFill>
                <a:latin typeface="DejaVu Sans"/>
              </a:defRPr>
            </a:pPr>
            <a:r>
              <a:t>27.8%</a:t>
            </a:r>
          </a:p>
        </p:txBody>
      </p:sp>
      <p:sp>
        <p:nvSpPr>
          <p:cNvPr id="91" name="TextBox 90"/>
          <p:cNvSpPr txBox="1"/>
          <p:nvPr/>
        </p:nvSpPr>
        <p:spPr>
          <a:xfrm>
            <a:off x="8867775" y="5391150"/>
            <a:ext cx="933449" cy="228600"/>
          </a:xfrm>
          <a:prstGeom prst="rect">
            <a:avLst/>
          </a:prstGeom>
          <a:noFill/>
        </p:spPr>
        <p:txBody>
          <a:bodyPr wrap="none" lIns="0" tIns="0" rIns="0" bIns="0">
            <a:spAutoFit/>
          </a:bodyPr>
          <a:lstStyle/>
          <a:p>
            <a:pPr algn="ctr">
              <a:lnSpc>
                <a:spcPts val="1372"/>
              </a:lnSpc>
              <a:spcBef>
                <a:spcPts val="0"/>
              </a:spcBef>
              <a:spcAft>
                <a:spcPts val="0"/>
              </a:spcAft>
              <a:defRPr sz="1125" b="0">
                <a:solidFill>
                  <a:srgbClr val="B3C2D3"/>
                </a:solidFill>
                <a:latin typeface="DejaVu Sans Mono"/>
              </a:defRPr>
            </a:pPr>
            <a:r>
              <a:t>2020</a:t>
            </a:r>
          </a:p>
        </p:txBody>
      </p:sp>
      <p:sp>
        <p:nvSpPr>
          <p:cNvPr id="92" name="Freeform 91"/>
          <p:cNvSpPr/>
          <p:nvPr/>
        </p:nvSpPr>
        <p:spPr>
          <a:xfrm>
            <a:off x="10725150" y="3133725"/>
            <a:ext cx="152400" cy="2114550"/>
          </a:xfrm>
          <a:custGeom>
            <a:avLst/>
            <a:gdLst/>
            <a:ahLst/>
            <a:cxnLst/>
            <a:rect l="l" t="t" r="r" b="b"/>
            <a:pathLst>
              <a:path w="16" h="222">
                <a:moveTo>
                  <a:pt x="0" y="16"/>
                </a:moveTo>
                <a:lnTo>
                  <a:pt x="16" y="0"/>
                </a:lnTo>
                <a:lnTo>
                  <a:pt x="16" y="206"/>
                </a:lnTo>
                <a:lnTo>
                  <a:pt x="0" y="222"/>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0210800" y="3286505"/>
            <a:ext cx="514350" cy="1961769"/>
          </a:xfrm>
          <a:prstGeom prst="rect">
            <a:avLst/>
          </a:prstGeom>
          <a:solidFill>
            <a:srgbClr val="D3A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0210800" y="3286505"/>
            <a:ext cx="66198" cy="1961769"/>
          </a:xfrm>
          <a:prstGeom prst="rect">
            <a:avLst/>
          </a:prstGeom>
          <a:solidFill>
            <a:srgbClr val="FFFFFF">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0275093" y="3286505"/>
            <a:ext cx="66198" cy="1961769"/>
          </a:xfrm>
          <a:prstGeom prst="rect">
            <a:avLst/>
          </a:prstGeom>
          <a:solidFill>
            <a:srgbClr val="FFFFFF">
              <a:alpha val="1137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0339387" y="3286505"/>
            <a:ext cx="66198" cy="1961769"/>
          </a:xfrm>
          <a:prstGeom prst="rect">
            <a:avLst/>
          </a:prstGeom>
          <a:solidFill>
            <a:srgbClr val="FFFFFF">
              <a:alpha val="975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403681" y="3286505"/>
            <a:ext cx="66198" cy="1961769"/>
          </a:xfrm>
          <a:prstGeom prst="rect">
            <a:avLst/>
          </a:prstGeom>
          <a:solidFill>
            <a:srgbClr val="FFFFFF">
              <a:alpha val="812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467975" y="3286505"/>
            <a:ext cx="66198" cy="1961769"/>
          </a:xfrm>
          <a:prstGeom prst="rect">
            <a:avLst/>
          </a:prstGeom>
          <a:solidFill>
            <a:srgbClr val="FFFFFF">
              <a:alpha val="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532268" y="3286505"/>
            <a:ext cx="66198" cy="1961769"/>
          </a:xfrm>
          <a:prstGeom prst="rect">
            <a:avLst/>
          </a:prstGeom>
          <a:solidFill>
            <a:srgbClr val="FFFFFF">
              <a:alpha val="487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596562" y="3286505"/>
            <a:ext cx="66198" cy="1961769"/>
          </a:xfrm>
          <a:prstGeom prst="rect">
            <a:avLst/>
          </a:prstGeom>
          <a:solidFill>
            <a:srgbClr val="FFFFFF">
              <a:alpha val="325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660856" y="3286505"/>
            <a:ext cx="66198" cy="1961769"/>
          </a:xfrm>
          <a:prstGeom prst="rect">
            <a:avLst/>
          </a:prstGeom>
          <a:solidFill>
            <a:srgbClr val="FFFFFF">
              <a:alpha val="1625"/>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Freeform 101"/>
          <p:cNvSpPr/>
          <p:nvPr/>
        </p:nvSpPr>
        <p:spPr>
          <a:xfrm>
            <a:off x="10210800" y="3133725"/>
            <a:ext cx="666750" cy="152400"/>
          </a:xfrm>
          <a:custGeom>
            <a:avLst/>
            <a:gdLst/>
            <a:ahLst/>
            <a:cxnLst/>
            <a:rect l="l" t="t" r="r" b="b"/>
            <a:pathLst>
              <a:path w="70" h="16">
                <a:moveTo>
                  <a:pt x="0" y="16"/>
                </a:moveTo>
                <a:lnTo>
                  <a:pt x="16" y="0"/>
                </a:lnTo>
                <a:lnTo>
                  <a:pt x="70" y="0"/>
                </a:lnTo>
                <a:lnTo>
                  <a:pt x="54" y="16"/>
                </a:lnTo>
                <a:close/>
              </a:path>
            </a:pathLst>
          </a:custGeom>
          <a:solidFill>
            <a:srgbClr val="FFE0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096500" y="2800730"/>
            <a:ext cx="942975" cy="314325"/>
          </a:xfrm>
          <a:prstGeom prst="rect">
            <a:avLst/>
          </a:prstGeom>
          <a:noFill/>
        </p:spPr>
        <p:txBody>
          <a:bodyPr wrap="none" lIns="0" tIns="0" rIns="0" bIns="0">
            <a:spAutoFit/>
          </a:bodyPr>
          <a:lstStyle/>
          <a:p>
            <a:pPr algn="ctr">
              <a:lnSpc>
                <a:spcPts val="1921"/>
              </a:lnSpc>
              <a:spcBef>
                <a:spcPts val="0"/>
              </a:spcBef>
              <a:spcAft>
                <a:spcPts val="0"/>
              </a:spcAft>
              <a:defRPr sz="1575" b="1">
                <a:solidFill>
                  <a:srgbClr val="F4F5F4"/>
                </a:solidFill>
                <a:latin typeface="DejaVu Sans"/>
              </a:defRPr>
            </a:pPr>
            <a:r>
              <a:t>27.1%</a:t>
            </a:r>
          </a:p>
        </p:txBody>
      </p:sp>
      <p:sp>
        <p:nvSpPr>
          <p:cNvPr id="104" name="TextBox 103"/>
          <p:cNvSpPr txBox="1"/>
          <p:nvPr/>
        </p:nvSpPr>
        <p:spPr>
          <a:xfrm>
            <a:off x="10096500" y="5391150"/>
            <a:ext cx="933449" cy="228600"/>
          </a:xfrm>
          <a:prstGeom prst="rect">
            <a:avLst/>
          </a:prstGeom>
          <a:noFill/>
        </p:spPr>
        <p:txBody>
          <a:bodyPr wrap="none" lIns="0" tIns="0" rIns="0" bIns="0">
            <a:spAutoFit/>
          </a:bodyPr>
          <a:lstStyle/>
          <a:p>
            <a:pPr algn="ctr">
              <a:lnSpc>
                <a:spcPts val="1372"/>
              </a:lnSpc>
              <a:spcBef>
                <a:spcPts val="0"/>
              </a:spcBef>
              <a:spcAft>
                <a:spcPts val="0"/>
              </a:spcAft>
              <a:defRPr sz="1125" b="0">
                <a:solidFill>
                  <a:srgbClr val="B3C2D3"/>
                </a:solidFill>
                <a:latin typeface="DejaVu Sans Mono"/>
              </a:defRPr>
            </a:pPr>
            <a:r>
              <a:t>2022</a:t>
            </a:r>
          </a:p>
        </p:txBody>
      </p:sp>
      <p:sp>
        <p:nvSpPr>
          <p:cNvPr id="105" name="Rounded Rectangle 104"/>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2022 онд 27.1% буюу ойролцоогоор 4 хүн тутмын 1 нь үндэсний ядуурлын босгоос доогуур хэрэглээтэй.</a:t>
            </a:r>
          </a:p>
        </p:txBody>
      </p:sp>
      <p:sp>
        <p:nvSpPr>
          <p:cNvPr id="112" name="Rectangle 111"/>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POV</a:t>
            </a:r>
          </a:p>
        </p:txBody>
      </p:sp>
      <p:sp>
        <p:nvSpPr>
          <p:cNvPr id="114" name="TextBox 113"/>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115" name="TextBox 114"/>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rrier.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ШАЛТГААН БА ҮР ДАГАВАР</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191250" cy="1352550"/>
          </a:xfrm>
          <a:prstGeom prst="rect">
            <a:avLst/>
          </a:prstGeom>
          <a:noFill/>
        </p:spPr>
        <p:txBody>
          <a:bodyPr wrap="none" lIns="0" tIns="0" rIns="0" bIns="0">
            <a:spAutoFit/>
          </a:bodyPr>
          <a:lstStyle/>
          <a:p>
            <a:pPr>
              <a:lnSpc>
                <a:spcPts val="5123"/>
              </a:lnSpc>
              <a:spcBef>
                <a:spcPts val="0"/>
              </a:spcBef>
              <a:spcAft>
                <a:spcPts val="0"/>
              </a:spcAft>
              <a:defRPr sz="4200" b="1">
                <a:solidFill>
                  <a:srgbClr val="030A13"/>
                </a:solidFill>
                <a:latin typeface="Open Sans Condensed"/>
              </a:defRPr>
            </a:pPr>
            <a:r>
              <a:t>ЯДУУРЛЫН</a:t>
            </a:r>
          </a:p>
          <a:p>
            <a:pPr>
              <a:lnSpc>
                <a:spcPts val="5123"/>
              </a:lnSpc>
              <a:spcBef>
                <a:spcPts val="0"/>
              </a:spcBef>
              <a:spcAft>
                <a:spcPts val="0"/>
              </a:spcAft>
              <a:defRPr sz="4200" b="1">
                <a:solidFill>
                  <a:srgbClr val="030A13"/>
                </a:solidFill>
                <a:latin typeface="Open Sans Condensed"/>
              </a:defRPr>
            </a:pPr>
            <a:r>
              <a:t>ДАВТАГДАХ ТОЙРОГ</a:t>
            </a:r>
          </a:p>
        </p:txBody>
      </p:sp>
      <p:sp>
        <p:nvSpPr>
          <p:cNvPr id="35" name="TextBox 34"/>
          <p:cNvSpPr txBox="1"/>
          <p:nvPr/>
        </p:nvSpPr>
        <p:spPr>
          <a:xfrm>
            <a:off x="457200" y="942975"/>
            <a:ext cx="6191250" cy="1352550"/>
          </a:xfrm>
          <a:prstGeom prst="rect">
            <a:avLst/>
          </a:prstGeom>
          <a:noFill/>
        </p:spPr>
        <p:txBody>
          <a:bodyPr wrap="none" lIns="0" tIns="0" rIns="0" bIns="0">
            <a:spAutoFit/>
          </a:bodyPr>
          <a:lstStyle/>
          <a:p>
            <a:pPr>
              <a:lnSpc>
                <a:spcPts val="5123"/>
              </a:lnSpc>
              <a:spcBef>
                <a:spcPts val="0"/>
              </a:spcBef>
              <a:spcAft>
                <a:spcPts val="0"/>
              </a:spcAft>
              <a:defRPr sz="4200" b="1">
                <a:solidFill>
                  <a:srgbClr val="F4F5F4"/>
                </a:solidFill>
                <a:latin typeface="Open Sans Condensed"/>
              </a:defRPr>
            </a:pPr>
            <a:r>
              <a:t>ЯДУУРЛЫН</a:t>
            </a:r>
          </a:p>
          <a:p>
            <a:pPr>
              <a:lnSpc>
                <a:spcPts val="5123"/>
              </a:lnSpc>
              <a:spcBef>
                <a:spcPts val="0"/>
              </a:spcBef>
              <a:spcAft>
                <a:spcPts val="0"/>
              </a:spcAft>
              <a:defRPr sz="4200" b="1">
                <a:solidFill>
                  <a:srgbClr val="F4F5F4"/>
                </a:solidFill>
                <a:latin typeface="Open Sans Condensed"/>
              </a:defRPr>
            </a:pPr>
            <a:r>
              <a:t>ДАВТАГДАХ ТОЙРОГ</a:t>
            </a:r>
          </a:p>
        </p:txBody>
      </p:sp>
      <p:sp>
        <p:nvSpPr>
          <p:cNvPr id="36" name="TextBox 35"/>
          <p:cNvSpPr txBox="1"/>
          <p:nvPr/>
        </p:nvSpPr>
        <p:spPr>
          <a:xfrm>
            <a:off x="514350" y="2905125"/>
            <a:ext cx="3667125" cy="1495425"/>
          </a:xfrm>
          <a:prstGeom prst="rect">
            <a:avLst/>
          </a:prstGeom>
          <a:noFill/>
        </p:spPr>
        <p:txBody>
          <a:bodyPr wrap="none" lIns="0" tIns="0" rIns="0" bIns="0">
            <a:spAutoFit/>
          </a:bodyPr>
          <a:lstStyle/>
          <a:p>
            <a:pPr>
              <a:lnSpc>
                <a:spcPts val="2745"/>
              </a:lnSpc>
              <a:spcBef>
                <a:spcPts val="0"/>
              </a:spcBef>
              <a:spcAft>
                <a:spcPts val="0"/>
              </a:spcAft>
              <a:defRPr sz="2250" b="0">
                <a:solidFill>
                  <a:srgbClr val="F4F5F4"/>
                </a:solidFill>
                <a:latin typeface="DejaVu Serif"/>
              </a:defRPr>
            </a:pPr>
            <a:r>
              <a:t>Орлогын эрсдэл</a:t>
            </a:r>
          </a:p>
          <a:p>
            <a:pPr>
              <a:lnSpc>
                <a:spcPts val="2745"/>
              </a:lnSpc>
              <a:spcBef>
                <a:spcPts val="0"/>
              </a:spcBef>
              <a:spcAft>
                <a:spcPts val="0"/>
              </a:spcAft>
              <a:defRPr sz="2250" b="0">
                <a:solidFill>
                  <a:srgbClr val="F4F5F4"/>
                </a:solidFill>
                <a:latin typeface="DejaVu Serif"/>
              </a:defRPr>
            </a:pPr>
            <a:r>
              <a:t>эрхийн хүртээмжийг</a:t>
            </a:r>
          </a:p>
          <a:p>
            <a:pPr>
              <a:lnSpc>
                <a:spcPts val="2745"/>
              </a:lnSpc>
              <a:spcBef>
                <a:spcPts val="0"/>
              </a:spcBef>
              <a:spcAft>
                <a:spcPts val="0"/>
              </a:spcAft>
              <a:defRPr sz="2250" b="0">
                <a:solidFill>
                  <a:srgbClr val="F4F5F4"/>
                </a:solidFill>
                <a:latin typeface="DejaVu Serif"/>
              </a:defRPr>
            </a:pPr>
            <a:r>
              <a:t>хязгаарлаж болно.</a:t>
            </a:r>
          </a:p>
        </p:txBody>
      </p:sp>
      <p:sp>
        <p:nvSpPr>
          <p:cNvPr id="37" name="Rounded Rectangle 36"/>
          <p:cNvSpPr/>
          <p:nvPr/>
        </p:nvSpPr>
        <p:spPr>
          <a:xfrm>
            <a:off x="4600575" y="2295525"/>
            <a:ext cx="3429000" cy="1609725"/>
          </a:xfrm>
          <a:prstGeom prst="roundRect">
            <a:avLst>
              <a:gd name="adj" fmla="val 710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3900" y="2190750"/>
            <a:ext cx="3429000" cy="1609725"/>
          </a:xfrm>
          <a:prstGeom prst="roundRect">
            <a:avLst>
              <a:gd name="adj" fmla="val 591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43425" y="2200275"/>
            <a:ext cx="34099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43425" y="2219325"/>
            <a:ext cx="19050" cy="15525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00575" y="3781425"/>
            <a:ext cx="32956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95825" y="2333625"/>
            <a:ext cx="495299" cy="495299"/>
          </a:xfrm>
          <a:prstGeom prst="rect">
            <a:avLst/>
          </a:prstGeom>
          <a:noFill/>
        </p:spPr>
        <p:txBody>
          <a:bodyPr wrap="none" lIns="0" tIns="0" rIns="0" bIns="0">
            <a:spAutoFit/>
          </a:bodyPr>
          <a:lstStyle/>
          <a:p>
            <a:pPr>
              <a:lnSpc>
                <a:spcPts val="3202"/>
              </a:lnSpc>
              <a:spcBef>
                <a:spcPts val="0"/>
              </a:spcBef>
              <a:spcAft>
                <a:spcPts val="0"/>
              </a:spcAft>
              <a:defRPr sz="2625" b="1">
                <a:solidFill>
                  <a:srgbClr val="F1C75B"/>
                </a:solidFill>
                <a:latin typeface="Open Sans Condensed"/>
              </a:defRPr>
            </a:pPr>
            <a:r>
              <a:t>01</a:t>
            </a:r>
          </a:p>
        </p:txBody>
      </p:sp>
      <p:sp>
        <p:nvSpPr>
          <p:cNvPr id="43" name="TextBox 42"/>
          <p:cNvSpPr txBox="1"/>
          <p:nvPr/>
        </p:nvSpPr>
        <p:spPr>
          <a:xfrm>
            <a:off x="5353050" y="2343150"/>
            <a:ext cx="2400300" cy="36195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Орлогын эрсдэл</a:t>
            </a:r>
          </a:p>
        </p:txBody>
      </p:sp>
      <p:sp>
        <p:nvSpPr>
          <p:cNvPr id="44" name="TextBox 43"/>
          <p:cNvSpPr txBox="1"/>
          <p:nvPr/>
        </p:nvSpPr>
        <p:spPr>
          <a:xfrm>
            <a:off x="5353050" y="2838450"/>
            <a:ext cx="2400300" cy="73342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Ажлын тогтворгүй</a:t>
            </a:r>
          </a:p>
          <a:p>
            <a:pPr>
              <a:lnSpc>
                <a:spcPts val="1921"/>
              </a:lnSpc>
              <a:spcBef>
                <a:spcPts val="0"/>
              </a:spcBef>
              <a:spcAft>
                <a:spcPts val="0"/>
              </a:spcAft>
              <a:defRPr sz="1575" b="0">
                <a:solidFill>
                  <a:srgbClr val="F4F5F4"/>
                </a:solidFill>
                <a:latin typeface="DejaVu Sans"/>
              </a:defRPr>
            </a:pPr>
            <a:r>
              <a:t>байдал</a:t>
            </a:r>
          </a:p>
          <a:p>
            <a:pPr>
              <a:lnSpc>
                <a:spcPts val="1921"/>
              </a:lnSpc>
              <a:spcBef>
                <a:spcPts val="0"/>
              </a:spcBef>
              <a:spcAft>
                <a:spcPts val="0"/>
              </a:spcAft>
              <a:defRPr sz="1575" b="0">
                <a:solidFill>
                  <a:srgbClr val="F4F5F4"/>
                </a:solidFill>
                <a:latin typeface="DejaVu Sans"/>
              </a:defRPr>
            </a:pPr>
            <a:r>
              <a:t>Үнэ, өрийн дарамт</a:t>
            </a:r>
          </a:p>
        </p:txBody>
      </p:sp>
      <p:sp>
        <p:nvSpPr>
          <p:cNvPr id="45" name="Rounded Rectangle 44"/>
          <p:cNvSpPr/>
          <p:nvPr/>
        </p:nvSpPr>
        <p:spPr>
          <a:xfrm>
            <a:off x="8258175" y="2295525"/>
            <a:ext cx="3429000" cy="1609725"/>
          </a:xfrm>
          <a:prstGeom prst="roundRect">
            <a:avLst>
              <a:gd name="adj" fmla="val 710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191500" y="2190750"/>
            <a:ext cx="3429000" cy="1609725"/>
          </a:xfrm>
          <a:prstGeom prst="roundRect">
            <a:avLst>
              <a:gd name="adj" fmla="val 591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201025" y="2200275"/>
            <a:ext cx="34099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01025" y="2219325"/>
            <a:ext cx="19050" cy="15525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58175" y="3781425"/>
            <a:ext cx="32956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53424" y="2333625"/>
            <a:ext cx="495299" cy="495299"/>
          </a:xfrm>
          <a:prstGeom prst="rect">
            <a:avLst/>
          </a:prstGeom>
          <a:noFill/>
        </p:spPr>
        <p:txBody>
          <a:bodyPr wrap="none" lIns="0" tIns="0" rIns="0" bIns="0">
            <a:spAutoFit/>
          </a:bodyPr>
          <a:lstStyle/>
          <a:p>
            <a:pPr>
              <a:lnSpc>
                <a:spcPts val="3202"/>
              </a:lnSpc>
              <a:spcBef>
                <a:spcPts val="0"/>
              </a:spcBef>
              <a:spcAft>
                <a:spcPts val="0"/>
              </a:spcAft>
              <a:defRPr sz="2625" b="1">
                <a:solidFill>
                  <a:srgbClr val="F1C75B"/>
                </a:solidFill>
                <a:latin typeface="Open Sans Condensed"/>
              </a:defRPr>
            </a:pPr>
            <a:r>
              <a:t>02</a:t>
            </a:r>
          </a:p>
        </p:txBody>
      </p:sp>
      <p:sp>
        <p:nvSpPr>
          <p:cNvPr id="51" name="TextBox 50"/>
          <p:cNvSpPr txBox="1"/>
          <p:nvPr/>
        </p:nvSpPr>
        <p:spPr>
          <a:xfrm>
            <a:off x="9010650" y="2343150"/>
            <a:ext cx="2400300" cy="361950"/>
          </a:xfrm>
          <a:prstGeom prst="rect">
            <a:avLst/>
          </a:prstGeom>
          <a:noFill/>
        </p:spPr>
        <p:txBody>
          <a:bodyPr wrap="none" lIns="0" tIns="0" rIns="0" bIns="0">
            <a:spAutoFit/>
          </a:bodyPr>
          <a:lstStyle/>
          <a:p>
            <a:pPr>
              <a:lnSpc>
                <a:spcPts val="2049"/>
              </a:lnSpc>
              <a:spcBef>
                <a:spcPts val="0"/>
              </a:spcBef>
              <a:spcAft>
                <a:spcPts val="0"/>
              </a:spcAft>
              <a:defRPr sz="1680" b="1">
                <a:solidFill>
                  <a:srgbClr val="F4F5F4"/>
                </a:solidFill>
                <a:latin typeface="DejaVu Sans"/>
              </a:defRPr>
            </a:pPr>
            <a:r>
              <a:t>Үйлчилгээний саад</a:t>
            </a:r>
          </a:p>
        </p:txBody>
      </p:sp>
      <p:sp>
        <p:nvSpPr>
          <p:cNvPr id="52" name="TextBox 51"/>
          <p:cNvSpPr txBox="1"/>
          <p:nvPr/>
        </p:nvSpPr>
        <p:spPr>
          <a:xfrm>
            <a:off x="9010650" y="2838450"/>
            <a:ext cx="2400300" cy="73342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Тээврийн зардал</a:t>
            </a:r>
          </a:p>
          <a:p>
            <a:pPr>
              <a:lnSpc>
                <a:spcPts val="1921"/>
              </a:lnSpc>
              <a:spcBef>
                <a:spcPts val="0"/>
              </a:spcBef>
              <a:spcAft>
                <a:spcPts val="0"/>
              </a:spcAft>
              <a:defRPr sz="1575" b="0">
                <a:solidFill>
                  <a:srgbClr val="F4F5F4"/>
                </a:solidFill>
                <a:latin typeface="DejaVu Sans"/>
              </a:defRPr>
            </a:pPr>
            <a:r>
              <a:t>Баримт бичиг,</a:t>
            </a:r>
          </a:p>
          <a:p>
            <a:pPr>
              <a:lnSpc>
                <a:spcPts val="1921"/>
              </a:lnSpc>
              <a:spcBef>
                <a:spcPts val="0"/>
              </a:spcBef>
              <a:spcAft>
                <a:spcPts val="0"/>
              </a:spcAft>
              <a:defRPr sz="1575" b="0">
                <a:solidFill>
                  <a:srgbClr val="F4F5F4"/>
                </a:solidFill>
                <a:latin typeface="DejaVu Sans"/>
              </a:defRPr>
            </a:pPr>
            <a:r>
              <a:t>хүртээмж</a:t>
            </a:r>
          </a:p>
        </p:txBody>
      </p:sp>
      <p:sp>
        <p:nvSpPr>
          <p:cNvPr id="53" name="Rounded Rectangle 52"/>
          <p:cNvSpPr/>
          <p:nvPr/>
        </p:nvSpPr>
        <p:spPr>
          <a:xfrm>
            <a:off x="4600575" y="4086225"/>
            <a:ext cx="3429000" cy="1609725"/>
          </a:xfrm>
          <a:prstGeom prst="roundRect">
            <a:avLst>
              <a:gd name="adj" fmla="val 710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533900" y="3981450"/>
            <a:ext cx="3429000" cy="1609725"/>
          </a:xfrm>
          <a:prstGeom prst="roundRect">
            <a:avLst>
              <a:gd name="adj" fmla="val 591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43425" y="3990974"/>
            <a:ext cx="34099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43425" y="4010025"/>
            <a:ext cx="19050" cy="15525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00575" y="5572125"/>
            <a:ext cx="32956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95825" y="4124325"/>
            <a:ext cx="495299" cy="495299"/>
          </a:xfrm>
          <a:prstGeom prst="rect">
            <a:avLst/>
          </a:prstGeom>
          <a:noFill/>
        </p:spPr>
        <p:txBody>
          <a:bodyPr wrap="none" lIns="0" tIns="0" rIns="0" bIns="0">
            <a:spAutoFit/>
          </a:bodyPr>
          <a:lstStyle/>
          <a:p>
            <a:pPr>
              <a:lnSpc>
                <a:spcPts val="3202"/>
              </a:lnSpc>
              <a:spcBef>
                <a:spcPts val="0"/>
              </a:spcBef>
              <a:spcAft>
                <a:spcPts val="0"/>
              </a:spcAft>
              <a:defRPr sz="2625" b="1">
                <a:solidFill>
                  <a:srgbClr val="F1C75B"/>
                </a:solidFill>
                <a:latin typeface="Open Sans Condensed"/>
              </a:defRPr>
            </a:pPr>
            <a:r>
              <a:t>03</a:t>
            </a:r>
          </a:p>
        </p:txBody>
      </p:sp>
      <p:sp>
        <p:nvSpPr>
          <p:cNvPr id="59" name="TextBox 58"/>
          <p:cNvSpPr txBox="1"/>
          <p:nvPr/>
        </p:nvSpPr>
        <p:spPr>
          <a:xfrm>
            <a:off x="5353050" y="4133849"/>
            <a:ext cx="2400300" cy="36195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Боломж хумигдах</a:t>
            </a:r>
          </a:p>
        </p:txBody>
      </p:sp>
      <p:sp>
        <p:nvSpPr>
          <p:cNvPr id="60" name="TextBox 59"/>
          <p:cNvSpPr txBox="1"/>
          <p:nvPr/>
        </p:nvSpPr>
        <p:spPr>
          <a:xfrm>
            <a:off x="5353050" y="4629150"/>
            <a:ext cx="2400300" cy="73342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Хичээл тасалдах</a:t>
            </a:r>
          </a:p>
          <a:p>
            <a:pPr>
              <a:lnSpc>
                <a:spcPts val="1921"/>
              </a:lnSpc>
              <a:spcBef>
                <a:spcPts val="0"/>
              </a:spcBef>
              <a:spcAft>
                <a:spcPts val="0"/>
              </a:spcAft>
              <a:defRPr sz="1575" b="0">
                <a:solidFill>
                  <a:srgbClr val="F4F5F4"/>
                </a:solidFill>
                <a:latin typeface="DejaVu Sans"/>
              </a:defRPr>
            </a:pPr>
            <a:r>
              <a:t>Эмчилгээ хойшлох</a:t>
            </a:r>
          </a:p>
        </p:txBody>
      </p:sp>
      <p:sp>
        <p:nvSpPr>
          <p:cNvPr id="61" name="Rounded Rectangle 60"/>
          <p:cNvSpPr/>
          <p:nvPr/>
        </p:nvSpPr>
        <p:spPr>
          <a:xfrm>
            <a:off x="8258175" y="4086225"/>
            <a:ext cx="3429000" cy="1609725"/>
          </a:xfrm>
          <a:prstGeom prst="roundRect">
            <a:avLst>
              <a:gd name="adj" fmla="val 710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8191500" y="3981450"/>
            <a:ext cx="3429000" cy="1609725"/>
          </a:xfrm>
          <a:prstGeom prst="roundRect">
            <a:avLst>
              <a:gd name="adj" fmla="val 591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201025" y="3990974"/>
            <a:ext cx="34099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201025" y="4010025"/>
            <a:ext cx="19050" cy="15525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258175" y="5572125"/>
            <a:ext cx="32956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53424" y="4124325"/>
            <a:ext cx="495299" cy="495299"/>
          </a:xfrm>
          <a:prstGeom prst="rect">
            <a:avLst/>
          </a:prstGeom>
          <a:noFill/>
        </p:spPr>
        <p:txBody>
          <a:bodyPr wrap="none" lIns="0" tIns="0" rIns="0" bIns="0">
            <a:spAutoFit/>
          </a:bodyPr>
          <a:lstStyle/>
          <a:p>
            <a:pPr>
              <a:lnSpc>
                <a:spcPts val="3202"/>
              </a:lnSpc>
              <a:spcBef>
                <a:spcPts val="0"/>
              </a:spcBef>
              <a:spcAft>
                <a:spcPts val="0"/>
              </a:spcAft>
              <a:defRPr sz="2625" b="1">
                <a:solidFill>
                  <a:srgbClr val="F1C75B"/>
                </a:solidFill>
                <a:latin typeface="Open Sans Condensed"/>
              </a:defRPr>
            </a:pPr>
            <a:r>
              <a:t>04</a:t>
            </a:r>
          </a:p>
        </p:txBody>
      </p:sp>
      <p:sp>
        <p:nvSpPr>
          <p:cNvPr id="67" name="TextBox 66"/>
          <p:cNvSpPr txBox="1"/>
          <p:nvPr/>
        </p:nvSpPr>
        <p:spPr>
          <a:xfrm>
            <a:off x="9010650" y="4133849"/>
            <a:ext cx="2400300" cy="36195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Эмзэг байдал</a:t>
            </a:r>
          </a:p>
        </p:txBody>
      </p:sp>
      <p:sp>
        <p:nvSpPr>
          <p:cNvPr id="68" name="TextBox 67"/>
          <p:cNvSpPr txBox="1"/>
          <p:nvPr/>
        </p:nvSpPr>
        <p:spPr>
          <a:xfrm>
            <a:off x="9010650" y="4629150"/>
            <a:ext cx="2400300" cy="73342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Ур чадвар, эрүүл мэнд</a:t>
            </a:r>
          </a:p>
          <a:p>
            <a:pPr>
              <a:lnSpc>
                <a:spcPts val="1921"/>
              </a:lnSpc>
              <a:spcBef>
                <a:spcPts val="0"/>
              </a:spcBef>
              <a:spcAft>
                <a:spcPts val="0"/>
              </a:spcAft>
              <a:defRPr sz="1575" b="0">
                <a:solidFill>
                  <a:srgbClr val="F4F5F4"/>
                </a:solidFill>
                <a:latin typeface="DejaVu Sans"/>
              </a:defRPr>
            </a:pPr>
            <a:r>
              <a:t>доройтох</a:t>
            </a:r>
          </a:p>
          <a:p>
            <a:pPr>
              <a:lnSpc>
                <a:spcPts val="1921"/>
              </a:lnSpc>
              <a:spcBef>
                <a:spcPts val="0"/>
              </a:spcBef>
              <a:spcAft>
                <a:spcPts val="0"/>
              </a:spcAft>
              <a:defRPr sz="1575" b="0">
                <a:solidFill>
                  <a:srgbClr val="F4F5F4"/>
                </a:solidFill>
                <a:latin typeface="DejaVu Sans"/>
              </a:defRPr>
            </a:pPr>
            <a:r>
              <a:t>Орлого дахин буурах</a:t>
            </a:r>
          </a:p>
        </p:txBody>
      </p:sp>
      <p:sp>
        <p:nvSpPr>
          <p:cNvPr id="69" name="Rounded Rectangle 68"/>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Гинжин холбоог таслах арга: суурь үйлчилгээ + орлогын хамгаалалт + эрхээ шаардах боломж.</a:t>
            </a:r>
          </a:p>
        </p:txBody>
      </p:sp>
      <p:sp>
        <p:nvSpPr>
          <p:cNvPr id="76" name="Rectangle 75"/>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CRC</a:t>
            </a:r>
          </a:p>
        </p:txBody>
      </p:sp>
      <p:sp>
        <p:nvSpPr>
          <p:cNvPr id="78" name="TextBox 77"/>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9" name="TextBox 78"/>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ХҮНИЙ ЭРХИЙН СУУРЬ</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286500" cy="1457325"/>
          </a:xfrm>
          <a:prstGeom prst="rect">
            <a:avLst/>
          </a:prstGeom>
          <a:noFill/>
        </p:spPr>
        <p:txBody>
          <a:bodyPr wrap="none" lIns="0" tIns="0" rIns="0" bIns="0">
            <a:spAutoFit/>
          </a:bodyPr>
          <a:lstStyle/>
          <a:p>
            <a:pPr>
              <a:lnSpc>
                <a:spcPts val="5727"/>
              </a:lnSpc>
              <a:spcBef>
                <a:spcPts val="0"/>
              </a:spcBef>
              <a:spcAft>
                <a:spcPts val="0"/>
              </a:spcAft>
              <a:defRPr sz="4694" b="1">
                <a:solidFill>
                  <a:srgbClr val="030A13"/>
                </a:solidFill>
                <a:latin typeface="Open Sans Condensed"/>
              </a:defRPr>
            </a:pPr>
            <a:r>
              <a:t>ЭРХ БОЛ</a:t>
            </a:r>
          </a:p>
          <a:p>
            <a:pPr>
              <a:lnSpc>
                <a:spcPts val="5727"/>
              </a:lnSpc>
              <a:spcBef>
                <a:spcPts val="0"/>
              </a:spcBef>
              <a:spcAft>
                <a:spcPts val="0"/>
              </a:spcAft>
              <a:defRPr sz="4694" b="1">
                <a:solidFill>
                  <a:srgbClr val="030A13"/>
                </a:solidFill>
                <a:latin typeface="Open Sans Condensed"/>
              </a:defRPr>
            </a:pPr>
            <a:r>
              <a:t>БАТАЛГАА.</a:t>
            </a:r>
          </a:p>
        </p:txBody>
      </p:sp>
      <p:sp>
        <p:nvSpPr>
          <p:cNvPr id="35" name="TextBox 34"/>
          <p:cNvSpPr txBox="1"/>
          <p:nvPr/>
        </p:nvSpPr>
        <p:spPr>
          <a:xfrm>
            <a:off x="457200" y="942975"/>
            <a:ext cx="6286500" cy="1457325"/>
          </a:xfrm>
          <a:prstGeom prst="rect">
            <a:avLst/>
          </a:prstGeom>
          <a:noFill/>
        </p:spPr>
        <p:txBody>
          <a:bodyPr wrap="none" lIns="0" tIns="0" rIns="0" bIns="0">
            <a:spAutoFit/>
          </a:bodyPr>
          <a:lstStyle/>
          <a:p>
            <a:pPr>
              <a:lnSpc>
                <a:spcPts val="5727"/>
              </a:lnSpc>
              <a:spcBef>
                <a:spcPts val="0"/>
              </a:spcBef>
              <a:spcAft>
                <a:spcPts val="0"/>
              </a:spcAft>
              <a:defRPr sz="4694" b="1">
                <a:solidFill>
                  <a:srgbClr val="F4F5F4"/>
                </a:solidFill>
                <a:latin typeface="Open Sans Condensed"/>
              </a:defRPr>
            </a:pPr>
            <a:r>
              <a:t>ЭРХ БОЛ</a:t>
            </a:r>
          </a:p>
          <a:p>
            <a:pPr>
              <a:lnSpc>
                <a:spcPts val="5727"/>
              </a:lnSpc>
              <a:spcBef>
                <a:spcPts val="0"/>
              </a:spcBef>
              <a:spcAft>
                <a:spcPts val="0"/>
              </a:spcAft>
              <a:defRPr sz="4694" b="1">
                <a:solidFill>
                  <a:srgbClr val="F4F5F4"/>
                </a:solidFill>
                <a:latin typeface="Open Sans Condensed"/>
              </a:defRPr>
            </a:pPr>
            <a:r>
              <a:t>БАТАЛГАА.</a:t>
            </a:r>
          </a:p>
        </p:txBody>
      </p:sp>
      <p:sp>
        <p:nvSpPr>
          <p:cNvPr id="36" name="TextBox 35"/>
          <p:cNvSpPr txBox="1"/>
          <p:nvPr/>
        </p:nvSpPr>
        <p:spPr>
          <a:xfrm>
            <a:off x="495299" y="2828925"/>
            <a:ext cx="3638550" cy="1438275"/>
          </a:xfrm>
          <a:prstGeom prst="rect">
            <a:avLst/>
          </a:prstGeom>
          <a:noFill/>
        </p:spPr>
        <p:txBody>
          <a:bodyPr wrap="none" lIns="0" tIns="0" rIns="0" bIns="0">
            <a:spAutoFit/>
          </a:bodyPr>
          <a:lstStyle/>
          <a:p>
            <a:pPr>
              <a:lnSpc>
                <a:spcPts val="2653"/>
              </a:lnSpc>
              <a:spcBef>
                <a:spcPts val="0"/>
              </a:spcBef>
              <a:spcAft>
                <a:spcPts val="0"/>
              </a:spcAft>
              <a:defRPr sz="2175" b="0">
                <a:solidFill>
                  <a:srgbClr val="F4F5F4"/>
                </a:solidFill>
                <a:latin typeface="DejaVu Sans"/>
              </a:defRPr>
            </a:pPr>
            <a:r>
              <a:t>Хүн — эрх эдлэгч.</a:t>
            </a:r>
          </a:p>
          <a:p>
            <a:pPr>
              <a:lnSpc>
                <a:spcPts val="2653"/>
              </a:lnSpc>
              <a:spcBef>
                <a:spcPts val="0"/>
              </a:spcBef>
              <a:spcAft>
                <a:spcPts val="0"/>
              </a:spcAft>
              <a:defRPr sz="2175" b="0">
                <a:solidFill>
                  <a:srgbClr val="F4F5F4"/>
                </a:solidFill>
                <a:latin typeface="DejaVu Sans"/>
              </a:defRPr>
            </a:pPr>
            <a:r>
              <a:t>Төр — үүрэг хүлээгч.</a:t>
            </a:r>
          </a:p>
          <a:p>
            <a:pPr>
              <a:lnSpc>
                <a:spcPts val="2653"/>
              </a:lnSpc>
              <a:spcBef>
                <a:spcPts val="0"/>
              </a:spcBef>
              <a:spcAft>
                <a:spcPts val="0"/>
              </a:spcAft>
              <a:defRPr sz="2175" b="0">
                <a:solidFill>
                  <a:srgbClr val="F4F5F4"/>
                </a:solidFill>
                <a:latin typeface="DejaVu Sans"/>
              </a:defRPr>
            </a:pPr>
            <a:r>
              <a:t>Шийдвэр — хяналттай.</a:t>
            </a:r>
          </a:p>
        </p:txBody>
      </p:sp>
      <p:sp>
        <p:nvSpPr>
          <p:cNvPr id="37" name="Rounded Rectangle 36"/>
          <p:cNvSpPr/>
          <p:nvPr/>
        </p:nvSpPr>
        <p:spPr>
          <a:xfrm>
            <a:off x="4686300" y="2181225"/>
            <a:ext cx="7096125" cy="1057275"/>
          </a:xfrm>
          <a:prstGeom prst="roundRect">
            <a:avLst>
              <a:gd name="adj" fmla="val 1081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619625" y="2076450"/>
            <a:ext cx="7096125" cy="1057275"/>
          </a:xfrm>
          <a:prstGeom prst="roundRect">
            <a:avLst>
              <a:gd name="adj" fmla="val 900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29150" y="2085975"/>
            <a:ext cx="70770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29150" y="2105025"/>
            <a:ext cx="19050" cy="1000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86300" y="3114675"/>
            <a:ext cx="69627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81550" y="2209800"/>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01</a:t>
            </a:r>
          </a:p>
        </p:txBody>
      </p:sp>
      <p:sp>
        <p:nvSpPr>
          <p:cNvPr id="43" name="TextBox 42"/>
          <p:cNvSpPr txBox="1"/>
          <p:nvPr/>
        </p:nvSpPr>
        <p:spPr>
          <a:xfrm>
            <a:off x="5362575" y="2200275"/>
            <a:ext cx="6172200"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Хүн бүр эрх эдэлнэ</a:t>
            </a:r>
          </a:p>
        </p:txBody>
      </p:sp>
      <p:sp>
        <p:nvSpPr>
          <p:cNvPr id="44" name="TextBox 43"/>
          <p:cNvSpPr txBox="1"/>
          <p:nvPr/>
        </p:nvSpPr>
        <p:spPr>
          <a:xfrm>
            <a:off x="5362575" y="2552700"/>
            <a:ext cx="6172200" cy="552450"/>
          </a:xfrm>
          <a:prstGeom prst="rect">
            <a:avLst/>
          </a:prstGeom>
          <a:noFill/>
        </p:spPr>
        <p:txBody>
          <a:bodyPr wrap="none" lIns="0" tIns="0" rIns="0" bIns="0">
            <a:spAutoFit/>
          </a:bodyPr>
          <a:lstStyle/>
          <a:p>
            <a:pPr>
              <a:lnSpc>
                <a:spcPts val="1829"/>
              </a:lnSpc>
              <a:spcBef>
                <a:spcPts val="0"/>
              </a:spcBef>
              <a:spcAft>
                <a:spcPts val="0"/>
              </a:spcAft>
              <a:defRPr sz="1500" b="0">
                <a:solidFill>
                  <a:srgbClr val="F4F5F4"/>
                </a:solidFill>
                <a:latin typeface="DejaVu Sans"/>
              </a:defRPr>
            </a:pPr>
            <a:r>
              <a:t>Хүний эрхийн түгээмэл тунхаглал, 1948.12.10: 1 дүгээр зүйл</a:t>
            </a:r>
          </a:p>
          <a:p>
            <a:pPr>
              <a:lnSpc>
                <a:spcPts val="1829"/>
              </a:lnSpc>
              <a:spcBef>
                <a:spcPts val="0"/>
              </a:spcBef>
              <a:spcAft>
                <a:spcPts val="0"/>
              </a:spcAft>
              <a:defRPr sz="1500" b="0">
                <a:solidFill>
                  <a:srgbClr val="F4F5F4"/>
                </a:solidFill>
                <a:latin typeface="DejaVu Sans"/>
              </a:defRPr>
            </a:pPr>
            <a:r>
              <a:t>— нэр төр, эрхийн тэгш байдал; 2 — ялгаварлахгүй байх.</a:t>
            </a:r>
          </a:p>
        </p:txBody>
      </p:sp>
      <p:sp>
        <p:nvSpPr>
          <p:cNvPr id="45" name="Rounded Rectangle 44"/>
          <p:cNvSpPr/>
          <p:nvPr/>
        </p:nvSpPr>
        <p:spPr>
          <a:xfrm>
            <a:off x="4686300" y="3352800"/>
            <a:ext cx="7096125" cy="1057275"/>
          </a:xfrm>
          <a:prstGeom prst="roundRect">
            <a:avLst>
              <a:gd name="adj" fmla="val 1081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619625" y="3248025"/>
            <a:ext cx="7096125" cy="1057275"/>
          </a:xfrm>
          <a:prstGeom prst="roundRect">
            <a:avLst>
              <a:gd name="adj" fmla="val 900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29150" y="3257550"/>
            <a:ext cx="70770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629150" y="3276600"/>
            <a:ext cx="19050" cy="1000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86300" y="4286250"/>
            <a:ext cx="69627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81550" y="33813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02</a:t>
            </a:r>
          </a:p>
        </p:txBody>
      </p:sp>
      <p:sp>
        <p:nvSpPr>
          <p:cNvPr id="51" name="TextBox 50"/>
          <p:cNvSpPr txBox="1"/>
          <p:nvPr/>
        </p:nvSpPr>
        <p:spPr>
          <a:xfrm>
            <a:off x="5362575" y="3371850"/>
            <a:ext cx="6172200"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Улс үүрэг хүлээнэ</a:t>
            </a:r>
          </a:p>
        </p:txBody>
      </p:sp>
      <p:sp>
        <p:nvSpPr>
          <p:cNvPr id="52" name="TextBox 51"/>
          <p:cNvSpPr txBox="1"/>
          <p:nvPr/>
        </p:nvSpPr>
        <p:spPr>
          <a:xfrm>
            <a:off x="5362575" y="3724275"/>
            <a:ext cx="6172200" cy="552450"/>
          </a:xfrm>
          <a:prstGeom prst="rect">
            <a:avLst/>
          </a:prstGeom>
          <a:noFill/>
        </p:spPr>
        <p:txBody>
          <a:bodyPr wrap="none" lIns="0" tIns="0" rIns="0" bIns="0">
            <a:spAutoFit/>
          </a:bodyPr>
          <a:lstStyle/>
          <a:p>
            <a:pPr>
              <a:lnSpc>
                <a:spcPts val="1829"/>
              </a:lnSpc>
              <a:spcBef>
                <a:spcPts val="0"/>
              </a:spcBef>
              <a:spcAft>
                <a:spcPts val="0"/>
              </a:spcAft>
              <a:defRPr sz="1500" b="0">
                <a:solidFill>
                  <a:srgbClr val="F4F5F4"/>
                </a:solidFill>
                <a:latin typeface="DejaVu Sans"/>
              </a:defRPr>
            </a:pPr>
            <a:r>
              <a:t>ICESCR, 1966.12.16: 2.1 — нөөц бололцоогоо дээд</a:t>
            </a:r>
          </a:p>
          <a:p>
            <a:pPr>
              <a:lnSpc>
                <a:spcPts val="1829"/>
              </a:lnSpc>
              <a:spcBef>
                <a:spcPts val="0"/>
              </a:spcBef>
              <a:spcAft>
                <a:spcPts val="0"/>
              </a:spcAft>
              <a:defRPr sz="1500" b="0">
                <a:solidFill>
                  <a:srgbClr val="F4F5F4"/>
                </a:solidFill>
                <a:latin typeface="DejaVu Sans"/>
              </a:defRPr>
            </a:pPr>
            <a:r>
              <a:t>хэмжээгээр ашиглан эрхийг дэвшилттэй хэрэгжүүлэх.</a:t>
            </a:r>
          </a:p>
        </p:txBody>
      </p:sp>
      <p:sp>
        <p:nvSpPr>
          <p:cNvPr id="53" name="Rounded Rectangle 52"/>
          <p:cNvSpPr/>
          <p:nvPr/>
        </p:nvSpPr>
        <p:spPr>
          <a:xfrm>
            <a:off x="4686300" y="4524375"/>
            <a:ext cx="7096125" cy="1057275"/>
          </a:xfrm>
          <a:prstGeom prst="roundRect">
            <a:avLst>
              <a:gd name="adj" fmla="val 1081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619625" y="4419600"/>
            <a:ext cx="7096125" cy="1057275"/>
          </a:xfrm>
          <a:prstGeom prst="roundRect">
            <a:avLst>
              <a:gd name="adj" fmla="val 900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29150" y="4429125"/>
            <a:ext cx="70770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29150" y="4448175"/>
            <a:ext cx="19050" cy="1000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86300" y="5457825"/>
            <a:ext cx="69627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781550" y="4552950"/>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03</a:t>
            </a:r>
          </a:p>
        </p:txBody>
      </p:sp>
      <p:sp>
        <p:nvSpPr>
          <p:cNvPr id="59" name="TextBox 58"/>
          <p:cNvSpPr txBox="1"/>
          <p:nvPr/>
        </p:nvSpPr>
        <p:spPr>
          <a:xfrm>
            <a:off x="5362575" y="4543425"/>
            <a:ext cx="6172200"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Шийдвэрийг хянуулна</a:t>
            </a:r>
          </a:p>
        </p:txBody>
      </p:sp>
      <p:sp>
        <p:nvSpPr>
          <p:cNvPr id="60" name="TextBox 59"/>
          <p:cNvSpPr txBox="1"/>
          <p:nvPr/>
        </p:nvSpPr>
        <p:spPr>
          <a:xfrm>
            <a:off x="5362575" y="4895850"/>
            <a:ext cx="6172200" cy="552450"/>
          </a:xfrm>
          <a:prstGeom prst="rect">
            <a:avLst/>
          </a:prstGeom>
          <a:noFill/>
        </p:spPr>
        <p:txBody>
          <a:bodyPr wrap="none" lIns="0" tIns="0" rIns="0" bIns="0">
            <a:spAutoFit/>
          </a:bodyPr>
          <a:lstStyle/>
          <a:p>
            <a:pPr>
              <a:lnSpc>
                <a:spcPts val="1829"/>
              </a:lnSpc>
              <a:spcBef>
                <a:spcPts val="0"/>
              </a:spcBef>
              <a:spcAft>
                <a:spcPts val="0"/>
              </a:spcAft>
              <a:defRPr sz="1500" b="0">
                <a:solidFill>
                  <a:srgbClr val="F4F5F4"/>
                </a:solidFill>
                <a:latin typeface="DejaVu Sans"/>
              </a:defRPr>
            </a:pPr>
            <a:r>
              <a:t>Үндсэн хууль, 1992.01.13: 16.12 — өргөдөл, гомдол; 16.14 —</a:t>
            </a:r>
          </a:p>
          <a:p>
            <a:pPr>
              <a:lnSpc>
                <a:spcPts val="1829"/>
              </a:lnSpc>
              <a:spcBef>
                <a:spcPts val="0"/>
              </a:spcBef>
              <a:spcAft>
                <a:spcPts val="0"/>
              </a:spcAft>
              <a:defRPr sz="1500" b="0">
                <a:solidFill>
                  <a:srgbClr val="F4F5F4"/>
                </a:solidFill>
                <a:latin typeface="DejaVu Sans"/>
              </a:defRPr>
            </a:pPr>
            <a:r>
              <a:t>шүүхээр хамгаалуулах, хууль зүйн туслалцаа.</a:t>
            </a:r>
          </a:p>
        </p:txBody>
      </p:sp>
      <p:sp>
        <p:nvSpPr>
          <p:cNvPr id="61" name="Rounded Rectangle 60"/>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Хандив, сайн дурын тусламж нь төрийн хуулиар хүлээсэн үүргийг орлохгүй.</a:t>
            </a:r>
          </a:p>
        </p:txBody>
      </p:sp>
      <p:sp>
        <p:nvSpPr>
          <p:cNvPr id="68" name="Rectangle 67"/>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ICESCR · ҮХ</a:t>
            </a:r>
          </a:p>
        </p:txBody>
      </p:sp>
      <p:sp>
        <p:nvSpPr>
          <p:cNvPr id="70" name="TextBox 69"/>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1" name="TextBox 70"/>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МОНГОЛЫН ЭРХ ЗҮЙ</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667500" cy="809625"/>
          </a:xfrm>
          <a:prstGeom prst="rect">
            <a:avLst/>
          </a:prstGeom>
          <a:noFill/>
        </p:spPr>
        <p:txBody>
          <a:bodyPr wrap="none" lIns="0" tIns="0" rIns="0" bIns="0">
            <a:spAutoFit/>
          </a:bodyPr>
          <a:lstStyle/>
          <a:p>
            <a:pPr>
              <a:lnSpc>
                <a:spcPts val="5856"/>
              </a:lnSpc>
              <a:spcBef>
                <a:spcPts val="0"/>
              </a:spcBef>
              <a:spcAft>
                <a:spcPts val="0"/>
              </a:spcAft>
              <a:defRPr sz="4800" b="1">
                <a:solidFill>
                  <a:srgbClr val="030A13"/>
                </a:solidFill>
                <a:latin typeface="Open Sans Condensed"/>
              </a:defRPr>
            </a:pPr>
            <a:r>
              <a:t>ҮНДСЭН ХУУЛЬ</a:t>
            </a:r>
          </a:p>
        </p:txBody>
      </p:sp>
      <p:sp>
        <p:nvSpPr>
          <p:cNvPr id="35" name="TextBox 34"/>
          <p:cNvSpPr txBox="1"/>
          <p:nvPr/>
        </p:nvSpPr>
        <p:spPr>
          <a:xfrm>
            <a:off x="457200" y="942975"/>
            <a:ext cx="6667500" cy="809625"/>
          </a:xfrm>
          <a:prstGeom prst="rect">
            <a:avLst/>
          </a:prstGeom>
          <a:noFill/>
        </p:spPr>
        <p:txBody>
          <a:bodyPr wrap="none" lIns="0" tIns="0" rIns="0" bIns="0">
            <a:spAutoFit/>
          </a:bodyPr>
          <a:lstStyle/>
          <a:p>
            <a:pPr>
              <a:lnSpc>
                <a:spcPts val="5856"/>
              </a:lnSpc>
              <a:spcBef>
                <a:spcPts val="0"/>
              </a:spcBef>
              <a:spcAft>
                <a:spcPts val="0"/>
              </a:spcAft>
              <a:defRPr sz="4800" b="1">
                <a:solidFill>
                  <a:srgbClr val="F4F5F4"/>
                </a:solidFill>
                <a:latin typeface="Open Sans Condensed"/>
              </a:defRPr>
            </a:pPr>
            <a:r>
              <a:t>ҮНДСЭН ХУУЛЬ</a:t>
            </a:r>
          </a:p>
        </p:txBody>
      </p:sp>
      <p:sp>
        <p:nvSpPr>
          <p:cNvPr id="36" name="Rounded Rectangle 35"/>
          <p:cNvSpPr/>
          <p:nvPr/>
        </p:nvSpPr>
        <p:spPr>
          <a:xfrm>
            <a:off x="552450" y="2038349"/>
            <a:ext cx="1692752"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1933575"/>
            <a:ext cx="1692752"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1943100"/>
            <a:ext cx="1673702"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196215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181225"/>
            <a:ext cx="1559402"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1990725"/>
            <a:ext cx="1464152"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БАТАЛСАН / 1992.01.13</a:t>
            </a:r>
          </a:p>
        </p:txBody>
      </p:sp>
      <p:sp>
        <p:nvSpPr>
          <p:cNvPr id="42" name="Rounded Rectangle 41"/>
          <p:cNvSpPr/>
          <p:nvPr/>
        </p:nvSpPr>
        <p:spPr>
          <a:xfrm>
            <a:off x="523874" y="2705100"/>
            <a:ext cx="11258550" cy="3181350"/>
          </a:xfrm>
          <a:prstGeom prst="roundRect">
            <a:avLst>
              <a:gd name="adj" fmla="val 359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7200" y="2600325"/>
            <a:ext cx="11258550" cy="3181350"/>
          </a:xfrm>
          <a:prstGeom prst="roundRect">
            <a:avLst>
              <a:gd name="adj" fmla="val 299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66724" y="2609850"/>
            <a:ext cx="112395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2628900"/>
            <a:ext cx="19050" cy="31242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23874" y="5762625"/>
            <a:ext cx="111252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8650" y="2800350"/>
            <a:ext cx="1724025" cy="438150"/>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14.1; 14.2</a:t>
            </a:r>
          </a:p>
        </p:txBody>
      </p:sp>
      <p:sp>
        <p:nvSpPr>
          <p:cNvPr id="48" name="TextBox 47"/>
          <p:cNvSpPr txBox="1"/>
          <p:nvPr/>
        </p:nvSpPr>
        <p:spPr>
          <a:xfrm>
            <a:off x="2514600" y="2781300"/>
            <a:ext cx="4972050" cy="447675"/>
          </a:xfrm>
          <a:prstGeom prst="rect">
            <a:avLst/>
          </a:prstGeom>
          <a:noFill/>
        </p:spPr>
        <p:txBody>
          <a:bodyPr wrap="none" lIns="0" tIns="0" rIns="0" bIns="0">
            <a:spAutoFit/>
          </a:bodyPr>
          <a:lstStyle/>
          <a:p>
            <a:pPr>
              <a:lnSpc>
                <a:spcPts val="1756"/>
              </a:lnSpc>
              <a:spcBef>
                <a:spcPts val="0"/>
              </a:spcBef>
              <a:spcAft>
                <a:spcPts val="0"/>
              </a:spcAft>
              <a:defRPr sz="1440" b="1">
                <a:solidFill>
                  <a:srgbClr val="F4F5F4"/>
                </a:solidFill>
                <a:latin typeface="DejaVu Sans"/>
              </a:defRPr>
            </a:pPr>
            <a:r>
              <a:t>Хуулийн өмнө эрх тэгш; хөрөнгө чинээ зэрэг</a:t>
            </a:r>
          </a:p>
          <a:p>
            <a:pPr>
              <a:lnSpc>
                <a:spcPts val="1756"/>
              </a:lnSpc>
              <a:spcBef>
                <a:spcPts val="0"/>
              </a:spcBef>
              <a:spcAft>
                <a:spcPts val="0"/>
              </a:spcAft>
              <a:defRPr sz="1440" b="1">
                <a:solidFill>
                  <a:srgbClr val="F4F5F4"/>
                </a:solidFill>
                <a:latin typeface="DejaVu Sans"/>
              </a:defRPr>
            </a:pPr>
            <a:r>
              <a:t>үндэслэлээр ялгаварлахгүй</a:t>
            </a:r>
          </a:p>
        </p:txBody>
      </p:sp>
      <p:sp>
        <p:nvSpPr>
          <p:cNvPr id="49" name="TextBox 48"/>
          <p:cNvSpPr txBox="1"/>
          <p:nvPr/>
        </p:nvSpPr>
        <p:spPr>
          <a:xfrm>
            <a:off x="7772400" y="2800350"/>
            <a:ext cx="3733799" cy="419100"/>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Үйлчилгээний шалгуур хүнийг дорд</a:t>
            </a:r>
          </a:p>
          <a:p>
            <a:pPr>
              <a:lnSpc>
                <a:spcPts val="1647"/>
              </a:lnSpc>
              <a:spcBef>
                <a:spcPts val="0"/>
              </a:spcBef>
              <a:spcAft>
                <a:spcPts val="0"/>
              </a:spcAft>
              <a:defRPr sz="1350" b="0">
                <a:solidFill>
                  <a:srgbClr val="B3C2D3"/>
                </a:solidFill>
                <a:latin typeface="DejaVu Sans"/>
              </a:defRPr>
            </a:pPr>
            <a:r>
              <a:t>үзэж болохгүй</a:t>
            </a:r>
          </a:p>
        </p:txBody>
      </p:sp>
      <p:cxnSp>
        <p:nvCxnSpPr>
          <p:cNvPr id="50" name="Connector 49"/>
          <p:cNvCxnSpPr/>
          <p:nvPr/>
        </p:nvCxnSpPr>
        <p:spPr>
          <a:xfrm>
            <a:off x="628650" y="3286125"/>
            <a:ext cx="10896600" cy="0"/>
          </a:xfrm>
          <a:prstGeom prst="line">
            <a:avLst/>
          </a:prstGeom>
          <a:ln w="6667">
            <a:solidFill>
              <a:srgbClr val="2C4058"/>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3400425"/>
            <a:ext cx="1724025" cy="438150"/>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16.4</a:t>
            </a:r>
          </a:p>
        </p:txBody>
      </p:sp>
      <p:sp>
        <p:nvSpPr>
          <p:cNvPr id="52" name="TextBox 51"/>
          <p:cNvSpPr txBox="1"/>
          <p:nvPr/>
        </p:nvSpPr>
        <p:spPr>
          <a:xfrm>
            <a:off x="2514600" y="3381375"/>
            <a:ext cx="4972050" cy="447675"/>
          </a:xfrm>
          <a:prstGeom prst="rect">
            <a:avLst/>
          </a:prstGeom>
          <a:noFill/>
        </p:spPr>
        <p:txBody>
          <a:bodyPr wrap="none" lIns="0" tIns="0" rIns="0" bIns="0">
            <a:spAutoFit/>
          </a:bodyPr>
          <a:lstStyle/>
          <a:p>
            <a:pPr>
              <a:lnSpc>
                <a:spcPts val="1756"/>
              </a:lnSpc>
              <a:spcBef>
                <a:spcPts val="0"/>
              </a:spcBef>
              <a:spcAft>
                <a:spcPts val="0"/>
              </a:spcAft>
              <a:defRPr sz="1440" b="1">
                <a:solidFill>
                  <a:srgbClr val="F4F5F4"/>
                </a:solidFill>
                <a:latin typeface="DejaVu Sans"/>
              </a:defRPr>
            </a:pPr>
            <a:r>
              <a:t>Ажил, хөдөлмөрөө сонгох; хөдөлмөрийн</a:t>
            </a:r>
          </a:p>
          <a:p>
            <a:pPr>
              <a:lnSpc>
                <a:spcPts val="1756"/>
              </a:lnSpc>
              <a:spcBef>
                <a:spcPts val="0"/>
              </a:spcBef>
              <a:spcAft>
                <a:spcPts val="0"/>
              </a:spcAft>
              <a:defRPr sz="1440" b="1">
                <a:solidFill>
                  <a:srgbClr val="F4F5F4"/>
                </a:solidFill>
                <a:latin typeface="DejaVu Sans"/>
              </a:defRPr>
            </a:pPr>
            <a:r>
              <a:t>аятай нөхцөл; цалин</a:t>
            </a:r>
          </a:p>
        </p:txBody>
      </p:sp>
      <p:sp>
        <p:nvSpPr>
          <p:cNvPr id="53" name="TextBox 52"/>
          <p:cNvSpPr txBox="1"/>
          <p:nvPr/>
        </p:nvSpPr>
        <p:spPr>
          <a:xfrm>
            <a:off x="7772400" y="3400425"/>
            <a:ext cx="3733799" cy="419100"/>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Аюулгүй ажил, хуульд нийцсэн хөлс</a:t>
            </a:r>
          </a:p>
        </p:txBody>
      </p:sp>
      <p:cxnSp>
        <p:nvCxnSpPr>
          <p:cNvPr id="54" name="Connector 53"/>
          <p:cNvCxnSpPr/>
          <p:nvPr/>
        </p:nvCxnSpPr>
        <p:spPr>
          <a:xfrm>
            <a:off x="628650" y="3886200"/>
            <a:ext cx="10896600" cy="0"/>
          </a:xfrm>
          <a:prstGeom prst="line">
            <a:avLst/>
          </a:prstGeom>
          <a:ln w="6667">
            <a:solidFill>
              <a:srgbClr val="2C4058"/>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8650" y="4000500"/>
            <a:ext cx="1724025" cy="438150"/>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16.5</a:t>
            </a:r>
          </a:p>
        </p:txBody>
      </p:sp>
      <p:sp>
        <p:nvSpPr>
          <p:cNvPr id="56" name="TextBox 55"/>
          <p:cNvSpPr txBox="1"/>
          <p:nvPr/>
        </p:nvSpPr>
        <p:spPr>
          <a:xfrm>
            <a:off x="2514600" y="3981450"/>
            <a:ext cx="4972050" cy="447675"/>
          </a:xfrm>
          <a:prstGeom prst="rect">
            <a:avLst/>
          </a:prstGeom>
          <a:noFill/>
        </p:spPr>
        <p:txBody>
          <a:bodyPr wrap="none" lIns="0" tIns="0" rIns="0" bIns="0">
            <a:spAutoFit/>
          </a:bodyPr>
          <a:lstStyle/>
          <a:p>
            <a:pPr>
              <a:lnSpc>
                <a:spcPts val="1756"/>
              </a:lnSpc>
              <a:spcBef>
                <a:spcPts val="0"/>
              </a:spcBef>
              <a:spcAft>
                <a:spcPts val="0"/>
              </a:spcAft>
              <a:defRPr sz="1440" b="1">
                <a:solidFill>
                  <a:srgbClr val="F4F5F4"/>
                </a:solidFill>
                <a:latin typeface="DejaVu Sans"/>
              </a:defRPr>
            </a:pPr>
            <a:r>
              <a:t>Хуульд заасан нөхцөлд эд, мөнгөний</a:t>
            </a:r>
          </a:p>
          <a:p>
            <a:pPr>
              <a:lnSpc>
                <a:spcPts val="1756"/>
              </a:lnSpc>
              <a:spcBef>
                <a:spcPts val="0"/>
              </a:spcBef>
              <a:spcAft>
                <a:spcPts val="0"/>
              </a:spcAft>
              <a:defRPr sz="1440" b="1">
                <a:solidFill>
                  <a:srgbClr val="F4F5F4"/>
                </a:solidFill>
                <a:latin typeface="DejaVu Sans"/>
              </a:defRPr>
            </a:pPr>
            <a:r>
              <a:t>тусламж авах</a:t>
            </a:r>
          </a:p>
        </p:txBody>
      </p:sp>
      <p:sp>
        <p:nvSpPr>
          <p:cNvPr id="57" name="TextBox 56"/>
          <p:cNvSpPr txBox="1"/>
          <p:nvPr/>
        </p:nvSpPr>
        <p:spPr>
          <a:xfrm>
            <a:off x="7772400" y="4000500"/>
            <a:ext cx="3733799" cy="419100"/>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Өндөр нас, хөдөлмөрийн чадвар алдалт</a:t>
            </a:r>
          </a:p>
          <a:p>
            <a:pPr>
              <a:lnSpc>
                <a:spcPts val="1647"/>
              </a:lnSpc>
              <a:spcBef>
                <a:spcPts val="0"/>
              </a:spcBef>
              <a:spcAft>
                <a:spcPts val="0"/>
              </a:spcAft>
              <a:defRPr sz="1350" b="0">
                <a:solidFill>
                  <a:srgbClr val="B3C2D3"/>
                </a:solidFill>
                <a:latin typeface="DejaVu Sans"/>
              </a:defRPr>
            </a:pPr>
            <a:r>
              <a:t>зэрэг</a:t>
            </a:r>
          </a:p>
        </p:txBody>
      </p:sp>
      <p:cxnSp>
        <p:nvCxnSpPr>
          <p:cNvPr id="58" name="Connector 57"/>
          <p:cNvCxnSpPr/>
          <p:nvPr/>
        </p:nvCxnSpPr>
        <p:spPr>
          <a:xfrm>
            <a:off x="628650" y="4486275"/>
            <a:ext cx="10896600" cy="0"/>
          </a:xfrm>
          <a:prstGeom prst="line">
            <a:avLst/>
          </a:prstGeom>
          <a:ln w="6667">
            <a:solidFill>
              <a:srgbClr val="2C4058"/>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28650" y="4600575"/>
            <a:ext cx="1724025" cy="438150"/>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16.6; 16.7</a:t>
            </a:r>
          </a:p>
        </p:txBody>
      </p:sp>
      <p:sp>
        <p:nvSpPr>
          <p:cNvPr id="60" name="TextBox 59"/>
          <p:cNvSpPr txBox="1"/>
          <p:nvPr/>
        </p:nvSpPr>
        <p:spPr>
          <a:xfrm>
            <a:off x="2514600" y="4581525"/>
            <a:ext cx="4972050" cy="447675"/>
          </a:xfrm>
          <a:prstGeom prst="rect">
            <a:avLst/>
          </a:prstGeom>
          <a:noFill/>
        </p:spPr>
        <p:txBody>
          <a:bodyPr wrap="none" lIns="0" tIns="0" rIns="0" bIns="0">
            <a:spAutoFit/>
          </a:bodyPr>
          <a:lstStyle/>
          <a:p>
            <a:pPr>
              <a:lnSpc>
                <a:spcPts val="1793"/>
              </a:lnSpc>
              <a:spcBef>
                <a:spcPts val="0"/>
              </a:spcBef>
              <a:spcAft>
                <a:spcPts val="0"/>
              </a:spcAft>
              <a:defRPr sz="1470" b="1">
                <a:solidFill>
                  <a:srgbClr val="F4F5F4"/>
                </a:solidFill>
                <a:latin typeface="DejaVu Sans"/>
              </a:defRPr>
            </a:pPr>
            <a:r>
              <a:t>Эрүүл мэндээ хамгаалуулах; сурч боловсрох</a:t>
            </a:r>
          </a:p>
        </p:txBody>
      </p:sp>
      <p:sp>
        <p:nvSpPr>
          <p:cNvPr id="61" name="TextBox 60"/>
          <p:cNvSpPr txBox="1"/>
          <p:nvPr/>
        </p:nvSpPr>
        <p:spPr>
          <a:xfrm>
            <a:off x="7772400" y="4600575"/>
            <a:ext cx="3733799" cy="419100"/>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Төлбөргүй үйлчилгээний хүрээг хууль</a:t>
            </a:r>
          </a:p>
          <a:p>
            <a:pPr>
              <a:lnSpc>
                <a:spcPts val="1647"/>
              </a:lnSpc>
              <a:spcBef>
                <a:spcPts val="0"/>
              </a:spcBef>
              <a:spcAft>
                <a:spcPts val="0"/>
              </a:spcAft>
              <a:defRPr sz="1350" b="0">
                <a:solidFill>
                  <a:srgbClr val="B3C2D3"/>
                </a:solidFill>
                <a:latin typeface="DejaVu Sans"/>
              </a:defRPr>
            </a:pPr>
            <a:r>
              <a:t>тогтооно</a:t>
            </a:r>
          </a:p>
        </p:txBody>
      </p:sp>
      <p:cxnSp>
        <p:nvCxnSpPr>
          <p:cNvPr id="62" name="Connector 61"/>
          <p:cNvCxnSpPr/>
          <p:nvPr/>
        </p:nvCxnSpPr>
        <p:spPr>
          <a:xfrm>
            <a:off x="628650" y="5086350"/>
            <a:ext cx="10896600" cy="0"/>
          </a:xfrm>
          <a:prstGeom prst="line">
            <a:avLst/>
          </a:prstGeom>
          <a:ln w="6667">
            <a:solidFill>
              <a:srgbClr val="2C4058"/>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28650" y="5200650"/>
            <a:ext cx="1724025" cy="438150"/>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19.1</a:t>
            </a:r>
          </a:p>
        </p:txBody>
      </p:sp>
      <p:sp>
        <p:nvSpPr>
          <p:cNvPr id="64" name="TextBox 63"/>
          <p:cNvSpPr txBox="1"/>
          <p:nvPr/>
        </p:nvSpPr>
        <p:spPr>
          <a:xfrm>
            <a:off x="2514600" y="5181600"/>
            <a:ext cx="4972050" cy="447675"/>
          </a:xfrm>
          <a:prstGeom prst="rect">
            <a:avLst/>
          </a:prstGeom>
          <a:noFill/>
        </p:spPr>
        <p:txBody>
          <a:bodyPr wrap="none" lIns="0" tIns="0" rIns="0" bIns="0">
            <a:spAutoFit/>
          </a:bodyPr>
          <a:lstStyle/>
          <a:p>
            <a:pPr>
              <a:lnSpc>
                <a:spcPts val="1756"/>
              </a:lnSpc>
              <a:spcBef>
                <a:spcPts val="0"/>
              </a:spcBef>
              <a:spcAft>
                <a:spcPts val="0"/>
              </a:spcAft>
              <a:defRPr sz="1440" b="1">
                <a:solidFill>
                  <a:srgbClr val="F4F5F4"/>
                </a:solidFill>
                <a:latin typeface="DejaVu Sans"/>
              </a:defRPr>
            </a:pPr>
            <a:r>
              <a:t>Эдийн засаг, нийгэм, хууль зүйн баталгааг</a:t>
            </a:r>
          </a:p>
          <a:p>
            <a:pPr>
              <a:lnSpc>
                <a:spcPts val="1756"/>
              </a:lnSpc>
              <a:spcBef>
                <a:spcPts val="0"/>
              </a:spcBef>
              <a:spcAft>
                <a:spcPts val="0"/>
              </a:spcAft>
              <a:defRPr sz="1440" b="1">
                <a:solidFill>
                  <a:srgbClr val="F4F5F4"/>
                </a:solidFill>
                <a:latin typeface="DejaVu Sans"/>
              </a:defRPr>
            </a:pPr>
            <a:r>
              <a:t>бүрдүүлэх төрийн үүрэг</a:t>
            </a:r>
          </a:p>
        </p:txBody>
      </p:sp>
      <p:sp>
        <p:nvSpPr>
          <p:cNvPr id="65" name="TextBox 64"/>
          <p:cNvSpPr txBox="1"/>
          <p:nvPr/>
        </p:nvSpPr>
        <p:spPr>
          <a:xfrm>
            <a:off x="7772400" y="5200650"/>
            <a:ext cx="3733799" cy="419100"/>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Эрхийн хэрэгжилтийг төсөв, бодлогоор</a:t>
            </a:r>
          </a:p>
          <a:p>
            <a:pPr>
              <a:lnSpc>
                <a:spcPts val="1647"/>
              </a:lnSpc>
              <a:spcBef>
                <a:spcPts val="0"/>
              </a:spcBef>
              <a:spcAft>
                <a:spcPts val="0"/>
              </a:spcAft>
              <a:defRPr sz="1350" b="0">
                <a:solidFill>
                  <a:srgbClr val="B3C2D3"/>
                </a:solidFill>
                <a:latin typeface="DejaVu Sans"/>
              </a:defRPr>
            </a:pPr>
            <a:r>
              <a:t>хангах</a:t>
            </a:r>
          </a:p>
        </p:txBody>
      </p:sp>
      <p:sp>
        <p:nvSpPr>
          <p:cNvPr id="66" name="Rounded Rectangle 65"/>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Энд болон бусад слайдад хуулийн агуулгыг хураангуйлсан; үгчилсэн эшлэл биш.</a:t>
            </a:r>
          </a:p>
        </p:txBody>
      </p:sp>
      <p:sp>
        <p:nvSpPr>
          <p:cNvPr id="73" name="Rectangle 72"/>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a:t>
            </a:r>
          </a:p>
        </p:txBody>
      </p:sp>
      <p:sp>
        <p:nvSpPr>
          <p:cNvPr id="75" name="TextBox 74"/>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6" name="TextBox 75"/>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САЛБАРЫН ХУУЛЬ</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7439024" cy="904875"/>
          </a:xfrm>
          <a:prstGeom prst="rect">
            <a:avLst/>
          </a:prstGeom>
          <a:noFill/>
        </p:spPr>
        <p:txBody>
          <a:bodyPr wrap="none" lIns="0" tIns="0" rIns="0" bIns="0">
            <a:spAutoFit/>
          </a:bodyPr>
          <a:lstStyle/>
          <a:p>
            <a:pPr>
              <a:lnSpc>
                <a:spcPts val="5307"/>
              </a:lnSpc>
              <a:spcBef>
                <a:spcPts val="0"/>
              </a:spcBef>
              <a:spcAft>
                <a:spcPts val="0"/>
              </a:spcAft>
              <a:defRPr sz="4350" b="1">
                <a:solidFill>
                  <a:srgbClr val="030A13"/>
                </a:solidFill>
                <a:latin typeface="Open Sans Condensed"/>
              </a:defRPr>
            </a:pPr>
            <a:r>
              <a:t>ХУУЛЬ БА ХЭРЭГЖИЛТ</a:t>
            </a:r>
          </a:p>
        </p:txBody>
      </p:sp>
      <p:sp>
        <p:nvSpPr>
          <p:cNvPr id="35" name="TextBox 34"/>
          <p:cNvSpPr txBox="1"/>
          <p:nvPr/>
        </p:nvSpPr>
        <p:spPr>
          <a:xfrm>
            <a:off x="457200" y="942975"/>
            <a:ext cx="7439024" cy="904875"/>
          </a:xfrm>
          <a:prstGeom prst="rect">
            <a:avLst/>
          </a:prstGeom>
          <a:noFill/>
        </p:spPr>
        <p:txBody>
          <a:bodyPr wrap="none" lIns="0" tIns="0" rIns="0" bIns="0">
            <a:spAutoFit/>
          </a:bodyPr>
          <a:lstStyle/>
          <a:p>
            <a:pPr>
              <a:lnSpc>
                <a:spcPts val="5307"/>
              </a:lnSpc>
              <a:spcBef>
                <a:spcPts val="0"/>
              </a:spcBef>
              <a:spcAft>
                <a:spcPts val="0"/>
              </a:spcAft>
              <a:defRPr sz="4350" b="1">
                <a:solidFill>
                  <a:srgbClr val="F4F5F4"/>
                </a:solidFill>
                <a:latin typeface="Open Sans Condensed"/>
              </a:defRPr>
            </a:pPr>
            <a:r>
              <a:t>ХУУЛЬ БА ХЭРЭГЖИЛТ</a:t>
            </a:r>
          </a:p>
        </p:txBody>
      </p:sp>
      <p:sp>
        <p:nvSpPr>
          <p:cNvPr id="36" name="Rounded Rectangle 35"/>
          <p:cNvSpPr/>
          <p:nvPr/>
        </p:nvSpPr>
        <p:spPr>
          <a:xfrm>
            <a:off x="523874" y="2124075"/>
            <a:ext cx="7439024" cy="790575"/>
          </a:xfrm>
          <a:prstGeom prst="roundRect">
            <a:avLst>
              <a:gd name="adj" fmla="val 144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019300"/>
            <a:ext cx="7439024" cy="790575"/>
          </a:xfrm>
          <a:prstGeom prst="roundRect">
            <a:avLst>
              <a:gd name="adj" fmla="val 1204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028825"/>
            <a:ext cx="74199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047875"/>
            <a:ext cx="19050" cy="7334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2790825"/>
            <a:ext cx="73056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125" y="2133600"/>
            <a:ext cx="4276725" cy="28575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Open Sans Condensed"/>
              </a:defRPr>
            </a:pPr>
            <a:r>
              <a:t>Хөдөлмөрийн тухай</a:t>
            </a:r>
          </a:p>
        </p:txBody>
      </p:sp>
      <p:sp>
        <p:nvSpPr>
          <p:cNvPr id="42" name="TextBox 41"/>
          <p:cNvSpPr txBox="1"/>
          <p:nvPr/>
        </p:nvSpPr>
        <p:spPr>
          <a:xfrm>
            <a:off x="619125" y="2505075"/>
            <a:ext cx="4276725" cy="219075"/>
          </a:xfrm>
          <a:prstGeom prst="rect">
            <a:avLst/>
          </a:prstGeom>
          <a:noFill/>
        </p:spPr>
        <p:txBody>
          <a:bodyPr wrap="none" lIns="0" tIns="0" rIns="0" bIns="0">
            <a:spAutoFit/>
          </a:bodyPr>
          <a:lstStyle/>
          <a:p>
            <a:pPr>
              <a:lnSpc>
                <a:spcPts val="1372"/>
              </a:lnSpc>
              <a:spcBef>
                <a:spcPts val="0"/>
              </a:spcBef>
              <a:spcAft>
                <a:spcPts val="0"/>
              </a:spcAft>
              <a:defRPr sz="1125" b="0">
                <a:solidFill>
                  <a:srgbClr val="F1C75B"/>
                </a:solidFill>
                <a:latin typeface="DejaVu Sans Mono"/>
              </a:defRPr>
            </a:pPr>
            <a:r>
              <a:t>2021.07.02</a:t>
            </a:r>
          </a:p>
        </p:txBody>
      </p:sp>
      <p:sp>
        <p:nvSpPr>
          <p:cNvPr id="43" name="TextBox 42"/>
          <p:cNvSpPr txBox="1"/>
          <p:nvPr/>
        </p:nvSpPr>
        <p:spPr>
          <a:xfrm>
            <a:off x="4991100" y="2152650"/>
            <a:ext cx="2714625" cy="533400"/>
          </a:xfrm>
          <a:prstGeom prst="rect">
            <a:avLst/>
          </a:prstGeom>
          <a:noFill/>
        </p:spPr>
        <p:txBody>
          <a:bodyPr wrap="none" lIns="0" tIns="0" rIns="0" bIns="0">
            <a:spAutoFit/>
          </a:bodyPr>
          <a:lstStyle/>
          <a:p>
            <a:pPr>
              <a:lnSpc>
                <a:spcPts val="1390"/>
              </a:lnSpc>
              <a:spcBef>
                <a:spcPts val="0"/>
              </a:spcBef>
              <a:spcAft>
                <a:spcPts val="0"/>
              </a:spcAft>
              <a:defRPr sz="1140" b="0">
                <a:solidFill>
                  <a:srgbClr val="F4F5F4"/>
                </a:solidFill>
                <a:latin typeface="DejaVu Sans"/>
              </a:defRPr>
            </a:pPr>
            <a:r>
              <a:t>6 дугаар зүйл: хөдөлмөрт</a:t>
            </a:r>
          </a:p>
          <a:p>
            <a:pPr>
              <a:lnSpc>
                <a:spcPts val="1390"/>
              </a:lnSpc>
              <a:spcBef>
                <a:spcPts val="0"/>
              </a:spcBef>
              <a:spcAft>
                <a:spcPts val="0"/>
              </a:spcAft>
              <a:defRPr sz="1140" b="0">
                <a:solidFill>
                  <a:srgbClr val="F4F5F4"/>
                </a:solidFill>
                <a:latin typeface="DejaVu Sans"/>
              </a:defRPr>
            </a:pPr>
            <a:r>
              <a:t>ялгаварлан гадуурхахыг хориглох</a:t>
            </a:r>
          </a:p>
        </p:txBody>
      </p:sp>
      <p:sp>
        <p:nvSpPr>
          <p:cNvPr id="44" name="Rounded Rectangle 43"/>
          <p:cNvSpPr/>
          <p:nvPr/>
        </p:nvSpPr>
        <p:spPr>
          <a:xfrm>
            <a:off x="523874" y="3038475"/>
            <a:ext cx="7439024" cy="790575"/>
          </a:xfrm>
          <a:prstGeom prst="roundRect">
            <a:avLst>
              <a:gd name="adj" fmla="val 144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933700"/>
            <a:ext cx="7439024" cy="790575"/>
          </a:xfrm>
          <a:prstGeom prst="roundRect">
            <a:avLst>
              <a:gd name="adj" fmla="val 1204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943225"/>
            <a:ext cx="74199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962275"/>
            <a:ext cx="19050" cy="7334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3705224"/>
            <a:ext cx="73056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125" y="3048000"/>
            <a:ext cx="4276725" cy="28575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Open Sans Condensed"/>
              </a:defRPr>
            </a:pPr>
            <a:r>
              <a:t>Нийгмийн халамжийн тухай</a:t>
            </a:r>
          </a:p>
        </p:txBody>
      </p:sp>
      <p:sp>
        <p:nvSpPr>
          <p:cNvPr id="50" name="TextBox 49"/>
          <p:cNvSpPr txBox="1"/>
          <p:nvPr/>
        </p:nvSpPr>
        <p:spPr>
          <a:xfrm>
            <a:off x="619125" y="3419475"/>
            <a:ext cx="4276725" cy="219075"/>
          </a:xfrm>
          <a:prstGeom prst="rect">
            <a:avLst/>
          </a:prstGeom>
          <a:noFill/>
        </p:spPr>
        <p:txBody>
          <a:bodyPr wrap="none" lIns="0" tIns="0" rIns="0" bIns="0">
            <a:spAutoFit/>
          </a:bodyPr>
          <a:lstStyle/>
          <a:p>
            <a:pPr>
              <a:lnSpc>
                <a:spcPts val="1372"/>
              </a:lnSpc>
              <a:spcBef>
                <a:spcPts val="0"/>
              </a:spcBef>
              <a:spcAft>
                <a:spcPts val="0"/>
              </a:spcAft>
              <a:defRPr sz="1125" b="0">
                <a:solidFill>
                  <a:srgbClr val="F1C75B"/>
                </a:solidFill>
                <a:latin typeface="DejaVu Sans Mono"/>
              </a:defRPr>
            </a:pPr>
            <a:r>
              <a:t>2012.01.19</a:t>
            </a:r>
          </a:p>
        </p:txBody>
      </p:sp>
      <p:sp>
        <p:nvSpPr>
          <p:cNvPr id="51" name="TextBox 50"/>
          <p:cNvSpPr txBox="1"/>
          <p:nvPr/>
        </p:nvSpPr>
        <p:spPr>
          <a:xfrm>
            <a:off x="4991100" y="3067050"/>
            <a:ext cx="2714625" cy="533400"/>
          </a:xfrm>
          <a:prstGeom prst="rect">
            <a:avLst/>
          </a:prstGeom>
          <a:noFill/>
        </p:spPr>
        <p:txBody>
          <a:bodyPr wrap="none" lIns="0" tIns="0" rIns="0" bIns="0">
            <a:spAutoFit/>
          </a:bodyPr>
          <a:lstStyle/>
          <a:p>
            <a:pPr>
              <a:lnSpc>
                <a:spcPts val="1647"/>
              </a:lnSpc>
              <a:spcBef>
                <a:spcPts val="0"/>
              </a:spcBef>
              <a:spcAft>
                <a:spcPts val="0"/>
              </a:spcAft>
              <a:defRPr sz="1350" b="0">
                <a:solidFill>
                  <a:srgbClr val="F4F5F4"/>
                </a:solidFill>
                <a:latin typeface="DejaVu Sans"/>
              </a:defRPr>
            </a:pPr>
            <a:r>
              <a:t>Нийгмийн халамжийн</a:t>
            </a:r>
          </a:p>
          <a:p>
            <a:pPr>
              <a:lnSpc>
                <a:spcPts val="1647"/>
              </a:lnSpc>
              <a:spcBef>
                <a:spcPts val="0"/>
              </a:spcBef>
              <a:spcAft>
                <a:spcPts val="0"/>
              </a:spcAft>
              <a:defRPr sz="1350" b="0">
                <a:solidFill>
                  <a:srgbClr val="F4F5F4"/>
                </a:solidFill>
                <a:latin typeface="DejaVu Sans"/>
              </a:defRPr>
            </a:pPr>
            <a:r>
              <a:t>тэтгэвэр, тэтгэмж, үйлчилгээ</a:t>
            </a:r>
          </a:p>
        </p:txBody>
      </p:sp>
      <p:sp>
        <p:nvSpPr>
          <p:cNvPr id="52" name="Rounded Rectangle 51"/>
          <p:cNvSpPr/>
          <p:nvPr/>
        </p:nvSpPr>
        <p:spPr>
          <a:xfrm>
            <a:off x="523874" y="3952875"/>
            <a:ext cx="7439024" cy="790575"/>
          </a:xfrm>
          <a:prstGeom prst="roundRect">
            <a:avLst>
              <a:gd name="adj" fmla="val 144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57200" y="3848099"/>
            <a:ext cx="7439024" cy="790575"/>
          </a:xfrm>
          <a:prstGeom prst="roundRect">
            <a:avLst>
              <a:gd name="adj" fmla="val 1204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6724" y="3857625"/>
            <a:ext cx="74199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724" y="3876674"/>
            <a:ext cx="19050" cy="7334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3874" y="4619625"/>
            <a:ext cx="73056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9125" y="3962399"/>
            <a:ext cx="4276725" cy="28575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Open Sans Condensed"/>
              </a:defRPr>
            </a:pPr>
            <a:r>
              <a:t>Боловсролын ерөнхий хууль</a:t>
            </a:r>
          </a:p>
        </p:txBody>
      </p:sp>
      <p:sp>
        <p:nvSpPr>
          <p:cNvPr id="58" name="TextBox 57"/>
          <p:cNvSpPr txBox="1"/>
          <p:nvPr/>
        </p:nvSpPr>
        <p:spPr>
          <a:xfrm>
            <a:off x="619125" y="4333875"/>
            <a:ext cx="4276725" cy="219075"/>
          </a:xfrm>
          <a:prstGeom prst="rect">
            <a:avLst/>
          </a:prstGeom>
          <a:noFill/>
        </p:spPr>
        <p:txBody>
          <a:bodyPr wrap="none" lIns="0" tIns="0" rIns="0" bIns="0">
            <a:spAutoFit/>
          </a:bodyPr>
          <a:lstStyle/>
          <a:p>
            <a:pPr>
              <a:lnSpc>
                <a:spcPts val="1372"/>
              </a:lnSpc>
              <a:spcBef>
                <a:spcPts val="0"/>
              </a:spcBef>
              <a:spcAft>
                <a:spcPts val="0"/>
              </a:spcAft>
              <a:defRPr sz="1125" b="0">
                <a:solidFill>
                  <a:srgbClr val="F1C75B"/>
                </a:solidFill>
                <a:latin typeface="DejaVu Sans Mono"/>
              </a:defRPr>
            </a:pPr>
            <a:r>
              <a:t>2023.07.07</a:t>
            </a:r>
          </a:p>
        </p:txBody>
      </p:sp>
      <p:sp>
        <p:nvSpPr>
          <p:cNvPr id="59" name="TextBox 58"/>
          <p:cNvSpPr txBox="1"/>
          <p:nvPr/>
        </p:nvSpPr>
        <p:spPr>
          <a:xfrm>
            <a:off x="4991100" y="3981450"/>
            <a:ext cx="2714625" cy="533400"/>
          </a:xfrm>
          <a:prstGeom prst="rect">
            <a:avLst/>
          </a:prstGeom>
          <a:noFill/>
        </p:spPr>
        <p:txBody>
          <a:bodyPr wrap="none" lIns="0" tIns="0" rIns="0" bIns="0">
            <a:spAutoFit/>
          </a:bodyPr>
          <a:lstStyle/>
          <a:p>
            <a:pPr>
              <a:lnSpc>
                <a:spcPts val="1647"/>
              </a:lnSpc>
              <a:spcBef>
                <a:spcPts val="0"/>
              </a:spcBef>
              <a:spcAft>
                <a:spcPts val="0"/>
              </a:spcAft>
              <a:defRPr sz="1350" b="0">
                <a:solidFill>
                  <a:srgbClr val="F4F5F4"/>
                </a:solidFill>
                <a:latin typeface="DejaVu Sans"/>
              </a:defRPr>
            </a:pPr>
            <a:r>
              <a:t>Боловсролын тэгш боломж,</a:t>
            </a:r>
          </a:p>
          <a:p>
            <a:pPr>
              <a:lnSpc>
                <a:spcPts val="1647"/>
              </a:lnSpc>
              <a:spcBef>
                <a:spcPts val="0"/>
              </a:spcBef>
              <a:spcAft>
                <a:spcPts val="0"/>
              </a:spcAft>
              <a:defRPr sz="1350" b="0">
                <a:solidFill>
                  <a:srgbClr val="F4F5F4"/>
                </a:solidFill>
                <a:latin typeface="DejaVu Sans"/>
              </a:defRPr>
            </a:pPr>
            <a:r>
              <a:t>хүртээмжийн зохицуулалт</a:t>
            </a:r>
          </a:p>
        </p:txBody>
      </p:sp>
      <p:sp>
        <p:nvSpPr>
          <p:cNvPr id="60" name="Rounded Rectangle 59"/>
          <p:cNvSpPr/>
          <p:nvPr/>
        </p:nvSpPr>
        <p:spPr>
          <a:xfrm>
            <a:off x="523874" y="4867275"/>
            <a:ext cx="7439024" cy="790575"/>
          </a:xfrm>
          <a:prstGeom prst="roundRect">
            <a:avLst>
              <a:gd name="adj" fmla="val 144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4762500"/>
            <a:ext cx="7439024" cy="790575"/>
          </a:xfrm>
          <a:prstGeom prst="roundRect">
            <a:avLst>
              <a:gd name="adj" fmla="val 1204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4772025"/>
            <a:ext cx="74199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4791075"/>
            <a:ext cx="19050" cy="7334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5534025"/>
            <a:ext cx="73056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9125" y="4876800"/>
            <a:ext cx="4276725" cy="28575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Open Sans Condensed"/>
              </a:defRPr>
            </a:pPr>
            <a:r>
              <a:t>Хөгжлийн бэрхшээлтэй хүний эрхийн тухай</a:t>
            </a:r>
          </a:p>
        </p:txBody>
      </p:sp>
      <p:sp>
        <p:nvSpPr>
          <p:cNvPr id="66" name="TextBox 65"/>
          <p:cNvSpPr txBox="1"/>
          <p:nvPr/>
        </p:nvSpPr>
        <p:spPr>
          <a:xfrm>
            <a:off x="619125" y="5248275"/>
            <a:ext cx="4276725" cy="219075"/>
          </a:xfrm>
          <a:prstGeom prst="rect">
            <a:avLst/>
          </a:prstGeom>
          <a:noFill/>
        </p:spPr>
        <p:txBody>
          <a:bodyPr wrap="none" lIns="0" tIns="0" rIns="0" bIns="0">
            <a:spAutoFit/>
          </a:bodyPr>
          <a:lstStyle/>
          <a:p>
            <a:pPr>
              <a:lnSpc>
                <a:spcPts val="1372"/>
              </a:lnSpc>
              <a:spcBef>
                <a:spcPts val="0"/>
              </a:spcBef>
              <a:spcAft>
                <a:spcPts val="0"/>
              </a:spcAft>
              <a:defRPr sz="1125" b="0">
                <a:solidFill>
                  <a:srgbClr val="F1C75B"/>
                </a:solidFill>
                <a:latin typeface="DejaVu Sans Mono"/>
              </a:defRPr>
            </a:pPr>
            <a:r>
              <a:t>2016.02.05</a:t>
            </a:r>
          </a:p>
        </p:txBody>
      </p:sp>
      <p:sp>
        <p:nvSpPr>
          <p:cNvPr id="67" name="TextBox 66"/>
          <p:cNvSpPr txBox="1"/>
          <p:nvPr/>
        </p:nvSpPr>
        <p:spPr>
          <a:xfrm>
            <a:off x="4991100" y="4895850"/>
            <a:ext cx="2714625" cy="533400"/>
          </a:xfrm>
          <a:prstGeom prst="rect">
            <a:avLst/>
          </a:prstGeom>
          <a:noFill/>
        </p:spPr>
        <p:txBody>
          <a:bodyPr wrap="none" lIns="0" tIns="0" rIns="0" bIns="0">
            <a:spAutoFit/>
          </a:bodyPr>
          <a:lstStyle/>
          <a:p>
            <a:pPr>
              <a:lnSpc>
                <a:spcPts val="1647"/>
              </a:lnSpc>
              <a:spcBef>
                <a:spcPts val="0"/>
              </a:spcBef>
              <a:spcAft>
                <a:spcPts val="0"/>
              </a:spcAft>
              <a:defRPr sz="1350" b="0">
                <a:solidFill>
                  <a:srgbClr val="F4F5F4"/>
                </a:solidFill>
                <a:latin typeface="DejaVu Sans"/>
              </a:defRPr>
            </a:pPr>
            <a:r>
              <a:t>Ялгаварлалгүй оролцоо,</a:t>
            </a:r>
          </a:p>
          <a:p>
            <a:pPr>
              <a:lnSpc>
                <a:spcPts val="1647"/>
              </a:lnSpc>
              <a:spcBef>
                <a:spcPts val="0"/>
              </a:spcBef>
              <a:spcAft>
                <a:spcPts val="0"/>
              </a:spcAft>
              <a:defRPr sz="1350" b="0">
                <a:solidFill>
                  <a:srgbClr val="F4F5F4"/>
                </a:solidFill>
                <a:latin typeface="DejaVu Sans"/>
              </a:defRPr>
            </a:pPr>
            <a:r>
              <a:t>хүртээмжийн зохицуулалт</a:t>
            </a:r>
          </a:p>
        </p:txBody>
      </p:sp>
      <p:sp>
        <p:nvSpPr>
          <p:cNvPr id="68" name="Rounded Rectangle 67"/>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Батлагдсан он нь сүүлийн нэмэлт, өөрчлөлтийн он гэсэн үг биш. Одоогийн найруулгыг Legalinfo-оос нягтална.</a:t>
            </a:r>
          </a:p>
        </p:txBody>
      </p:sp>
      <p:sp>
        <p:nvSpPr>
          <p:cNvPr id="75" name="Rectangle 74"/>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ХТ · НХ · БЕХ · ХБХ</a:t>
            </a:r>
          </a:p>
        </p:txBody>
      </p:sp>
      <p:sp>
        <p:nvSpPr>
          <p:cNvPr id="77" name="TextBox 76"/>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8" name="TextBox 77"/>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7239000" cy="828675"/>
          </a:xfrm>
          <a:prstGeom prst="rect">
            <a:avLst/>
          </a:prstGeom>
          <a:noFill/>
        </p:spPr>
        <p:txBody>
          <a:bodyPr wrap="none" lIns="0" tIns="0" rIns="0" bIns="0">
            <a:spAutoFit/>
          </a:bodyPr>
          <a:lstStyle/>
          <a:p>
            <a:pPr>
              <a:lnSpc>
                <a:spcPts val="5307"/>
              </a:lnSpc>
              <a:spcBef>
                <a:spcPts val="0"/>
              </a:spcBef>
              <a:spcAft>
                <a:spcPts val="0"/>
              </a:spcAft>
              <a:defRPr sz="4350" b="1">
                <a:solidFill>
                  <a:srgbClr val="030A13"/>
                </a:solidFill>
                <a:latin typeface="Open Sans Condensed"/>
              </a:defRPr>
            </a:pPr>
            <a:r>
              <a:t>ЭРХИЙН АРХИТЕКТУР</a:t>
            </a:r>
          </a:p>
        </p:txBody>
      </p:sp>
      <p:sp>
        <p:nvSpPr>
          <p:cNvPr id="35" name="TextBox 34"/>
          <p:cNvSpPr txBox="1"/>
          <p:nvPr/>
        </p:nvSpPr>
        <p:spPr>
          <a:xfrm>
            <a:off x="457200" y="942975"/>
            <a:ext cx="7239000" cy="828675"/>
          </a:xfrm>
          <a:prstGeom prst="rect">
            <a:avLst/>
          </a:prstGeom>
          <a:noFill/>
        </p:spPr>
        <p:txBody>
          <a:bodyPr wrap="none" lIns="0" tIns="0" rIns="0" bIns="0">
            <a:spAutoFit/>
          </a:bodyPr>
          <a:lstStyle/>
          <a:p>
            <a:pPr>
              <a:lnSpc>
                <a:spcPts val="5307"/>
              </a:lnSpc>
              <a:spcBef>
                <a:spcPts val="0"/>
              </a:spcBef>
              <a:spcAft>
                <a:spcPts val="0"/>
              </a:spcAft>
              <a:defRPr sz="4350" b="1">
                <a:solidFill>
                  <a:srgbClr val="F4F5F4"/>
                </a:solidFill>
                <a:latin typeface="Open Sans Condensed"/>
              </a:defRPr>
            </a:pPr>
            <a:r>
              <a:t>ЭРХИЙН АРХИТЕКТУР</a:t>
            </a:r>
          </a:p>
        </p:txBody>
      </p:sp>
      <p:sp>
        <p:nvSpPr>
          <p:cNvPr id="36" name="TextBox 35"/>
          <p:cNvSpPr txBox="1"/>
          <p:nvPr/>
        </p:nvSpPr>
        <p:spPr>
          <a:xfrm>
            <a:off x="504825" y="1971675"/>
            <a:ext cx="6534150" cy="933449"/>
          </a:xfrm>
          <a:prstGeom prst="rect">
            <a:avLst/>
          </a:prstGeom>
          <a:noFill/>
        </p:spPr>
        <p:txBody>
          <a:bodyPr wrap="none" lIns="0" tIns="0" rIns="0" bIns="0">
            <a:spAutoFit/>
          </a:bodyPr>
          <a:lstStyle/>
          <a:p>
            <a:pPr>
              <a:lnSpc>
                <a:spcPts val="7137"/>
              </a:lnSpc>
              <a:spcBef>
                <a:spcPts val="0"/>
              </a:spcBef>
              <a:spcAft>
                <a:spcPts val="0"/>
              </a:spcAft>
              <a:defRPr sz="5850" b="1">
                <a:solidFill>
                  <a:srgbClr val="F1C75B"/>
                </a:solidFill>
                <a:latin typeface="Open Sans Condensed"/>
              </a:defRPr>
            </a:pPr>
            <a:r>
              <a:t>1948–2015</a:t>
            </a:r>
          </a:p>
        </p:txBody>
      </p:sp>
      <p:sp>
        <p:nvSpPr>
          <p:cNvPr id="37" name="Rounded Rectangle 36"/>
          <p:cNvSpPr/>
          <p:nvPr/>
        </p:nvSpPr>
        <p:spPr>
          <a:xfrm>
            <a:off x="523874" y="3714750"/>
            <a:ext cx="2133600" cy="2133600"/>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 y="3609975"/>
            <a:ext cx="2133600" cy="2133600"/>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3619500"/>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3638550"/>
            <a:ext cx="19050" cy="2076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3874" y="57245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0550" y="3724275"/>
            <a:ext cx="1866899" cy="609600"/>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1948</a:t>
            </a:r>
          </a:p>
        </p:txBody>
      </p:sp>
      <p:sp>
        <p:nvSpPr>
          <p:cNvPr id="43" name="TextBox 42"/>
          <p:cNvSpPr txBox="1"/>
          <p:nvPr/>
        </p:nvSpPr>
        <p:spPr>
          <a:xfrm>
            <a:off x="590550" y="4419600"/>
            <a:ext cx="1866899" cy="523874"/>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Түгээмэл</a:t>
            </a:r>
          </a:p>
          <a:p>
            <a:pPr>
              <a:lnSpc>
                <a:spcPts val="1921"/>
              </a:lnSpc>
              <a:spcBef>
                <a:spcPts val="0"/>
              </a:spcBef>
              <a:spcAft>
                <a:spcPts val="0"/>
              </a:spcAft>
              <a:defRPr sz="1575" b="1">
                <a:solidFill>
                  <a:srgbClr val="F4F5F4"/>
                </a:solidFill>
                <a:latin typeface="DejaVu Sans"/>
              </a:defRPr>
            </a:pPr>
            <a:r>
              <a:t>тунхаглал</a:t>
            </a:r>
          </a:p>
        </p:txBody>
      </p:sp>
      <p:sp>
        <p:nvSpPr>
          <p:cNvPr id="44" name="TextBox 43"/>
          <p:cNvSpPr txBox="1"/>
          <p:nvPr/>
        </p:nvSpPr>
        <p:spPr>
          <a:xfrm>
            <a:off x="590550" y="5067300"/>
            <a:ext cx="1866899" cy="4857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Хүн бүрийн нэр төр,</a:t>
            </a:r>
          </a:p>
          <a:p>
            <a:pPr>
              <a:lnSpc>
                <a:spcPts val="1555"/>
              </a:lnSpc>
              <a:spcBef>
                <a:spcPts val="0"/>
              </a:spcBef>
              <a:spcAft>
                <a:spcPts val="0"/>
              </a:spcAft>
              <a:defRPr sz="1275" b="0">
                <a:solidFill>
                  <a:srgbClr val="F4F5F4"/>
                </a:solidFill>
                <a:latin typeface="DejaVu Sans"/>
              </a:defRPr>
            </a:pPr>
            <a:r>
              <a:t>суурь эрх</a:t>
            </a:r>
          </a:p>
        </p:txBody>
      </p:sp>
      <p:sp>
        <p:nvSpPr>
          <p:cNvPr id="45" name="TextBox 44"/>
          <p:cNvSpPr txBox="1"/>
          <p:nvPr/>
        </p:nvSpPr>
        <p:spPr>
          <a:xfrm>
            <a:off x="590550" y="3362325"/>
            <a:ext cx="1866899" cy="219075"/>
          </a:xfrm>
          <a:prstGeom prst="rect">
            <a:avLst/>
          </a:prstGeom>
          <a:noFill/>
        </p:spPr>
        <p:txBody>
          <a:bodyPr wrap="none" lIns="0" tIns="0" rIns="0" bIns="0">
            <a:spAutoFit/>
          </a:bodyPr>
          <a:lstStyle/>
          <a:p>
            <a:pPr>
              <a:lnSpc>
                <a:spcPts val="1189"/>
              </a:lnSpc>
              <a:spcBef>
                <a:spcPts val="0"/>
              </a:spcBef>
              <a:spcAft>
                <a:spcPts val="0"/>
              </a:spcAft>
              <a:defRPr sz="975" b="0">
                <a:solidFill>
                  <a:srgbClr val="B3C2D3"/>
                </a:solidFill>
                <a:latin typeface="DejaVu Sans Mono"/>
              </a:defRPr>
            </a:pPr>
            <a:r>
              <a:t>1948.12.10</a:t>
            </a:r>
          </a:p>
        </p:txBody>
      </p:sp>
      <p:sp>
        <p:nvSpPr>
          <p:cNvPr id="46" name="Rounded Rectangle 45"/>
          <p:cNvSpPr/>
          <p:nvPr/>
        </p:nvSpPr>
        <p:spPr>
          <a:xfrm>
            <a:off x="2809875" y="3714750"/>
            <a:ext cx="2133600" cy="2133600"/>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743200" y="3609975"/>
            <a:ext cx="2133600" cy="2133600"/>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52725" y="3619500"/>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752725" y="3638550"/>
            <a:ext cx="19050" cy="2076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809875" y="57245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76550" y="3724275"/>
            <a:ext cx="1866899" cy="609600"/>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1966</a:t>
            </a:r>
          </a:p>
        </p:txBody>
      </p:sp>
      <p:sp>
        <p:nvSpPr>
          <p:cNvPr id="52" name="TextBox 51"/>
          <p:cNvSpPr txBox="1"/>
          <p:nvPr/>
        </p:nvSpPr>
        <p:spPr>
          <a:xfrm>
            <a:off x="2876550" y="4419600"/>
            <a:ext cx="1866899" cy="523874"/>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Хоёр олон</a:t>
            </a:r>
          </a:p>
          <a:p>
            <a:pPr>
              <a:lnSpc>
                <a:spcPts val="1921"/>
              </a:lnSpc>
              <a:spcBef>
                <a:spcPts val="0"/>
              </a:spcBef>
              <a:spcAft>
                <a:spcPts val="0"/>
              </a:spcAft>
              <a:defRPr sz="1575" b="1">
                <a:solidFill>
                  <a:srgbClr val="F4F5F4"/>
                </a:solidFill>
                <a:latin typeface="DejaVu Sans"/>
              </a:defRPr>
            </a:pPr>
            <a:r>
              <a:t>улсын пакт</a:t>
            </a:r>
          </a:p>
        </p:txBody>
      </p:sp>
      <p:sp>
        <p:nvSpPr>
          <p:cNvPr id="53" name="TextBox 52"/>
          <p:cNvSpPr txBox="1"/>
          <p:nvPr/>
        </p:nvSpPr>
        <p:spPr>
          <a:xfrm>
            <a:off x="2876550" y="5067300"/>
            <a:ext cx="1866899" cy="4857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Иргэний ба нийгэм,</a:t>
            </a:r>
          </a:p>
          <a:p>
            <a:pPr>
              <a:lnSpc>
                <a:spcPts val="1555"/>
              </a:lnSpc>
              <a:spcBef>
                <a:spcPts val="0"/>
              </a:spcBef>
              <a:spcAft>
                <a:spcPts val="0"/>
              </a:spcAft>
              <a:defRPr sz="1275" b="0">
                <a:solidFill>
                  <a:srgbClr val="F4F5F4"/>
                </a:solidFill>
                <a:latin typeface="DejaVu Sans"/>
              </a:defRPr>
            </a:pPr>
            <a:r>
              <a:t>эдийн засгийн эрх</a:t>
            </a:r>
          </a:p>
        </p:txBody>
      </p:sp>
      <p:sp>
        <p:nvSpPr>
          <p:cNvPr id="54" name="TextBox 53"/>
          <p:cNvSpPr txBox="1"/>
          <p:nvPr/>
        </p:nvSpPr>
        <p:spPr>
          <a:xfrm>
            <a:off x="2876550" y="3362325"/>
            <a:ext cx="1866899" cy="219075"/>
          </a:xfrm>
          <a:prstGeom prst="rect">
            <a:avLst/>
          </a:prstGeom>
          <a:noFill/>
        </p:spPr>
        <p:txBody>
          <a:bodyPr wrap="none" lIns="0" tIns="0" rIns="0" bIns="0">
            <a:spAutoFit/>
          </a:bodyPr>
          <a:lstStyle/>
          <a:p>
            <a:pPr>
              <a:lnSpc>
                <a:spcPts val="1189"/>
              </a:lnSpc>
              <a:spcBef>
                <a:spcPts val="0"/>
              </a:spcBef>
              <a:spcAft>
                <a:spcPts val="0"/>
              </a:spcAft>
              <a:defRPr sz="975" b="0">
                <a:solidFill>
                  <a:srgbClr val="B3C2D3"/>
                </a:solidFill>
                <a:latin typeface="DejaVu Sans Mono"/>
              </a:defRPr>
            </a:pPr>
            <a:r>
              <a:t>1966.12.16</a:t>
            </a:r>
          </a:p>
        </p:txBody>
      </p:sp>
      <p:sp>
        <p:nvSpPr>
          <p:cNvPr id="55" name="Rounded Rectangle 54"/>
          <p:cNvSpPr/>
          <p:nvPr/>
        </p:nvSpPr>
        <p:spPr>
          <a:xfrm>
            <a:off x="5095875" y="3714750"/>
            <a:ext cx="2133600" cy="2133600"/>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5029200" y="3609975"/>
            <a:ext cx="2133600" cy="2133600"/>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038725" y="3619500"/>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38725" y="3638550"/>
            <a:ext cx="19050" cy="2076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95875" y="57245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62550" y="3724275"/>
            <a:ext cx="1866899" cy="609600"/>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1989</a:t>
            </a:r>
          </a:p>
        </p:txBody>
      </p:sp>
      <p:sp>
        <p:nvSpPr>
          <p:cNvPr id="61" name="TextBox 60"/>
          <p:cNvSpPr txBox="1"/>
          <p:nvPr/>
        </p:nvSpPr>
        <p:spPr>
          <a:xfrm>
            <a:off x="5162550" y="4419600"/>
            <a:ext cx="1866899" cy="523874"/>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Хүүхдийн</a:t>
            </a:r>
          </a:p>
          <a:p>
            <a:pPr>
              <a:lnSpc>
                <a:spcPts val="1921"/>
              </a:lnSpc>
              <a:spcBef>
                <a:spcPts val="0"/>
              </a:spcBef>
              <a:spcAft>
                <a:spcPts val="0"/>
              </a:spcAft>
              <a:defRPr sz="1575" b="1">
                <a:solidFill>
                  <a:srgbClr val="F4F5F4"/>
                </a:solidFill>
                <a:latin typeface="DejaVu Sans"/>
              </a:defRPr>
            </a:pPr>
            <a:r>
              <a:t>эрхийн конвенц</a:t>
            </a:r>
          </a:p>
        </p:txBody>
      </p:sp>
      <p:sp>
        <p:nvSpPr>
          <p:cNvPr id="62" name="TextBox 61"/>
          <p:cNvSpPr txBox="1"/>
          <p:nvPr/>
        </p:nvSpPr>
        <p:spPr>
          <a:xfrm>
            <a:off x="5162550" y="5067300"/>
            <a:ext cx="1866899" cy="4857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Хүүхдийн</a:t>
            </a:r>
          </a:p>
          <a:p>
            <a:pPr>
              <a:lnSpc>
                <a:spcPts val="1555"/>
              </a:lnSpc>
              <a:spcBef>
                <a:spcPts val="0"/>
              </a:spcBef>
              <a:spcAft>
                <a:spcPts val="0"/>
              </a:spcAft>
              <a:defRPr sz="1275" b="0">
                <a:solidFill>
                  <a:srgbClr val="F4F5F4"/>
                </a:solidFill>
                <a:latin typeface="DejaVu Sans"/>
              </a:defRPr>
            </a:pPr>
            <a:r>
              <a:t>хамгаалалт, хөгжил</a:t>
            </a:r>
          </a:p>
        </p:txBody>
      </p:sp>
      <p:sp>
        <p:nvSpPr>
          <p:cNvPr id="63" name="TextBox 62"/>
          <p:cNvSpPr txBox="1"/>
          <p:nvPr/>
        </p:nvSpPr>
        <p:spPr>
          <a:xfrm>
            <a:off x="5162550" y="3362325"/>
            <a:ext cx="1866899" cy="219075"/>
          </a:xfrm>
          <a:prstGeom prst="rect">
            <a:avLst/>
          </a:prstGeom>
          <a:noFill/>
        </p:spPr>
        <p:txBody>
          <a:bodyPr wrap="none" lIns="0" tIns="0" rIns="0" bIns="0">
            <a:spAutoFit/>
          </a:bodyPr>
          <a:lstStyle/>
          <a:p>
            <a:pPr>
              <a:lnSpc>
                <a:spcPts val="1189"/>
              </a:lnSpc>
              <a:spcBef>
                <a:spcPts val="0"/>
              </a:spcBef>
              <a:spcAft>
                <a:spcPts val="0"/>
              </a:spcAft>
              <a:defRPr sz="975" b="0">
                <a:solidFill>
                  <a:srgbClr val="B3C2D3"/>
                </a:solidFill>
                <a:latin typeface="DejaVu Sans Mono"/>
              </a:defRPr>
            </a:pPr>
            <a:r>
              <a:t>1989.11.20</a:t>
            </a:r>
          </a:p>
        </p:txBody>
      </p:sp>
      <p:sp>
        <p:nvSpPr>
          <p:cNvPr id="64" name="Rounded Rectangle 63"/>
          <p:cNvSpPr/>
          <p:nvPr/>
        </p:nvSpPr>
        <p:spPr>
          <a:xfrm>
            <a:off x="7381874" y="3714750"/>
            <a:ext cx="2133600" cy="2133600"/>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7315200" y="3609975"/>
            <a:ext cx="2133600" cy="2133600"/>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324724" y="3619500"/>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324724" y="3638550"/>
            <a:ext cx="19050" cy="2076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381874" y="57245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448550" y="3724275"/>
            <a:ext cx="1866899" cy="609600"/>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2006</a:t>
            </a:r>
          </a:p>
        </p:txBody>
      </p:sp>
      <p:sp>
        <p:nvSpPr>
          <p:cNvPr id="70" name="TextBox 69"/>
          <p:cNvSpPr txBox="1"/>
          <p:nvPr/>
        </p:nvSpPr>
        <p:spPr>
          <a:xfrm>
            <a:off x="7448550" y="4419600"/>
            <a:ext cx="1866899" cy="523874"/>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ХБХ-ийн эрхийн</a:t>
            </a:r>
          </a:p>
          <a:p>
            <a:pPr>
              <a:lnSpc>
                <a:spcPts val="1921"/>
              </a:lnSpc>
              <a:spcBef>
                <a:spcPts val="0"/>
              </a:spcBef>
              <a:spcAft>
                <a:spcPts val="0"/>
              </a:spcAft>
              <a:defRPr sz="1575" b="1">
                <a:solidFill>
                  <a:srgbClr val="F4F5F4"/>
                </a:solidFill>
                <a:latin typeface="DejaVu Sans"/>
              </a:defRPr>
            </a:pPr>
            <a:r>
              <a:t>конвенц</a:t>
            </a:r>
          </a:p>
        </p:txBody>
      </p:sp>
      <p:sp>
        <p:nvSpPr>
          <p:cNvPr id="71" name="TextBox 70"/>
          <p:cNvSpPr txBox="1"/>
          <p:nvPr/>
        </p:nvSpPr>
        <p:spPr>
          <a:xfrm>
            <a:off x="7448550" y="5067300"/>
            <a:ext cx="1866899" cy="4857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Хүртээмж ба тэгш</a:t>
            </a:r>
          </a:p>
          <a:p>
            <a:pPr>
              <a:lnSpc>
                <a:spcPts val="1555"/>
              </a:lnSpc>
              <a:spcBef>
                <a:spcPts val="0"/>
              </a:spcBef>
              <a:spcAft>
                <a:spcPts val="0"/>
              </a:spcAft>
              <a:defRPr sz="1275" b="0">
                <a:solidFill>
                  <a:srgbClr val="F4F5F4"/>
                </a:solidFill>
                <a:latin typeface="DejaVu Sans"/>
              </a:defRPr>
            </a:pPr>
            <a:r>
              <a:t>оролцоо</a:t>
            </a:r>
          </a:p>
        </p:txBody>
      </p:sp>
      <p:sp>
        <p:nvSpPr>
          <p:cNvPr id="72" name="TextBox 71"/>
          <p:cNvSpPr txBox="1"/>
          <p:nvPr/>
        </p:nvSpPr>
        <p:spPr>
          <a:xfrm>
            <a:off x="7448550" y="3362325"/>
            <a:ext cx="1866899" cy="219075"/>
          </a:xfrm>
          <a:prstGeom prst="rect">
            <a:avLst/>
          </a:prstGeom>
          <a:noFill/>
        </p:spPr>
        <p:txBody>
          <a:bodyPr wrap="none" lIns="0" tIns="0" rIns="0" bIns="0">
            <a:spAutoFit/>
          </a:bodyPr>
          <a:lstStyle/>
          <a:p>
            <a:pPr>
              <a:lnSpc>
                <a:spcPts val="1189"/>
              </a:lnSpc>
              <a:spcBef>
                <a:spcPts val="0"/>
              </a:spcBef>
              <a:spcAft>
                <a:spcPts val="0"/>
              </a:spcAft>
              <a:defRPr sz="975" b="0">
                <a:solidFill>
                  <a:srgbClr val="B3C2D3"/>
                </a:solidFill>
                <a:latin typeface="DejaVu Sans Mono"/>
              </a:defRPr>
            </a:pPr>
            <a:r>
              <a:t>2006.12.13</a:t>
            </a:r>
          </a:p>
        </p:txBody>
      </p:sp>
      <p:sp>
        <p:nvSpPr>
          <p:cNvPr id="73" name="Rounded Rectangle 72"/>
          <p:cNvSpPr/>
          <p:nvPr/>
        </p:nvSpPr>
        <p:spPr>
          <a:xfrm>
            <a:off x="9667875" y="3714750"/>
            <a:ext cx="2133600" cy="2133600"/>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9601200" y="3609975"/>
            <a:ext cx="2133600" cy="2133600"/>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610725" y="3619500"/>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610725" y="3638550"/>
            <a:ext cx="19050" cy="2076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667875" y="57245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734550" y="3724275"/>
            <a:ext cx="1866899" cy="609600"/>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2015</a:t>
            </a:r>
          </a:p>
        </p:txBody>
      </p:sp>
      <p:sp>
        <p:nvSpPr>
          <p:cNvPr id="79" name="TextBox 78"/>
          <p:cNvSpPr txBox="1"/>
          <p:nvPr/>
        </p:nvSpPr>
        <p:spPr>
          <a:xfrm>
            <a:off x="9734550" y="4419600"/>
            <a:ext cx="1866899" cy="523874"/>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ТХЗ • 2030</a:t>
            </a:r>
          </a:p>
          <a:p>
            <a:pPr>
              <a:lnSpc>
                <a:spcPts val="1921"/>
              </a:lnSpc>
              <a:spcBef>
                <a:spcPts val="0"/>
              </a:spcBef>
              <a:spcAft>
                <a:spcPts val="0"/>
              </a:spcAft>
              <a:defRPr sz="1575" b="1">
                <a:solidFill>
                  <a:srgbClr val="F4F5F4"/>
                </a:solidFill>
                <a:latin typeface="DejaVu Sans"/>
              </a:defRPr>
            </a:pPr>
            <a:r>
              <a:t>хөтөлбөр</a:t>
            </a:r>
          </a:p>
        </p:txBody>
      </p:sp>
      <p:sp>
        <p:nvSpPr>
          <p:cNvPr id="80" name="TextBox 79"/>
          <p:cNvSpPr txBox="1"/>
          <p:nvPr/>
        </p:nvSpPr>
        <p:spPr>
          <a:xfrm>
            <a:off x="9734550" y="5067300"/>
            <a:ext cx="1866899" cy="4857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Ядуурал, тэгш бус</a:t>
            </a:r>
          </a:p>
          <a:p>
            <a:pPr>
              <a:lnSpc>
                <a:spcPts val="1555"/>
              </a:lnSpc>
              <a:spcBef>
                <a:spcPts val="0"/>
              </a:spcBef>
              <a:spcAft>
                <a:spcPts val="0"/>
              </a:spcAft>
              <a:defRPr sz="1275" b="0">
                <a:solidFill>
                  <a:srgbClr val="F4F5F4"/>
                </a:solidFill>
                <a:latin typeface="DejaVu Sans"/>
              </a:defRPr>
            </a:pPr>
            <a:r>
              <a:t>байдлыг бууруулах</a:t>
            </a:r>
          </a:p>
        </p:txBody>
      </p:sp>
      <p:sp>
        <p:nvSpPr>
          <p:cNvPr id="81" name="TextBox 80"/>
          <p:cNvSpPr txBox="1"/>
          <p:nvPr/>
        </p:nvSpPr>
        <p:spPr>
          <a:xfrm>
            <a:off x="9734550" y="3362325"/>
            <a:ext cx="1866899" cy="219075"/>
          </a:xfrm>
          <a:prstGeom prst="rect">
            <a:avLst/>
          </a:prstGeom>
          <a:noFill/>
        </p:spPr>
        <p:txBody>
          <a:bodyPr wrap="none" lIns="0" tIns="0" rIns="0" bIns="0">
            <a:spAutoFit/>
          </a:bodyPr>
          <a:lstStyle/>
          <a:p>
            <a:pPr>
              <a:lnSpc>
                <a:spcPts val="1189"/>
              </a:lnSpc>
              <a:spcBef>
                <a:spcPts val="0"/>
              </a:spcBef>
              <a:spcAft>
                <a:spcPts val="0"/>
              </a:spcAft>
              <a:defRPr sz="975" b="0">
                <a:solidFill>
                  <a:srgbClr val="B3C2D3"/>
                </a:solidFill>
                <a:latin typeface="DejaVu Sans Mono"/>
              </a:defRPr>
            </a:pPr>
            <a:r>
              <a:t>2015.09.25</a:t>
            </a:r>
          </a:p>
        </p:txBody>
      </p:sp>
      <p:sp>
        <p:nvSpPr>
          <p:cNvPr id="82" name="Rounded Rectangle 81"/>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le 82"/>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Огноонууд нь олон улсын баримт бичгийг баталсан өдөр; Монгол Улс нэгдсэн огноо биш.</a:t>
            </a:r>
          </a:p>
        </p:txBody>
      </p:sp>
      <p:sp>
        <p:nvSpPr>
          <p:cNvPr id="89" name="Rectangle 88"/>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ICESCR · ICCPR · CRC · CRPD · SDG</a:t>
            </a:r>
          </a:p>
        </p:txBody>
      </p:sp>
      <p:sp>
        <p:nvSpPr>
          <p:cNvPr id="91" name="TextBox 90"/>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92" name="TextBox 91"/>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ТҮГЭЭМЭЛ ТУНХАГЛАЛ</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8620125" cy="1219200"/>
          </a:xfrm>
          <a:prstGeom prst="rect">
            <a:avLst/>
          </a:prstGeom>
          <a:noFill/>
        </p:spPr>
        <p:txBody>
          <a:bodyPr wrap="none" lIns="0" tIns="0" rIns="0" bIns="0">
            <a:spAutoFit/>
          </a:bodyPr>
          <a:lstStyle/>
          <a:p>
            <a:pPr>
              <a:lnSpc>
                <a:spcPts val="4575"/>
              </a:lnSpc>
              <a:spcBef>
                <a:spcPts val="0"/>
              </a:spcBef>
              <a:spcAft>
                <a:spcPts val="0"/>
              </a:spcAft>
              <a:defRPr sz="3750" b="1">
                <a:solidFill>
                  <a:srgbClr val="030A13"/>
                </a:solidFill>
                <a:latin typeface="Open Sans Condensed"/>
              </a:defRPr>
            </a:pPr>
            <a:r>
              <a:t>НЭР ТӨРТЭЙ АМЬДРАЛЫН</a:t>
            </a:r>
          </a:p>
          <a:p>
            <a:pPr>
              <a:lnSpc>
                <a:spcPts val="4575"/>
              </a:lnSpc>
              <a:spcBef>
                <a:spcPts val="0"/>
              </a:spcBef>
              <a:spcAft>
                <a:spcPts val="0"/>
              </a:spcAft>
              <a:defRPr sz="3750" b="1">
                <a:solidFill>
                  <a:srgbClr val="030A13"/>
                </a:solidFill>
                <a:latin typeface="Open Sans Condensed"/>
              </a:defRPr>
            </a:pPr>
            <a:r>
              <a:t>ОЛОН УЛСЫН СТАНДАРТ</a:t>
            </a:r>
          </a:p>
        </p:txBody>
      </p:sp>
      <p:sp>
        <p:nvSpPr>
          <p:cNvPr id="35" name="TextBox 34"/>
          <p:cNvSpPr txBox="1"/>
          <p:nvPr/>
        </p:nvSpPr>
        <p:spPr>
          <a:xfrm>
            <a:off x="457200" y="942975"/>
            <a:ext cx="8620125" cy="1219200"/>
          </a:xfrm>
          <a:prstGeom prst="rect">
            <a:avLst/>
          </a:prstGeom>
          <a:noFill/>
        </p:spPr>
        <p:txBody>
          <a:bodyPr wrap="none" lIns="0" tIns="0" rIns="0" bIns="0">
            <a:spAutoFit/>
          </a:bodyPr>
          <a:lstStyle/>
          <a:p>
            <a:pPr>
              <a:lnSpc>
                <a:spcPts val="4575"/>
              </a:lnSpc>
              <a:spcBef>
                <a:spcPts val="0"/>
              </a:spcBef>
              <a:spcAft>
                <a:spcPts val="0"/>
              </a:spcAft>
              <a:defRPr sz="3750" b="1">
                <a:solidFill>
                  <a:srgbClr val="F4F5F4"/>
                </a:solidFill>
                <a:latin typeface="Open Sans Condensed"/>
              </a:defRPr>
            </a:pPr>
            <a:r>
              <a:t>НЭР ТӨРТЭЙ АМЬДРАЛЫН</a:t>
            </a:r>
          </a:p>
          <a:p>
            <a:pPr>
              <a:lnSpc>
                <a:spcPts val="4575"/>
              </a:lnSpc>
              <a:spcBef>
                <a:spcPts val="0"/>
              </a:spcBef>
              <a:spcAft>
                <a:spcPts val="0"/>
              </a:spcAft>
              <a:defRPr sz="3750" b="1">
                <a:solidFill>
                  <a:srgbClr val="F4F5F4"/>
                </a:solidFill>
                <a:latin typeface="Open Sans Condensed"/>
              </a:defRPr>
            </a:pPr>
            <a:r>
              <a:t>ОЛОН УЛСЫН СТАНДАРТ</a:t>
            </a:r>
          </a:p>
        </p:txBody>
      </p:sp>
      <p:sp>
        <p:nvSpPr>
          <p:cNvPr id="36" name="Rounded Rectangle 35"/>
          <p:cNvSpPr/>
          <p:nvPr/>
        </p:nvSpPr>
        <p:spPr>
          <a:xfrm>
            <a:off x="552450" y="2362200"/>
            <a:ext cx="1417494"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2257425"/>
            <a:ext cx="1417494"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2266950"/>
            <a:ext cx="1398444"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22860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505075"/>
            <a:ext cx="1284144"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314575"/>
            <a:ext cx="1188894"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1948.12.10 / UDHR</a:t>
            </a:r>
          </a:p>
        </p:txBody>
      </p:sp>
      <p:sp>
        <p:nvSpPr>
          <p:cNvPr id="42" name="Rounded Rectangle 41"/>
          <p:cNvSpPr/>
          <p:nvPr/>
        </p:nvSpPr>
        <p:spPr>
          <a:xfrm>
            <a:off x="523874" y="2809875"/>
            <a:ext cx="11277600" cy="3057525"/>
          </a:xfrm>
          <a:prstGeom prst="roundRect">
            <a:avLst>
              <a:gd name="adj" fmla="val 3738"/>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7200" y="2705100"/>
            <a:ext cx="11277600" cy="3057525"/>
          </a:xfrm>
          <a:prstGeom prst="roundRect">
            <a:avLst>
              <a:gd name="adj" fmla="val 3115"/>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66724" y="271462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2733675"/>
            <a:ext cx="19050" cy="30003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23874" y="574357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9125" y="28956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1, 2</a:t>
            </a:r>
          </a:p>
        </p:txBody>
      </p:sp>
      <p:sp>
        <p:nvSpPr>
          <p:cNvPr id="48" name="TextBox 47"/>
          <p:cNvSpPr txBox="1"/>
          <p:nvPr/>
        </p:nvSpPr>
        <p:spPr>
          <a:xfrm>
            <a:off x="2066924" y="2876550"/>
            <a:ext cx="4505325" cy="428625"/>
          </a:xfrm>
          <a:prstGeom prst="rect">
            <a:avLst/>
          </a:prstGeom>
          <a:noFill/>
        </p:spPr>
        <p:txBody>
          <a:bodyPr wrap="none" lIns="0" tIns="0" rIns="0" bIns="0">
            <a:spAutoFit/>
          </a:bodyPr>
          <a:lstStyle/>
          <a:p>
            <a:pPr>
              <a:lnSpc>
                <a:spcPts val="1683"/>
              </a:lnSpc>
              <a:spcBef>
                <a:spcPts val="0"/>
              </a:spcBef>
              <a:spcAft>
                <a:spcPts val="0"/>
              </a:spcAft>
              <a:defRPr sz="1380" b="1">
                <a:solidFill>
                  <a:srgbClr val="F4F5F4"/>
                </a:solidFill>
                <a:latin typeface="DejaVu Sans"/>
              </a:defRPr>
            </a:pPr>
            <a:r>
              <a:t>Эрх тэгш байдал; ялгаварлан гадуурхахгүй</a:t>
            </a:r>
          </a:p>
          <a:p>
            <a:pPr>
              <a:lnSpc>
                <a:spcPts val="1683"/>
              </a:lnSpc>
              <a:spcBef>
                <a:spcPts val="0"/>
              </a:spcBef>
              <a:spcAft>
                <a:spcPts val="0"/>
              </a:spcAft>
              <a:defRPr sz="1380" b="1">
                <a:solidFill>
                  <a:srgbClr val="F4F5F4"/>
                </a:solidFill>
                <a:latin typeface="DejaVu Sans"/>
              </a:defRPr>
            </a:pPr>
            <a:r>
              <a:t>байх</a:t>
            </a:r>
          </a:p>
        </p:txBody>
      </p:sp>
      <p:sp>
        <p:nvSpPr>
          <p:cNvPr id="49" name="TextBox 48"/>
          <p:cNvSpPr txBox="1"/>
          <p:nvPr/>
        </p:nvSpPr>
        <p:spPr>
          <a:xfrm>
            <a:off x="6991350" y="2895600"/>
            <a:ext cx="4476750"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B3C2D3"/>
                </a:solidFill>
                <a:latin typeface="DejaVu Sans"/>
              </a:defRPr>
            </a:pPr>
            <a:r>
              <a:t>Бага орлогыг доромжлох үндэслэл болгохгүй</a:t>
            </a:r>
          </a:p>
        </p:txBody>
      </p:sp>
      <p:cxnSp>
        <p:nvCxnSpPr>
          <p:cNvPr id="50" name="Connector 49"/>
          <p:cNvCxnSpPr/>
          <p:nvPr/>
        </p:nvCxnSpPr>
        <p:spPr>
          <a:xfrm>
            <a:off x="619125" y="3352800"/>
            <a:ext cx="10896600"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19125" y="34671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22</a:t>
            </a:r>
          </a:p>
        </p:txBody>
      </p:sp>
      <p:sp>
        <p:nvSpPr>
          <p:cNvPr id="52" name="TextBox 51"/>
          <p:cNvSpPr txBox="1"/>
          <p:nvPr/>
        </p:nvSpPr>
        <p:spPr>
          <a:xfrm>
            <a:off x="2066924" y="3448050"/>
            <a:ext cx="4505325" cy="428625"/>
          </a:xfrm>
          <a:prstGeom prst="rect">
            <a:avLst/>
          </a:prstGeom>
          <a:noFill/>
        </p:spPr>
        <p:txBody>
          <a:bodyPr wrap="none" lIns="0" tIns="0" rIns="0" bIns="0">
            <a:spAutoFit/>
          </a:bodyPr>
          <a:lstStyle/>
          <a:p>
            <a:pPr>
              <a:lnSpc>
                <a:spcPts val="1829"/>
              </a:lnSpc>
              <a:spcBef>
                <a:spcPts val="0"/>
              </a:spcBef>
              <a:spcAft>
                <a:spcPts val="0"/>
              </a:spcAft>
              <a:defRPr sz="1500" b="1">
                <a:solidFill>
                  <a:srgbClr val="F4F5F4"/>
                </a:solidFill>
                <a:latin typeface="DejaVu Sans"/>
              </a:defRPr>
            </a:pPr>
            <a:r>
              <a:t>Нийгмийн хамгаалал</a:t>
            </a:r>
          </a:p>
        </p:txBody>
      </p:sp>
      <p:sp>
        <p:nvSpPr>
          <p:cNvPr id="53" name="TextBox 52"/>
          <p:cNvSpPr txBox="1"/>
          <p:nvPr/>
        </p:nvSpPr>
        <p:spPr>
          <a:xfrm>
            <a:off x="6991350" y="3467100"/>
            <a:ext cx="4476750"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B3C2D3"/>
                </a:solidFill>
                <a:latin typeface="DejaVu Sans"/>
              </a:defRPr>
            </a:pPr>
            <a:r>
              <a:t>Эрсдэлд орсон үед баталгаатай дэмжлэг</a:t>
            </a:r>
          </a:p>
        </p:txBody>
      </p:sp>
      <p:cxnSp>
        <p:nvCxnSpPr>
          <p:cNvPr id="54" name="Connector 53"/>
          <p:cNvCxnSpPr/>
          <p:nvPr/>
        </p:nvCxnSpPr>
        <p:spPr>
          <a:xfrm>
            <a:off x="619125" y="3924300"/>
            <a:ext cx="10896600"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19125" y="40386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23</a:t>
            </a:r>
          </a:p>
        </p:txBody>
      </p:sp>
      <p:sp>
        <p:nvSpPr>
          <p:cNvPr id="56" name="TextBox 55"/>
          <p:cNvSpPr txBox="1"/>
          <p:nvPr/>
        </p:nvSpPr>
        <p:spPr>
          <a:xfrm>
            <a:off x="2066924" y="4019549"/>
            <a:ext cx="4505325" cy="428625"/>
          </a:xfrm>
          <a:prstGeom prst="rect">
            <a:avLst/>
          </a:prstGeom>
          <a:noFill/>
        </p:spPr>
        <p:txBody>
          <a:bodyPr wrap="none" lIns="0" tIns="0" rIns="0" bIns="0">
            <a:spAutoFit/>
          </a:bodyPr>
          <a:lstStyle/>
          <a:p>
            <a:pPr>
              <a:lnSpc>
                <a:spcPts val="1829"/>
              </a:lnSpc>
              <a:spcBef>
                <a:spcPts val="0"/>
              </a:spcBef>
              <a:spcAft>
                <a:spcPts val="0"/>
              </a:spcAft>
              <a:defRPr sz="1500" b="1">
                <a:solidFill>
                  <a:srgbClr val="F4F5F4"/>
                </a:solidFill>
                <a:latin typeface="DejaVu Sans"/>
              </a:defRPr>
            </a:pPr>
            <a:r>
              <a:t>Хөдөлмөр; шударга, таатай цалин хөлс</a:t>
            </a:r>
          </a:p>
        </p:txBody>
      </p:sp>
      <p:sp>
        <p:nvSpPr>
          <p:cNvPr id="57" name="TextBox 56"/>
          <p:cNvSpPr txBox="1"/>
          <p:nvPr/>
        </p:nvSpPr>
        <p:spPr>
          <a:xfrm>
            <a:off x="6991350" y="4038600"/>
            <a:ext cx="4476750"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B3C2D3"/>
                </a:solidFill>
                <a:latin typeface="DejaVu Sans"/>
              </a:defRPr>
            </a:pPr>
            <a:r>
              <a:t>Ажилтай ч ядуурах эрсдэлийг авч үзнэ</a:t>
            </a:r>
          </a:p>
        </p:txBody>
      </p:sp>
      <p:cxnSp>
        <p:nvCxnSpPr>
          <p:cNvPr id="58" name="Connector 57"/>
          <p:cNvCxnSpPr/>
          <p:nvPr/>
        </p:nvCxnSpPr>
        <p:spPr>
          <a:xfrm>
            <a:off x="619125" y="4495800"/>
            <a:ext cx="10896600"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19125" y="46101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25</a:t>
            </a:r>
          </a:p>
        </p:txBody>
      </p:sp>
      <p:sp>
        <p:nvSpPr>
          <p:cNvPr id="60" name="TextBox 59"/>
          <p:cNvSpPr txBox="1"/>
          <p:nvPr/>
        </p:nvSpPr>
        <p:spPr>
          <a:xfrm>
            <a:off x="2066924" y="4591050"/>
            <a:ext cx="4505325" cy="428625"/>
          </a:xfrm>
          <a:prstGeom prst="rect">
            <a:avLst/>
          </a:prstGeom>
          <a:noFill/>
        </p:spPr>
        <p:txBody>
          <a:bodyPr wrap="none" lIns="0" tIns="0" rIns="0" bIns="0">
            <a:spAutoFit/>
          </a:bodyPr>
          <a:lstStyle/>
          <a:p>
            <a:pPr>
              <a:lnSpc>
                <a:spcPts val="1683"/>
              </a:lnSpc>
              <a:spcBef>
                <a:spcPts val="0"/>
              </a:spcBef>
              <a:spcAft>
                <a:spcPts val="0"/>
              </a:spcAft>
              <a:defRPr sz="1380" b="1">
                <a:solidFill>
                  <a:srgbClr val="F4F5F4"/>
                </a:solidFill>
                <a:latin typeface="DejaVu Sans"/>
              </a:defRPr>
            </a:pPr>
            <a:r>
              <a:t>Зохистой амьжиргаа; хоол, орон байр,</a:t>
            </a:r>
          </a:p>
          <a:p>
            <a:pPr>
              <a:lnSpc>
                <a:spcPts val="1683"/>
              </a:lnSpc>
              <a:spcBef>
                <a:spcPts val="0"/>
              </a:spcBef>
              <a:spcAft>
                <a:spcPts val="0"/>
              </a:spcAft>
              <a:defRPr sz="1380" b="1">
                <a:solidFill>
                  <a:srgbClr val="F4F5F4"/>
                </a:solidFill>
                <a:latin typeface="DejaVu Sans"/>
              </a:defRPr>
            </a:pPr>
            <a:r>
              <a:t>эрүүл мэнд</a:t>
            </a:r>
          </a:p>
        </p:txBody>
      </p:sp>
      <p:sp>
        <p:nvSpPr>
          <p:cNvPr id="61" name="TextBox 60"/>
          <p:cNvSpPr txBox="1"/>
          <p:nvPr/>
        </p:nvSpPr>
        <p:spPr>
          <a:xfrm>
            <a:off x="6991350" y="4610100"/>
            <a:ext cx="4476750"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B3C2D3"/>
                </a:solidFill>
                <a:latin typeface="DejaVu Sans"/>
              </a:defRPr>
            </a:pPr>
            <a:r>
              <a:t>Амьдралын суурь хэрэгцээг эрхтэй холбох</a:t>
            </a:r>
          </a:p>
        </p:txBody>
      </p:sp>
      <p:cxnSp>
        <p:nvCxnSpPr>
          <p:cNvPr id="62" name="Connector 61"/>
          <p:cNvCxnSpPr/>
          <p:nvPr/>
        </p:nvCxnSpPr>
        <p:spPr>
          <a:xfrm>
            <a:off x="619125" y="5067300"/>
            <a:ext cx="10896600"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19125" y="51816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26</a:t>
            </a:r>
          </a:p>
        </p:txBody>
      </p:sp>
      <p:sp>
        <p:nvSpPr>
          <p:cNvPr id="64" name="TextBox 63"/>
          <p:cNvSpPr txBox="1"/>
          <p:nvPr/>
        </p:nvSpPr>
        <p:spPr>
          <a:xfrm>
            <a:off x="2066924" y="5162550"/>
            <a:ext cx="4505325" cy="428625"/>
          </a:xfrm>
          <a:prstGeom prst="rect">
            <a:avLst/>
          </a:prstGeom>
          <a:noFill/>
        </p:spPr>
        <p:txBody>
          <a:bodyPr wrap="none" lIns="0" tIns="0" rIns="0" bIns="0">
            <a:spAutoFit/>
          </a:bodyPr>
          <a:lstStyle/>
          <a:p>
            <a:pPr>
              <a:lnSpc>
                <a:spcPts val="1829"/>
              </a:lnSpc>
              <a:spcBef>
                <a:spcPts val="0"/>
              </a:spcBef>
              <a:spcAft>
                <a:spcPts val="0"/>
              </a:spcAft>
              <a:defRPr sz="1500" b="1">
                <a:solidFill>
                  <a:srgbClr val="F4F5F4"/>
                </a:solidFill>
                <a:latin typeface="DejaVu Sans"/>
              </a:defRPr>
            </a:pPr>
            <a:r>
              <a:t>Боловсрол</a:t>
            </a:r>
          </a:p>
        </p:txBody>
      </p:sp>
      <p:sp>
        <p:nvSpPr>
          <p:cNvPr id="65" name="TextBox 64"/>
          <p:cNvSpPr txBox="1"/>
          <p:nvPr/>
        </p:nvSpPr>
        <p:spPr>
          <a:xfrm>
            <a:off x="6991350" y="5181600"/>
            <a:ext cx="4476750" cy="400050"/>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a:defRPr>
            </a:pPr>
            <a:r>
              <a:t>Бага шатны боловсрол үнэ төлбөргүй, заавал байх</a:t>
            </a:r>
          </a:p>
        </p:txBody>
      </p:sp>
      <p:sp>
        <p:nvSpPr>
          <p:cNvPr id="66" name="Rounded Rectangle 65"/>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Түгээмэл тунхаглал нь гэрээ биш; хүний эрхийн нийтлэг стандартын суурь баримт бичиг.</a:t>
            </a:r>
          </a:p>
        </p:txBody>
      </p:sp>
      <p:sp>
        <p:nvSpPr>
          <p:cNvPr id="73" name="Rectangle 72"/>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a:t>
            </a:r>
          </a:p>
        </p:txBody>
      </p:sp>
      <p:sp>
        <p:nvSpPr>
          <p:cNvPr id="75" name="TextBox 74"/>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6" name="TextBox 75"/>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ЭДИЙН ЗАСАГ, НИЙГМИЙН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8620125" cy="1219200"/>
          </a:xfrm>
          <a:prstGeom prst="rect">
            <a:avLst/>
          </a:prstGeom>
          <a:noFill/>
        </p:spPr>
        <p:txBody>
          <a:bodyPr wrap="none" lIns="0" tIns="0" rIns="0" bIns="0">
            <a:spAutoFit/>
          </a:bodyPr>
          <a:lstStyle/>
          <a:p>
            <a:pPr>
              <a:lnSpc>
                <a:spcPts val="4575"/>
              </a:lnSpc>
              <a:spcBef>
                <a:spcPts val="0"/>
              </a:spcBef>
              <a:spcAft>
                <a:spcPts val="0"/>
              </a:spcAft>
              <a:defRPr sz="3750" b="1">
                <a:solidFill>
                  <a:srgbClr val="030A13"/>
                </a:solidFill>
                <a:latin typeface="Open Sans Condensed"/>
              </a:defRPr>
            </a:pPr>
            <a:r>
              <a:t>ЭДИЙН ЗАСАГ, НИЙГЭМ,</a:t>
            </a:r>
          </a:p>
          <a:p>
            <a:pPr>
              <a:lnSpc>
                <a:spcPts val="4575"/>
              </a:lnSpc>
              <a:spcBef>
                <a:spcPts val="0"/>
              </a:spcBef>
              <a:spcAft>
                <a:spcPts val="0"/>
              </a:spcAft>
              <a:defRPr sz="3750" b="1">
                <a:solidFill>
                  <a:srgbClr val="030A13"/>
                </a:solidFill>
                <a:latin typeface="Open Sans Condensed"/>
              </a:defRPr>
            </a:pPr>
            <a:r>
              <a:t>СОЁЛЫН ЭРХ</a:t>
            </a:r>
          </a:p>
        </p:txBody>
      </p:sp>
      <p:sp>
        <p:nvSpPr>
          <p:cNvPr id="35" name="TextBox 34"/>
          <p:cNvSpPr txBox="1"/>
          <p:nvPr/>
        </p:nvSpPr>
        <p:spPr>
          <a:xfrm>
            <a:off x="457200" y="942975"/>
            <a:ext cx="8620125" cy="1219200"/>
          </a:xfrm>
          <a:prstGeom prst="rect">
            <a:avLst/>
          </a:prstGeom>
          <a:noFill/>
        </p:spPr>
        <p:txBody>
          <a:bodyPr wrap="none" lIns="0" tIns="0" rIns="0" bIns="0">
            <a:spAutoFit/>
          </a:bodyPr>
          <a:lstStyle/>
          <a:p>
            <a:pPr>
              <a:lnSpc>
                <a:spcPts val="4575"/>
              </a:lnSpc>
              <a:spcBef>
                <a:spcPts val="0"/>
              </a:spcBef>
              <a:spcAft>
                <a:spcPts val="0"/>
              </a:spcAft>
              <a:defRPr sz="3750" b="1">
                <a:solidFill>
                  <a:srgbClr val="F4F5F4"/>
                </a:solidFill>
                <a:latin typeface="Open Sans Condensed"/>
              </a:defRPr>
            </a:pPr>
            <a:r>
              <a:t>ЭДИЙН ЗАСАГ, НИЙГЭМ,</a:t>
            </a:r>
          </a:p>
          <a:p>
            <a:pPr>
              <a:lnSpc>
                <a:spcPts val="4575"/>
              </a:lnSpc>
              <a:spcBef>
                <a:spcPts val="0"/>
              </a:spcBef>
              <a:spcAft>
                <a:spcPts val="0"/>
              </a:spcAft>
              <a:defRPr sz="3750" b="1">
                <a:solidFill>
                  <a:srgbClr val="F4F5F4"/>
                </a:solidFill>
                <a:latin typeface="Open Sans Condensed"/>
              </a:defRPr>
            </a:pPr>
            <a:r>
              <a:t>СОЁЛЫН ЭРХ</a:t>
            </a:r>
          </a:p>
        </p:txBody>
      </p:sp>
      <p:sp>
        <p:nvSpPr>
          <p:cNvPr id="36" name="Rounded Rectangle 35"/>
          <p:cNvSpPr/>
          <p:nvPr/>
        </p:nvSpPr>
        <p:spPr>
          <a:xfrm>
            <a:off x="552450" y="2362200"/>
            <a:ext cx="155512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2257425"/>
            <a:ext cx="155512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2266950"/>
            <a:ext cx="153607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22860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505075"/>
            <a:ext cx="142177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314575"/>
            <a:ext cx="132652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1966.12.16 / ICESCR</a:t>
            </a:r>
          </a:p>
        </p:txBody>
      </p:sp>
      <p:sp>
        <p:nvSpPr>
          <p:cNvPr id="42" name="Rounded Rectangle 41"/>
          <p:cNvSpPr/>
          <p:nvPr/>
        </p:nvSpPr>
        <p:spPr>
          <a:xfrm>
            <a:off x="523874" y="2809875"/>
            <a:ext cx="11277600" cy="3057525"/>
          </a:xfrm>
          <a:prstGeom prst="roundRect">
            <a:avLst>
              <a:gd name="adj" fmla="val 3738"/>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7200" y="2705100"/>
            <a:ext cx="11277600" cy="3057525"/>
          </a:xfrm>
          <a:prstGeom prst="roundRect">
            <a:avLst>
              <a:gd name="adj" fmla="val 3115"/>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66724" y="271462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2733675"/>
            <a:ext cx="19050" cy="30003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23874" y="574357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9125" y="28956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2.1; 2.2</a:t>
            </a:r>
          </a:p>
        </p:txBody>
      </p:sp>
      <p:sp>
        <p:nvSpPr>
          <p:cNvPr id="48" name="TextBox 47"/>
          <p:cNvSpPr txBox="1"/>
          <p:nvPr/>
        </p:nvSpPr>
        <p:spPr>
          <a:xfrm>
            <a:off x="2066924" y="2876550"/>
            <a:ext cx="4505325" cy="428625"/>
          </a:xfrm>
          <a:prstGeom prst="rect">
            <a:avLst/>
          </a:prstGeom>
          <a:noFill/>
        </p:spPr>
        <p:txBody>
          <a:bodyPr wrap="none" lIns="0" tIns="0" rIns="0" bIns="0">
            <a:spAutoFit/>
          </a:bodyPr>
          <a:lstStyle/>
          <a:p>
            <a:pPr>
              <a:lnSpc>
                <a:spcPts val="1683"/>
              </a:lnSpc>
              <a:spcBef>
                <a:spcPts val="0"/>
              </a:spcBef>
              <a:spcAft>
                <a:spcPts val="0"/>
              </a:spcAft>
              <a:defRPr sz="1380" b="1">
                <a:solidFill>
                  <a:srgbClr val="F4F5F4"/>
                </a:solidFill>
                <a:latin typeface="DejaVu Sans"/>
              </a:defRPr>
            </a:pPr>
            <a:r>
              <a:t>Дэвшилттэй хэрэгжилт; ялгаварлалгүй</a:t>
            </a:r>
          </a:p>
          <a:p>
            <a:pPr>
              <a:lnSpc>
                <a:spcPts val="1683"/>
              </a:lnSpc>
              <a:spcBef>
                <a:spcPts val="0"/>
              </a:spcBef>
              <a:spcAft>
                <a:spcPts val="0"/>
              </a:spcAft>
              <a:defRPr sz="1380" b="1">
                <a:solidFill>
                  <a:srgbClr val="F4F5F4"/>
                </a:solidFill>
                <a:latin typeface="DejaVu Sans"/>
              </a:defRPr>
            </a:pPr>
            <a:r>
              <a:t>байдал</a:t>
            </a:r>
          </a:p>
        </p:txBody>
      </p:sp>
      <p:sp>
        <p:nvSpPr>
          <p:cNvPr id="49" name="TextBox 48"/>
          <p:cNvSpPr txBox="1"/>
          <p:nvPr/>
        </p:nvSpPr>
        <p:spPr>
          <a:xfrm>
            <a:off x="6991350" y="2895600"/>
            <a:ext cx="4476750"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B3C2D3"/>
                </a:solidFill>
                <a:latin typeface="DejaVu Sans"/>
              </a:defRPr>
            </a:pPr>
            <a:r>
              <a:t>Нөөц ба хэрэгжилтийн ахицыг тайлагнах</a:t>
            </a:r>
          </a:p>
        </p:txBody>
      </p:sp>
      <p:cxnSp>
        <p:nvCxnSpPr>
          <p:cNvPr id="50" name="Connector 49"/>
          <p:cNvCxnSpPr/>
          <p:nvPr/>
        </p:nvCxnSpPr>
        <p:spPr>
          <a:xfrm>
            <a:off x="619125" y="3352800"/>
            <a:ext cx="10896600"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19125" y="34671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6; 7</a:t>
            </a:r>
          </a:p>
        </p:txBody>
      </p:sp>
      <p:sp>
        <p:nvSpPr>
          <p:cNvPr id="52" name="TextBox 51"/>
          <p:cNvSpPr txBox="1"/>
          <p:nvPr/>
        </p:nvSpPr>
        <p:spPr>
          <a:xfrm>
            <a:off x="2066924" y="3448050"/>
            <a:ext cx="4505325" cy="428625"/>
          </a:xfrm>
          <a:prstGeom prst="rect">
            <a:avLst/>
          </a:prstGeom>
          <a:noFill/>
        </p:spPr>
        <p:txBody>
          <a:bodyPr wrap="none" lIns="0" tIns="0" rIns="0" bIns="0">
            <a:spAutoFit/>
          </a:bodyPr>
          <a:lstStyle/>
          <a:p>
            <a:pPr>
              <a:lnSpc>
                <a:spcPts val="1829"/>
              </a:lnSpc>
              <a:spcBef>
                <a:spcPts val="0"/>
              </a:spcBef>
              <a:spcAft>
                <a:spcPts val="0"/>
              </a:spcAft>
              <a:defRPr sz="1500" b="1">
                <a:solidFill>
                  <a:srgbClr val="F4F5F4"/>
                </a:solidFill>
                <a:latin typeface="DejaVu Sans"/>
              </a:defRPr>
            </a:pPr>
            <a:r>
              <a:t>Хөдөлмөрлөх; шударга, таатай нөхцөл</a:t>
            </a:r>
          </a:p>
        </p:txBody>
      </p:sp>
      <p:sp>
        <p:nvSpPr>
          <p:cNvPr id="53" name="TextBox 52"/>
          <p:cNvSpPr txBox="1"/>
          <p:nvPr/>
        </p:nvSpPr>
        <p:spPr>
          <a:xfrm>
            <a:off x="6991350" y="3467100"/>
            <a:ext cx="4476750"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B3C2D3"/>
                </a:solidFill>
                <a:latin typeface="DejaVu Sans"/>
              </a:defRPr>
            </a:pPr>
            <a:r>
              <a:t>Аюулгүй ажлын байр, зохистой цалин</a:t>
            </a:r>
          </a:p>
        </p:txBody>
      </p:sp>
      <p:cxnSp>
        <p:nvCxnSpPr>
          <p:cNvPr id="54" name="Connector 53"/>
          <p:cNvCxnSpPr/>
          <p:nvPr/>
        </p:nvCxnSpPr>
        <p:spPr>
          <a:xfrm>
            <a:off x="619125" y="3924300"/>
            <a:ext cx="10896600"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19125" y="40386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9</a:t>
            </a:r>
          </a:p>
        </p:txBody>
      </p:sp>
      <p:sp>
        <p:nvSpPr>
          <p:cNvPr id="56" name="TextBox 55"/>
          <p:cNvSpPr txBox="1"/>
          <p:nvPr/>
        </p:nvSpPr>
        <p:spPr>
          <a:xfrm>
            <a:off x="2066924" y="4019549"/>
            <a:ext cx="4505325" cy="428625"/>
          </a:xfrm>
          <a:prstGeom prst="rect">
            <a:avLst/>
          </a:prstGeom>
          <a:noFill/>
        </p:spPr>
        <p:txBody>
          <a:bodyPr wrap="none" lIns="0" tIns="0" rIns="0" bIns="0">
            <a:spAutoFit/>
          </a:bodyPr>
          <a:lstStyle/>
          <a:p>
            <a:pPr>
              <a:lnSpc>
                <a:spcPts val="1829"/>
              </a:lnSpc>
              <a:spcBef>
                <a:spcPts val="0"/>
              </a:spcBef>
              <a:spcAft>
                <a:spcPts val="0"/>
              </a:spcAft>
              <a:defRPr sz="1500" b="1">
                <a:solidFill>
                  <a:srgbClr val="F4F5F4"/>
                </a:solidFill>
                <a:latin typeface="DejaVu Sans"/>
              </a:defRPr>
            </a:pPr>
            <a:r>
              <a:t>Нийгмийн хамгаалал, нийгмийн даатгал</a:t>
            </a:r>
          </a:p>
        </p:txBody>
      </p:sp>
      <p:sp>
        <p:nvSpPr>
          <p:cNvPr id="57" name="TextBox 56"/>
          <p:cNvSpPr txBox="1"/>
          <p:nvPr/>
        </p:nvSpPr>
        <p:spPr>
          <a:xfrm>
            <a:off x="6991350" y="4038600"/>
            <a:ext cx="4476750" cy="400050"/>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a:defRPr>
            </a:pPr>
            <a:r>
              <a:t>Өндөр нас, ажилгүйдэл, бусад эрсдэлийн</a:t>
            </a:r>
          </a:p>
          <a:p>
            <a:pPr>
              <a:lnSpc>
                <a:spcPts val="1555"/>
              </a:lnSpc>
              <a:spcBef>
                <a:spcPts val="0"/>
              </a:spcBef>
              <a:spcAft>
                <a:spcPts val="0"/>
              </a:spcAft>
              <a:defRPr sz="1275" b="0">
                <a:solidFill>
                  <a:srgbClr val="B3C2D3"/>
                </a:solidFill>
                <a:latin typeface="DejaVu Sans"/>
              </a:defRPr>
            </a:pPr>
            <a:r>
              <a:t>хамгаалалт</a:t>
            </a:r>
          </a:p>
        </p:txBody>
      </p:sp>
      <p:cxnSp>
        <p:nvCxnSpPr>
          <p:cNvPr id="58" name="Connector 57"/>
          <p:cNvCxnSpPr/>
          <p:nvPr/>
        </p:nvCxnSpPr>
        <p:spPr>
          <a:xfrm>
            <a:off x="619125" y="4495800"/>
            <a:ext cx="10896600"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19125" y="46101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11</a:t>
            </a:r>
          </a:p>
        </p:txBody>
      </p:sp>
      <p:sp>
        <p:nvSpPr>
          <p:cNvPr id="60" name="TextBox 59"/>
          <p:cNvSpPr txBox="1"/>
          <p:nvPr/>
        </p:nvSpPr>
        <p:spPr>
          <a:xfrm>
            <a:off x="2066924" y="4591050"/>
            <a:ext cx="4505325" cy="428625"/>
          </a:xfrm>
          <a:prstGeom prst="rect">
            <a:avLst/>
          </a:prstGeom>
          <a:noFill/>
        </p:spPr>
        <p:txBody>
          <a:bodyPr wrap="none" lIns="0" tIns="0" rIns="0" bIns="0">
            <a:spAutoFit/>
          </a:bodyPr>
          <a:lstStyle/>
          <a:p>
            <a:pPr>
              <a:lnSpc>
                <a:spcPts val="1683"/>
              </a:lnSpc>
              <a:spcBef>
                <a:spcPts val="0"/>
              </a:spcBef>
              <a:spcAft>
                <a:spcPts val="0"/>
              </a:spcAft>
              <a:defRPr sz="1380" b="1">
                <a:solidFill>
                  <a:srgbClr val="F4F5F4"/>
                </a:solidFill>
                <a:latin typeface="DejaVu Sans"/>
              </a:defRPr>
            </a:pPr>
            <a:r>
              <a:t>Зохистой амьжиргаа; өлсгөлөнгөөс ангид</a:t>
            </a:r>
          </a:p>
          <a:p>
            <a:pPr>
              <a:lnSpc>
                <a:spcPts val="1683"/>
              </a:lnSpc>
              <a:spcBef>
                <a:spcPts val="0"/>
              </a:spcBef>
              <a:spcAft>
                <a:spcPts val="0"/>
              </a:spcAft>
              <a:defRPr sz="1380" b="1">
                <a:solidFill>
                  <a:srgbClr val="F4F5F4"/>
                </a:solidFill>
                <a:latin typeface="DejaVu Sans"/>
              </a:defRPr>
            </a:pPr>
            <a:r>
              <a:t>байх</a:t>
            </a:r>
          </a:p>
        </p:txBody>
      </p:sp>
      <p:sp>
        <p:nvSpPr>
          <p:cNvPr id="61" name="TextBox 60"/>
          <p:cNvSpPr txBox="1"/>
          <p:nvPr/>
        </p:nvSpPr>
        <p:spPr>
          <a:xfrm>
            <a:off x="6991350" y="4610100"/>
            <a:ext cx="4476750"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B3C2D3"/>
                </a:solidFill>
                <a:latin typeface="DejaVu Sans"/>
              </a:defRPr>
            </a:pPr>
            <a:r>
              <a:t>Хоол хүнс, хувцас, орон байрны бодлого</a:t>
            </a:r>
          </a:p>
        </p:txBody>
      </p:sp>
      <p:cxnSp>
        <p:nvCxnSpPr>
          <p:cNvPr id="62" name="Connector 61"/>
          <p:cNvCxnSpPr/>
          <p:nvPr/>
        </p:nvCxnSpPr>
        <p:spPr>
          <a:xfrm>
            <a:off x="619125" y="5067300"/>
            <a:ext cx="10896600"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19125" y="5181600"/>
            <a:ext cx="1285875" cy="409575"/>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12; 13</a:t>
            </a:r>
          </a:p>
        </p:txBody>
      </p:sp>
      <p:sp>
        <p:nvSpPr>
          <p:cNvPr id="64" name="TextBox 63"/>
          <p:cNvSpPr txBox="1"/>
          <p:nvPr/>
        </p:nvSpPr>
        <p:spPr>
          <a:xfrm>
            <a:off x="2066924" y="5162550"/>
            <a:ext cx="4505325" cy="428625"/>
          </a:xfrm>
          <a:prstGeom prst="rect">
            <a:avLst/>
          </a:prstGeom>
          <a:noFill/>
        </p:spPr>
        <p:txBody>
          <a:bodyPr wrap="none" lIns="0" tIns="0" rIns="0" bIns="0">
            <a:spAutoFit/>
          </a:bodyPr>
          <a:lstStyle/>
          <a:p>
            <a:pPr>
              <a:lnSpc>
                <a:spcPts val="1829"/>
              </a:lnSpc>
              <a:spcBef>
                <a:spcPts val="0"/>
              </a:spcBef>
              <a:spcAft>
                <a:spcPts val="0"/>
              </a:spcAft>
              <a:defRPr sz="1500" b="1">
                <a:solidFill>
                  <a:srgbClr val="F4F5F4"/>
                </a:solidFill>
                <a:latin typeface="DejaVu Sans"/>
              </a:defRPr>
            </a:pPr>
            <a:r>
              <a:t>Эрүүл мэнд; боловсрол</a:t>
            </a:r>
          </a:p>
        </p:txBody>
      </p:sp>
      <p:sp>
        <p:nvSpPr>
          <p:cNvPr id="65" name="TextBox 64"/>
          <p:cNvSpPr txBox="1"/>
          <p:nvPr/>
        </p:nvSpPr>
        <p:spPr>
          <a:xfrm>
            <a:off x="6991350" y="5181600"/>
            <a:ext cx="4476750" cy="400050"/>
          </a:xfrm>
          <a:prstGeom prst="rect">
            <a:avLst/>
          </a:prstGeom>
          <a:noFill/>
        </p:spPr>
        <p:txBody>
          <a:bodyPr wrap="none" lIns="0" tIns="0" rIns="0" bIns="0">
            <a:spAutoFit/>
          </a:bodyPr>
          <a:lstStyle/>
          <a:p>
            <a:pPr>
              <a:lnSpc>
                <a:spcPts val="1665"/>
              </a:lnSpc>
              <a:spcBef>
                <a:spcPts val="0"/>
              </a:spcBef>
              <a:spcAft>
                <a:spcPts val="0"/>
              </a:spcAft>
              <a:defRPr sz="1365" b="0">
                <a:solidFill>
                  <a:srgbClr val="B3C2D3"/>
                </a:solidFill>
                <a:latin typeface="DejaVu Sans"/>
              </a:defRPr>
            </a:pPr>
            <a:r>
              <a:t>Хүртээмжтэй анхан шатны тусламж, боловсрол</a:t>
            </a:r>
          </a:p>
        </p:txBody>
      </p:sp>
      <p:sp>
        <p:nvSpPr>
          <p:cNvPr id="66" name="Rounded Rectangle 65"/>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Хүчин төгөлдөр болсон: 1976.01.03. Нөөц хязгаарлагдмал ч бодит алхам хийх үүрэг хэвээр.</a:t>
            </a:r>
          </a:p>
        </p:txBody>
      </p:sp>
      <p:sp>
        <p:nvSpPr>
          <p:cNvPr id="73" name="Rectangle 72"/>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GC3</a:t>
            </a:r>
          </a:p>
        </p:txBody>
      </p:sp>
      <p:sp>
        <p:nvSpPr>
          <p:cNvPr id="75" name="TextBox 74"/>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6" name="TextBox 75"/>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ИРГЭНИЙ БОЛОН УЛС ТӨРИЙН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8686800" cy="800100"/>
          </a:xfrm>
          <a:prstGeom prst="rect">
            <a:avLst/>
          </a:prstGeom>
          <a:noFill/>
        </p:spPr>
        <p:txBody>
          <a:bodyPr wrap="none" lIns="0" tIns="0" rIns="0" bIns="0">
            <a:spAutoFit/>
          </a:bodyPr>
          <a:lstStyle/>
          <a:p>
            <a:pPr>
              <a:lnSpc>
                <a:spcPts val="5123"/>
              </a:lnSpc>
              <a:spcBef>
                <a:spcPts val="0"/>
              </a:spcBef>
              <a:spcAft>
                <a:spcPts val="0"/>
              </a:spcAft>
              <a:defRPr sz="4200" b="1">
                <a:solidFill>
                  <a:srgbClr val="030A13"/>
                </a:solidFill>
                <a:latin typeface="Open Sans Condensed"/>
              </a:defRPr>
            </a:pPr>
            <a:r>
              <a:t>ДУУ ХООЛОЙ БАГАСАХГҮЙ.</a:t>
            </a:r>
          </a:p>
        </p:txBody>
      </p:sp>
      <p:sp>
        <p:nvSpPr>
          <p:cNvPr id="35" name="TextBox 34"/>
          <p:cNvSpPr txBox="1"/>
          <p:nvPr/>
        </p:nvSpPr>
        <p:spPr>
          <a:xfrm>
            <a:off x="457200" y="942975"/>
            <a:ext cx="8686800" cy="800100"/>
          </a:xfrm>
          <a:prstGeom prst="rect">
            <a:avLst/>
          </a:prstGeom>
          <a:noFill/>
        </p:spPr>
        <p:txBody>
          <a:bodyPr wrap="none" lIns="0" tIns="0" rIns="0" bIns="0">
            <a:spAutoFit/>
          </a:bodyPr>
          <a:lstStyle/>
          <a:p>
            <a:pPr>
              <a:lnSpc>
                <a:spcPts val="5123"/>
              </a:lnSpc>
              <a:spcBef>
                <a:spcPts val="0"/>
              </a:spcBef>
              <a:spcAft>
                <a:spcPts val="0"/>
              </a:spcAft>
              <a:defRPr sz="4200" b="1">
                <a:solidFill>
                  <a:srgbClr val="F4F5F4"/>
                </a:solidFill>
                <a:latin typeface="Open Sans Condensed"/>
              </a:defRPr>
            </a:pPr>
            <a:r>
              <a:t>ДУУ ХООЛОЙ БАГАСАХГҮЙ.</a:t>
            </a:r>
          </a:p>
        </p:txBody>
      </p:sp>
      <p:sp>
        <p:nvSpPr>
          <p:cNvPr id="36" name="Rounded Rectangle 35"/>
          <p:cNvSpPr/>
          <p:nvPr/>
        </p:nvSpPr>
        <p:spPr>
          <a:xfrm>
            <a:off x="552450" y="2047875"/>
            <a:ext cx="1486309"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1943100"/>
            <a:ext cx="1486309"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1952624"/>
            <a:ext cx="1467259"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197167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190750"/>
            <a:ext cx="1352959"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000250"/>
            <a:ext cx="1257709"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1966.12.16 / ICCPR</a:t>
            </a:r>
          </a:p>
        </p:txBody>
      </p:sp>
      <p:sp>
        <p:nvSpPr>
          <p:cNvPr id="42" name="Rounded Rectangle 41"/>
          <p:cNvSpPr/>
          <p:nvPr/>
        </p:nvSpPr>
        <p:spPr>
          <a:xfrm>
            <a:off x="523874" y="3162300"/>
            <a:ext cx="3619500" cy="2695575"/>
          </a:xfrm>
          <a:prstGeom prst="roundRect">
            <a:avLst>
              <a:gd name="adj" fmla="val 424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7200" y="3057525"/>
            <a:ext cx="3619500" cy="2695575"/>
          </a:xfrm>
          <a:prstGeom prst="roundRect">
            <a:avLst>
              <a:gd name="adj" fmla="val 353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66724" y="3067050"/>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3086100"/>
            <a:ext cx="19050" cy="26384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23874" y="573405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8650" y="3171825"/>
            <a:ext cx="3276600" cy="638175"/>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26</a:t>
            </a:r>
          </a:p>
        </p:txBody>
      </p:sp>
      <p:sp>
        <p:nvSpPr>
          <p:cNvPr id="48" name="TextBox 47"/>
          <p:cNvSpPr txBox="1"/>
          <p:nvPr/>
        </p:nvSpPr>
        <p:spPr>
          <a:xfrm>
            <a:off x="647700" y="3895725"/>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Хуулийн өмнө тэгш</a:t>
            </a:r>
          </a:p>
        </p:txBody>
      </p:sp>
      <p:sp>
        <p:nvSpPr>
          <p:cNvPr id="49" name="TextBox 48"/>
          <p:cNvSpPr txBox="1"/>
          <p:nvPr/>
        </p:nvSpPr>
        <p:spPr>
          <a:xfrm>
            <a:off x="647700" y="4514850"/>
            <a:ext cx="3238500" cy="1076325"/>
          </a:xfrm>
          <a:prstGeom prst="rect">
            <a:avLst/>
          </a:prstGeom>
          <a:noFill/>
        </p:spPr>
        <p:txBody>
          <a:bodyPr wrap="none" lIns="0" tIns="0" rIns="0" bIns="0">
            <a:spAutoFit/>
          </a:bodyPr>
          <a:lstStyle/>
          <a:p>
            <a:pPr>
              <a:lnSpc>
                <a:spcPts val="1665"/>
              </a:lnSpc>
              <a:spcBef>
                <a:spcPts val="0"/>
              </a:spcBef>
              <a:spcAft>
                <a:spcPts val="0"/>
              </a:spcAft>
              <a:defRPr sz="1365" b="0">
                <a:solidFill>
                  <a:srgbClr val="F4F5F4"/>
                </a:solidFill>
                <a:latin typeface="DejaVu Sans"/>
              </a:defRPr>
            </a:pPr>
            <a:r>
              <a:t>ICCPR-ийн 26 дугаар зүйл: хүн бүр</a:t>
            </a:r>
          </a:p>
          <a:p>
            <a:pPr>
              <a:lnSpc>
                <a:spcPts val="1665"/>
              </a:lnSpc>
              <a:spcBef>
                <a:spcPts val="0"/>
              </a:spcBef>
              <a:spcAft>
                <a:spcPts val="0"/>
              </a:spcAft>
              <a:defRPr sz="1365" b="0">
                <a:solidFill>
                  <a:srgbClr val="F4F5F4"/>
                </a:solidFill>
                <a:latin typeface="DejaVu Sans"/>
              </a:defRPr>
            </a:pPr>
            <a:r>
              <a:t>хуулийн өмнө тэгш; эд хөрөнгө</a:t>
            </a:r>
          </a:p>
          <a:p>
            <a:pPr>
              <a:lnSpc>
                <a:spcPts val="1665"/>
              </a:lnSpc>
              <a:spcBef>
                <a:spcPts val="0"/>
              </a:spcBef>
              <a:spcAft>
                <a:spcPts val="0"/>
              </a:spcAft>
              <a:defRPr sz="1365" b="0">
                <a:solidFill>
                  <a:srgbClr val="F4F5F4"/>
                </a:solidFill>
                <a:latin typeface="DejaVu Sans"/>
              </a:defRPr>
            </a:pPr>
            <a:r>
              <a:t>болон бусад байдлаар</a:t>
            </a:r>
          </a:p>
          <a:p>
            <a:pPr>
              <a:lnSpc>
                <a:spcPts val="1665"/>
              </a:lnSpc>
              <a:spcBef>
                <a:spcPts val="0"/>
              </a:spcBef>
              <a:spcAft>
                <a:spcPts val="0"/>
              </a:spcAft>
              <a:defRPr sz="1365" b="0">
                <a:solidFill>
                  <a:srgbClr val="F4F5F4"/>
                </a:solidFill>
                <a:latin typeface="DejaVu Sans"/>
              </a:defRPr>
            </a:pPr>
            <a:r>
              <a:t>ялгаварлахгүй, тэгш</a:t>
            </a:r>
          </a:p>
          <a:p>
            <a:pPr>
              <a:lnSpc>
                <a:spcPts val="1665"/>
              </a:lnSpc>
              <a:spcBef>
                <a:spcPts val="0"/>
              </a:spcBef>
              <a:spcAft>
                <a:spcPts val="0"/>
              </a:spcAft>
              <a:defRPr sz="1365" b="0">
                <a:solidFill>
                  <a:srgbClr val="F4F5F4"/>
                </a:solidFill>
                <a:latin typeface="DejaVu Sans"/>
              </a:defRPr>
            </a:pPr>
            <a:r>
              <a:t>хамгаалуулах.</a:t>
            </a:r>
          </a:p>
        </p:txBody>
      </p:sp>
      <p:sp>
        <p:nvSpPr>
          <p:cNvPr id="50" name="Rounded Rectangle 49"/>
          <p:cNvSpPr/>
          <p:nvPr/>
        </p:nvSpPr>
        <p:spPr>
          <a:xfrm>
            <a:off x="4333875" y="3162300"/>
            <a:ext cx="3619500" cy="2695575"/>
          </a:xfrm>
          <a:prstGeom prst="roundRect">
            <a:avLst>
              <a:gd name="adj" fmla="val 424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4267200" y="3057525"/>
            <a:ext cx="3619500" cy="2695575"/>
          </a:xfrm>
          <a:prstGeom prst="roundRect">
            <a:avLst>
              <a:gd name="adj" fmla="val 353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276725" y="3067050"/>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276725" y="3086100"/>
            <a:ext cx="19050" cy="26384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333875" y="573405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38650" y="3171825"/>
            <a:ext cx="3276600" cy="638175"/>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14</a:t>
            </a:r>
          </a:p>
        </p:txBody>
      </p:sp>
      <p:sp>
        <p:nvSpPr>
          <p:cNvPr id="56" name="TextBox 55"/>
          <p:cNvSpPr txBox="1"/>
          <p:nvPr/>
        </p:nvSpPr>
        <p:spPr>
          <a:xfrm>
            <a:off x="4457700" y="3895725"/>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Шүүхэд хүрэх боломж</a:t>
            </a:r>
          </a:p>
        </p:txBody>
      </p:sp>
      <p:sp>
        <p:nvSpPr>
          <p:cNvPr id="57" name="TextBox 56"/>
          <p:cNvSpPr txBox="1"/>
          <p:nvPr/>
        </p:nvSpPr>
        <p:spPr>
          <a:xfrm>
            <a:off x="4457700" y="4514850"/>
            <a:ext cx="3238500" cy="1076325"/>
          </a:xfrm>
          <a:prstGeom prst="rect">
            <a:avLst/>
          </a:prstGeom>
          <a:noFill/>
        </p:spPr>
        <p:txBody>
          <a:bodyPr wrap="none" lIns="0" tIns="0" rIns="0" bIns="0">
            <a:spAutoFit/>
          </a:bodyPr>
          <a:lstStyle/>
          <a:p>
            <a:pPr>
              <a:lnSpc>
                <a:spcPts val="1665"/>
              </a:lnSpc>
              <a:spcBef>
                <a:spcPts val="0"/>
              </a:spcBef>
              <a:spcAft>
                <a:spcPts val="0"/>
              </a:spcAft>
              <a:defRPr sz="1365" b="0">
                <a:solidFill>
                  <a:srgbClr val="F4F5F4"/>
                </a:solidFill>
                <a:latin typeface="DejaVu Sans"/>
              </a:defRPr>
            </a:pPr>
            <a:r>
              <a:t>14.1 — шүүхийн өмнө тэгш байх.</a:t>
            </a:r>
          </a:p>
          <a:p>
            <a:pPr>
              <a:lnSpc>
                <a:spcPts val="1665"/>
              </a:lnSpc>
              <a:spcBef>
                <a:spcPts val="0"/>
              </a:spcBef>
              <a:spcAft>
                <a:spcPts val="0"/>
              </a:spcAft>
              <a:defRPr sz="1365" b="0">
                <a:solidFill>
                  <a:srgbClr val="F4F5F4"/>
                </a:solidFill>
                <a:latin typeface="DejaVu Sans"/>
              </a:defRPr>
            </a:pPr>
            <a:r>
              <a:t>14.3(d) — эрүүгийн хэрэгт</a:t>
            </a:r>
          </a:p>
          <a:p>
            <a:pPr>
              <a:lnSpc>
                <a:spcPts val="1665"/>
              </a:lnSpc>
              <a:spcBef>
                <a:spcPts val="0"/>
              </a:spcBef>
              <a:spcAft>
                <a:spcPts val="0"/>
              </a:spcAft>
              <a:defRPr sz="1365" b="0">
                <a:solidFill>
                  <a:srgbClr val="F4F5F4"/>
                </a:solidFill>
                <a:latin typeface="DejaVu Sans"/>
              </a:defRPr>
            </a:pPr>
            <a:r>
              <a:t>шударга ёсны шаардлагаар,</a:t>
            </a:r>
          </a:p>
          <a:p>
            <a:pPr>
              <a:lnSpc>
                <a:spcPts val="1665"/>
              </a:lnSpc>
              <a:spcBef>
                <a:spcPts val="0"/>
              </a:spcBef>
              <a:spcAft>
                <a:spcPts val="0"/>
              </a:spcAft>
              <a:defRPr sz="1365" b="0">
                <a:solidFill>
                  <a:srgbClr val="F4F5F4"/>
                </a:solidFill>
                <a:latin typeface="DejaVu Sans"/>
              </a:defRPr>
            </a:pPr>
            <a:r>
              <a:t>төлбөрийн чадваргүй бол үнэ</a:t>
            </a:r>
          </a:p>
          <a:p>
            <a:pPr>
              <a:lnSpc>
                <a:spcPts val="1665"/>
              </a:lnSpc>
              <a:spcBef>
                <a:spcPts val="0"/>
              </a:spcBef>
              <a:spcAft>
                <a:spcPts val="0"/>
              </a:spcAft>
              <a:defRPr sz="1365" b="0">
                <a:solidFill>
                  <a:srgbClr val="F4F5F4"/>
                </a:solidFill>
                <a:latin typeface="DejaVu Sans"/>
              </a:defRPr>
            </a:pPr>
            <a:r>
              <a:t>төлбөргүй өмгөөлөл.</a:t>
            </a:r>
          </a:p>
        </p:txBody>
      </p:sp>
      <p:sp>
        <p:nvSpPr>
          <p:cNvPr id="58" name="Rounded Rectangle 57"/>
          <p:cNvSpPr/>
          <p:nvPr/>
        </p:nvSpPr>
        <p:spPr>
          <a:xfrm>
            <a:off x="8143875" y="3162300"/>
            <a:ext cx="3619500" cy="2695575"/>
          </a:xfrm>
          <a:prstGeom prst="roundRect">
            <a:avLst>
              <a:gd name="adj" fmla="val 424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8077200" y="3057525"/>
            <a:ext cx="3619500" cy="2695575"/>
          </a:xfrm>
          <a:prstGeom prst="roundRect">
            <a:avLst>
              <a:gd name="adj" fmla="val 353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086725" y="3067050"/>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086725" y="3086100"/>
            <a:ext cx="19050" cy="26384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143875" y="573405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48650" y="3171825"/>
            <a:ext cx="3276600" cy="638175"/>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25</a:t>
            </a:r>
          </a:p>
        </p:txBody>
      </p:sp>
      <p:sp>
        <p:nvSpPr>
          <p:cNvPr id="64" name="TextBox 63"/>
          <p:cNvSpPr txBox="1"/>
          <p:nvPr/>
        </p:nvSpPr>
        <p:spPr>
          <a:xfrm>
            <a:off x="8267699" y="3895725"/>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Оролцох эрх</a:t>
            </a:r>
          </a:p>
        </p:txBody>
      </p:sp>
      <p:sp>
        <p:nvSpPr>
          <p:cNvPr id="65" name="TextBox 64"/>
          <p:cNvSpPr txBox="1"/>
          <p:nvPr/>
        </p:nvSpPr>
        <p:spPr>
          <a:xfrm>
            <a:off x="8267699" y="4514850"/>
            <a:ext cx="3238500" cy="1076325"/>
          </a:xfrm>
          <a:prstGeom prst="rect">
            <a:avLst/>
          </a:prstGeom>
          <a:noFill/>
        </p:spPr>
        <p:txBody>
          <a:bodyPr wrap="none" lIns="0" tIns="0" rIns="0" bIns="0">
            <a:spAutoFit/>
          </a:bodyPr>
          <a:lstStyle/>
          <a:p>
            <a:pPr>
              <a:lnSpc>
                <a:spcPts val="1665"/>
              </a:lnSpc>
              <a:spcBef>
                <a:spcPts val="0"/>
              </a:spcBef>
              <a:spcAft>
                <a:spcPts val="0"/>
              </a:spcAft>
              <a:defRPr sz="1365" b="0">
                <a:solidFill>
                  <a:srgbClr val="F4F5F4"/>
                </a:solidFill>
                <a:latin typeface="DejaVu Sans"/>
              </a:defRPr>
            </a:pPr>
            <a:r>
              <a:t>25 дугаар зүйл: иргэд төрийн</a:t>
            </a:r>
          </a:p>
          <a:p>
            <a:pPr>
              <a:lnSpc>
                <a:spcPts val="1665"/>
              </a:lnSpc>
              <a:spcBef>
                <a:spcPts val="0"/>
              </a:spcBef>
              <a:spcAft>
                <a:spcPts val="0"/>
              </a:spcAft>
              <a:defRPr sz="1365" b="0">
                <a:solidFill>
                  <a:srgbClr val="F4F5F4"/>
                </a:solidFill>
                <a:latin typeface="DejaVu Sans"/>
              </a:defRPr>
            </a:pPr>
            <a:r>
              <a:t>хэрэгт оролцох, сонгох, сонгогдох</a:t>
            </a:r>
          </a:p>
          <a:p>
            <a:pPr>
              <a:lnSpc>
                <a:spcPts val="1665"/>
              </a:lnSpc>
              <a:spcBef>
                <a:spcPts val="0"/>
              </a:spcBef>
              <a:spcAft>
                <a:spcPts val="0"/>
              </a:spcAft>
              <a:defRPr sz="1365" b="0">
                <a:solidFill>
                  <a:srgbClr val="F4F5F4"/>
                </a:solidFill>
                <a:latin typeface="DejaVu Sans"/>
              </a:defRPr>
            </a:pPr>
            <a:r>
              <a:t>боломжтой. Ядуурал нь иргэний</a:t>
            </a:r>
          </a:p>
          <a:p>
            <a:pPr>
              <a:lnSpc>
                <a:spcPts val="1665"/>
              </a:lnSpc>
              <a:spcBef>
                <a:spcPts val="0"/>
              </a:spcBef>
              <a:spcAft>
                <a:spcPts val="0"/>
              </a:spcAft>
              <a:defRPr sz="1365" b="0">
                <a:solidFill>
                  <a:srgbClr val="F4F5F4"/>
                </a:solidFill>
                <a:latin typeface="DejaVu Sans"/>
              </a:defRPr>
            </a:pPr>
            <a:r>
              <a:t>дуу хоолойг үгүйсгэх үндэслэл</a:t>
            </a:r>
          </a:p>
          <a:p>
            <a:pPr>
              <a:lnSpc>
                <a:spcPts val="1665"/>
              </a:lnSpc>
              <a:spcBef>
                <a:spcPts val="0"/>
              </a:spcBef>
              <a:spcAft>
                <a:spcPts val="0"/>
              </a:spcAft>
              <a:defRPr sz="1365" b="0">
                <a:solidFill>
                  <a:srgbClr val="F4F5F4"/>
                </a:solidFill>
                <a:latin typeface="DejaVu Sans"/>
              </a:defRPr>
            </a:pPr>
            <a:r>
              <a:t>биш.</a:t>
            </a:r>
          </a:p>
        </p:txBody>
      </p:sp>
      <p:sp>
        <p:nvSpPr>
          <p:cNvPr id="66" name="Rounded Rectangle 65"/>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Хүчин төгөлдөр: 1976.03.23. Орлогоос үл хамаарах хамгаалалт нь нийгмийн эрхээ шаардах боломжийг дэмжинэ.</a:t>
            </a:r>
          </a:p>
        </p:txBody>
      </p:sp>
      <p:sp>
        <p:nvSpPr>
          <p:cNvPr id="73" name="Rectangle 72"/>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ICCPR</a:t>
            </a:r>
          </a:p>
        </p:txBody>
      </p:sp>
      <p:sp>
        <p:nvSpPr>
          <p:cNvPr id="75" name="TextBox 74"/>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6" name="TextBox 75"/>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ТӨРИЙН ҮҮРЭГ</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9010650" cy="857250"/>
          </a:xfrm>
          <a:prstGeom prst="rect">
            <a:avLst/>
          </a:prstGeom>
          <a:noFill/>
        </p:spPr>
        <p:txBody>
          <a:bodyPr wrap="none" lIns="0" tIns="0" rIns="0" bIns="0">
            <a:spAutoFit/>
          </a:bodyPr>
          <a:lstStyle/>
          <a:p>
            <a:pPr>
              <a:lnSpc>
                <a:spcPts val="5215"/>
              </a:lnSpc>
              <a:spcBef>
                <a:spcPts val="0"/>
              </a:spcBef>
              <a:spcAft>
                <a:spcPts val="0"/>
              </a:spcAft>
              <a:defRPr sz="4275" b="1">
                <a:solidFill>
                  <a:srgbClr val="030A13"/>
                </a:solidFill>
                <a:latin typeface="Open Sans Condensed"/>
              </a:defRPr>
            </a:pPr>
            <a:r>
              <a:t>ТӨРИЙН ҮҮРЭГ / 3 ТҮВШИН</a:t>
            </a:r>
          </a:p>
        </p:txBody>
      </p:sp>
      <p:sp>
        <p:nvSpPr>
          <p:cNvPr id="35" name="TextBox 34"/>
          <p:cNvSpPr txBox="1"/>
          <p:nvPr/>
        </p:nvSpPr>
        <p:spPr>
          <a:xfrm>
            <a:off x="457200" y="942975"/>
            <a:ext cx="9010650" cy="857250"/>
          </a:xfrm>
          <a:prstGeom prst="rect">
            <a:avLst/>
          </a:prstGeom>
          <a:noFill/>
        </p:spPr>
        <p:txBody>
          <a:bodyPr wrap="none" lIns="0" tIns="0" rIns="0" bIns="0">
            <a:spAutoFit/>
          </a:bodyPr>
          <a:lstStyle/>
          <a:p>
            <a:pPr>
              <a:lnSpc>
                <a:spcPts val="5215"/>
              </a:lnSpc>
              <a:spcBef>
                <a:spcPts val="0"/>
              </a:spcBef>
              <a:spcAft>
                <a:spcPts val="0"/>
              </a:spcAft>
              <a:defRPr sz="4275" b="1">
                <a:solidFill>
                  <a:srgbClr val="F4F5F4"/>
                </a:solidFill>
                <a:latin typeface="Open Sans Condensed"/>
              </a:defRPr>
            </a:pPr>
            <a:r>
              <a:t>ТӨРИЙН ҮҮРЭГ / 3 ТҮВШИН</a:t>
            </a:r>
          </a:p>
        </p:txBody>
      </p:sp>
      <p:sp>
        <p:nvSpPr>
          <p:cNvPr id="36" name="Rounded Rectangle 35"/>
          <p:cNvSpPr/>
          <p:nvPr/>
        </p:nvSpPr>
        <p:spPr>
          <a:xfrm>
            <a:off x="523874" y="3152775"/>
            <a:ext cx="3619500" cy="2686050"/>
          </a:xfrm>
          <a:prstGeom prst="roundRect">
            <a:avLst>
              <a:gd name="adj" fmla="val 425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3048000"/>
            <a:ext cx="3619500" cy="2686050"/>
          </a:xfrm>
          <a:prstGeom prst="roundRect">
            <a:avLst>
              <a:gd name="adj" fmla="val 3546"/>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305752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3076575"/>
            <a:ext cx="19050" cy="26289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8650" y="3162300"/>
            <a:ext cx="3276600" cy="638175"/>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01</a:t>
            </a:r>
          </a:p>
        </p:txBody>
      </p:sp>
      <p:sp>
        <p:nvSpPr>
          <p:cNvPr id="42" name="TextBox 41"/>
          <p:cNvSpPr txBox="1"/>
          <p:nvPr/>
        </p:nvSpPr>
        <p:spPr>
          <a:xfrm>
            <a:off x="647700" y="3886200"/>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Хүндэтгэх</a:t>
            </a:r>
          </a:p>
        </p:txBody>
      </p:sp>
      <p:sp>
        <p:nvSpPr>
          <p:cNvPr id="43" name="TextBox 42"/>
          <p:cNvSpPr txBox="1"/>
          <p:nvPr/>
        </p:nvSpPr>
        <p:spPr>
          <a:xfrm>
            <a:off x="647700" y="4505325"/>
            <a:ext cx="3238500" cy="1066800"/>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Төр өөрөө эрхэд үндэслэлгүй</a:t>
            </a:r>
          </a:p>
          <a:p>
            <a:pPr>
              <a:lnSpc>
                <a:spcPts val="1921"/>
              </a:lnSpc>
              <a:spcBef>
                <a:spcPts val="0"/>
              </a:spcBef>
              <a:spcAft>
                <a:spcPts val="0"/>
              </a:spcAft>
              <a:defRPr sz="1575" b="0">
                <a:solidFill>
                  <a:srgbClr val="F4F5F4"/>
                </a:solidFill>
                <a:latin typeface="DejaVu Sans"/>
              </a:defRPr>
            </a:pPr>
            <a:r>
              <a:t>халдахгүй. Жишээ: хууль</a:t>
            </a:r>
          </a:p>
          <a:p>
            <a:pPr>
              <a:lnSpc>
                <a:spcPts val="1921"/>
              </a:lnSpc>
              <a:spcBef>
                <a:spcPts val="0"/>
              </a:spcBef>
              <a:spcAft>
                <a:spcPts val="0"/>
              </a:spcAft>
              <a:defRPr sz="1575" b="0">
                <a:solidFill>
                  <a:srgbClr val="F4F5F4"/>
                </a:solidFill>
                <a:latin typeface="DejaVu Sans"/>
              </a:defRPr>
            </a:pPr>
            <a:r>
              <a:t>ёсны хамгаалалтгүй албадан</a:t>
            </a:r>
          </a:p>
          <a:p>
            <a:pPr>
              <a:lnSpc>
                <a:spcPts val="1921"/>
              </a:lnSpc>
              <a:spcBef>
                <a:spcPts val="0"/>
              </a:spcBef>
              <a:spcAft>
                <a:spcPts val="0"/>
              </a:spcAft>
              <a:defRPr sz="1575" b="0">
                <a:solidFill>
                  <a:srgbClr val="F4F5F4"/>
                </a:solidFill>
                <a:latin typeface="DejaVu Sans"/>
              </a:defRPr>
            </a:pPr>
            <a:r>
              <a:t>нүүлгэхээс зайлсхийх.</a:t>
            </a:r>
          </a:p>
        </p:txBody>
      </p:sp>
      <p:sp>
        <p:nvSpPr>
          <p:cNvPr id="44" name="Rounded Rectangle 43"/>
          <p:cNvSpPr/>
          <p:nvPr/>
        </p:nvSpPr>
        <p:spPr>
          <a:xfrm>
            <a:off x="4333875" y="2857500"/>
            <a:ext cx="3619500" cy="2981325"/>
          </a:xfrm>
          <a:prstGeom prst="roundRect">
            <a:avLst>
              <a:gd name="adj" fmla="val 3833"/>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267200" y="2752725"/>
            <a:ext cx="3619500" cy="2981325"/>
          </a:xfrm>
          <a:prstGeom prst="roundRect">
            <a:avLst>
              <a:gd name="adj" fmla="val 319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76725" y="2762250"/>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76725" y="2781300"/>
            <a:ext cx="19050" cy="29241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333875"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38650" y="2867025"/>
            <a:ext cx="3276600" cy="638175"/>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02</a:t>
            </a:r>
          </a:p>
        </p:txBody>
      </p:sp>
      <p:sp>
        <p:nvSpPr>
          <p:cNvPr id="50" name="TextBox 49"/>
          <p:cNvSpPr txBox="1"/>
          <p:nvPr/>
        </p:nvSpPr>
        <p:spPr>
          <a:xfrm>
            <a:off x="4457700" y="3590925"/>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Хамгаалах</a:t>
            </a:r>
          </a:p>
        </p:txBody>
      </p:sp>
      <p:sp>
        <p:nvSpPr>
          <p:cNvPr id="51" name="TextBox 50"/>
          <p:cNvSpPr txBox="1"/>
          <p:nvPr/>
        </p:nvSpPr>
        <p:spPr>
          <a:xfrm>
            <a:off x="4457700" y="4210050"/>
            <a:ext cx="3238500" cy="136207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Гуравдагч этгээдийн</a:t>
            </a:r>
          </a:p>
          <a:p>
            <a:pPr>
              <a:lnSpc>
                <a:spcPts val="1921"/>
              </a:lnSpc>
              <a:spcBef>
                <a:spcPts val="0"/>
              </a:spcBef>
              <a:spcAft>
                <a:spcPts val="0"/>
              </a:spcAft>
              <a:defRPr sz="1575" b="0">
                <a:solidFill>
                  <a:srgbClr val="F4F5F4"/>
                </a:solidFill>
                <a:latin typeface="DejaVu Sans"/>
              </a:defRPr>
            </a:pPr>
            <a:r>
              <a:t>зөрчлөөс хамгаална. Жишээ:</a:t>
            </a:r>
          </a:p>
          <a:p>
            <a:pPr>
              <a:lnSpc>
                <a:spcPts val="1921"/>
              </a:lnSpc>
              <a:spcBef>
                <a:spcPts val="0"/>
              </a:spcBef>
              <a:spcAft>
                <a:spcPts val="0"/>
              </a:spcAft>
              <a:defRPr sz="1575" b="0">
                <a:solidFill>
                  <a:srgbClr val="F4F5F4"/>
                </a:solidFill>
                <a:latin typeface="DejaVu Sans"/>
              </a:defRPr>
            </a:pPr>
            <a:r>
              <a:t>ажил олгогчийн ялгаварлал,</a:t>
            </a:r>
          </a:p>
          <a:p>
            <a:pPr>
              <a:lnSpc>
                <a:spcPts val="1921"/>
              </a:lnSpc>
              <a:spcBef>
                <a:spcPts val="0"/>
              </a:spcBef>
              <a:spcAft>
                <a:spcPts val="0"/>
              </a:spcAft>
              <a:defRPr sz="1575" b="0">
                <a:solidFill>
                  <a:srgbClr val="F4F5F4"/>
                </a:solidFill>
                <a:latin typeface="DejaVu Sans"/>
              </a:defRPr>
            </a:pPr>
            <a:r>
              <a:t>аюултай нөхцөлд хяналт</a:t>
            </a:r>
          </a:p>
          <a:p>
            <a:pPr>
              <a:lnSpc>
                <a:spcPts val="1921"/>
              </a:lnSpc>
              <a:spcBef>
                <a:spcPts val="0"/>
              </a:spcBef>
              <a:spcAft>
                <a:spcPts val="0"/>
              </a:spcAft>
              <a:defRPr sz="1575" b="0">
                <a:solidFill>
                  <a:srgbClr val="F4F5F4"/>
                </a:solidFill>
                <a:latin typeface="DejaVu Sans"/>
              </a:defRPr>
            </a:pPr>
            <a:r>
              <a:t>тавих.</a:t>
            </a:r>
          </a:p>
        </p:txBody>
      </p:sp>
      <p:sp>
        <p:nvSpPr>
          <p:cNvPr id="52" name="Rounded Rectangle 51"/>
          <p:cNvSpPr/>
          <p:nvPr/>
        </p:nvSpPr>
        <p:spPr>
          <a:xfrm>
            <a:off x="8143875" y="2562225"/>
            <a:ext cx="3619500" cy="3276600"/>
          </a:xfrm>
          <a:prstGeom prst="roundRect">
            <a:avLst>
              <a:gd name="adj" fmla="val 3488"/>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77200" y="2457450"/>
            <a:ext cx="3619500" cy="3276600"/>
          </a:xfrm>
          <a:prstGeom prst="roundRect">
            <a:avLst>
              <a:gd name="adj" fmla="val 2906"/>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86725" y="24669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86725" y="2486025"/>
            <a:ext cx="19050" cy="3219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143875"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48650" y="2571750"/>
            <a:ext cx="3276600" cy="638175"/>
          </a:xfrm>
          <a:prstGeom prst="rect">
            <a:avLst/>
          </a:prstGeom>
          <a:noFill/>
        </p:spPr>
        <p:txBody>
          <a:bodyPr wrap="none" lIns="0" tIns="0" rIns="0" bIns="0">
            <a:spAutoFit/>
          </a:bodyPr>
          <a:lstStyle/>
          <a:p>
            <a:pPr>
              <a:lnSpc>
                <a:spcPts val="4575"/>
              </a:lnSpc>
              <a:spcBef>
                <a:spcPts val="0"/>
              </a:spcBef>
              <a:spcAft>
                <a:spcPts val="0"/>
              </a:spcAft>
              <a:defRPr sz="3750" b="1">
                <a:solidFill>
                  <a:srgbClr val="F1C75B"/>
                </a:solidFill>
                <a:latin typeface="Open Sans Condensed"/>
              </a:defRPr>
            </a:pPr>
            <a:r>
              <a:t>03</a:t>
            </a:r>
          </a:p>
        </p:txBody>
      </p:sp>
      <p:sp>
        <p:nvSpPr>
          <p:cNvPr id="58" name="TextBox 57"/>
          <p:cNvSpPr txBox="1"/>
          <p:nvPr/>
        </p:nvSpPr>
        <p:spPr>
          <a:xfrm>
            <a:off x="8267699" y="3295650"/>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Хангах</a:t>
            </a:r>
          </a:p>
        </p:txBody>
      </p:sp>
      <p:sp>
        <p:nvSpPr>
          <p:cNvPr id="59" name="TextBox 58"/>
          <p:cNvSpPr txBox="1"/>
          <p:nvPr/>
        </p:nvSpPr>
        <p:spPr>
          <a:xfrm>
            <a:off x="8267699" y="3914775"/>
            <a:ext cx="3238500" cy="1657350"/>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Хууль, төсөв, үйлчилгээ,</a:t>
            </a:r>
          </a:p>
          <a:p>
            <a:pPr>
              <a:lnSpc>
                <a:spcPts val="1921"/>
              </a:lnSpc>
              <a:spcBef>
                <a:spcPts val="0"/>
              </a:spcBef>
              <a:spcAft>
                <a:spcPts val="0"/>
              </a:spcAft>
              <a:defRPr sz="1575" b="0">
                <a:solidFill>
                  <a:srgbClr val="F4F5F4"/>
                </a:solidFill>
                <a:latin typeface="DejaVu Sans"/>
              </a:defRPr>
            </a:pPr>
            <a:r>
              <a:t>хүртээмжийг бүрдүүлнэ.</a:t>
            </a:r>
          </a:p>
          <a:p>
            <a:pPr>
              <a:lnSpc>
                <a:spcPts val="1921"/>
              </a:lnSpc>
              <a:spcBef>
                <a:spcPts val="0"/>
              </a:spcBef>
              <a:spcAft>
                <a:spcPts val="0"/>
              </a:spcAft>
              <a:defRPr sz="1575" b="0">
                <a:solidFill>
                  <a:srgbClr val="F4F5F4"/>
                </a:solidFill>
                <a:latin typeface="DejaVu Sans"/>
              </a:defRPr>
            </a:pPr>
            <a:r>
              <a:t>Жишээ: анхан шатны</a:t>
            </a:r>
          </a:p>
          <a:p>
            <a:pPr>
              <a:lnSpc>
                <a:spcPts val="1921"/>
              </a:lnSpc>
              <a:spcBef>
                <a:spcPts val="0"/>
              </a:spcBef>
              <a:spcAft>
                <a:spcPts val="0"/>
              </a:spcAft>
              <a:defRPr sz="1575" b="0">
                <a:solidFill>
                  <a:srgbClr val="F4F5F4"/>
                </a:solidFill>
                <a:latin typeface="DejaVu Sans"/>
              </a:defRPr>
            </a:pPr>
            <a:r>
              <a:t>тусламж, нийгмийн</a:t>
            </a:r>
          </a:p>
          <a:p>
            <a:pPr>
              <a:lnSpc>
                <a:spcPts val="1921"/>
              </a:lnSpc>
              <a:spcBef>
                <a:spcPts val="0"/>
              </a:spcBef>
              <a:spcAft>
                <a:spcPts val="0"/>
              </a:spcAft>
              <a:defRPr sz="1575" b="0">
                <a:solidFill>
                  <a:srgbClr val="F4F5F4"/>
                </a:solidFill>
                <a:latin typeface="DejaVu Sans"/>
              </a:defRPr>
            </a:pPr>
            <a:r>
              <a:t>хамгаалалд бодит хүрэх</a:t>
            </a:r>
          </a:p>
          <a:p>
            <a:pPr>
              <a:lnSpc>
                <a:spcPts val="1921"/>
              </a:lnSpc>
              <a:spcBef>
                <a:spcPts val="0"/>
              </a:spcBef>
              <a:spcAft>
                <a:spcPts val="0"/>
              </a:spcAft>
              <a:defRPr sz="1575" b="0">
                <a:solidFill>
                  <a:srgbClr val="F4F5F4"/>
                </a:solidFill>
                <a:latin typeface="DejaVu Sans"/>
              </a:defRPr>
            </a:pPr>
            <a:r>
              <a:t>боломж.</a:t>
            </a:r>
          </a:p>
        </p:txBody>
      </p:sp>
      <p:sp>
        <p:nvSpPr>
          <p:cNvPr id="60" name="Rounded Rectangle 59"/>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“Төсөв хүрэхгүй” гэдэг тайлбар нь ялгаварлал, дур зоргын шийдвэрийг зөвтгөхгүй.</a:t>
            </a:r>
          </a:p>
        </p:txBody>
      </p:sp>
      <p:sp>
        <p:nvSpPr>
          <p:cNvPr id="67" name="Rectangle 66"/>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GC3</a:t>
            </a:r>
          </a:p>
        </p:txBody>
      </p:sp>
      <p:sp>
        <p:nvSpPr>
          <p:cNvPr id="69" name="TextBox 68"/>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utur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ОГТЛОЛЦСОН ЭМЗЭГ БАЙДАЛ</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8858250" cy="1295400"/>
          </a:xfrm>
          <a:prstGeom prst="rect">
            <a:avLst/>
          </a:prstGeom>
          <a:noFill/>
        </p:spPr>
        <p:txBody>
          <a:bodyPr wrap="none" lIns="0" tIns="0" rIns="0" bIns="0">
            <a:spAutoFit/>
          </a:bodyPr>
          <a:lstStyle/>
          <a:p>
            <a:pPr>
              <a:lnSpc>
                <a:spcPts val="5087"/>
              </a:lnSpc>
              <a:spcBef>
                <a:spcPts val="0"/>
              </a:spcBef>
              <a:spcAft>
                <a:spcPts val="0"/>
              </a:spcAft>
              <a:defRPr sz="4170" b="1">
                <a:solidFill>
                  <a:srgbClr val="030A13"/>
                </a:solidFill>
                <a:latin typeface="Open Sans Condensed"/>
              </a:defRPr>
            </a:pPr>
            <a:r>
              <a:t>НЭГ ХҮНД ОЛОН СААД</a:t>
            </a:r>
          </a:p>
          <a:p>
            <a:pPr>
              <a:lnSpc>
                <a:spcPts val="5087"/>
              </a:lnSpc>
              <a:spcBef>
                <a:spcPts val="0"/>
              </a:spcBef>
              <a:spcAft>
                <a:spcPts val="0"/>
              </a:spcAft>
              <a:defRPr sz="4170" b="1">
                <a:solidFill>
                  <a:srgbClr val="030A13"/>
                </a:solidFill>
                <a:latin typeface="Open Sans Condensed"/>
              </a:defRPr>
            </a:pPr>
            <a:r>
              <a:t>ДАВХЦАЖ БОЛНО.</a:t>
            </a:r>
          </a:p>
        </p:txBody>
      </p:sp>
      <p:sp>
        <p:nvSpPr>
          <p:cNvPr id="35" name="TextBox 34"/>
          <p:cNvSpPr txBox="1"/>
          <p:nvPr/>
        </p:nvSpPr>
        <p:spPr>
          <a:xfrm>
            <a:off x="457200" y="942975"/>
            <a:ext cx="8858250" cy="1295400"/>
          </a:xfrm>
          <a:prstGeom prst="rect">
            <a:avLst/>
          </a:prstGeom>
          <a:noFill/>
        </p:spPr>
        <p:txBody>
          <a:bodyPr wrap="none" lIns="0" tIns="0" rIns="0" bIns="0">
            <a:spAutoFit/>
          </a:bodyPr>
          <a:lstStyle/>
          <a:p>
            <a:pPr>
              <a:lnSpc>
                <a:spcPts val="5087"/>
              </a:lnSpc>
              <a:spcBef>
                <a:spcPts val="0"/>
              </a:spcBef>
              <a:spcAft>
                <a:spcPts val="0"/>
              </a:spcAft>
              <a:defRPr sz="4170" b="1">
                <a:solidFill>
                  <a:srgbClr val="F4F5F4"/>
                </a:solidFill>
                <a:latin typeface="Open Sans Condensed"/>
              </a:defRPr>
            </a:pPr>
            <a:r>
              <a:t>НЭГ ХҮНД ОЛОН СААД</a:t>
            </a:r>
          </a:p>
          <a:p>
            <a:pPr>
              <a:lnSpc>
                <a:spcPts val="5087"/>
              </a:lnSpc>
              <a:spcBef>
                <a:spcPts val="0"/>
              </a:spcBef>
              <a:spcAft>
                <a:spcPts val="0"/>
              </a:spcAft>
              <a:defRPr sz="4170" b="1">
                <a:solidFill>
                  <a:srgbClr val="F4F5F4"/>
                </a:solidFill>
                <a:latin typeface="Open Sans Condensed"/>
              </a:defRPr>
            </a:pPr>
            <a:r>
              <a:t>ДАВХЦАЖ БОЛНО.</a:t>
            </a:r>
          </a:p>
        </p:txBody>
      </p:sp>
      <p:sp>
        <p:nvSpPr>
          <p:cNvPr id="36" name="Rounded Rectangle 35"/>
          <p:cNvSpPr/>
          <p:nvPr/>
        </p:nvSpPr>
        <p:spPr>
          <a:xfrm>
            <a:off x="523874" y="3190875"/>
            <a:ext cx="3619500" cy="2667000"/>
          </a:xfrm>
          <a:prstGeom prst="roundRect">
            <a:avLst>
              <a:gd name="adj" fmla="val 42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3086100"/>
            <a:ext cx="3619500" cy="2667000"/>
          </a:xfrm>
          <a:prstGeom prst="roundRect">
            <a:avLst>
              <a:gd name="adj" fmla="val 357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309562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3114675"/>
            <a:ext cx="19050" cy="26098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573405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700" y="3228975"/>
            <a:ext cx="3219450" cy="657225"/>
          </a:xfrm>
          <a:prstGeom prst="rect">
            <a:avLst/>
          </a:prstGeom>
          <a:noFill/>
        </p:spPr>
        <p:txBody>
          <a:bodyPr wrap="none" lIns="0" tIns="0" rIns="0" bIns="0">
            <a:spAutoFit/>
          </a:bodyPr>
          <a:lstStyle/>
          <a:p>
            <a:pPr>
              <a:lnSpc>
                <a:spcPts val="4849"/>
              </a:lnSpc>
              <a:spcBef>
                <a:spcPts val="0"/>
              </a:spcBef>
              <a:spcAft>
                <a:spcPts val="0"/>
              </a:spcAft>
              <a:defRPr sz="3975" b="1">
                <a:solidFill>
                  <a:srgbClr val="F1C75B"/>
                </a:solidFill>
                <a:latin typeface="Open Sans Condensed"/>
              </a:defRPr>
            </a:pPr>
            <a:r>
              <a:t>CRC</a:t>
            </a:r>
          </a:p>
        </p:txBody>
      </p:sp>
      <p:sp>
        <p:nvSpPr>
          <p:cNvPr id="42" name="TextBox 41"/>
          <p:cNvSpPr txBox="1"/>
          <p:nvPr/>
        </p:nvSpPr>
        <p:spPr>
          <a:xfrm>
            <a:off x="657225" y="3971925"/>
            <a:ext cx="3209925" cy="257175"/>
          </a:xfrm>
          <a:prstGeom prst="rect">
            <a:avLst/>
          </a:prstGeom>
          <a:noFill/>
        </p:spPr>
        <p:txBody>
          <a:bodyPr wrap="none" lIns="0" tIns="0" rIns="0" bIns="0">
            <a:spAutoFit/>
          </a:bodyPr>
          <a:lstStyle/>
          <a:p>
            <a:pPr>
              <a:lnSpc>
                <a:spcPts val="1464"/>
              </a:lnSpc>
              <a:spcBef>
                <a:spcPts val="0"/>
              </a:spcBef>
              <a:spcAft>
                <a:spcPts val="0"/>
              </a:spcAft>
              <a:defRPr sz="1200" b="0">
                <a:solidFill>
                  <a:srgbClr val="B3C2D3"/>
                </a:solidFill>
                <a:latin typeface="DejaVu Sans Mono"/>
              </a:defRPr>
            </a:pPr>
            <a:r>
              <a:t>1989.11.20</a:t>
            </a:r>
          </a:p>
        </p:txBody>
      </p:sp>
      <p:sp>
        <p:nvSpPr>
          <p:cNvPr id="43" name="TextBox 42"/>
          <p:cNvSpPr txBox="1"/>
          <p:nvPr/>
        </p:nvSpPr>
        <p:spPr>
          <a:xfrm>
            <a:off x="657225" y="4381500"/>
            <a:ext cx="3209925" cy="752475"/>
          </a:xfrm>
          <a:prstGeom prst="rect">
            <a:avLst/>
          </a:prstGeom>
          <a:noFill/>
        </p:spPr>
        <p:txBody>
          <a:bodyPr wrap="none" lIns="0" tIns="0" rIns="0" bIns="0">
            <a:spAutoFit/>
          </a:bodyPr>
          <a:lstStyle/>
          <a:p>
            <a:pPr>
              <a:lnSpc>
                <a:spcPts val="1884"/>
              </a:lnSpc>
              <a:spcBef>
                <a:spcPts val="0"/>
              </a:spcBef>
              <a:spcAft>
                <a:spcPts val="0"/>
              </a:spcAft>
              <a:defRPr sz="1545" b="1">
                <a:solidFill>
                  <a:srgbClr val="F4F5F4"/>
                </a:solidFill>
                <a:latin typeface="DejaVu Sans"/>
              </a:defRPr>
            </a:pPr>
            <a:r>
              <a:t>2 — ялгаварлахгүй; 3 —</a:t>
            </a:r>
          </a:p>
          <a:p>
            <a:pPr>
              <a:lnSpc>
                <a:spcPts val="1884"/>
              </a:lnSpc>
              <a:spcBef>
                <a:spcPts val="0"/>
              </a:spcBef>
              <a:spcAft>
                <a:spcPts val="0"/>
              </a:spcAft>
              <a:defRPr sz="1545" b="1">
                <a:solidFill>
                  <a:srgbClr val="F4F5F4"/>
                </a:solidFill>
                <a:latin typeface="DejaVu Sans"/>
              </a:defRPr>
            </a:pPr>
            <a:r>
              <a:t>дээд ашиг сонирхол; 26, 27</a:t>
            </a:r>
          </a:p>
          <a:p>
            <a:pPr>
              <a:lnSpc>
                <a:spcPts val="1884"/>
              </a:lnSpc>
              <a:spcBef>
                <a:spcPts val="0"/>
              </a:spcBef>
              <a:spcAft>
                <a:spcPts val="0"/>
              </a:spcAft>
              <a:defRPr sz="1545" b="1">
                <a:solidFill>
                  <a:srgbClr val="F4F5F4"/>
                </a:solidFill>
                <a:latin typeface="DejaVu Sans"/>
              </a:defRPr>
            </a:pPr>
            <a:r>
              <a:t>— хамгаалал, амьжиргаа</a:t>
            </a:r>
          </a:p>
        </p:txBody>
      </p:sp>
      <p:sp>
        <p:nvSpPr>
          <p:cNvPr id="44" name="TextBox 43"/>
          <p:cNvSpPr txBox="1"/>
          <p:nvPr/>
        </p:nvSpPr>
        <p:spPr>
          <a:xfrm>
            <a:off x="657225" y="5210175"/>
            <a:ext cx="3209925" cy="428625"/>
          </a:xfrm>
          <a:prstGeom prst="rect">
            <a:avLst/>
          </a:prstGeom>
          <a:noFill/>
        </p:spPr>
        <p:txBody>
          <a:bodyPr wrap="none" lIns="0" tIns="0" rIns="0" bIns="0">
            <a:spAutoFit/>
          </a:bodyPr>
          <a:lstStyle/>
          <a:p>
            <a:pPr>
              <a:lnSpc>
                <a:spcPts val="1601"/>
              </a:lnSpc>
              <a:spcBef>
                <a:spcPts val="0"/>
              </a:spcBef>
              <a:spcAft>
                <a:spcPts val="0"/>
              </a:spcAft>
              <a:defRPr sz="1312" b="0">
                <a:solidFill>
                  <a:srgbClr val="B3C2D3"/>
                </a:solidFill>
                <a:latin typeface="DejaVu Sans"/>
              </a:defRPr>
            </a:pPr>
            <a:r>
              <a:t>Өрхийн ядуурлаас шалтгаалсан</a:t>
            </a:r>
          </a:p>
          <a:p>
            <a:pPr>
              <a:lnSpc>
                <a:spcPts val="1601"/>
              </a:lnSpc>
              <a:spcBef>
                <a:spcPts val="0"/>
              </a:spcBef>
              <a:spcAft>
                <a:spcPts val="0"/>
              </a:spcAft>
              <a:defRPr sz="1312" b="0">
                <a:solidFill>
                  <a:srgbClr val="B3C2D3"/>
                </a:solidFill>
                <a:latin typeface="DejaVu Sans"/>
              </a:defRPr>
            </a:pPr>
            <a:r>
              <a:t>хүүхдийн хомсдол</a:t>
            </a:r>
          </a:p>
        </p:txBody>
      </p:sp>
      <p:sp>
        <p:nvSpPr>
          <p:cNvPr id="45" name="Rounded Rectangle 44"/>
          <p:cNvSpPr/>
          <p:nvPr/>
        </p:nvSpPr>
        <p:spPr>
          <a:xfrm>
            <a:off x="4333875" y="3190875"/>
            <a:ext cx="3619500" cy="2667000"/>
          </a:xfrm>
          <a:prstGeom prst="roundRect">
            <a:avLst>
              <a:gd name="adj" fmla="val 42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267200" y="3086100"/>
            <a:ext cx="3619500" cy="2667000"/>
          </a:xfrm>
          <a:prstGeom prst="roundRect">
            <a:avLst>
              <a:gd name="adj" fmla="val 357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76725" y="309562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276725" y="3114675"/>
            <a:ext cx="19050" cy="26098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333875" y="573405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57700" y="3228975"/>
            <a:ext cx="3219450" cy="657225"/>
          </a:xfrm>
          <a:prstGeom prst="rect">
            <a:avLst/>
          </a:prstGeom>
          <a:noFill/>
        </p:spPr>
        <p:txBody>
          <a:bodyPr wrap="none" lIns="0" tIns="0" rIns="0" bIns="0">
            <a:spAutoFit/>
          </a:bodyPr>
          <a:lstStyle/>
          <a:p>
            <a:pPr>
              <a:lnSpc>
                <a:spcPts val="4849"/>
              </a:lnSpc>
              <a:spcBef>
                <a:spcPts val="0"/>
              </a:spcBef>
              <a:spcAft>
                <a:spcPts val="0"/>
              </a:spcAft>
              <a:defRPr sz="3975" b="1">
                <a:solidFill>
                  <a:srgbClr val="F1C75B"/>
                </a:solidFill>
                <a:latin typeface="Open Sans Condensed"/>
              </a:defRPr>
            </a:pPr>
            <a:r>
              <a:t>CEDAW</a:t>
            </a:r>
          </a:p>
        </p:txBody>
      </p:sp>
      <p:sp>
        <p:nvSpPr>
          <p:cNvPr id="51" name="TextBox 50"/>
          <p:cNvSpPr txBox="1"/>
          <p:nvPr/>
        </p:nvSpPr>
        <p:spPr>
          <a:xfrm>
            <a:off x="4467225" y="3971925"/>
            <a:ext cx="3209925" cy="257175"/>
          </a:xfrm>
          <a:prstGeom prst="rect">
            <a:avLst/>
          </a:prstGeom>
          <a:noFill/>
        </p:spPr>
        <p:txBody>
          <a:bodyPr wrap="none" lIns="0" tIns="0" rIns="0" bIns="0">
            <a:spAutoFit/>
          </a:bodyPr>
          <a:lstStyle/>
          <a:p>
            <a:pPr>
              <a:lnSpc>
                <a:spcPts val="1464"/>
              </a:lnSpc>
              <a:spcBef>
                <a:spcPts val="0"/>
              </a:spcBef>
              <a:spcAft>
                <a:spcPts val="0"/>
              </a:spcAft>
              <a:defRPr sz="1200" b="0">
                <a:solidFill>
                  <a:srgbClr val="B3C2D3"/>
                </a:solidFill>
                <a:latin typeface="DejaVu Sans Mono"/>
              </a:defRPr>
            </a:pPr>
            <a:r>
              <a:t>1979.12.18</a:t>
            </a:r>
          </a:p>
        </p:txBody>
      </p:sp>
      <p:sp>
        <p:nvSpPr>
          <p:cNvPr id="52" name="TextBox 51"/>
          <p:cNvSpPr txBox="1"/>
          <p:nvPr/>
        </p:nvSpPr>
        <p:spPr>
          <a:xfrm>
            <a:off x="4467225" y="4381500"/>
            <a:ext cx="3209925" cy="752475"/>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11 — хөдөлмөр; 12 —</a:t>
            </a:r>
          </a:p>
          <a:p>
            <a:pPr>
              <a:lnSpc>
                <a:spcPts val="1921"/>
              </a:lnSpc>
              <a:spcBef>
                <a:spcPts val="0"/>
              </a:spcBef>
              <a:spcAft>
                <a:spcPts val="0"/>
              </a:spcAft>
              <a:defRPr sz="1575" b="1">
                <a:solidFill>
                  <a:srgbClr val="F4F5F4"/>
                </a:solidFill>
                <a:latin typeface="DejaVu Sans"/>
              </a:defRPr>
            </a:pPr>
            <a:r>
              <a:t>эрүүл мэнд; 14 —</a:t>
            </a:r>
          </a:p>
          <a:p>
            <a:pPr>
              <a:lnSpc>
                <a:spcPts val="1921"/>
              </a:lnSpc>
              <a:spcBef>
                <a:spcPts val="0"/>
              </a:spcBef>
              <a:spcAft>
                <a:spcPts val="0"/>
              </a:spcAft>
              <a:defRPr sz="1575" b="1">
                <a:solidFill>
                  <a:srgbClr val="F4F5F4"/>
                </a:solidFill>
                <a:latin typeface="DejaVu Sans"/>
              </a:defRPr>
            </a:pPr>
            <a:r>
              <a:t>хөдөөгийн эмэгтэйчүүд</a:t>
            </a:r>
          </a:p>
        </p:txBody>
      </p:sp>
      <p:sp>
        <p:nvSpPr>
          <p:cNvPr id="53" name="TextBox 52"/>
          <p:cNvSpPr txBox="1"/>
          <p:nvPr/>
        </p:nvSpPr>
        <p:spPr>
          <a:xfrm>
            <a:off x="4467225" y="5210175"/>
            <a:ext cx="3209925" cy="428625"/>
          </a:xfrm>
          <a:prstGeom prst="rect">
            <a:avLst/>
          </a:prstGeom>
          <a:noFill/>
        </p:spPr>
        <p:txBody>
          <a:bodyPr wrap="none" lIns="0" tIns="0" rIns="0" bIns="0">
            <a:spAutoFit/>
          </a:bodyPr>
          <a:lstStyle/>
          <a:p>
            <a:pPr>
              <a:lnSpc>
                <a:spcPts val="1601"/>
              </a:lnSpc>
              <a:spcBef>
                <a:spcPts val="0"/>
              </a:spcBef>
              <a:spcAft>
                <a:spcPts val="0"/>
              </a:spcAft>
              <a:defRPr sz="1312" b="0">
                <a:solidFill>
                  <a:srgbClr val="B3C2D3"/>
                </a:solidFill>
                <a:latin typeface="DejaVu Sans"/>
              </a:defRPr>
            </a:pPr>
            <a:r>
              <a:t>Асаргааны ачаалал, ажлын ба</a:t>
            </a:r>
          </a:p>
          <a:p>
            <a:pPr>
              <a:lnSpc>
                <a:spcPts val="1601"/>
              </a:lnSpc>
              <a:spcBef>
                <a:spcPts val="0"/>
              </a:spcBef>
              <a:spcAft>
                <a:spcPts val="0"/>
              </a:spcAft>
              <a:defRPr sz="1312" b="0">
                <a:solidFill>
                  <a:srgbClr val="B3C2D3"/>
                </a:solidFill>
                <a:latin typeface="DejaVu Sans"/>
              </a:defRPr>
            </a:pPr>
            <a:r>
              <a:t>үйлчилгээний тэгш бус байдал</a:t>
            </a:r>
          </a:p>
        </p:txBody>
      </p:sp>
      <p:sp>
        <p:nvSpPr>
          <p:cNvPr id="54" name="Rounded Rectangle 53"/>
          <p:cNvSpPr/>
          <p:nvPr/>
        </p:nvSpPr>
        <p:spPr>
          <a:xfrm>
            <a:off x="8143875" y="3190875"/>
            <a:ext cx="3619500" cy="2667000"/>
          </a:xfrm>
          <a:prstGeom prst="roundRect">
            <a:avLst>
              <a:gd name="adj" fmla="val 42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8077200" y="3086100"/>
            <a:ext cx="3619500" cy="2667000"/>
          </a:xfrm>
          <a:prstGeom prst="roundRect">
            <a:avLst>
              <a:gd name="adj" fmla="val 357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086725" y="309562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086725" y="3114675"/>
            <a:ext cx="19050" cy="26098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143875" y="573405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67699" y="3228975"/>
            <a:ext cx="3219450" cy="657225"/>
          </a:xfrm>
          <a:prstGeom prst="rect">
            <a:avLst/>
          </a:prstGeom>
          <a:noFill/>
        </p:spPr>
        <p:txBody>
          <a:bodyPr wrap="none" lIns="0" tIns="0" rIns="0" bIns="0">
            <a:spAutoFit/>
          </a:bodyPr>
          <a:lstStyle/>
          <a:p>
            <a:pPr>
              <a:lnSpc>
                <a:spcPts val="4849"/>
              </a:lnSpc>
              <a:spcBef>
                <a:spcPts val="0"/>
              </a:spcBef>
              <a:spcAft>
                <a:spcPts val="0"/>
              </a:spcAft>
              <a:defRPr sz="3975" b="1">
                <a:solidFill>
                  <a:srgbClr val="F1C75B"/>
                </a:solidFill>
                <a:latin typeface="Open Sans Condensed"/>
              </a:defRPr>
            </a:pPr>
            <a:r>
              <a:t>CRPD</a:t>
            </a:r>
          </a:p>
        </p:txBody>
      </p:sp>
      <p:sp>
        <p:nvSpPr>
          <p:cNvPr id="60" name="TextBox 59"/>
          <p:cNvSpPr txBox="1"/>
          <p:nvPr/>
        </p:nvSpPr>
        <p:spPr>
          <a:xfrm>
            <a:off x="8277225" y="3971925"/>
            <a:ext cx="3209925" cy="257175"/>
          </a:xfrm>
          <a:prstGeom prst="rect">
            <a:avLst/>
          </a:prstGeom>
          <a:noFill/>
        </p:spPr>
        <p:txBody>
          <a:bodyPr wrap="none" lIns="0" tIns="0" rIns="0" bIns="0">
            <a:spAutoFit/>
          </a:bodyPr>
          <a:lstStyle/>
          <a:p>
            <a:pPr>
              <a:lnSpc>
                <a:spcPts val="1464"/>
              </a:lnSpc>
              <a:spcBef>
                <a:spcPts val="0"/>
              </a:spcBef>
              <a:spcAft>
                <a:spcPts val="0"/>
              </a:spcAft>
              <a:defRPr sz="1200" b="0">
                <a:solidFill>
                  <a:srgbClr val="B3C2D3"/>
                </a:solidFill>
                <a:latin typeface="DejaVu Sans Mono"/>
              </a:defRPr>
            </a:pPr>
            <a:r>
              <a:t>2006.12.13</a:t>
            </a:r>
          </a:p>
        </p:txBody>
      </p:sp>
      <p:sp>
        <p:nvSpPr>
          <p:cNvPr id="61" name="TextBox 60"/>
          <p:cNvSpPr txBox="1"/>
          <p:nvPr/>
        </p:nvSpPr>
        <p:spPr>
          <a:xfrm>
            <a:off x="8277225" y="4381500"/>
            <a:ext cx="3209925" cy="752475"/>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9 — хүртээмж; 24 —</a:t>
            </a:r>
          </a:p>
          <a:p>
            <a:pPr>
              <a:lnSpc>
                <a:spcPts val="1921"/>
              </a:lnSpc>
              <a:spcBef>
                <a:spcPts val="0"/>
              </a:spcBef>
              <a:spcAft>
                <a:spcPts val="0"/>
              </a:spcAft>
              <a:defRPr sz="1575" b="1">
                <a:solidFill>
                  <a:srgbClr val="F4F5F4"/>
                </a:solidFill>
                <a:latin typeface="DejaVu Sans"/>
              </a:defRPr>
            </a:pPr>
            <a:r>
              <a:t>боловсрол; 27 — ажил; 28</a:t>
            </a:r>
          </a:p>
          <a:p>
            <a:pPr>
              <a:lnSpc>
                <a:spcPts val="1921"/>
              </a:lnSpc>
              <a:spcBef>
                <a:spcPts val="0"/>
              </a:spcBef>
              <a:spcAft>
                <a:spcPts val="0"/>
              </a:spcAft>
              <a:defRPr sz="1575" b="1">
                <a:solidFill>
                  <a:srgbClr val="F4F5F4"/>
                </a:solidFill>
                <a:latin typeface="DejaVu Sans"/>
              </a:defRPr>
            </a:pPr>
            <a:r>
              <a:t>— амьжиргаа, хамгаалал</a:t>
            </a:r>
          </a:p>
        </p:txBody>
      </p:sp>
      <p:sp>
        <p:nvSpPr>
          <p:cNvPr id="62" name="TextBox 61"/>
          <p:cNvSpPr txBox="1"/>
          <p:nvPr/>
        </p:nvSpPr>
        <p:spPr>
          <a:xfrm>
            <a:off x="8277225" y="5210175"/>
            <a:ext cx="3209925" cy="428625"/>
          </a:xfrm>
          <a:prstGeom prst="rect">
            <a:avLst/>
          </a:prstGeom>
          <a:noFill/>
        </p:spPr>
        <p:txBody>
          <a:bodyPr wrap="none" lIns="0" tIns="0" rIns="0" bIns="0">
            <a:spAutoFit/>
          </a:bodyPr>
          <a:lstStyle/>
          <a:p>
            <a:pPr>
              <a:lnSpc>
                <a:spcPts val="1601"/>
              </a:lnSpc>
              <a:spcBef>
                <a:spcPts val="0"/>
              </a:spcBef>
              <a:spcAft>
                <a:spcPts val="0"/>
              </a:spcAft>
              <a:defRPr sz="1312" b="0">
                <a:solidFill>
                  <a:srgbClr val="B3C2D3"/>
                </a:solidFill>
                <a:latin typeface="DejaVu Sans"/>
              </a:defRPr>
            </a:pPr>
            <a:r>
              <a:t>Биеийн орчин, мэдээлэл, ажилд</a:t>
            </a:r>
          </a:p>
          <a:p>
            <a:pPr>
              <a:lnSpc>
                <a:spcPts val="1601"/>
              </a:lnSpc>
              <a:spcBef>
                <a:spcPts val="0"/>
              </a:spcBef>
              <a:spcAft>
                <a:spcPts val="0"/>
              </a:spcAft>
              <a:defRPr sz="1312" b="0">
                <a:solidFill>
                  <a:srgbClr val="B3C2D3"/>
                </a:solidFill>
                <a:latin typeface="DejaVu Sans"/>
              </a:defRPr>
            </a:pPr>
            <a:r>
              <a:t>оролцох саад</a:t>
            </a:r>
          </a:p>
        </p:txBody>
      </p:sp>
      <p:sp>
        <p:nvSpPr>
          <p:cNvPr id="63" name="Rounded Rectangle 62"/>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Нэг хүнд хэд хэдэн саад давхцаж болно. Ижил үйлчилгээ бүх хүнд ижил үр дүн өгөхгүй.</a:t>
            </a:r>
          </a:p>
        </p:txBody>
      </p:sp>
      <p:sp>
        <p:nvSpPr>
          <p:cNvPr id="70" name="Rectangle 69"/>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CRC · CEDAW · CRPD</a:t>
            </a:r>
          </a:p>
        </p:txBody>
      </p:sp>
      <p:sp>
        <p:nvSpPr>
          <p:cNvPr id="72" name="TextBox 71"/>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3" name="TextBox 72"/>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k.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ХӨДӨЛМӨР</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981825" cy="1314450"/>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АЖИЛТАЙ БАЙХ НЬ</a:t>
            </a:r>
          </a:p>
          <a:p>
            <a:pPr>
              <a:lnSpc>
                <a:spcPts val="5032"/>
              </a:lnSpc>
              <a:spcBef>
                <a:spcPts val="0"/>
              </a:spcBef>
              <a:spcAft>
                <a:spcPts val="0"/>
              </a:spcAft>
              <a:defRPr sz="4125" b="1">
                <a:solidFill>
                  <a:srgbClr val="030A13"/>
                </a:solidFill>
                <a:latin typeface="Open Sans Condensed"/>
              </a:defRPr>
            </a:pPr>
            <a:r>
              <a:t>ХАНГАЛТТАЙ БИШ.</a:t>
            </a:r>
          </a:p>
        </p:txBody>
      </p:sp>
      <p:sp>
        <p:nvSpPr>
          <p:cNvPr id="35" name="TextBox 34"/>
          <p:cNvSpPr txBox="1"/>
          <p:nvPr/>
        </p:nvSpPr>
        <p:spPr>
          <a:xfrm>
            <a:off x="457200" y="942975"/>
            <a:ext cx="6981825" cy="1314450"/>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АЖИЛТАЙ БАЙХ НЬ</a:t>
            </a:r>
          </a:p>
          <a:p>
            <a:pPr>
              <a:lnSpc>
                <a:spcPts val="5032"/>
              </a:lnSpc>
              <a:spcBef>
                <a:spcPts val="0"/>
              </a:spcBef>
              <a:spcAft>
                <a:spcPts val="0"/>
              </a:spcAft>
              <a:defRPr sz="4125" b="1">
                <a:solidFill>
                  <a:srgbClr val="F4F5F4"/>
                </a:solidFill>
                <a:latin typeface="Open Sans Condensed"/>
              </a:defRPr>
            </a:pPr>
            <a:r>
              <a:t>ХАНГАЛТТАЙ БИШ.</a:t>
            </a:r>
          </a:p>
        </p:txBody>
      </p:sp>
      <p:sp>
        <p:nvSpPr>
          <p:cNvPr id="36" name="Rounded Rectangle 35"/>
          <p:cNvSpPr/>
          <p:nvPr/>
        </p:nvSpPr>
        <p:spPr>
          <a:xfrm>
            <a:off x="523874" y="2590800"/>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48602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49555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51460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343852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125" y="26193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01</a:t>
            </a:r>
          </a:p>
        </p:txBody>
      </p:sp>
      <p:sp>
        <p:nvSpPr>
          <p:cNvPr id="42" name="TextBox 41"/>
          <p:cNvSpPr txBox="1"/>
          <p:nvPr/>
        </p:nvSpPr>
        <p:spPr>
          <a:xfrm>
            <a:off x="1200150" y="260985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Эрхийн тулгуур</a:t>
            </a:r>
          </a:p>
        </p:txBody>
      </p:sp>
      <p:sp>
        <p:nvSpPr>
          <p:cNvPr id="43" name="TextBox 42"/>
          <p:cNvSpPr txBox="1"/>
          <p:nvPr/>
        </p:nvSpPr>
        <p:spPr>
          <a:xfrm>
            <a:off x="1200150" y="2962275"/>
            <a:ext cx="5915025" cy="466724"/>
          </a:xfrm>
          <a:prstGeom prst="rect">
            <a:avLst/>
          </a:prstGeom>
          <a:noFill/>
        </p:spPr>
        <p:txBody>
          <a:bodyPr wrap="none" lIns="0" tIns="0" rIns="0" bIns="0">
            <a:spAutoFit/>
          </a:bodyPr>
          <a:lstStyle/>
          <a:p>
            <a:pPr>
              <a:lnSpc>
                <a:spcPts val="1198"/>
              </a:lnSpc>
              <a:spcBef>
                <a:spcPts val="0"/>
              </a:spcBef>
              <a:spcAft>
                <a:spcPts val="0"/>
              </a:spcAft>
              <a:defRPr sz="982" b="0">
                <a:solidFill>
                  <a:srgbClr val="F4F5F4"/>
                </a:solidFill>
                <a:latin typeface="DejaVu Sans"/>
              </a:defRPr>
            </a:pPr>
            <a:r>
              <a:t>Үндсэн хууль • 1992.01.13: 16.4.</a:t>
            </a:r>
          </a:p>
          <a:p>
            <a:pPr>
              <a:lnSpc>
                <a:spcPts val="1198"/>
              </a:lnSpc>
              <a:spcBef>
                <a:spcPts val="0"/>
              </a:spcBef>
              <a:spcAft>
                <a:spcPts val="0"/>
              </a:spcAft>
              <a:defRPr sz="982" b="0">
                <a:solidFill>
                  <a:srgbClr val="F4F5F4"/>
                </a:solidFill>
                <a:latin typeface="DejaVu Sans"/>
              </a:defRPr>
            </a:pPr>
            <a:r>
              <a:t>Хөдөлмөрийн тухай хууль • 2021.07.02: 6 дугаар зүйл.</a:t>
            </a:r>
          </a:p>
          <a:p>
            <a:pPr>
              <a:lnSpc>
                <a:spcPts val="1198"/>
              </a:lnSpc>
              <a:spcBef>
                <a:spcPts val="0"/>
              </a:spcBef>
              <a:spcAft>
                <a:spcPts val="0"/>
              </a:spcAft>
              <a:defRPr sz="982" b="0">
                <a:solidFill>
                  <a:srgbClr val="F4F5F4"/>
                </a:solidFill>
                <a:latin typeface="DejaVu Sans"/>
              </a:defRPr>
            </a:pPr>
            <a:r>
              <a:t>ICESCR • 1966.12.16: 6, 7 дугаар зүйл.</a:t>
            </a:r>
          </a:p>
        </p:txBody>
      </p:sp>
      <p:sp>
        <p:nvSpPr>
          <p:cNvPr id="44" name="Rounded Rectangle 43"/>
          <p:cNvSpPr/>
          <p:nvPr/>
        </p:nvSpPr>
        <p:spPr>
          <a:xfrm>
            <a:off x="523874" y="3676649"/>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57187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58140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60045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452437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125" y="3705224"/>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02</a:t>
            </a:r>
          </a:p>
        </p:txBody>
      </p:sp>
      <p:sp>
        <p:nvSpPr>
          <p:cNvPr id="50" name="TextBox 49"/>
          <p:cNvSpPr txBox="1"/>
          <p:nvPr/>
        </p:nvSpPr>
        <p:spPr>
          <a:xfrm>
            <a:off x="1200150" y="369570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Эрсдэлийн цэг</a:t>
            </a:r>
          </a:p>
        </p:txBody>
      </p:sp>
      <p:sp>
        <p:nvSpPr>
          <p:cNvPr id="51" name="TextBox 50"/>
          <p:cNvSpPr txBox="1"/>
          <p:nvPr/>
        </p:nvSpPr>
        <p:spPr>
          <a:xfrm>
            <a:off x="1200150" y="4048124"/>
            <a:ext cx="5915025" cy="466724"/>
          </a:xfrm>
          <a:prstGeom prst="rect">
            <a:avLst/>
          </a:prstGeom>
          <a:noFill/>
        </p:spPr>
        <p:txBody>
          <a:bodyPr wrap="none" lIns="0" tIns="0" rIns="0" bIns="0">
            <a:spAutoFit/>
          </a:bodyPr>
          <a:lstStyle/>
          <a:p>
            <a:pPr>
              <a:lnSpc>
                <a:spcPts val="1784"/>
              </a:lnSpc>
              <a:spcBef>
                <a:spcPts val="0"/>
              </a:spcBef>
              <a:spcAft>
                <a:spcPts val="0"/>
              </a:spcAft>
              <a:defRPr sz="1462" b="0">
                <a:solidFill>
                  <a:srgbClr val="F4F5F4"/>
                </a:solidFill>
                <a:latin typeface="DejaVu Sans"/>
              </a:defRPr>
            </a:pPr>
            <a:r>
              <a:t>Бага цалин, тогтворгүй цаг, албан бус ажил; хөдөлмөрийн</a:t>
            </a:r>
          </a:p>
          <a:p>
            <a:pPr>
              <a:lnSpc>
                <a:spcPts val="1784"/>
              </a:lnSpc>
              <a:spcBef>
                <a:spcPts val="0"/>
              </a:spcBef>
              <a:spcAft>
                <a:spcPts val="0"/>
              </a:spcAft>
              <a:defRPr sz="1462" b="0">
                <a:solidFill>
                  <a:srgbClr val="F4F5F4"/>
                </a:solidFill>
                <a:latin typeface="DejaVu Sans"/>
              </a:defRPr>
            </a:pPr>
            <a:r>
              <a:t>аюулгүй байдал; даатгалын хамрагдалтын тасалдал.</a:t>
            </a:r>
          </a:p>
        </p:txBody>
      </p:sp>
      <p:sp>
        <p:nvSpPr>
          <p:cNvPr id="52" name="Rounded Rectangle 51"/>
          <p:cNvSpPr/>
          <p:nvPr/>
        </p:nvSpPr>
        <p:spPr>
          <a:xfrm>
            <a:off x="523874" y="4762500"/>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57200" y="465772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6724" y="466725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724" y="468630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3874" y="561022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9125" y="47910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03</a:t>
            </a:r>
          </a:p>
        </p:txBody>
      </p:sp>
      <p:sp>
        <p:nvSpPr>
          <p:cNvPr id="58" name="TextBox 57"/>
          <p:cNvSpPr txBox="1"/>
          <p:nvPr/>
        </p:nvSpPr>
        <p:spPr>
          <a:xfrm>
            <a:off x="1200150" y="478155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Шалгах баримт</a:t>
            </a:r>
          </a:p>
        </p:txBody>
      </p:sp>
      <p:sp>
        <p:nvSpPr>
          <p:cNvPr id="59" name="TextBox 58"/>
          <p:cNvSpPr txBox="1"/>
          <p:nvPr/>
        </p:nvSpPr>
        <p:spPr>
          <a:xfrm>
            <a:off x="1200150" y="5133975"/>
            <a:ext cx="5915025" cy="466724"/>
          </a:xfrm>
          <a:prstGeom prst="rect">
            <a:avLst/>
          </a:prstGeom>
          <a:noFill/>
        </p:spPr>
        <p:txBody>
          <a:bodyPr wrap="none" lIns="0" tIns="0" rIns="0" bIns="0">
            <a:spAutoFit/>
          </a:bodyPr>
          <a:lstStyle/>
          <a:p>
            <a:pPr>
              <a:lnSpc>
                <a:spcPts val="1601"/>
              </a:lnSpc>
              <a:spcBef>
                <a:spcPts val="0"/>
              </a:spcBef>
              <a:spcAft>
                <a:spcPts val="0"/>
              </a:spcAft>
              <a:defRPr sz="1312" b="0">
                <a:solidFill>
                  <a:srgbClr val="F4F5F4"/>
                </a:solidFill>
                <a:latin typeface="DejaVu Sans"/>
              </a:defRPr>
            </a:pPr>
            <a:r>
              <a:t>Гэрээ, ажлын цагийн бүртгэл, цалин олголт, даатгалын мэдээлэл.</a:t>
            </a:r>
          </a:p>
          <a:p>
            <a:pPr>
              <a:lnSpc>
                <a:spcPts val="1601"/>
              </a:lnSpc>
              <a:spcBef>
                <a:spcPts val="0"/>
              </a:spcBef>
              <a:spcAft>
                <a:spcPts val="0"/>
              </a:spcAft>
              <a:defRPr sz="1312" b="0">
                <a:solidFill>
                  <a:srgbClr val="F4F5F4"/>
                </a:solidFill>
                <a:latin typeface="DejaVu Sans"/>
              </a:defRPr>
            </a:pPr>
            <a:r>
              <a:t>Хууль ёсны шаардлагыг ажилтанд ойлгомжтой тайлбарлах.</a:t>
            </a:r>
          </a:p>
        </p:txBody>
      </p:sp>
      <p:sp>
        <p:nvSpPr>
          <p:cNvPr id="60" name="Rounded Rectangle 59"/>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Шийдэл: зохистой нөхцөл + хэрэгжих хяналт + ажилтны гомдол гаргах аюулгүй боломж.</a:t>
            </a:r>
          </a:p>
        </p:txBody>
      </p:sp>
      <p:sp>
        <p:nvSpPr>
          <p:cNvPr id="67" name="Rectangle 66"/>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ХТ · ICESCR</a:t>
            </a:r>
          </a:p>
        </p:txBody>
      </p:sp>
      <p:sp>
        <p:nvSpPr>
          <p:cNvPr id="69" name="TextBox 68"/>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ool.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БОЛОВСРОЛ</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981825" cy="1314450"/>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ТӨЛБӨРГҮЙ СУРГУУЛЬ</a:t>
            </a:r>
          </a:p>
          <a:p>
            <a:pPr>
              <a:lnSpc>
                <a:spcPts val="5032"/>
              </a:lnSpc>
              <a:spcBef>
                <a:spcPts val="0"/>
              </a:spcBef>
              <a:spcAft>
                <a:spcPts val="0"/>
              </a:spcAft>
              <a:defRPr sz="4125" b="1">
                <a:solidFill>
                  <a:srgbClr val="030A13"/>
                </a:solidFill>
                <a:latin typeface="Open Sans Condensed"/>
              </a:defRPr>
            </a:pPr>
            <a:r>
              <a:t>≠ ЗАРДАЛГҮЙ СУРАЛЦАХ</a:t>
            </a:r>
          </a:p>
        </p:txBody>
      </p:sp>
      <p:sp>
        <p:nvSpPr>
          <p:cNvPr id="35" name="TextBox 34"/>
          <p:cNvSpPr txBox="1"/>
          <p:nvPr/>
        </p:nvSpPr>
        <p:spPr>
          <a:xfrm>
            <a:off x="457200" y="942975"/>
            <a:ext cx="6981825" cy="1314450"/>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ТӨЛБӨРГҮЙ СУРГУУЛЬ</a:t>
            </a:r>
          </a:p>
          <a:p>
            <a:pPr>
              <a:lnSpc>
                <a:spcPts val="5032"/>
              </a:lnSpc>
              <a:spcBef>
                <a:spcPts val="0"/>
              </a:spcBef>
              <a:spcAft>
                <a:spcPts val="0"/>
              </a:spcAft>
              <a:defRPr sz="4125" b="1">
                <a:solidFill>
                  <a:srgbClr val="F4F5F4"/>
                </a:solidFill>
                <a:latin typeface="Open Sans Condensed"/>
              </a:defRPr>
            </a:pPr>
            <a:r>
              <a:t>≠ ЗАРДАЛГҮЙ СУРАЛЦАХ</a:t>
            </a:r>
          </a:p>
        </p:txBody>
      </p:sp>
      <p:sp>
        <p:nvSpPr>
          <p:cNvPr id="36" name="Rounded Rectangle 35"/>
          <p:cNvSpPr/>
          <p:nvPr/>
        </p:nvSpPr>
        <p:spPr>
          <a:xfrm>
            <a:off x="523874" y="2590800"/>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48602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49555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51460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343852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125" y="26193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01</a:t>
            </a:r>
          </a:p>
        </p:txBody>
      </p:sp>
      <p:sp>
        <p:nvSpPr>
          <p:cNvPr id="42" name="TextBox 41"/>
          <p:cNvSpPr txBox="1"/>
          <p:nvPr/>
        </p:nvSpPr>
        <p:spPr>
          <a:xfrm>
            <a:off x="1200150" y="260985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Баталгаа</a:t>
            </a:r>
          </a:p>
        </p:txBody>
      </p:sp>
      <p:sp>
        <p:nvSpPr>
          <p:cNvPr id="43" name="TextBox 42"/>
          <p:cNvSpPr txBox="1"/>
          <p:nvPr/>
        </p:nvSpPr>
        <p:spPr>
          <a:xfrm>
            <a:off x="1200150" y="2962275"/>
            <a:ext cx="5915025" cy="466724"/>
          </a:xfrm>
          <a:prstGeom prst="rect">
            <a:avLst/>
          </a:prstGeom>
          <a:noFill/>
        </p:spPr>
        <p:txBody>
          <a:bodyPr wrap="none" lIns="0" tIns="0" rIns="0" bIns="0">
            <a:spAutoFit/>
          </a:bodyPr>
          <a:lstStyle/>
          <a:p>
            <a:pPr>
              <a:lnSpc>
                <a:spcPts val="1198"/>
              </a:lnSpc>
              <a:spcBef>
                <a:spcPts val="0"/>
              </a:spcBef>
              <a:spcAft>
                <a:spcPts val="0"/>
              </a:spcAft>
              <a:defRPr sz="982" b="0">
                <a:solidFill>
                  <a:srgbClr val="F4F5F4"/>
                </a:solidFill>
                <a:latin typeface="DejaVu Sans"/>
              </a:defRPr>
            </a:pPr>
            <a:r>
              <a:t>Үндсэн хууль • 1992.01.13: 16.7.</a:t>
            </a:r>
          </a:p>
          <a:p>
            <a:pPr>
              <a:lnSpc>
                <a:spcPts val="1198"/>
              </a:lnSpc>
              <a:spcBef>
                <a:spcPts val="0"/>
              </a:spcBef>
              <a:spcAft>
                <a:spcPts val="0"/>
              </a:spcAft>
              <a:defRPr sz="982" b="0">
                <a:solidFill>
                  <a:srgbClr val="F4F5F4"/>
                </a:solidFill>
                <a:latin typeface="DejaVu Sans"/>
              </a:defRPr>
            </a:pPr>
            <a:r>
              <a:t>Боловсролын ерөнхий хууль • 2023.07.07.</a:t>
            </a:r>
          </a:p>
          <a:p>
            <a:pPr>
              <a:lnSpc>
                <a:spcPts val="1198"/>
              </a:lnSpc>
              <a:spcBef>
                <a:spcPts val="0"/>
              </a:spcBef>
              <a:spcAft>
                <a:spcPts val="0"/>
              </a:spcAft>
              <a:defRPr sz="982" b="0">
                <a:solidFill>
                  <a:srgbClr val="F4F5F4"/>
                </a:solidFill>
                <a:latin typeface="DejaVu Sans"/>
              </a:defRPr>
            </a:pPr>
            <a:r>
              <a:t>CRC • 1989.11.20: 28 дугаар зүйл.</a:t>
            </a:r>
          </a:p>
        </p:txBody>
      </p:sp>
      <p:sp>
        <p:nvSpPr>
          <p:cNvPr id="44" name="Rounded Rectangle 43"/>
          <p:cNvSpPr/>
          <p:nvPr/>
        </p:nvSpPr>
        <p:spPr>
          <a:xfrm>
            <a:off x="523874" y="3676649"/>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57187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58140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60045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452437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125" y="3705224"/>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02</a:t>
            </a:r>
          </a:p>
        </p:txBody>
      </p:sp>
      <p:sp>
        <p:nvSpPr>
          <p:cNvPr id="50" name="TextBox 49"/>
          <p:cNvSpPr txBox="1"/>
          <p:nvPr/>
        </p:nvSpPr>
        <p:spPr>
          <a:xfrm>
            <a:off x="1200150" y="369570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Далд саад</a:t>
            </a:r>
          </a:p>
        </p:txBody>
      </p:sp>
      <p:sp>
        <p:nvSpPr>
          <p:cNvPr id="51" name="TextBox 50"/>
          <p:cNvSpPr txBox="1"/>
          <p:nvPr/>
        </p:nvSpPr>
        <p:spPr>
          <a:xfrm>
            <a:off x="1200150" y="4048124"/>
            <a:ext cx="5915025" cy="466724"/>
          </a:xfrm>
          <a:prstGeom prst="rect">
            <a:avLst/>
          </a:prstGeom>
          <a:noFill/>
        </p:spPr>
        <p:txBody>
          <a:bodyPr wrap="none" lIns="0" tIns="0" rIns="0" bIns="0">
            <a:spAutoFit/>
          </a:bodyPr>
          <a:lstStyle/>
          <a:p>
            <a:pPr>
              <a:lnSpc>
                <a:spcPts val="1784"/>
              </a:lnSpc>
              <a:spcBef>
                <a:spcPts val="0"/>
              </a:spcBef>
              <a:spcAft>
                <a:spcPts val="0"/>
              </a:spcAft>
              <a:defRPr sz="1462" b="0">
                <a:solidFill>
                  <a:srgbClr val="F4F5F4"/>
                </a:solidFill>
                <a:latin typeface="DejaVu Sans"/>
              </a:defRPr>
            </a:pPr>
            <a:r>
              <a:t>Тээвэр, хэрэгсэл, дотуур байр, интернет, төхөөрөмжийн</a:t>
            </a:r>
          </a:p>
          <a:p>
            <a:pPr>
              <a:lnSpc>
                <a:spcPts val="1784"/>
              </a:lnSpc>
              <a:spcBef>
                <a:spcPts val="0"/>
              </a:spcBef>
              <a:spcAft>
                <a:spcPts val="0"/>
              </a:spcAft>
              <a:defRPr sz="1462" b="0">
                <a:solidFill>
                  <a:srgbClr val="F4F5F4"/>
                </a:solidFill>
                <a:latin typeface="DejaVu Sans"/>
              </a:defRPr>
            </a:pPr>
            <a:r>
              <a:t>зардал; асаргаа, хөдөлмөрийн ачаалал.</a:t>
            </a:r>
          </a:p>
        </p:txBody>
      </p:sp>
      <p:sp>
        <p:nvSpPr>
          <p:cNvPr id="52" name="Rounded Rectangle 51"/>
          <p:cNvSpPr/>
          <p:nvPr/>
        </p:nvSpPr>
        <p:spPr>
          <a:xfrm>
            <a:off x="523874" y="4762500"/>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57200" y="465772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6724" y="466725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724" y="468630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3874" y="561022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9125" y="47910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03</a:t>
            </a:r>
          </a:p>
        </p:txBody>
      </p:sp>
      <p:sp>
        <p:nvSpPr>
          <p:cNvPr id="58" name="TextBox 57"/>
          <p:cNvSpPr txBox="1"/>
          <p:nvPr/>
        </p:nvSpPr>
        <p:spPr>
          <a:xfrm>
            <a:off x="1200150" y="478155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Хэрэгжүүлэх арга</a:t>
            </a:r>
          </a:p>
        </p:txBody>
      </p:sp>
      <p:sp>
        <p:nvSpPr>
          <p:cNvPr id="59" name="TextBox 58"/>
          <p:cNvSpPr txBox="1"/>
          <p:nvPr/>
        </p:nvSpPr>
        <p:spPr>
          <a:xfrm>
            <a:off x="1200150" y="5133975"/>
            <a:ext cx="5915025" cy="466724"/>
          </a:xfrm>
          <a:prstGeom prst="rect">
            <a:avLst/>
          </a:prstGeom>
          <a:noFill/>
        </p:spPr>
        <p:txBody>
          <a:bodyPr wrap="none" lIns="0" tIns="0" rIns="0" bIns="0">
            <a:spAutoFit/>
          </a:bodyPr>
          <a:lstStyle/>
          <a:p>
            <a:pPr>
              <a:lnSpc>
                <a:spcPts val="1784"/>
              </a:lnSpc>
              <a:spcBef>
                <a:spcPts val="0"/>
              </a:spcBef>
              <a:spcAft>
                <a:spcPts val="0"/>
              </a:spcAft>
              <a:defRPr sz="1462" b="0">
                <a:solidFill>
                  <a:srgbClr val="F4F5F4"/>
                </a:solidFill>
                <a:latin typeface="DejaVu Sans"/>
              </a:defRPr>
            </a:pPr>
            <a:r>
              <a:t>Сургуулиас завсардах эрсдэлийг эрт илрүүлэх; хэрэгцээнд</a:t>
            </a:r>
          </a:p>
          <a:p>
            <a:pPr>
              <a:lnSpc>
                <a:spcPts val="1784"/>
              </a:lnSpc>
              <a:spcBef>
                <a:spcPts val="0"/>
              </a:spcBef>
              <a:spcAft>
                <a:spcPts val="0"/>
              </a:spcAft>
              <a:defRPr sz="1462" b="0">
                <a:solidFill>
                  <a:srgbClr val="F4F5F4"/>
                </a:solidFill>
                <a:latin typeface="DejaVu Sans"/>
              </a:defRPr>
            </a:pPr>
            <a:r>
              <a:t>нийцсэн дэмжлэг; хүртээмжтэй сургалтын орчин.</a:t>
            </a:r>
          </a:p>
        </p:txBody>
      </p:sp>
      <p:sp>
        <p:nvSpPr>
          <p:cNvPr id="60" name="Rounded Rectangle 59"/>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Элсэлтээс гадна ирц, төгсөлт, сурлагын ахиц, гомдол шийдвэрлэлтийг хэмжинэ.</a:t>
            </a:r>
          </a:p>
        </p:txBody>
      </p:sp>
      <p:sp>
        <p:nvSpPr>
          <p:cNvPr id="67" name="Rectangle 66"/>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БЕХ · CRC</a:t>
            </a:r>
          </a:p>
        </p:txBody>
      </p:sp>
      <p:sp>
        <p:nvSpPr>
          <p:cNvPr id="69" name="TextBox 68"/>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l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ЭРҮҮЛ МЭНД, ОРОН БАЙР</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981825" cy="1314450"/>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ҮЙЛЧИЛГЭЭНД ХҮРЭХ</a:t>
            </a:r>
          </a:p>
          <a:p>
            <a:pPr>
              <a:lnSpc>
                <a:spcPts val="5032"/>
              </a:lnSpc>
              <a:spcBef>
                <a:spcPts val="0"/>
              </a:spcBef>
              <a:spcAft>
                <a:spcPts val="0"/>
              </a:spcAft>
              <a:defRPr sz="4125" b="1">
                <a:solidFill>
                  <a:srgbClr val="030A13"/>
                </a:solidFill>
                <a:latin typeface="Open Sans Condensed"/>
              </a:defRPr>
            </a:pPr>
            <a:r>
              <a:t>БОДИТ БОЛОМЖ</a:t>
            </a:r>
          </a:p>
        </p:txBody>
      </p:sp>
      <p:sp>
        <p:nvSpPr>
          <p:cNvPr id="35" name="TextBox 34"/>
          <p:cNvSpPr txBox="1"/>
          <p:nvPr/>
        </p:nvSpPr>
        <p:spPr>
          <a:xfrm>
            <a:off x="457200" y="942975"/>
            <a:ext cx="6981825" cy="1314450"/>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ҮЙЛЧИЛГЭЭНД ХҮРЭХ</a:t>
            </a:r>
          </a:p>
          <a:p>
            <a:pPr>
              <a:lnSpc>
                <a:spcPts val="5032"/>
              </a:lnSpc>
              <a:spcBef>
                <a:spcPts val="0"/>
              </a:spcBef>
              <a:spcAft>
                <a:spcPts val="0"/>
              </a:spcAft>
              <a:defRPr sz="4125" b="1">
                <a:solidFill>
                  <a:srgbClr val="F4F5F4"/>
                </a:solidFill>
                <a:latin typeface="Open Sans Condensed"/>
              </a:defRPr>
            </a:pPr>
            <a:r>
              <a:t>БОДИТ БОЛОМЖ</a:t>
            </a:r>
          </a:p>
        </p:txBody>
      </p:sp>
      <p:sp>
        <p:nvSpPr>
          <p:cNvPr id="36" name="Rounded Rectangle 35"/>
          <p:cNvSpPr/>
          <p:nvPr/>
        </p:nvSpPr>
        <p:spPr>
          <a:xfrm>
            <a:off x="523874" y="2590800"/>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48602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49555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51460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343852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125" y="26193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01</a:t>
            </a:r>
          </a:p>
        </p:txBody>
      </p:sp>
      <p:sp>
        <p:nvSpPr>
          <p:cNvPr id="42" name="TextBox 41"/>
          <p:cNvSpPr txBox="1"/>
          <p:nvPr/>
        </p:nvSpPr>
        <p:spPr>
          <a:xfrm>
            <a:off x="1200150" y="260985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Эрүүл мэнд</a:t>
            </a:r>
          </a:p>
        </p:txBody>
      </p:sp>
      <p:sp>
        <p:nvSpPr>
          <p:cNvPr id="43" name="TextBox 42"/>
          <p:cNvSpPr txBox="1"/>
          <p:nvPr/>
        </p:nvSpPr>
        <p:spPr>
          <a:xfrm>
            <a:off x="1200150" y="2962275"/>
            <a:ext cx="5915025" cy="466724"/>
          </a:xfrm>
          <a:prstGeom prst="rect">
            <a:avLst/>
          </a:prstGeom>
          <a:noFill/>
        </p:spPr>
        <p:txBody>
          <a:bodyPr wrap="none" lIns="0" tIns="0" rIns="0" bIns="0">
            <a:spAutoFit/>
          </a:bodyPr>
          <a:lstStyle/>
          <a:p>
            <a:pPr>
              <a:lnSpc>
                <a:spcPts val="1198"/>
              </a:lnSpc>
              <a:spcBef>
                <a:spcPts val="0"/>
              </a:spcBef>
              <a:spcAft>
                <a:spcPts val="0"/>
              </a:spcAft>
              <a:defRPr sz="982" b="0">
                <a:solidFill>
                  <a:srgbClr val="F4F5F4"/>
                </a:solidFill>
                <a:latin typeface="DejaVu Sans"/>
              </a:defRPr>
            </a:pPr>
            <a:r>
              <a:t>Үндсэн хууль • 1992.01.13: 16.6.</a:t>
            </a:r>
          </a:p>
          <a:p>
            <a:pPr>
              <a:lnSpc>
                <a:spcPts val="1198"/>
              </a:lnSpc>
              <a:spcBef>
                <a:spcPts val="0"/>
              </a:spcBef>
              <a:spcAft>
                <a:spcPts val="0"/>
              </a:spcAft>
              <a:defRPr sz="982" b="0">
                <a:solidFill>
                  <a:srgbClr val="F4F5F4"/>
                </a:solidFill>
                <a:latin typeface="DejaVu Sans"/>
              </a:defRPr>
            </a:pPr>
            <a:r>
              <a:t>ICESCR • 1966.12.16: 12 дугаар зүйл.</a:t>
            </a:r>
          </a:p>
          <a:p>
            <a:pPr>
              <a:lnSpc>
                <a:spcPts val="1198"/>
              </a:lnSpc>
              <a:spcBef>
                <a:spcPts val="0"/>
              </a:spcBef>
              <a:spcAft>
                <a:spcPts val="0"/>
              </a:spcAft>
              <a:defRPr sz="982" b="0">
                <a:solidFill>
                  <a:srgbClr val="F4F5F4"/>
                </a:solidFill>
                <a:latin typeface="DejaVu Sans"/>
              </a:defRPr>
            </a:pPr>
            <a:r>
              <a:t>Тусламж авах зардал, зай, хугацааг хамтад нь үнэлнэ.</a:t>
            </a:r>
          </a:p>
        </p:txBody>
      </p:sp>
      <p:sp>
        <p:nvSpPr>
          <p:cNvPr id="44" name="Rounded Rectangle 43"/>
          <p:cNvSpPr/>
          <p:nvPr/>
        </p:nvSpPr>
        <p:spPr>
          <a:xfrm>
            <a:off x="523874" y="3676649"/>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57187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58140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60045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452437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125" y="3705224"/>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02</a:t>
            </a:r>
          </a:p>
        </p:txBody>
      </p:sp>
      <p:sp>
        <p:nvSpPr>
          <p:cNvPr id="50" name="TextBox 49"/>
          <p:cNvSpPr txBox="1"/>
          <p:nvPr/>
        </p:nvSpPr>
        <p:spPr>
          <a:xfrm>
            <a:off x="1200150" y="369570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Орчин, орон байр</a:t>
            </a:r>
          </a:p>
        </p:txBody>
      </p:sp>
      <p:sp>
        <p:nvSpPr>
          <p:cNvPr id="51" name="TextBox 50"/>
          <p:cNvSpPr txBox="1"/>
          <p:nvPr/>
        </p:nvSpPr>
        <p:spPr>
          <a:xfrm>
            <a:off x="1200150" y="4048124"/>
            <a:ext cx="5915025" cy="466724"/>
          </a:xfrm>
          <a:prstGeom prst="rect">
            <a:avLst/>
          </a:prstGeom>
          <a:noFill/>
        </p:spPr>
        <p:txBody>
          <a:bodyPr wrap="none" lIns="0" tIns="0" rIns="0" bIns="0">
            <a:spAutoFit/>
          </a:bodyPr>
          <a:lstStyle/>
          <a:p>
            <a:pPr>
              <a:lnSpc>
                <a:spcPts val="1198"/>
              </a:lnSpc>
              <a:spcBef>
                <a:spcPts val="0"/>
              </a:spcBef>
              <a:spcAft>
                <a:spcPts val="0"/>
              </a:spcAft>
              <a:defRPr sz="982" b="0">
                <a:solidFill>
                  <a:srgbClr val="F4F5F4"/>
                </a:solidFill>
                <a:latin typeface="DejaVu Sans"/>
              </a:defRPr>
            </a:pPr>
            <a:r>
              <a:t>Үндсэн хууль: 16.2 — эрүүл, аюулгүй орчин.</a:t>
            </a:r>
          </a:p>
          <a:p>
            <a:pPr>
              <a:lnSpc>
                <a:spcPts val="1198"/>
              </a:lnSpc>
              <a:spcBef>
                <a:spcPts val="0"/>
              </a:spcBef>
              <a:spcAft>
                <a:spcPts val="0"/>
              </a:spcAft>
              <a:defRPr sz="982" b="0">
                <a:solidFill>
                  <a:srgbClr val="F4F5F4"/>
                </a:solidFill>
                <a:latin typeface="DejaVu Sans"/>
              </a:defRPr>
            </a:pPr>
            <a:r>
              <a:t>ICESCR: 11 — зохистой амьжиргаа, орон байр.</a:t>
            </a:r>
          </a:p>
          <a:p>
            <a:pPr>
              <a:lnSpc>
                <a:spcPts val="1198"/>
              </a:lnSpc>
              <a:spcBef>
                <a:spcPts val="0"/>
              </a:spcBef>
              <a:spcAft>
                <a:spcPts val="0"/>
              </a:spcAft>
              <a:defRPr sz="982" b="0">
                <a:solidFill>
                  <a:srgbClr val="F4F5F4"/>
                </a:solidFill>
                <a:latin typeface="DejaVu Sans"/>
              </a:defRPr>
            </a:pPr>
            <a:r>
              <a:t>Ус, дулаан, ариун цэвэр, аюулгүй байдлыг харна.</a:t>
            </a:r>
          </a:p>
        </p:txBody>
      </p:sp>
      <p:sp>
        <p:nvSpPr>
          <p:cNvPr id="52" name="Rounded Rectangle 51"/>
          <p:cNvSpPr/>
          <p:nvPr/>
        </p:nvSpPr>
        <p:spPr>
          <a:xfrm>
            <a:off x="523874" y="4762500"/>
            <a:ext cx="6838950" cy="971550"/>
          </a:xfrm>
          <a:prstGeom prst="roundRect">
            <a:avLst>
              <a:gd name="adj" fmla="val 1176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57200" y="4657725"/>
            <a:ext cx="6838950" cy="971550"/>
          </a:xfrm>
          <a:prstGeom prst="roundRect">
            <a:avLst>
              <a:gd name="adj" fmla="val 980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6724" y="4667250"/>
            <a:ext cx="6819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724" y="4686300"/>
            <a:ext cx="19050" cy="914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3874" y="5610225"/>
            <a:ext cx="6705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9125" y="4791075"/>
            <a:ext cx="42862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1C75B"/>
                </a:solidFill>
                <a:latin typeface="Open Sans Condensed"/>
              </a:defRPr>
            </a:pPr>
            <a:r>
              <a:t>03</a:t>
            </a:r>
          </a:p>
        </p:txBody>
      </p:sp>
      <p:sp>
        <p:nvSpPr>
          <p:cNvPr id="58" name="TextBox 57"/>
          <p:cNvSpPr txBox="1"/>
          <p:nvPr/>
        </p:nvSpPr>
        <p:spPr>
          <a:xfrm>
            <a:off x="1200150" y="4781550"/>
            <a:ext cx="5915025" cy="33337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Хүртээмж</a:t>
            </a:r>
          </a:p>
        </p:txBody>
      </p:sp>
      <p:sp>
        <p:nvSpPr>
          <p:cNvPr id="59" name="TextBox 58"/>
          <p:cNvSpPr txBox="1"/>
          <p:nvPr/>
        </p:nvSpPr>
        <p:spPr>
          <a:xfrm>
            <a:off x="1200150" y="5133975"/>
            <a:ext cx="5915025" cy="466724"/>
          </a:xfrm>
          <a:prstGeom prst="rect">
            <a:avLst/>
          </a:prstGeom>
          <a:noFill/>
        </p:spPr>
        <p:txBody>
          <a:bodyPr wrap="none" lIns="0" tIns="0" rIns="0" bIns="0">
            <a:spAutoFit/>
          </a:bodyPr>
          <a:lstStyle/>
          <a:p>
            <a:pPr>
              <a:lnSpc>
                <a:spcPts val="1345"/>
              </a:lnSpc>
              <a:spcBef>
                <a:spcPts val="0"/>
              </a:spcBef>
              <a:spcAft>
                <a:spcPts val="0"/>
              </a:spcAft>
              <a:defRPr sz="1102" b="0">
                <a:solidFill>
                  <a:srgbClr val="F4F5F4"/>
                </a:solidFill>
                <a:latin typeface="DejaVu Sans"/>
              </a:defRPr>
            </a:pPr>
            <a:r>
              <a:t>Үйлчилгээ байгаа эсэх → очиж чадах эсэх → төлж чадах эсэх → чанартай эсэх.</a:t>
            </a:r>
          </a:p>
          <a:p>
            <a:pPr>
              <a:lnSpc>
                <a:spcPts val="1345"/>
              </a:lnSpc>
              <a:spcBef>
                <a:spcPts val="0"/>
              </a:spcBef>
              <a:spcAft>
                <a:spcPts val="0"/>
              </a:spcAft>
              <a:defRPr sz="1102" b="0">
                <a:solidFill>
                  <a:srgbClr val="F4F5F4"/>
                </a:solidFill>
                <a:latin typeface="DejaVu Sans"/>
              </a:defRPr>
            </a:pPr>
            <a:r>
              <a:t>Бүртгэл, хөгжлийн бэрхшээл, тээврийн саадыг илрүүлнэ.</a:t>
            </a:r>
          </a:p>
        </p:txBody>
      </p:sp>
      <p:sp>
        <p:nvSpPr>
          <p:cNvPr id="60" name="Rounded Rectangle 59"/>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Эрхийг зөвхөн барилга, орны тоогоор биш бодит хэрэглэгчийн боломж, үр дүнгээр үнэлнэ.</a:t>
            </a:r>
          </a:p>
        </p:txBody>
      </p:sp>
      <p:sp>
        <p:nvSpPr>
          <p:cNvPr id="67" name="Rectangle 66"/>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a:t>
            </a:r>
          </a:p>
        </p:txBody>
      </p:sp>
      <p:sp>
        <p:nvSpPr>
          <p:cNvPr id="69" name="TextBox 68"/>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НИЙГМИЙН ХАМГААЛАЛ</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7620000" cy="1304925"/>
          </a:xfrm>
          <a:prstGeom prst="rect">
            <a:avLst/>
          </a:prstGeom>
          <a:noFill/>
        </p:spPr>
        <p:txBody>
          <a:bodyPr wrap="none" lIns="0" tIns="0" rIns="0" bIns="0">
            <a:spAutoFit/>
          </a:bodyPr>
          <a:lstStyle/>
          <a:p>
            <a:pPr>
              <a:lnSpc>
                <a:spcPts val="5124"/>
              </a:lnSpc>
              <a:spcBef>
                <a:spcPts val="0"/>
              </a:spcBef>
              <a:spcAft>
                <a:spcPts val="0"/>
              </a:spcAft>
              <a:defRPr sz="4200" b="1">
                <a:solidFill>
                  <a:srgbClr val="030A13"/>
                </a:solidFill>
                <a:latin typeface="Open Sans Condensed"/>
              </a:defRPr>
            </a:pPr>
            <a:r>
              <a:t>ХАМГААЛАЛТ</a:t>
            </a:r>
          </a:p>
          <a:p>
            <a:pPr>
              <a:lnSpc>
                <a:spcPts val="5124"/>
              </a:lnSpc>
              <a:spcBef>
                <a:spcPts val="0"/>
              </a:spcBef>
              <a:spcAft>
                <a:spcPts val="0"/>
              </a:spcAft>
              <a:defRPr sz="4200" b="1">
                <a:solidFill>
                  <a:srgbClr val="030A13"/>
                </a:solidFill>
                <a:latin typeface="Open Sans Condensed"/>
              </a:defRPr>
            </a:pPr>
            <a:r>
              <a:t>ХЭНД ХҮРЧ БАЙНА ВЭ?</a:t>
            </a:r>
          </a:p>
        </p:txBody>
      </p:sp>
      <p:sp>
        <p:nvSpPr>
          <p:cNvPr id="35" name="TextBox 34"/>
          <p:cNvSpPr txBox="1"/>
          <p:nvPr/>
        </p:nvSpPr>
        <p:spPr>
          <a:xfrm>
            <a:off x="457200" y="942975"/>
            <a:ext cx="7620000" cy="1304925"/>
          </a:xfrm>
          <a:prstGeom prst="rect">
            <a:avLst/>
          </a:prstGeom>
          <a:noFill/>
        </p:spPr>
        <p:txBody>
          <a:bodyPr wrap="none" lIns="0" tIns="0" rIns="0" bIns="0">
            <a:spAutoFit/>
          </a:bodyPr>
          <a:lstStyle/>
          <a:p>
            <a:pPr>
              <a:lnSpc>
                <a:spcPts val="5124"/>
              </a:lnSpc>
              <a:spcBef>
                <a:spcPts val="0"/>
              </a:spcBef>
              <a:spcAft>
                <a:spcPts val="0"/>
              </a:spcAft>
              <a:defRPr sz="4200" b="1">
                <a:solidFill>
                  <a:srgbClr val="F4F5F4"/>
                </a:solidFill>
                <a:latin typeface="Open Sans Condensed"/>
              </a:defRPr>
            </a:pPr>
            <a:r>
              <a:t>ХАМГААЛАЛТ</a:t>
            </a:r>
          </a:p>
          <a:p>
            <a:pPr>
              <a:lnSpc>
                <a:spcPts val="5124"/>
              </a:lnSpc>
              <a:spcBef>
                <a:spcPts val="0"/>
              </a:spcBef>
              <a:spcAft>
                <a:spcPts val="0"/>
              </a:spcAft>
              <a:defRPr sz="4200" b="1">
                <a:solidFill>
                  <a:srgbClr val="F4F5F4"/>
                </a:solidFill>
                <a:latin typeface="Open Sans Condensed"/>
              </a:defRPr>
            </a:pPr>
            <a:r>
              <a:t>ХЭНД ХҮРЧ БАЙНА ВЭ?</a:t>
            </a:r>
          </a:p>
        </p:txBody>
      </p:sp>
      <p:sp>
        <p:nvSpPr>
          <p:cNvPr id="36" name="Rounded Rectangle 35"/>
          <p:cNvSpPr/>
          <p:nvPr/>
        </p:nvSpPr>
        <p:spPr>
          <a:xfrm>
            <a:off x="523874" y="2638425"/>
            <a:ext cx="5791200" cy="1028700"/>
          </a:xfrm>
          <a:prstGeom prst="roundRect">
            <a:avLst>
              <a:gd name="adj" fmla="val 1111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533650"/>
            <a:ext cx="5791200" cy="1028700"/>
          </a:xfrm>
          <a:prstGeom prst="roundRect">
            <a:avLst>
              <a:gd name="adj" fmla="val 925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543175"/>
            <a:ext cx="57721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562225"/>
            <a:ext cx="19050" cy="971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3543300"/>
            <a:ext cx="56578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700" y="2676525"/>
            <a:ext cx="54102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ХАСАГДЛЫН АЛДАА</a:t>
            </a:r>
          </a:p>
        </p:txBody>
      </p:sp>
      <p:sp>
        <p:nvSpPr>
          <p:cNvPr id="42" name="TextBox 41"/>
          <p:cNvSpPr txBox="1"/>
          <p:nvPr/>
        </p:nvSpPr>
        <p:spPr>
          <a:xfrm>
            <a:off x="647700" y="3124200"/>
            <a:ext cx="5381625" cy="33337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Шаардлага хангасан хүн дэмжлэгээс үлдэх.</a:t>
            </a:r>
          </a:p>
        </p:txBody>
      </p:sp>
      <p:sp>
        <p:nvSpPr>
          <p:cNvPr id="43" name="Rounded Rectangle 42"/>
          <p:cNvSpPr/>
          <p:nvPr/>
        </p:nvSpPr>
        <p:spPr>
          <a:xfrm>
            <a:off x="523874" y="3790949"/>
            <a:ext cx="5791200" cy="1028700"/>
          </a:xfrm>
          <a:prstGeom prst="roundRect">
            <a:avLst>
              <a:gd name="adj" fmla="val 1111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57200" y="3686175"/>
            <a:ext cx="5791200" cy="1028700"/>
          </a:xfrm>
          <a:prstGeom prst="roundRect">
            <a:avLst>
              <a:gd name="adj" fmla="val 925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3695700"/>
            <a:ext cx="57721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714750"/>
            <a:ext cx="19050" cy="971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3874" y="4695825"/>
            <a:ext cx="56578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7700" y="3829050"/>
            <a:ext cx="54102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Open Sans Condensed"/>
              </a:defRPr>
            </a:pPr>
            <a:r>
              <a:t>ХАМРАГДЛЫН АЛДАА</a:t>
            </a:r>
          </a:p>
        </p:txBody>
      </p:sp>
      <p:sp>
        <p:nvSpPr>
          <p:cNvPr id="49" name="TextBox 48"/>
          <p:cNvSpPr txBox="1"/>
          <p:nvPr/>
        </p:nvSpPr>
        <p:spPr>
          <a:xfrm>
            <a:off x="647700" y="4276725"/>
            <a:ext cx="5381625" cy="33337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Шаардлага хангахгүй хүн хамрагдах.</a:t>
            </a:r>
          </a:p>
        </p:txBody>
      </p:sp>
      <p:sp>
        <p:nvSpPr>
          <p:cNvPr id="50" name="Rounded Rectangle 49"/>
          <p:cNvSpPr/>
          <p:nvPr/>
        </p:nvSpPr>
        <p:spPr>
          <a:xfrm>
            <a:off x="6581775" y="3286125"/>
            <a:ext cx="5200650" cy="2581275"/>
          </a:xfrm>
          <a:prstGeom prst="roundRect">
            <a:avLst>
              <a:gd name="adj" fmla="val 4428"/>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515100" y="3181350"/>
            <a:ext cx="5200650" cy="2581275"/>
          </a:xfrm>
          <a:prstGeom prst="roundRect">
            <a:avLst>
              <a:gd name="adj" fmla="val 3690"/>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24625" y="3190875"/>
            <a:ext cx="5181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524625" y="3209925"/>
            <a:ext cx="19050" cy="2524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581775" y="5743575"/>
            <a:ext cx="5067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734175" y="3362325"/>
            <a:ext cx="4733925" cy="371475"/>
          </a:xfrm>
          <a:prstGeom prst="rect">
            <a:avLst/>
          </a:prstGeom>
          <a:noFill/>
        </p:spPr>
        <p:txBody>
          <a:bodyPr wrap="none" lIns="0" tIns="0" rIns="0" bIns="0">
            <a:spAutoFit/>
          </a:bodyPr>
          <a:lstStyle/>
          <a:p>
            <a:pPr>
              <a:lnSpc>
                <a:spcPts val="2561"/>
              </a:lnSpc>
              <a:spcBef>
                <a:spcPts val="0"/>
              </a:spcBef>
              <a:spcAft>
                <a:spcPts val="0"/>
              </a:spcAft>
              <a:defRPr sz="2100" b="1">
                <a:solidFill>
                  <a:srgbClr val="F1C75B"/>
                </a:solidFill>
                <a:latin typeface="Open Sans Condensed"/>
              </a:defRPr>
            </a:pPr>
            <a:r>
              <a:t>САЙН АЖИЛЛАГАА</a:t>
            </a:r>
          </a:p>
        </p:txBody>
      </p:sp>
      <p:sp>
        <p:nvSpPr>
          <p:cNvPr id="56" name="TextBox 55"/>
          <p:cNvSpPr txBox="1"/>
          <p:nvPr/>
        </p:nvSpPr>
        <p:spPr>
          <a:xfrm>
            <a:off x="6734175" y="3914775"/>
            <a:ext cx="4714875" cy="1647825"/>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Ойлгомжтой шалгуур; мэдээллээ</a:t>
            </a:r>
          </a:p>
          <a:p>
            <a:pPr>
              <a:lnSpc>
                <a:spcPts val="2287"/>
              </a:lnSpc>
              <a:spcBef>
                <a:spcPts val="0"/>
              </a:spcBef>
              <a:spcAft>
                <a:spcPts val="0"/>
              </a:spcAft>
              <a:defRPr sz="1875" b="0">
                <a:solidFill>
                  <a:srgbClr val="F4F5F4"/>
                </a:solidFill>
                <a:latin typeface="DejaVu Sans"/>
              </a:defRPr>
            </a:pPr>
            <a:r>
              <a:t>засуулах боломж; үндэслэл бүхий</a:t>
            </a:r>
          </a:p>
          <a:p>
            <a:pPr>
              <a:lnSpc>
                <a:spcPts val="2287"/>
              </a:lnSpc>
              <a:spcBef>
                <a:spcPts val="0"/>
              </a:spcBef>
              <a:spcAft>
                <a:spcPts val="0"/>
              </a:spcAft>
              <a:defRPr sz="1875" b="0">
                <a:solidFill>
                  <a:srgbClr val="F4F5F4"/>
                </a:solidFill>
                <a:latin typeface="DejaVu Sans"/>
              </a:defRPr>
            </a:pPr>
            <a:r>
              <a:t>шийдвэр; гомдол гаргах</a:t>
            </a:r>
          </a:p>
          <a:p>
            <a:pPr>
              <a:lnSpc>
                <a:spcPts val="2287"/>
              </a:lnSpc>
              <a:spcBef>
                <a:spcPts val="0"/>
              </a:spcBef>
              <a:spcAft>
                <a:spcPts val="0"/>
              </a:spcAft>
              <a:defRPr sz="1875" b="0">
                <a:solidFill>
                  <a:srgbClr val="F4F5F4"/>
                </a:solidFill>
                <a:latin typeface="DejaVu Sans"/>
              </a:defRPr>
            </a:pPr>
            <a:r>
              <a:t>хүртээмжтэй суваг.</a:t>
            </a:r>
          </a:p>
        </p:txBody>
      </p:sp>
      <p:sp>
        <p:nvSpPr>
          <p:cNvPr id="57" name="TextBox 56"/>
          <p:cNvSpPr txBox="1"/>
          <p:nvPr/>
        </p:nvSpPr>
        <p:spPr>
          <a:xfrm>
            <a:off x="504825" y="5038725"/>
            <a:ext cx="5534025" cy="695325"/>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Үндсэн хууль • 1992.01.13: 16.5.</a:t>
            </a:r>
          </a:p>
          <a:p>
            <a:pPr>
              <a:lnSpc>
                <a:spcPts val="1647"/>
              </a:lnSpc>
              <a:spcBef>
                <a:spcPts val="0"/>
              </a:spcBef>
              <a:spcAft>
                <a:spcPts val="0"/>
              </a:spcAft>
              <a:defRPr sz="1350" b="0">
                <a:solidFill>
                  <a:srgbClr val="B3C2D3"/>
                </a:solidFill>
                <a:latin typeface="DejaVu Sans"/>
              </a:defRPr>
            </a:pPr>
            <a:r>
              <a:t>Нийгмийн халамжийн тухай хууль • 2012.01.19.</a:t>
            </a:r>
          </a:p>
          <a:p>
            <a:pPr>
              <a:lnSpc>
                <a:spcPts val="1647"/>
              </a:lnSpc>
              <a:spcBef>
                <a:spcPts val="0"/>
              </a:spcBef>
              <a:spcAft>
                <a:spcPts val="0"/>
              </a:spcAft>
              <a:defRPr sz="1350" b="0">
                <a:solidFill>
                  <a:srgbClr val="B3C2D3"/>
                </a:solidFill>
                <a:latin typeface="DejaVu Sans"/>
              </a:defRPr>
            </a:pPr>
            <a:r>
              <a:t>ICESCR • 1966.12.16: 9 дүгээр зүйл.</a:t>
            </a:r>
          </a:p>
        </p:txBody>
      </p:sp>
      <p:sp>
        <p:nvSpPr>
          <p:cNvPr id="58" name="Rounded Rectangle 57"/>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Зорилтот дэмжлэгийн үр ашгийг хүний нэр төр, хувийн мэдээллийн хамгаалалттай хамт үнэлнэ.</a:t>
            </a:r>
          </a:p>
        </p:txBody>
      </p:sp>
      <p:sp>
        <p:nvSpPr>
          <p:cNvPr id="65" name="Rectangle 64"/>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НХ · ICESCR</a:t>
            </a:r>
          </a:p>
        </p:txBody>
      </p:sp>
      <p:sp>
        <p:nvSpPr>
          <p:cNvPr id="67" name="TextBox 66"/>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8" name="TextBox 67"/>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01</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9048750" cy="876300"/>
          </a:xfrm>
          <a:prstGeom prst="rect">
            <a:avLst/>
          </a:prstGeom>
          <a:noFill/>
        </p:spPr>
        <p:txBody>
          <a:bodyPr wrap="none" lIns="0" tIns="0" rIns="0" bIns="0">
            <a:spAutoFit/>
          </a:bodyPr>
          <a:lstStyle/>
          <a:p>
            <a:pPr>
              <a:lnSpc>
                <a:spcPts val="5215"/>
              </a:lnSpc>
              <a:spcBef>
                <a:spcPts val="0"/>
              </a:spcBef>
              <a:spcAft>
                <a:spcPts val="0"/>
              </a:spcAft>
              <a:defRPr sz="4275" b="1">
                <a:solidFill>
                  <a:srgbClr val="030A13"/>
                </a:solidFill>
                <a:latin typeface="Open Sans Condensed"/>
              </a:defRPr>
            </a:pPr>
            <a:r>
              <a:t>ОРОН БАЙРНЫ ЭРХ</a:t>
            </a:r>
          </a:p>
        </p:txBody>
      </p:sp>
      <p:sp>
        <p:nvSpPr>
          <p:cNvPr id="35" name="TextBox 34"/>
          <p:cNvSpPr txBox="1"/>
          <p:nvPr/>
        </p:nvSpPr>
        <p:spPr>
          <a:xfrm>
            <a:off x="457200" y="942975"/>
            <a:ext cx="9048750" cy="876300"/>
          </a:xfrm>
          <a:prstGeom prst="rect">
            <a:avLst/>
          </a:prstGeom>
          <a:noFill/>
        </p:spPr>
        <p:txBody>
          <a:bodyPr wrap="none" lIns="0" tIns="0" rIns="0" bIns="0">
            <a:spAutoFit/>
          </a:bodyPr>
          <a:lstStyle/>
          <a:p>
            <a:pPr>
              <a:lnSpc>
                <a:spcPts val="5215"/>
              </a:lnSpc>
              <a:spcBef>
                <a:spcPts val="0"/>
              </a:spcBef>
              <a:spcAft>
                <a:spcPts val="0"/>
              </a:spcAft>
              <a:defRPr sz="4275" b="1">
                <a:solidFill>
                  <a:srgbClr val="F4F5F4"/>
                </a:solidFill>
                <a:latin typeface="Open Sans Condensed"/>
              </a:defRPr>
            </a:pPr>
            <a:r>
              <a:t>ОРОН БАЙРНЫ ЭРХ</a:t>
            </a:r>
          </a:p>
        </p:txBody>
      </p:sp>
      <p:sp>
        <p:nvSpPr>
          <p:cNvPr id="36" name="Rounded Rectangle 35"/>
          <p:cNvSpPr/>
          <p:nvPr/>
        </p:nvSpPr>
        <p:spPr>
          <a:xfrm>
            <a:off x="552450" y="2085975"/>
            <a:ext cx="189919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1981199"/>
            <a:ext cx="189919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1990725"/>
            <a:ext cx="188014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2009774"/>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228850"/>
            <a:ext cx="176584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038349"/>
            <a:ext cx="167059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ӨМНӨД АФРИК / 2000.10.04</a:t>
            </a:r>
          </a:p>
        </p:txBody>
      </p:sp>
      <p:sp>
        <p:nvSpPr>
          <p:cNvPr id="42" name="TextBox 41"/>
          <p:cNvSpPr txBox="1"/>
          <p:nvPr/>
        </p:nvSpPr>
        <p:spPr>
          <a:xfrm>
            <a:off x="514350" y="2543175"/>
            <a:ext cx="6000750" cy="1190625"/>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Орон байргүй, хүнд нөхцөлд амьдарч байсан</a:t>
            </a:r>
          </a:p>
          <a:p>
            <a:pPr>
              <a:lnSpc>
                <a:spcPts val="2196"/>
              </a:lnSpc>
              <a:spcBef>
                <a:spcPts val="0"/>
              </a:spcBef>
              <a:spcAft>
                <a:spcPts val="0"/>
              </a:spcAft>
              <a:defRPr sz="1800" b="0">
                <a:solidFill>
                  <a:srgbClr val="F4F5F4"/>
                </a:solidFill>
                <a:latin typeface="DejaVu Sans"/>
              </a:defRPr>
            </a:pPr>
            <a:r>
              <a:t>иргэд төрийн орон сууцны хөтөлбөр яаралтай</a:t>
            </a:r>
          </a:p>
          <a:p>
            <a:pPr>
              <a:lnSpc>
                <a:spcPts val="2196"/>
              </a:lnSpc>
              <a:spcBef>
                <a:spcPts val="0"/>
              </a:spcBef>
              <a:spcAft>
                <a:spcPts val="0"/>
              </a:spcAft>
              <a:defRPr sz="1800" b="0">
                <a:solidFill>
                  <a:srgbClr val="F4F5F4"/>
                </a:solidFill>
                <a:latin typeface="DejaVu Sans"/>
              </a:defRPr>
            </a:pPr>
            <a:r>
              <a:t>хэрэгцээг нь хангахгүй байгааг шүүхэд</a:t>
            </a:r>
          </a:p>
          <a:p>
            <a:pPr>
              <a:lnSpc>
                <a:spcPts val="2196"/>
              </a:lnSpc>
              <a:spcBef>
                <a:spcPts val="0"/>
              </a:spcBef>
              <a:spcAft>
                <a:spcPts val="0"/>
              </a:spcAft>
              <a:defRPr sz="1800" b="0">
                <a:solidFill>
                  <a:srgbClr val="F4F5F4"/>
                </a:solidFill>
                <a:latin typeface="DejaVu Sans"/>
              </a:defRPr>
            </a:pPr>
            <a:r>
              <a:t>маргасан.</a:t>
            </a:r>
          </a:p>
        </p:txBody>
      </p:sp>
      <p:sp>
        <p:nvSpPr>
          <p:cNvPr id="43" name="Rounded Rectangle 42"/>
          <p:cNvSpPr/>
          <p:nvPr/>
        </p:nvSpPr>
        <p:spPr>
          <a:xfrm>
            <a:off x="523874" y="4190999"/>
            <a:ext cx="11277600" cy="1685925"/>
          </a:xfrm>
          <a:prstGeom prst="roundRect">
            <a:avLst>
              <a:gd name="adj" fmla="val 677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57200" y="4086225"/>
            <a:ext cx="11277600" cy="1685925"/>
          </a:xfrm>
          <a:prstGeom prst="roundRect">
            <a:avLst>
              <a:gd name="adj" fmla="val 564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40957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4114800"/>
            <a:ext cx="19050" cy="16287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3874" y="57531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6750" y="4229100"/>
            <a:ext cx="5105400" cy="304800"/>
          </a:xfrm>
          <a:prstGeom prst="rect">
            <a:avLst/>
          </a:prstGeom>
          <a:noFill/>
        </p:spPr>
        <p:txBody>
          <a:bodyPr wrap="none" lIns="0" tIns="0" rIns="0" bIns="0">
            <a:spAutoFit/>
          </a:bodyPr>
          <a:lstStyle/>
          <a:p>
            <a:pPr>
              <a:lnSpc>
                <a:spcPts val="1921"/>
              </a:lnSpc>
              <a:spcBef>
                <a:spcPts val="0"/>
              </a:spcBef>
              <a:spcAft>
                <a:spcPts val="0"/>
              </a:spcAft>
              <a:defRPr sz="1575" b="1">
                <a:solidFill>
                  <a:srgbClr val="F1C75B"/>
                </a:solidFill>
                <a:latin typeface="DejaVu Sans"/>
              </a:defRPr>
            </a:pPr>
            <a:r>
              <a:t>ЭРХ ЗҮЙ БА ШИЙДВЭР</a:t>
            </a:r>
          </a:p>
        </p:txBody>
      </p:sp>
      <p:sp>
        <p:nvSpPr>
          <p:cNvPr id="49" name="TextBox 48"/>
          <p:cNvSpPr txBox="1"/>
          <p:nvPr/>
        </p:nvSpPr>
        <p:spPr>
          <a:xfrm>
            <a:off x="666750" y="4648200"/>
            <a:ext cx="5105400" cy="933449"/>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Өмнөд Африкийн Үндсэн хууль • 1996.12.10 (гарын</a:t>
            </a:r>
          </a:p>
          <a:p>
            <a:pPr>
              <a:lnSpc>
                <a:spcPts val="1738"/>
              </a:lnSpc>
              <a:spcBef>
                <a:spcPts val="0"/>
              </a:spcBef>
              <a:spcAft>
                <a:spcPts val="0"/>
              </a:spcAft>
              <a:defRPr sz="1425" b="0">
                <a:solidFill>
                  <a:srgbClr val="F4F5F4"/>
                </a:solidFill>
                <a:latin typeface="DejaVu Sans"/>
              </a:defRPr>
            </a:pPr>
            <a:r>
              <a:t>үсэг зурсан); 26 дугаар зүйл. Шүүх бодлого нь</a:t>
            </a:r>
          </a:p>
          <a:p>
            <a:pPr>
              <a:lnSpc>
                <a:spcPts val="1738"/>
              </a:lnSpc>
              <a:spcBef>
                <a:spcPts val="0"/>
              </a:spcBef>
              <a:spcAft>
                <a:spcPts val="0"/>
              </a:spcAft>
              <a:defRPr sz="1425" b="0">
                <a:solidFill>
                  <a:srgbClr val="F4F5F4"/>
                </a:solidFill>
                <a:latin typeface="DejaVu Sans"/>
              </a:defRPr>
            </a:pPr>
            <a:r>
              <a:t>онцгой гачигдалтай хүмүүсийн яаралтай хэрэгцээг</a:t>
            </a:r>
          </a:p>
          <a:p>
            <a:pPr>
              <a:lnSpc>
                <a:spcPts val="1738"/>
              </a:lnSpc>
              <a:spcBef>
                <a:spcPts val="0"/>
              </a:spcBef>
              <a:spcAft>
                <a:spcPts val="0"/>
              </a:spcAft>
              <a:defRPr sz="1425" b="0">
                <a:solidFill>
                  <a:srgbClr val="F4F5F4"/>
                </a:solidFill>
                <a:latin typeface="DejaVu Sans"/>
              </a:defRPr>
            </a:pPr>
            <a:r>
              <a:t>бодитой тусгах ёстой гэж үзсэн.</a:t>
            </a:r>
          </a:p>
        </p:txBody>
      </p:sp>
      <p:sp>
        <p:nvSpPr>
          <p:cNvPr id="50" name="TextBox 49"/>
          <p:cNvSpPr txBox="1"/>
          <p:nvPr/>
        </p:nvSpPr>
        <p:spPr>
          <a:xfrm>
            <a:off x="6324600" y="4229100"/>
            <a:ext cx="5162550" cy="304800"/>
          </a:xfrm>
          <a:prstGeom prst="rect">
            <a:avLst/>
          </a:prstGeom>
          <a:noFill/>
        </p:spPr>
        <p:txBody>
          <a:bodyPr wrap="none" lIns="0" tIns="0" rIns="0" bIns="0">
            <a:spAutoFit/>
          </a:bodyPr>
          <a:lstStyle/>
          <a:p>
            <a:pPr>
              <a:lnSpc>
                <a:spcPts val="1921"/>
              </a:lnSpc>
              <a:spcBef>
                <a:spcPts val="0"/>
              </a:spcBef>
              <a:spcAft>
                <a:spcPts val="0"/>
              </a:spcAft>
              <a:defRPr sz="1575" b="1">
                <a:solidFill>
                  <a:srgbClr val="F1C75B"/>
                </a:solidFill>
                <a:latin typeface="DejaVu Sans"/>
              </a:defRPr>
            </a:pPr>
            <a:r>
              <a:t>МОНГОЛД АВАХ САНАА</a:t>
            </a:r>
          </a:p>
        </p:txBody>
      </p:sp>
      <p:sp>
        <p:nvSpPr>
          <p:cNvPr id="51" name="TextBox 50"/>
          <p:cNvSpPr txBox="1"/>
          <p:nvPr/>
        </p:nvSpPr>
        <p:spPr>
          <a:xfrm>
            <a:off x="6324600" y="4648200"/>
            <a:ext cx="5162550" cy="933449"/>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Монголд авах санаа: урт хугацааны орон сууцны</a:t>
            </a:r>
          </a:p>
          <a:p>
            <a:pPr>
              <a:lnSpc>
                <a:spcPts val="1738"/>
              </a:lnSpc>
              <a:spcBef>
                <a:spcPts val="0"/>
              </a:spcBef>
              <a:spcAft>
                <a:spcPts val="0"/>
              </a:spcAft>
              <a:defRPr sz="1425" b="0">
                <a:solidFill>
                  <a:srgbClr val="F4F5F4"/>
                </a:solidFill>
                <a:latin typeface="DejaVu Sans"/>
              </a:defRPr>
            </a:pPr>
            <a:r>
              <a:t>бодлогын хажуугаар түр хамгаалах байр, ус, ариун</a:t>
            </a:r>
          </a:p>
          <a:p>
            <a:pPr>
              <a:lnSpc>
                <a:spcPts val="1738"/>
              </a:lnSpc>
              <a:spcBef>
                <a:spcPts val="0"/>
              </a:spcBef>
              <a:spcAft>
                <a:spcPts val="0"/>
              </a:spcAft>
              <a:defRPr sz="1425" b="0">
                <a:solidFill>
                  <a:srgbClr val="F4F5F4"/>
                </a:solidFill>
                <a:latin typeface="DejaVu Sans"/>
              </a:defRPr>
            </a:pPr>
            <a:r>
              <a:t>цэвэр зэрэг яаралтай хэрэгцээг тусад нь шийдэх.</a:t>
            </a:r>
          </a:p>
        </p:txBody>
      </p:sp>
      <p:sp>
        <p:nvSpPr>
          <p:cNvPr id="52" name="Rounded Rectangle 51"/>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Шүүх хүн бүрд нэн даруй байшин олгох ерөнхий шийдвэр гаргаагүй; бодлогын үндэслэлтэй байдлыг хянасан.</a:t>
            </a:r>
          </a:p>
        </p:txBody>
      </p:sp>
      <p:sp>
        <p:nvSpPr>
          <p:cNvPr id="59" name="Rectangle 58"/>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GROOT</a:t>
            </a:r>
          </a:p>
        </p:txBody>
      </p:sp>
      <p:sp>
        <p:nvSpPr>
          <p:cNvPr id="61" name="TextBox 60"/>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2" name="TextBox 61"/>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l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02</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9048750" cy="876300"/>
          </a:xfrm>
          <a:prstGeom prst="rect">
            <a:avLst/>
          </a:prstGeom>
          <a:noFill/>
        </p:spPr>
        <p:txBody>
          <a:bodyPr wrap="none" lIns="0" tIns="0" rIns="0" bIns="0">
            <a:spAutoFit/>
          </a:bodyPr>
          <a:lstStyle/>
          <a:p>
            <a:pPr>
              <a:lnSpc>
                <a:spcPts val="5215"/>
              </a:lnSpc>
              <a:spcBef>
                <a:spcPts val="0"/>
              </a:spcBef>
              <a:spcAft>
                <a:spcPts val="0"/>
              </a:spcAft>
              <a:defRPr sz="4275" b="1">
                <a:solidFill>
                  <a:srgbClr val="030A13"/>
                </a:solidFill>
                <a:latin typeface="Open Sans Condensed"/>
              </a:defRPr>
            </a:pPr>
            <a:r>
              <a:t>ЭМЧИЛГЭЭНД ХҮРЭХ ЭРХ</a:t>
            </a:r>
          </a:p>
        </p:txBody>
      </p:sp>
      <p:sp>
        <p:nvSpPr>
          <p:cNvPr id="35" name="TextBox 34"/>
          <p:cNvSpPr txBox="1"/>
          <p:nvPr/>
        </p:nvSpPr>
        <p:spPr>
          <a:xfrm>
            <a:off x="457200" y="942975"/>
            <a:ext cx="9048750" cy="876300"/>
          </a:xfrm>
          <a:prstGeom prst="rect">
            <a:avLst/>
          </a:prstGeom>
          <a:noFill/>
        </p:spPr>
        <p:txBody>
          <a:bodyPr wrap="none" lIns="0" tIns="0" rIns="0" bIns="0">
            <a:spAutoFit/>
          </a:bodyPr>
          <a:lstStyle/>
          <a:p>
            <a:pPr>
              <a:lnSpc>
                <a:spcPts val="5215"/>
              </a:lnSpc>
              <a:spcBef>
                <a:spcPts val="0"/>
              </a:spcBef>
              <a:spcAft>
                <a:spcPts val="0"/>
              </a:spcAft>
              <a:defRPr sz="4275" b="1">
                <a:solidFill>
                  <a:srgbClr val="F4F5F4"/>
                </a:solidFill>
                <a:latin typeface="Open Sans Condensed"/>
              </a:defRPr>
            </a:pPr>
            <a:r>
              <a:t>ЭМЧИЛГЭЭНД ХҮРЭХ ЭРХ</a:t>
            </a:r>
          </a:p>
        </p:txBody>
      </p:sp>
      <p:sp>
        <p:nvSpPr>
          <p:cNvPr id="36" name="Rounded Rectangle 35"/>
          <p:cNvSpPr/>
          <p:nvPr/>
        </p:nvSpPr>
        <p:spPr>
          <a:xfrm>
            <a:off x="552450" y="2085975"/>
            <a:ext cx="189919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1981199"/>
            <a:ext cx="189919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1990725"/>
            <a:ext cx="188014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2009774"/>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228850"/>
            <a:ext cx="176584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038349"/>
            <a:ext cx="167059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ӨМНӨД АФРИК / 2002.07.05</a:t>
            </a:r>
          </a:p>
        </p:txBody>
      </p:sp>
      <p:sp>
        <p:nvSpPr>
          <p:cNvPr id="42" name="TextBox 41"/>
          <p:cNvSpPr txBox="1"/>
          <p:nvPr/>
        </p:nvSpPr>
        <p:spPr>
          <a:xfrm>
            <a:off x="514350" y="2543175"/>
            <a:ext cx="6000750" cy="1190625"/>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Невирапин эмийг улсын эрүүл мэндийн салбарт</a:t>
            </a:r>
          </a:p>
          <a:p>
            <a:pPr>
              <a:lnSpc>
                <a:spcPts val="2196"/>
              </a:lnSpc>
              <a:spcBef>
                <a:spcPts val="0"/>
              </a:spcBef>
              <a:spcAft>
                <a:spcPts val="0"/>
              </a:spcAft>
              <a:defRPr sz="1800" b="0">
                <a:solidFill>
                  <a:srgbClr val="F4F5F4"/>
                </a:solidFill>
                <a:latin typeface="DejaVu Sans"/>
              </a:defRPr>
            </a:pPr>
            <a:r>
              <a:t>зөвхөн сонгосон туршилтын цэгүүдээр</a:t>
            </a:r>
          </a:p>
          <a:p>
            <a:pPr>
              <a:lnSpc>
                <a:spcPts val="2196"/>
              </a:lnSpc>
              <a:spcBef>
                <a:spcPts val="0"/>
              </a:spcBef>
              <a:spcAft>
                <a:spcPts val="0"/>
              </a:spcAft>
              <a:defRPr sz="1800" b="0">
                <a:solidFill>
                  <a:srgbClr val="F4F5F4"/>
                </a:solidFill>
                <a:latin typeface="DejaVu Sans"/>
              </a:defRPr>
            </a:pPr>
            <a:r>
              <a:t>хязгаарласан бодлого нь бусад эмнэлгийн эх,</a:t>
            </a:r>
          </a:p>
          <a:p>
            <a:pPr>
              <a:lnSpc>
                <a:spcPts val="2196"/>
              </a:lnSpc>
              <a:spcBef>
                <a:spcPts val="0"/>
              </a:spcBef>
              <a:spcAft>
                <a:spcPts val="0"/>
              </a:spcAft>
              <a:defRPr sz="1800" b="0">
                <a:solidFill>
                  <a:srgbClr val="F4F5F4"/>
                </a:solidFill>
                <a:latin typeface="DejaVu Sans"/>
              </a:defRPr>
            </a:pPr>
            <a:r>
              <a:t>хүүхдийн хүртээмжийг хааж байв.</a:t>
            </a:r>
          </a:p>
        </p:txBody>
      </p:sp>
      <p:sp>
        <p:nvSpPr>
          <p:cNvPr id="43" name="Rounded Rectangle 42"/>
          <p:cNvSpPr/>
          <p:nvPr/>
        </p:nvSpPr>
        <p:spPr>
          <a:xfrm>
            <a:off x="523874" y="4190999"/>
            <a:ext cx="11277600" cy="1685925"/>
          </a:xfrm>
          <a:prstGeom prst="roundRect">
            <a:avLst>
              <a:gd name="adj" fmla="val 677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57200" y="4086225"/>
            <a:ext cx="11277600" cy="1685925"/>
          </a:xfrm>
          <a:prstGeom prst="roundRect">
            <a:avLst>
              <a:gd name="adj" fmla="val 564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40957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4114800"/>
            <a:ext cx="19050" cy="16287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3874" y="57531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6750" y="4229100"/>
            <a:ext cx="5105400" cy="304800"/>
          </a:xfrm>
          <a:prstGeom prst="rect">
            <a:avLst/>
          </a:prstGeom>
          <a:noFill/>
        </p:spPr>
        <p:txBody>
          <a:bodyPr wrap="none" lIns="0" tIns="0" rIns="0" bIns="0">
            <a:spAutoFit/>
          </a:bodyPr>
          <a:lstStyle/>
          <a:p>
            <a:pPr>
              <a:lnSpc>
                <a:spcPts val="1921"/>
              </a:lnSpc>
              <a:spcBef>
                <a:spcPts val="0"/>
              </a:spcBef>
              <a:spcAft>
                <a:spcPts val="0"/>
              </a:spcAft>
              <a:defRPr sz="1575" b="1">
                <a:solidFill>
                  <a:srgbClr val="F1C75B"/>
                </a:solidFill>
                <a:latin typeface="DejaVu Sans"/>
              </a:defRPr>
            </a:pPr>
            <a:r>
              <a:t>ЭРХ ЗҮЙ БА ШИЙДВЭР</a:t>
            </a:r>
          </a:p>
        </p:txBody>
      </p:sp>
      <p:sp>
        <p:nvSpPr>
          <p:cNvPr id="49" name="TextBox 48"/>
          <p:cNvSpPr txBox="1"/>
          <p:nvPr/>
        </p:nvSpPr>
        <p:spPr>
          <a:xfrm>
            <a:off x="666750" y="4648200"/>
            <a:ext cx="5105400" cy="933449"/>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Өмнөд Африкийн Үндсэн хууль • 1996.12.10 (гарын</a:t>
            </a:r>
          </a:p>
          <a:p>
            <a:pPr>
              <a:lnSpc>
                <a:spcPts val="1738"/>
              </a:lnSpc>
              <a:spcBef>
                <a:spcPts val="0"/>
              </a:spcBef>
              <a:spcAft>
                <a:spcPts val="0"/>
              </a:spcAft>
              <a:defRPr sz="1425" b="0">
                <a:solidFill>
                  <a:srgbClr val="F4F5F4"/>
                </a:solidFill>
                <a:latin typeface="DejaVu Sans"/>
              </a:defRPr>
            </a:pPr>
            <a:r>
              <a:t>үсэг зурсан); 27 дугаар зүйл. Шүүх эмнэлгийн</a:t>
            </a:r>
          </a:p>
          <a:p>
            <a:pPr>
              <a:lnSpc>
                <a:spcPts val="1738"/>
              </a:lnSpc>
              <a:spcBef>
                <a:spcPts val="0"/>
              </a:spcBef>
              <a:spcAft>
                <a:spcPts val="0"/>
              </a:spcAft>
              <a:defRPr sz="1425" b="0">
                <a:solidFill>
                  <a:srgbClr val="F4F5F4"/>
                </a:solidFill>
                <a:latin typeface="DejaVu Sans"/>
              </a:defRPr>
            </a:pPr>
            <a:r>
              <a:t>шаардлага хангасан газруудад хэрэглэхэд саад</a:t>
            </a:r>
          </a:p>
          <a:p>
            <a:pPr>
              <a:lnSpc>
                <a:spcPts val="1738"/>
              </a:lnSpc>
              <a:spcBef>
                <a:spcPts val="0"/>
              </a:spcBef>
              <a:spcAft>
                <a:spcPts val="0"/>
              </a:spcAft>
              <a:defRPr sz="1425" b="0">
                <a:solidFill>
                  <a:srgbClr val="F4F5F4"/>
                </a:solidFill>
                <a:latin typeface="DejaVu Sans"/>
              </a:defRPr>
            </a:pPr>
            <a:r>
              <a:t>болсон хязгаарлалтыг арилгахыг даалгасан.</a:t>
            </a:r>
          </a:p>
        </p:txBody>
      </p:sp>
      <p:sp>
        <p:nvSpPr>
          <p:cNvPr id="50" name="TextBox 49"/>
          <p:cNvSpPr txBox="1"/>
          <p:nvPr/>
        </p:nvSpPr>
        <p:spPr>
          <a:xfrm>
            <a:off x="6324600" y="4229100"/>
            <a:ext cx="5162550" cy="304800"/>
          </a:xfrm>
          <a:prstGeom prst="rect">
            <a:avLst/>
          </a:prstGeom>
          <a:noFill/>
        </p:spPr>
        <p:txBody>
          <a:bodyPr wrap="none" lIns="0" tIns="0" rIns="0" bIns="0">
            <a:spAutoFit/>
          </a:bodyPr>
          <a:lstStyle/>
          <a:p>
            <a:pPr>
              <a:lnSpc>
                <a:spcPts val="1921"/>
              </a:lnSpc>
              <a:spcBef>
                <a:spcPts val="0"/>
              </a:spcBef>
              <a:spcAft>
                <a:spcPts val="0"/>
              </a:spcAft>
              <a:defRPr sz="1575" b="1">
                <a:solidFill>
                  <a:srgbClr val="F1C75B"/>
                </a:solidFill>
                <a:latin typeface="DejaVu Sans"/>
              </a:defRPr>
            </a:pPr>
            <a:r>
              <a:t>МОНГОЛД АВАХ САНАА</a:t>
            </a:r>
          </a:p>
        </p:txBody>
      </p:sp>
      <p:sp>
        <p:nvSpPr>
          <p:cNvPr id="51" name="TextBox 50"/>
          <p:cNvSpPr txBox="1"/>
          <p:nvPr/>
        </p:nvSpPr>
        <p:spPr>
          <a:xfrm>
            <a:off x="6324600" y="4648200"/>
            <a:ext cx="5162550" cy="933449"/>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Монголд авах санаа: бодлогын хязгаарлалт нь</a:t>
            </a:r>
          </a:p>
          <a:p>
            <a:pPr>
              <a:lnSpc>
                <a:spcPts val="1738"/>
              </a:lnSpc>
              <a:spcBef>
                <a:spcPts val="0"/>
              </a:spcBef>
              <a:spcAft>
                <a:spcPts val="0"/>
              </a:spcAft>
              <a:defRPr sz="1425" b="0">
                <a:solidFill>
                  <a:srgbClr val="F4F5F4"/>
                </a:solidFill>
                <a:latin typeface="DejaVu Sans"/>
              </a:defRPr>
            </a:pPr>
            <a:r>
              <a:t>нотолгоонд суурилсан уу, орлогогүй иргэдэд ямар</a:t>
            </a:r>
          </a:p>
          <a:p>
            <a:pPr>
              <a:lnSpc>
                <a:spcPts val="1738"/>
              </a:lnSpc>
              <a:spcBef>
                <a:spcPts val="0"/>
              </a:spcBef>
              <a:spcAft>
                <a:spcPts val="0"/>
              </a:spcAft>
              <a:defRPr sz="1425" b="0">
                <a:solidFill>
                  <a:srgbClr val="F4F5F4"/>
                </a:solidFill>
                <a:latin typeface="DejaVu Sans"/>
              </a:defRPr>
            </a:pPr>
            <a:r>
              <a:t>бодит нөлөө үзүүлж байна вэ гэдгийг хянах.</a:t>
            </a:r>
          </a:p>
        </p:txBody>
      </p:sp>
      <p:sp>
        <p:nvSpPr>
          <p:cNvPr id="52" name="Rounded Rectangle 51"/>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Эрүүл мэндийн бодлогын сонголт нь эрхийн хүртээмжийг үндэслэлгүй хязгаарлаж болохгүй.</a:t>
            </a:r>
          </a:p>
        </p:txBody>
      </p:sp>
      <p:sp>
        <p:nvSpPr>
          <p:cNvPr id="59" name="Rectangle 58"/>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TAC</a:t>
            </a:r>
          </a:p>
        </p:txBody>
      </p:sp>
      <p:sp>
        <p:nvSpPr>
          <p:cNvPr id="61" name="TextBox 60"/>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2" name="TextBox 61"/>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03</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7096125" cy="1362075"/>
          </a:xfrm>
          <a:prstGeom prst="rect">
            <a:avLst/>
          </a:prstGeom>
          <a:noFill/>
        </p:spPr>
        <p:txBody>
          <a:bodyPr wrap="none" lIns="0" tIns="0" rIns="0" bIns="0">
            <a:spAutoFit/>
          </a:bodyPr>
          <a:lstStyle/>
          <a:p>
            <a:pPr>
              <a:lnSpc>
                <a:spcPts val="5343"/>
              </a:lnSpc>
              <a:spcBef>
                <a:spcPts val="0"/>
              </a:spcBef>
              <a:spcAft>
                <a:spcPts val="0"/>
              </a:spcAft>
              <a:defRPr sz="4380" b="1">
                <a:solidFill>
                  <a:srgbClr val="030A13"/>
                </a:solidFill>
                <a:latin typeface="Open Sans Condensed"/>
              </a:defRPr>
            </a:pPr>
            <a:r>
              <a:t>АМЬЖИРГААНЫ</a:t>
            </a:r>
          </a:p>
          <a:p>
            <a:pPr>
              <a:lnSpc>
                <a:spcPts val="5343"/>
              </a:lnSpc>
              <a:spcBef>
                <a:spcPts val="0"/>
              </a:spcBef>
              <a:spcAft>
                <a:spcPts val="0"/>
              </a:spcAft>
              <a:defRPr sz="4380" b="1">
                <a:solidFill>
                  <a:srgbClr val="030A13"/>
                </a:solidFill>
                <a:latin typeface="Open Sans Condensed"/>
              </a:defRPr>
            </a:pPr>
            <a:r>
              <a:t>ДООД БАТАЛГАА</a:t>
            </a:r>
          </a:p>
        </p:txBody>
      </p:sp>
      <p:sp>
        <p:nvSpPr>
          <p:cNvPr id="35" name="TextBox 34"/>
          <p:cNvSpPr txBox="1"/>
          <p:nvPr/>
        </p:nvSpPr>
        <p:spPr>
          <a:xfrm>
            <a:off x="457200" y="942975"/>
            <a:ext cx="7096125" cy="1362075"/>
          </a:xfrm>
          <a:prstGeom prst="rect">
            <a:avLst/>
          </a:prstGeom>
          <a:noFill/>
        </p:spPr>
        <p:txBody>
          <a:bodyPr wrap="none" lIns="0" tIns="0" rIns="0" bIns="0">
            <a:spAutoFit/>
          </a:bodyPr>
          <a:lstStyle/>
          <a:p>
            <a:pPr>
              <a:lnSpc>
                <a:spcPts val="5343"/>
              </a:lnSpc>
              <a:spcBef>
                <a:spcPts val="0"/>
              </a:spcBef>
              <a:spcAft>
                <a:spcPts val="0"/>
              </a:spcAft>
              <a:defRPr sz="4380" b="1">
                <a:solidFill>
                  <a:srgbClr val="F4F5F4"/>
                </a:solidFill>
                <a:latin typeface="Open Sans Condensed"/>
              </a:defRPr>
            </a:pPr>
            <a:r>
              <a:t>АМЬЖИРГААНЫ</a:t>
            </a:r>
          </a:p>
          <a:p>
            <a:pPr>
              <a:lnSpc>
                <a:spcPts val="5343"/>
              </a:lnSpc>
              <a:spcBef>
                <a:spcPts val="0"/>
              </a:spcBef>
              <a:spcAft>
                <a:spcPts val="0"/>
              </a:spcAft>
              <a:defRPr sz="4380" b="1">
                <a:solidFill>
                  <a:srgbClr val="F4F5F4"/>
                </a:solidFill>
                <a:latin typeface="Open Sans Condensed"/>
              </a:defRPr>
            </a:pPr>
            <a:r>
              <a:t>ДООД БАТАЛГАА</a:t>
            </a:r>
          </a:p>
        </p:txBody>
      </p:sp>
      <p:sp>
        <p:nvSpPr>
          <p:cNvPr id="36" name="Rounded Rectangle 35"/>
          <p:cNvSpPr/>
          <p:nvPr/>
        </p:nvSpPr>
        <p:spPr>
          <a:xfrm>
            <a:off x="552450" y="2524125"/>
            <a:ext cx="217445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2419350"/>
            <a:ext cx="217445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2428875"/>
            <a:ext cx="215540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244792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667000"/>
            <a:ext cx="204110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476500"/>
            <a:ext cx="194585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ГЕРМАН / 2010.02.09 / BVerfG</a:t>
            </a:r>
          </a:p>
        </p:txBody>
      </p:sp>
      <p:sp>
        <p:nvSpPr>
          <p:cNvPr id="42" name="Rounded Rectangle 41"/>
          <p:cNvSpPr/>
          <p:nvPr/>
        </p:nvSpPr>
        <p:spPr>
          <a:xfrm>
            <a:off x="523874" y="3067050"/>
            <a:ext cx="8362950" cy="800100"/>
          </a:xfrm>
          <a:prstGeom prst="roundRect">
            <a:avLst>
              <a:gd name="adj" fmla="val 142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7200" y="2962275"/>
            <a:ext cx="8362950" cy="800100"/>
          </a:xfrm>
          <a:prstGeom prst="roundRect">
            <a:avLst>
              <a:gd name="adj" fmla="val 1190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66724" y="2971800"/>
            <a:ext cx="8343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2990850"/>
            <a:ext cx="19050" cy="7429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23874" y="3743325"/>
            <a:ext cx="8229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8650" y="3086100"/>
            <a:ext cx="1733550" cy="295275"/>
          </a:xfrm>
          <a:prstGeom prst="rect">
            <a:avLst/>
          </a:prstGeom>
          <a:noFill/>
        </p:spPr>
        <p:txBody>
          <a:bodyPr wrap="none" lIns="0" tIns="0" rIns="0" bIns="0">
            <a:spAutoFit/>
          </a:bodyPr>
          <a:lstStyle/>
          <a:p>
            <a:pPr>
              <a:lnSpc>
                <a:spcPts val="1555"/>
              </a:lnSpc>
              <a:spcBef>
                <a:spcPts val="0"/>
              </a:spcBef>
              <a:spcAft>
                <a:spcPts val="0"/>
              </a:spcAft>
              <a:defRPr sz="1275" b="1">
                <a:solidFill>
                  <a:srgbClr val="F1C75B"/>
                </a:solidFill>
                <a:latin typeface="DejaVu Sans"/>
              </a:defRPr>
            </a:pPr>
            <a:r>
              <a:t>МАРГААН</a:t>
            </a:r>
          </a:p>
        </p:txBody>
      </p:sp>
      <p:sp>
        <p:nvSpPr>
          <p:cNvPr id="48" name="TextBox 47"/>
          <p:cNvSpPr txBox="1"/>
          <p:nvPr/>
        </p:nvSpPr>
        <p:spPr>
          <a:xfrm>
            <a:off x="2533650" y="3057525"/>
            <a:ext cx="6096000" cy="600075"/>
          </a:xfrm>
          <a:prstGeom prst="rect">
            <a:avLst/>
          </a:prstGeom>
          <a:noFill/>
        </p:spPr>
        <p:txBody>
          <a:bodyPr wrap="none" lIns="0" tIns="0" rIns="0" bIns="0">
            <a:spAutoFit/>
          </a:bodyPr>
          <a:lstStyle/>
          <a:p>
            <a:pPr>
              <a:lnSpc>
                <a:spcPts val="1546"/>
              </a:lnSpc>
              <a:spcBef>
                <a:spcPts val="0"/>
              </a:spcBef>
              <a:spcAft>
                <a:spcPts val="0"/>
              </a:spcAft>
              <a:defRPr sz="1267" b="0">
                <a:solidFill>
                  <a:srgbClr val="F4F5F4"/>
                </a:solidFill>
                <a:latin typeface="DejaVu Sans"/>
              </a:defRPr>
            </a:pPr>
            <a:r>
              <a:t>Hartz IV тогтолцооны зарим суурь тэтгэмж, ялангуяа хүүхдийн</a:t>
            </a:r>
          </a:p>
          <a:p>
            <a:pPr>
              <a:lnSpc>
                <a:spcPts val="1546"/>
              </a:lnSpc>
              <a:spcBef>
                <a:spcPts val="0"/>
              </a:spcBef>
              <a:spcAft>
                <a:spcPts val="0"/>
              </a:spcAft>
              <a:defRPr sz="1267" b="0">
                <a:solidFill>
                  <a:srgbClr val="F4F5F4"/>
                </a:solidFill>
                <a:latin typeface="DejaVu Sans"/>
              </a:defRPr>
            </a:pPr>
            <a:r>
              <a:t>хэрэгцээний тооцоолол нь ил тод, бодит үндэслэлтэй эсэх талаар</a:t>
            </a:r>
          </a:p>
          <a:p>
            <a:pPr>
              <a:lnSpc>
                <a:spcPts val="1546"/>
              </a:lnSpc>
              <a:spcBef>
                <a:spcPts val="0"/>
              </a:spcBef>
              <a:spcAft>
                <a:spcPts val="0"/>
              </a:spcAft>
              <a:defRPr sz="1267" b="0">
                <a:solidFill>
                  <a:srgbClr val="F4F5F4"/>
                </a:solidFill>
                <a:latin typeface="DejaVu Sans"/>
              </a:defRPr>
            </a:pPr>
            <a:r>
              <a:t>маргасан.</a:t>
            </a:r>
          </a:p>
        </p:txBody>
      </p:sp>
      <p:sp>
        <p:nvSpPr>
          <p:cNvPr id="49" name="Rounded Rectangle 48"/>
          <p:cNvSpPr/>
          <p:nvPr/>
        </p:nvSpPr>
        <p:spPr>
          <a:xfrm>
            <a:off x="523874" y="3981450"/>
            <a:ext cx="8362950" cy="800100"/>
          </a:xfrm>
          <a:prstGeom prst="roundRect">
            <a:avLst>
              <a:gd name="adj" fmla="val 142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57200" y="3876674"/>
            <a:ext cx="8362950" cy="800100"/>
          </a:xfrm>
          <a:prstGeom prst="roundRect">
            <a:avLst>
              <a:gd name="adj" fmla="val 1190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66724" y="3886200"/>
            <a:ext cx="8343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66724" y="3905249"/>
            <a:ext cx="19050" cy="7429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23874" y="4657725"/>
            <a:ext cx="8229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8650" y="4000500"/>
            <a:ext cx="1733550" cy="295275"/>
          </a:xfrm>
          <a:prstGeom prst="rect">
            <a:avLst/>
          </a:prstGeom>
          <a:noFill/>
        </p:spPr>
        <p:txBody>
          <a:bodyPr wrap="none" lIns="0" tIns="0" rIns="0" bIns="0">
            <a:spAutoFit/>
          </a:bodyPr>
          <a:lstStyle/>
          <a:p>
            <a:pPr>
              <a:lnSpc>
                <a:spcPts val="1555"/>
              </a:lnSpc>
              <a:spcBef>
                <a:spcPts val="0"/>
              </a:spcBef>
              <a:spcAft>
                <a:spcPts val="0"/>
              </a:spcAft>
              <a:defRPr sz="1275" b="1">
                <a:solidFill>
                  <a:srgbClr val="F1C75B"/>
                </a:solidFill>
                <a:latin typeface="DejaVu Sans"/>
              </a:defRPr>
            </a:pPr>
            <a:r>
              <a:t>ЭРХ ЗҮЙН ҮНДЭС</a:t>
            </a:r>
          </a:p>
        </p:txBody>
      </p:sp>
      <p:sp>
        <p:nvSpPr>
          <p:cNvPr id="55" name="TextBox 54"/>
          <p:cNvSpPr txBox="1"/>
          <p:nvPr/>
        </p:nvSpPr>
        <p:spPr>
          <a:xfrm>
            <a:off x="2533650" y="3971925"/>
            <a:ext cx="6096000" cy="600075"/>
          </a:xfrm>
          <a:prstGeom prst="rect">
            <a:avLst/>
          </a:prstGeom>
          <a:noFill/>
        </p:spPr>
        <p:txBody>
          <a:bodyPr wrap="none" lIns="0" tIns="0" rIns="0" bIns="0">
            <a:spAutoFit/>
          </a:bodyPr>
          <a:lstStyle/>
          <a:p>
            <a:pPr>
              <a:lnSpc>
                <a:spcPts val="1546"/>
              </a:lnSpc>
              <a:spcBef>
                <a:spcPts val="0"/>
              </a:spcBef>
              <a:spcAft>
                <a:spcPts val="0"/>
              </a:spcAft>
              <a:defRPr sz="1267" b="0">
                <a:solidFill>
                  <a:srgbClr val="F4F5F4"/>
                </a:solidFill>
                <a:latin typeface="DejaVu Sans"/>
              </a:defRPr>
            </a:pPr>
            <a:r>
              <a:t>Германы Үндсэн хууль • 1949.05.23; 1(1) ба 20(1). Хүний нэр төр ба</a:t>
            </a:r>
          </a:p>
          <a:p>
            <a:pPr>
              <a:lnSpc>
                <a:spcPts val="1546"/>
              </a:lnSpc>
              <a:spcBef>
                <a:spcPts val="0"/>
              </a:spcBef>
              <a:spcAft>
                <a:spcPts val="0"/>
              </a:spcAft>
              <a:defRPr sz="1267" b="0">
                <a:solidFill>
                  <a:srgbClr val="F4F5F4"/>
                </a:solidFill>
                <a:latin typeface="DejaVu Sans"/>
              </a:defRPr>
            </a:pPr>
            <a:r>
              <a:t>нийгмийн төрийн зарчмаас амьжиргааны наад захын баталгааг</a:t>
            </a:r>
          </a:p>
          <a:p>
            <a:pPr>
              <a:lnSpc>
                <a:spcPts val="1546"/>
              </a:lnSpc>
              <a:spcBef>
                <a:spcPts val="0"/>
              </a:spcBef>
              <a:spcAft>
                <a:spcPts val="0"/>
              </a:spcAft>
              <a:defRPr sz="1267" b="0">
                <a:solidFill>
                  <a:srgbClr val="F4F5F4"/>
                </a:solidFill>
                <a:latin typeface="DejaVu Sans"/>
              </a:defRPr>
            </a:pPr>
            <a:r>
              <a:t>тайлбарласан.</a:t>
            </a:r>
          </a:p>
        </p:txBody>
      </p:sp>
      <p:sp>
        <p:nvSpPr>
          <p:cNvPr id="56" name="Rounded Rectangle 55"/>
          <p:cNvSpPr/>
          <p:nvPr/>
        </p:nvSpPr>
        <p:spPr>
          <a:xfrm>
            <a:off x="523874" y="4895850"/>
            <a:ext cx="8362950" cy="800100"/>
          </a:xfrm>
          <a:prstGeom prst="roundRect">
            <a:avLst>
              <a:gd name="adj" fmla="val 142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57200" y="4791075"/>
            <a:ext cx="8362950" cy="800100"/>
          </a:xfrm>
          <a:prstGeom prst="roundRect">
            <a:avLst>
              <a:gd name="adj" fmla="val 1190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66724" y="4800600"/>
            <a:ext cx="83439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66724" y="4819650"/>
            <a:ext cx="19050" cy="7429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3874" y="5572125"/>
            <a:ext cx="82296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8650" y="4914900"/>
            <a:ext cx="1733550" cy="295275"/>
          </a:xfrm>
          <a:prstGeom prst="rect">
            <a:avLst/>
          </a:prstGeom>
          <a:noFill/>
        </p:spPr>
        <p:txBody>
          <a:bodyPr wrap="none" lIns="0" tIns="0" rIns="0" bIns="0">
            <a:spAutoFit/>
          </a:bodyPr>
          <a:lstStyle/>
          <a:p>
            <a:pPr>
              <a:lnSpc>
                <a:spcPts val="1226"/>
              </a:lnSpc>
              <a:spcBef>
                <a:spcPts val="0"/>
              </a:spcBef>
              <a:spcAft>
                <a:spcPts val="0"/>
              </a:spcAft>
              <a:defRPr sz="1005" b="1">
                <a:solidFill>
                  <a:srgbClr val="F1C75B"/>
                </a:solidFill>
                <a:latin typeface="DejaVu Sans"/>
              </a:defRPr>
            </a:pPr>
            <a:r>
              <a:t>МОНГОЛД АВАХ САНАА</a:t>
            </a:r>
          </a:p>
        </p:txBody>
      </p:sp>
      <p:sp>
        <p:nvSpPr>
          <p:cNvPr id="62" name="TextBox 61"/>
          <p:cNvSpPr txBox="1"/>
          <p:nvPr/>
        </p:nvSpPr>
        <p:spPr>
          <a:xfrm>
            <a:off x="2533650" y="4886325"/>
            <a:ext cx="6096000" cy="600075"/>
          </a:xfrm>
          <a:prstGeom prst="rect">
            <a:avLst/>
          </a:prstGeom>
          <a:noFill/>
        </p:spPr>
        <p:txBody>
          <a:bodyPr wrap="none" lIns="0" tIns="0" rIns="0" bIns="0">
            <a:spAutoFit/>
          </a:bodyPr>
          <a:lstStyle/>
          <a:p>
            <a:pPr>
              <a:lnSpc>
                <a:spcPts val="1546"/>
              </a:lnSpc>
              <a:spcBef>
                <a:spcPts val="0"/>
              </a:spcBef>
              <a:spcAft>
                <a:spcPts val="0"/>
              </a:spcAft>
              <a:defRPr sz="1267" b="0">
                <a:solidFill>
                  <a:srgbClr val="F4F5F4"/>
                </a:solidFill>
                <a:latin typeface="DejaVu Sans"/>
              </a:defRPr>
            </a:pPr>
            <a:r>
              <a:t>Монголд авах санаа: тэтгэмжийн хэмжээг зөвхөн улс төрийн</a:t>
            </a:r>
          </a:p>
          <a:p>
            <a:pPr>
              <a:lnSpc>
                <a:spcPts val="1546"/>
              </a:lnSpc>
              <a:spcBef>
                <a:spcPts val="0"/>
              </a:spcBef>
              <a:spcAft>
                <a:spcPts val="0"/>
              </a:spcAft>
              <a:defRPr sz="1267" b="0">
                <a:solidFill>
                  <a:srgbClr val="F4F5F4"/>
                </a:solidFill>
                <a:latin typeface="DejaVu Sans"/>
              </a:defRPr>
            </a:pPr>
            <a:r>
              <a:t>сонголтоор бус бодит хэрэгцээ, ойлгомжтой аргачлал, тогтмол</a:t>
            </a:r>
          </a:p>
          <a:p>
            <a:pPr>
              <a:lnSpc>
                <a:spcPts val="1546"/>
              </a:lnSpc>
              <a:spcBef>
                <a:spcPts val="0"/>
              </a:spcBef>
              <a:spcAft>
                <a:spcPts val="0"/>
              </a:spcAft>
              <a:defRPr sz="1267" b="0">
                <a:solidFill>
                  <a:srgbClr val="F4F5F4"/>
                </a:solidFill>
                <a:latin typeface="DejaVu Sans"/>
              </a:defRPr>
            </a:pPr>
            <a:r>
              <a:t>шинэчлэлээр үндэслэх.</a:t>
            </a:r>
          </a:p>
        </p:txBody>
      </p:sp>
      <p:sp>
        <p:nvSpPr>
          <p:cNvPr id="63" name="Rounded Rectangle 62"/>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Шүүх нэг “зөв” мөнгөн дүн тогтоохоос илүү тооцооллын арга, үндэслэл, баталгааг шаардсан.</a:t>
            </a:r>
          </a:p>
        </p:txBody>
      </p:sp>
      <p:sp>
        <p:nvSpPr>
          <p:cNvPr id="70" name="Rectangle 69"/>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GER</a:t>
            </a:r>
          </a:p>
        </p:txBody>
      </p:sp>
      <p:sp>
        <p:nvSpPr>
          <p:cNvPr id="72" name="TextBox 71"/>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3" name="TextBox 72"/>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УЛС ОРНУУДЫН ХАРЬЦУУЛАЛТ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7686675" cy="1304925"/>
          </a:xfrm>
          <a:prstGeom prst="rect">
            <a:avLst/>
          </a:prstGeom>
          <a:noFill/>
        </p:spPr>
        <p:txBody>
          <a:bodyPr wrap="none" lIns="0" tIns="0" rIns="0" bIns="0">
            <a:spAutoFit/>
          </a:bodyPr>
          <a:lstStyle/>
          <a:p>
            <a:pPr>
              <a:lnSpc>
                <a:spcPts val="5124"/>
              </a:lnSpc>
              <a:spcBef>
                <a:spcPts val="0"/>
              </a:spcBef>
              <a:spcAft>
                <a:spcPts val="0"/>
              </a:spcAft>
              <a:defRPr sz="4200" b="1">
                <a:solidFill>
                  <a:srgbClr val="030A13"/>
                </a:solidFill>
                <a:latin typeface="Open Sans Condensed"/>
              </a:defRPr>
            </a:pPr>
            <a:r>
              <a:t>ИЖИЛ ЗОРИЛГО.</a:t>
            </a:r>
          </a:p>
          <a:p>
            <a:pPr>
              <a:lnSpc>
                <a:spcPts val="5124"/>
              </a:lnSpc>
              <a:spcBef>
                <a:spcPts val="0"/>
              </a:spcBef>
              <a:spcAft>
                <a:spcPts val="0"/>
              </a:spcAft>
              <a:defRPr sz="4200" b="1">
                <a:solidFill>
                  <a:srgbClr val="030A13"/>
                </a:solidFill>
                <a:latin typeface="Open Sans Condensed"/>
              </a:defRPr>
            </a:pPr>
            <a:r>
              <a:t>ӨӨР ӨӨР ХЭРЭГСЭЛ.</a:t>
            </a:r>
          </a:p>
        </p:txBody>
      </p:sp>
      <p:sp>
        <p:nvSpPr>
          <p:cNvPr id="35" name="TextBox 34"/>
          <p:cNvSpPr txBox="1"/>
          <p:nvPr/>
        </p:nvSpPr>
        <p:spPr>
          <a:xfrm>
            <a:off x="457200" y="942975"/>
            <a:ext cx="7686675" cy="1304925"/>
          </a:xfrm>
          <a:prstGeom prst="rect">
            <a:avLst/>
          </a:prstGeom>
          <a:noFill/>
        </p:spPr>
        <p:txBody>
          <a:bodyPr wrap="none" lIns="0" tIns="0" rIns="0" bIns="0">
            <a:spAutoFit/>
          </a:bodyPr>
          <a:lstStyle/>
          <a:p>
            <a:pPr>
              <a:lnSpc>
                <a:spcPts val="5124"/>
              </a:lnSpc>
              <a:spcBef>
                <a:spcPts val="0"/>
              </a:spcBef>
              <a:spcAft>
                <a:spcPts val="0"/>
              </a:spcAft>
              <a:defRPr sz="4200" b="1">
                <a:solidFill>
                  <a:srgbClr val="F4F5F4"/>
                </a:solidFill>
                <a:latin typeface="Open Sans Condensed"/>
              </a:defRPr>
            </a:pPr>
            <a:r>
              <a:t>ИЖИЛ ЗОРИЛГО.</a:t>
            </a:r>
          </a:p>
          <a:p>
            <a:pPr>
              <a:lnSpc>
                <a:spcPts val="5124"/>
              </a:lnSpc>
              <a:spcBef>
                <a:spcPts val="0"/>
              </a:spcBef>
              <a:spcAft>
                <a:spcPts val="0"/>
              </a:spcAft>
              <a:defRPr sz="4200" b="1">
                <a:solidFill>
                  <a:srgbClr val="F4F5F4"/>
                </a:solidFill>
                <a:latin typeface="Open Sans Condensed"/>
              </a:defRPr>
            </a:pPr>
            <a:r>
              <a:t>ӨӨР ӨӨР ХЭРЭГСЭЛ.</a:t>
            </a:r>
          </a:p>
        </p:txBody>
      </p:sp>
      <p:sp>
        <p:nvSpPr>
          <p:cNvPr id="36" name="Rounded Rectangle 35"/>
          <p:cNvSpPr/>
          <p:nvPr/>
        </p:nvSpPr>
        <p:spPr>
          <a:xfrm>
            <a:off x="523874" y="2724150"/>
            <a:ext cx="11277600" cy="3152775"/>
          </a:xfrm>
          <a:prstGeom prst="roundRect">
            <a:avLst>
              <a:gd name="adj" fmla="val 362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619375"/>
            <a:ext cx="11277600" cy="3152775"/>
          </a:xfrm>
          <a:prstGeom prst="roundRect">
            <a:avLst>
              <a:gd name="adj" fmla="val 302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6289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647950"/>
            <a:ext cx="19050" cy="30956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57531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8650" y="2743200"/>
            <a:ext cx="3267075" cy="276225"/>
          </a:xfrm>
          <a:prstGeom prst="rect">
            <a:avLst/>
          </a:prstGeom>
          <a:noFill/>
        </p:spPr>
        <p:txBody>
          <a:bodyPr wrap="none" lIns="0" tIns="0" rIns="0" bIns="0">
            <a:spAutoFit/>
          </a:bodyPr>
          <a:lstStyle/>
          <a:p>
            <a:pPr>
              <a:lnSpc>
                <a:spcPts val="1464"/>
              </a:lnSpc>
              <a:spcBef>
                <a:spcPts val="0"/>
              </a:spcBef>
              <a:spcAft>
                <a:spcPts val="0"/>
              </a:spcAft>
              <a:defRPr sz="1200" b="1">
                <a:solidFill>
                  <a:srgbClr val="F1C75B"/>
                </a:solidFill>
                <a:latin typeface="DejaVu Sans"/>
              </a:defRPr>
            </a:pPr>
            <a:r>
              <a:t>Улс • жишээ</a:t>
            </a:r>
          </a:p>
        </p:txBody>
      </p:sp>
      <p:sp>
        <p:nvSpPr>
          <p:cNvPr id="42" name="TextBox 41"/>
          <p:cNvSpPr txBox="1"/>
          <p:nvPr/>
        </p:nvSpPr>
        <p:spPr>
          <a:xfrm>
            <a:off x="4238625" y="2743200"/>
            <a:ext cx="3390900" cy="276225"/>
          </a:xfrm>
          <a:prstGeom prst="rect">
            <a:avLst/>
          </a:prstGeom>
          <a:noFill/>
        </p:spPr>
        <p:txBody>
          <a:bodyPr wrap="none" lIns="0" tIns="0" rIns="0" bIns="0">
            <a:spAutoFit/>
          </a:bodyPr>
          <a:lstStyle/>
          <a:p>
            <a:pPr>
              <a:lnSpc>
                <a:spcPts val="1464"/>
              </a:lnSpc>
              <a:spcBef>
                <a:spcPts val="0"/>
              </a:spcBef>
              <a:spcAft>
                <a:spcPts val="0"/>
              </a:spcAft>
              <a:defRPr sz="1200" b="1">
                <a:solidFill>
                  <a:srgbClr val="F1C75B"/>
                </a:solidFill>
                <a:latin typeface="DejaVu Sans"/>
              </a:defRPr>
            </a:pPr>
            <a:r>
              <a:t>Хамгаалалтын хэрэгсэл</a:t>
            </a:r>
          </a:p>
        </p:txBody>
      </p:sp>
      <p:sp>
        <p:nvSpPr>
          <p:cNvPr id="43" name="TextBox 42"/>
          <p:cNvSpPr txBox="1"/>
          <p:nvPr/>
        </p:nvSpPr>
        <p:spPr>
          <a:xfrm>
            <a:off x="7953374" y="2743200"/>
            <a:ext cx="3695700" cy="276225"/>
          </a:xfrm>
          <a:prstGeom prst="rect">
            <a:avLst/>
          </a:prstGeom>
          <a:noFill/>
        </p:spPr>
        <p:txBody>
          <a:bodyPr wrap="none" lIns="0" tIns="0" rIns="0" bIns="0">
            <a:spAutoFit/>
          </a:bodyPr>
          <a:lstStyle/>
          <a:p>
            <a:pPr>
              <a:lnSpc>
                <a:spcPts val="1464"/>
              </a:lnSpc>
              <a:spcBef>
                <a:spcPts val="0"/>
              </a:spcBef>
              <a:spcAft>
                <a:spcPts val="0"/>
              </a:spcAft>
              <a:defRPr sz="1200" b="1">
                <a:solidFill>
                  <a:srgbClr val="F1C75B"/>
                </a:solidFill>
                <a:latin typeface="DejaVu Sans"/>
              </a:defRPr>
            </a:pPr>
            <a:r>
              <a:t>Давуу тал / анхаарах зүйл</a:t>
            </a:r>
          </a:p>
        </p:txBody>
      </p:sp>
      <p:sp>
        <p:nvSpPr>
          <p:cNvPr id="44" name="Rectangle 43"/>
          <p:cNvSpPr/>
          <p:nvPr/>
        </p:nvSpPr>
        <p:spPr>
          <a:xfrm>
            <a:off x="552450" y="3114675"/>
            <a:ext cx="11077575" cy="504825"/>
          </a:xfrm>
          <a:prstGeom prst="rect">
            <a:avLst/>
          </a:prstGeom>
          <a:solidFill>
            <a:srgbClr val="2A4E85">
              <a:alpha val="7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8650" y="3190875"/>
            <a:ext cx="3200400" cy="409575"/>
          </a:xfrm>
          <a:prstGeom prst="rect">
            <a:avLst/>
          </a:prstGeom>
          <a:noFill/>
        </p:spPr>
        <p:txBody>
          <a:bodyPr wrap="none" lIns="0" tIns="0" rIns="0" bIns="0">
            <a:spAutoFit/>
          </a:bodyPr>
          <a:lstStyle/>
          <a:p>
            <a:pPr>
              <a:lnSpc>
                <a:spcPts val="1555"/>
              </a:lnSpc>
              <a:spcBef>
                <a:spcPts val="0"/>
              </a:spcBef>
              <a:spcAft>
                <a:spcPts val="0"/>
              </a:spcAft>
              <a:defRPr sz="1275" b="1">
                <a:solidFill>
                  <a:srgbClr val="F4F5F4"/>
                </a:solidFill>
                <a:latin typeface="DejaVu Sans"/>
              </a:defRPr>
            </a:pPr>
            <a:r>
              <a:t>Монгол • Үндсэн хууль</a:t>
            </a:r>
          </a:p>
          <a:p>
            <a:pPr>
              <a:lnSpc>
                <a:spcPts val="1555"/>
              </a:lnSpc>
              <a:spcBef>
                <a:spcPts val="0"/>
              </a:spcBef>
              <a:spcAft>
                <a:spcPts val="0"/>
              </a:spcAft>
              <a:defRPr sz="1275" b="1">
                <a:solidFill>
                  <a:srgbClr val="F4F5F4"/>
                </a:solidFill>
                <a:latin typeface="DejaVu Sans"/>
              </a:defRPr>
            </a:pPr>
            <a:r>
              <a:t>1992.01.13</a:t>
            </a:r>
          </a:p>
        </p:txBody>
      </p:sp>
      <p:sp>
        <p:nvSpPr>
          <p:cNvPr id="46" name="TextBox 45"/>
          <p:cNvSpPr txBox="1"/>
          <p:nvPr/>
        </p:nvSpPr>
        <p:spPr>
          <a:xfrm>
            <a:off x="4238625" y="3190875"/>
            <a:ext cx="33242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Үндсэн эрх + хуульд заасан халамж,</a:t>
            </a:r>
          </a:p>
          <a:p>
            <a:pPr>
              <a:lnSpc>
                <a:spcPts val="1555"/>
              </a:lnSpc>
              <a:spcBef>
                <a:spcPts val="0"/>
              </a:spcBef>
              <a:spcAft>
                <a:spcPts val="0"/>
              </a:spcAft>
              <a:defRPr sz="1275" b="0">
                <a:solidFill>
                  <a:srgbClr val="F4F5F4"/>
                </a:solidFill>
                <a:latin typeface="DejaVu Sans"/>
              </a:defRPr>
            </a:pPr>
            <a:r>
              <a:t>үйлчилгээ</a:t>
            </a:r>
          </a:p>
        </p:txBody>
      </p:sp>
      <p:sp>
        <p:nvSpPr>
          <p:cNvPr id="47" name="TextBox 46"/>
          <p:cNvSpPr txBox="1"/>
          <p:nvPr/>
        </p:nvSpPr>
        <p:spPr>
          <a:xfrm>
            <a:off x="7953374" y="3190875"/>
            <a:ext cx="36290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Шалгуур ба бодит хүртээмжийг</a:t>
            </a:r>
          </a:p>
          <a:p>
            <a:pPr>
              <a:lnSpc>
                <a:spcPts val="1555"/>
              </a:lnSpc>
              <a:spcBef>
                <a:spcPts val="0"/>
              </a:spcBef>
              <a:spcAft>
                <a:spcPts val="0"/>
              </a:spcAft>
              <a:defRPr sz="1275" b="0">
                <a:solidFill>
                  <a:srgbClr val="F4F5F4"/>
                </a:solidFill>
                <a:latin typeface="DejaVu Sans"/>
              </a:defRPr>
            </a:pPr>
            <a:r>
              <a:t>уялдуулах</a:t>
            </a:r>
          </a:p>
        </p:txBody>
      </p:sp>
      <p:cxnSp>
        <p:nvCxnSpPr>
          <p:cNvPr id="48" name="Connector 47"/>
          <p:cNvCxnSpPr/>
          <p:nvPr/>
        </p:nvCxnSpPr>
        <p:spPr>
          <a:xfrm>
            <a:off x="628650" y="3619500"/>
            <a:ext cx="10887075" cy="0"/>
          </a:xfrm>
          <a:prstGeom prst="line">
            <a:avLst/>
          </a:prstGeom>
          <a:ln w="6667">
            <a:solidFill>
              <a:srgbClr val="30455C"/>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28650" y="3695700"/>
            <a:ext cx="3200400" cy="409575"/>
          </a:xfrm>
          <a:prstGeom prst="rect">
            <a:avLst/>
          </a:prstGeom>
          <a:noFill/>
        </p:spPr>
        <p:txBody>
          <a:bodyPr wrap="none" lIns="0" tIns="0" rIns="0" bIns="0">
            <a:spAutoFit/>
          </a:bodyPr>
          <a:lstStyle/>
          <a:p>
            <a:pPr>
              <a:lnSpc>
                <a:spcPts val="1555"/>
              </a:lnSpc>
              <a:spcBef>
                <a:spcPts val="0"/>
              </a:spcBef>
              <a:spcAft>
                <a:spcPts val="0"/>
              </a:spcAft>
              <a:defRPr sz="1275" b="1">
                <a:solidFill>
                  <a:srgbClr val="F4F5F4"/>
                </a:solidFill>
                <a:latin typeface="DejaVu Sans"/>
              </a:defRPr>
            </a:pPr>
            <a:r>
              <a:t>Өмнөд Африк • 1996.12.10</a:t>
            </a:r>
          </a:p>
          <a:p>
            <a:pPr>
              <a:lnSpc>
                <a:spcPts val="1555"/>
              </a:lnSpc>
              <a:spcBef>
                <a:spcPts val="0"/>
              </a:spcBef>
              <a:spcAft>
                <a:spcPts val="0"/>
              </a:spcAft>
              <a:defRPr sz="1275" b="1">
                <a:solidFill>
                  <a:srgbClr val="F4F5F4"/>
                </a:solidFill>
                <a:latin typeface="DejaVu Sans"/>
              </a:defRPr>
            </a:pPr>
            <a:r>
              <a:t>(гарын үсэг зурсан)</a:t>
            </a:r>
          </a:p>
        </p:txBody>
      </p:sp>
      <p:sp>
        <p:nvSpPr>
          <p:cNvPr id="50" name="TextBox 49"/>
          <p:cNvSpPr txBox="1"/>
          <p:nvPr/>
        </p:nvSpPr>
        <p:spPr>
          <a:xfrm>
            <a:off x="4238625" y="3695700"/>
            <a:ext cx="33242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Нийгмийн эрхийн хэрэгжилтэд</a:t>
            </a:r>
          </a:p>
          <a:p>
            <a:pPr>
              <a:lnSpc>
                <a:spcPts val="1555"/>
              </a:lnSpc>
              <a:spcBef>
                <a:spcPts val="0"/>
              </a:spcBef>
              <a:spcAft>
                <a:spcPts val="0"/>
              </a:spcAft>
              <a:defRPr sz="1275" b="0">
                <a:solidFill>
                  <a:srgbClr val="F4F5F4"/>
                </a:solidFill>
                <a:latin typeface="DejaVu Sans"/>
              </a:defRPr>
            </a:pPr>
            <a:r>
              <a:t>шүүхийн хяналт</a:t>
            </a:r>
          </a:p>
        </p:txBody>
      </p:sp>
      <p:sp>
        <p:nvSpPr>
          <p:cNvPr id="51" name="TextBox 50"/>
          <p:cNvSpPr txBox="1"/>
          <p:nvPr/>
        </p:nvSpPr>
        <p:spPr>
          <a:xfrm>
            <a:off x="7953374" y="3695700"/>
            <a:ext cx="36290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Бодлого гачигдалтай хүмүүсийг орхисон</a:t>
            </a:r>
          </a:p>
          <a:p>
            <a:pPr>
              <a:lnSpc>
                <a:spcPts val="1555"/>
              </a:lnSpc>
              <a:spcBef>
                <a:spcPts val="0"/>
              </a:spcBef>
              <a:spcAft>
                <a:spcPts val="0"/>
              </a:spcAft>
              <a:defRPr sz="1275" b="0">
                <a:solidFill>
                  <a:srgbClr val="F4F5F4"/>
                </a:solidFill>
                <a:latin typeface="DejaVu Sans"/>
              </a:defRPr>
            </a:pPr>
            <a:r>
              <a:t>эсэх</a:t>
            </a:r>
          </a:p>
        </p:txBody>
      </p:sp>
      <p:cxnSp>
        <p:nvCxnSpPr>
          <p:cNvPr id="52" name="Connector 51"/>
          <p:cNvCxnSpPr/>
          <p:nvPr/>
        </p:nvCxnSpPr>
        <p:spPr>
          <a:xfrm>
            <a:off x="628650" y="4124325"/>
            <a:ext cx="10887075" cy="0"/>
          </a:xfrm>
          <a:prstGeom prst="line">
            <a:avLst/>
          </a:prstGeom>
          <a:ln w="6667">
            <a:solidFill>
              <a:srgbClr val="30455C"/>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4200525"/>
            <a:ext cx="3200400" cy="409575"/>
          </a:xfrm>
          <a:prstGeom prst="rect">
            <a:avLst/>
          </a:prstGeom>
          <a:noFill/>
        </p:spPr>
        <p:txBody>
          <a:bodyPr wrap="none" lIns="0" tIns="0" rIns="0" bIns="0">
            <a:spAutoFit/>
          </a:bodyPr>
          <a:lstStyle/>
          <a:p>
            <a:pPr>
              <a:lnSpc>
                <a:spcPts val="1555"/>
              </a:lnSpc>
              <a:spcBef>
                <a:spcPts val="0"/>
              </a:spcBef>
              <a:spcAft>
                <a:spcPts val="0"/>
              </a:spcAft>
              <a:defRPr sz="1275" b="1">
                <a:solidFill>
                  <a:srgbClr val="F4F5F4"/>
                </a:solidFill>
                <a:latin typeface="DejaVu Sans"/>
              </a:defRPr>
            </a:pPr>
            <a:r>
              <a:t>Герман • 1949.05.23</a:t>
            </a:r>
          </a:p>
        </p:txBody>
      </p:sp>
      <p:sp>
        <p:nvSpPr>
          <p:cNvPr id="54" name="TextBox 53"/>
          <p:cNvSpPr txBox="1"/>
          <p:nvPr/>
        </p:nvSpPr>
        <p:spPr>
          <a:xfrm>
            <a:off x="4238625" y="4200525"/>
            <a:ext cx="33242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Нэр төрд нийцэх амьжиргааны доод</a:t>
            </a:r>
          </a:p>
          <a:p>
            <a:pPr>
              <a:lnSpc>
                <a:spcPts val="1555"/>
              </a:lnSpc>
              <a:spcBef>
                <a:spcPts val="0"/>
              </a:spcBef>
              <a:spcAft>
                <a:spcPts val="0"/>
              </a:spcAft>
              <a:defRPr sz="1275" b="0">
                <a:solidFill>
                  <a:srgbClr val="F4F5F4"/>
                </a:solidFill>
                <a:latin typeface="DejaVu Sans"/>
              </a:defRPr>
            </a:pPr>
            <a:r>
              <a:t>баталгаа</a:t>
            </a:r>
          </a:p>
        </p:txBody>
      </p:sp>
      <p:sp>
        <p:nvSpPr>
          <p:cNvPr id="55" name="TextBox 54"/>
          <p:cNvSpPr txBox="1"/>
          <p:nvPr/>
        </p:nvSpPr>
        <p:spPr>
          <a:xfrm>
            <a:off x="7953374" y="4200525"/>
            <a:ext cx="36290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Тэтгэмжийн тооцоолол үндэслэлтэй байх</a:t>
            </a:r>
          </a:p>
        </p:txBody>
      </p:sp>
      <p:cxnSp>
        <p:nvCxnSpPr>
          <p:cNvPr id="56" name="Connector 55"/>
          <p:cNvCxnSpPr/>
          <p:nvPr/>
        </p:nvCxnSpPr>
        <p:spPr>
          <a:xfrm>
            <a:off x="628650" y="4629150"/>
            <a:ext cx="10887075" cy="0"/>
          </a:xfrm>
          <a:prstGeom prst="line">
            <a:avLst/>
          </a:prstGeom>
          <a:ln w="6667">
            <a:solidFill>
              <a:srgbClr val="30455C"/>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705350"/>
            <a:ext cx="3200400" cy="409575"/>
          </a:xfrm>
          <a:prstGeom prst="rect">
            <a:avLst/>
          </a:prstGeom>
          <a:noFill/>
        </p:spPr>
        <p:txBody>
          <a:bodyPr wrap="none" lIns="0" tIns="0" rIns="0" bIns="0">
            <a:spAutoFit/>
          </a:bodyPr>
          <a:lstStyle/>
          <a:p>
            <a:pPr>
              <a:lnSpc>
                <a:spcPts val="1555"/>
              </a:lnSpc>
              <a:spcBef>
                <a:spcPts val="0"/>
              </a:spcBef>
              <a:spcAft>
                <a:spcPts val="0"/>
              </a:spcAft>
              <a:defRPr sz="1275" b="1">
                <a:solidFill>
                  <a:srgbClr val="F4F5F4"/>
                </a:solidFill>
                <a:latin typeface="DejaVu Sans"/>
              </a:defRPr>
            </a:pPr>
            <a:r>
              <a:t>Финланд • 2017–2018 туршилт</a:t>
            </a:r>
          </a:p>
        </p:txBody>
      </p:sp>
      <p:sp>
        <p:nvSpPr>
          <p:cNvPr id="58" name="TextBox 57"/>
          <p:cNvSpPr txBox="1"/>
          <p:nvPr/>
        </p:nvSpPr>
        <p:spPr>
          <a:xfrm>
            <a:off x="4238625" y="4705350"/>
            <a:ext cx="33242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Нөхцөл багатай тогтмол мөнгөн</a:t>
            </a:r>
          </a:p>
          <a:p>
            <a:pPr>
              <a:lnSpc>
                <a:spcPts val="1555"/>
              </a:lnSpc>
              <a:spcBef>
                <a:spcPts val="0"/>
              </a:spcBef>
              <a:spcAft>
                <a:spcPts val="0"/>
              </a:spcAft>
              <a:defRPr sz="1275" b="0">
                <a:solidFill>
                  <a:srgbClr val="F4F5F4"/>
                </a:solidFill>
                <a:latin typeface="DejaVu Sans"/>
              </a:defRPr>
            </a:pPr>
            <a:r>
              <a:t>дэмжлэг</a:t>
            </a:r>
          </a:p>
        </p:txBody>
      </p:sp>
      <p:sp>
        <p:nvSpPr>
          <p:cNvPr id="59" name="TextBox 58"/>
          <p:cNvSpPr txBox="1"/>
          <p:nvPr/>
        </p:nvSpPr>
        <p:spPr>
          <a:xfrm>
            <a:off x="7953374" y="4705350"/>
            <a:ext cx="36290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Туршилтын үр дүнг бүх хүн амд шууд</a:t>
            </a:r>
          </a:p>
          <a:p>
            <a:pPr>
              <a:lnSpc>
                <a:spcPts val="1555"/>
              </a:lnSpc>
              <a:spcBef>
                <a:spcPts val="0"/>
              </a:spcBef>
              <a:spcAft>
                <a:spcPts val="0"/>
              </a:spcAft>
              <a:defRPr sz="1275" b="0">
                <a:solidFill>
                  <a:srgbClr val="F4F5F4"/>
                </a:solidFill>
                <a:latin typeface="DejaVu Sans"/>
              </a:defRPr>
            </a:pPr>
            <a:r>
              <a:t>дүгнэхгүй</a:t>
            </a:r>
          </a:p>
        </p:txBody>
      </p:sp>
      <p:cxnSp>
        <p:nvCxnSpPr>
          <p:cNvPr id="60" name="Connector 59"/>
          <p:cNvCxnSpPr/>
          <p:nvPr/>
        </p:nvCxnSpPr>
        <p:spPr>
          <a:xfrm>
            <a:off x="628650" y="5133975"/>
            <a:ext cx="10887075" cy="0"/>
          </a:xfrm>
          <a:prstGeom prst="line">
            <a:avLst/>
          </a:prstGeom>
          <a:ln w="6667">
            <a:solidFill>
              <a:srgbClr val="30455C"/>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28650" y="5210175"/>
            <a:ext cx="3200400" cy="409575"/>
          </a:xfrm>
          <a:prstGeom prst="rect">
            <a:avLst/>
          </a:prstGeom>
          <a:noFill/>
        </p:spPr>
        <p:txBody>
          <a:bodyPr wrap="none" lIns="0" tIns="0" rIns="0" bIns="0">
            <a:spAutoFit/>
          </a:bodyPr>
          <a:lstStyle/>
          <a:p>
            <a:pPr>
              <a:lnSpc>
                <a:spcPts val="1555"/>
              </a:lnSpc>
              <a:spcBef>
                <a:spcPts val="0"/>
              </a:spcBef>
              <a:spcAft>
                <a:spcPts val="0"/>
              </a:spcAft>
              <a:defRPr sz="1275" b="1">
                <a:solidFill>
                  <a:srgbClr val="F4F5F4"/>
                </a:solidFill>
                <a:latin typeface="DejaVu Sans"/>
              </a:defRPr>
            </a:pPr>
            <a:r>
              <a:t>Бразил • хууль 2023.06.19</a:t>
            </a:r>
          </a:p>
        </p:txBody>
      </p:sp>
      <p:sp>
        <p:nvSpPr>
          <p:cNvPr id="62" name="TextBox 61"/>
          <p:cNvSpPr txBox="1"/>
          <p:nvPr/>
        </p:nvSpPr>
        <p:spPr>
          <a:xfrm>
            <a:off x="4238625" y="5210175"/>
            <a:ext cx="33242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Bolsa Família: зорилтот орлогын</a:t>
            </a:r>
          </a:p>
          <a:p>
            <a:pPr>
              <a:lnSpc>
                <a:spcPts val="1555"/>
              </a:lnSpc>
              <a:spcBef>
                <a:spcPts val="0"/>
              </a:spcBef>
              <a:spcAft>
                <a:spcPts val="0"/>
              </a:spcAft>
              <a:defRPr sz="1275" b="0">
                <a:solidFill>
                  <a:srgbClr val="F4F5F4"/>
                </a:solidFill>
                <a:latin typeface="DejaVu Sans"/>
              </a:defRPr>
            </a:pPr>
            <a:r>
              <a:t>дэмжлэг</a:t>
            </a:r>
          </a:p>
        </p:txBody>
      </p:sp>
      <p:sp>
        <p:nvSpPr>
          <p:cNvPr id="63" name="TextBox 62"/>
          <p:cNvSpPr txBox="1"/>
          <p:nvPr/>
        </p:nvSpPr>
        <p:spPr>
          <a:xfrm>
            <a:off x="7953374" y="5210175"/>
            <a:ext cx="3629025" cy="409575"/>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Боловсрол, эрүүл мэндийн үйлчилгээтэй</a:t>
            </a:r>
          </a:p>
          <a:p>
            <a:pPr>
              <a:lnSpc>
                <a:spcPts val="1555"/>
              </a:lnSpc>
              <a:spcBef>
                <a:spcPts val="0"/>
              </a:spcBef>
              <a:spcAft>
                <a:spcPts val="0"/>
              </a:spcAft>
              <a:defRPr sz="1275" b="0">
                <a:solidFill>
                  <a:srgbClr val="F4F5F4"/>
                </a:solidFill>
                <a:latin typeface="DejaVu Sans"/>
              </a:defRPr>
            </a:pPr>
            <a:r>
              <a:t>холбох</a:t>
            </a:r>
          </a:p>
        </p:txBody>
      </p:sp>
      <p:sp>
        <p:nvSpPr>
          <p:cNvPr id="64" name="Rounded Rectangle 63"/>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Энэ хүснэгт бол бодлогын харьцуулалт; улсын “хүний эрхийн чансаа” биш.</a:t>
            </a:r>
          </a:p>
        </p:txBody>
      </p:sp>
      <p:sp>
        <p:nvSpPr>
          <p:cNvPr id="71" name="Rectangle 70"/>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GROOT · GER · FIN · BRA</a:t>
            </a:r>
          </a:p>
        </p:txBody>
      </p:sp>
      <p:sp>
        <p:nvSpPr>
          <p:cNvPr id="73" name="TextBox 72"/>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4" name="TextBox 73"/>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ФИНЛАНДЫН ТУРШИЛТ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9915525" cy="819150"/>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ФИНЛАНД / ОРЛОГЫН ТУРШИЛТ</a:t>
            </a:r>
          </a:p>
        </p:txBody>
      </p:sp>
      <p:sp>
        <p:nvSpPr>
          <p:cNvPr id="35" name="TextBox 34"/>
          <p:cNvSpPr txBox="1"/>
          <p:nvPr/>
        </p:nvSpPr>
        <p:spPr>
          <a:xfrm>
            <a:off x="457200" y="942975"/>
            <a:ext cx="9915525" cy="819150"/>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ФИНЛАНД / ОРЛОГЫН ТУРШИЛТ</a:t>
            </a:r>
          </a:p>
        </p:txBody>
      </p:sp>
      <p:sp>
        <p:nvSpPr>
          <p:cNvPr id="36" name="Rounded Rectangle 35"/>
          <p:cNvSpPr/>
          <p:nvPr/>
        </p:nvSpPr>
        <p:spPr>
          <a:xfrm>
            <a:off x="552450" y="2057400"/>
            <a:ext cx="3000226"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1952624"/>
            <a:ext cx="3000226"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1962150"/>
            <a:ext cx="2981176"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1981199"/>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200275"/>
            <a:ext cx="2866876"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009774"/>
            <a:ext cx="2771626"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2017–2018 / ҮР ДҮНГ 2020 ОНД ТАЙЛАГНАСАН</a:t>
            </a:r>
          </a:p>
        </p:txBody>
      </p:sp>
      <p:sp>
        <p:nvSpPr>
          <p:cNvPr id="42" name="Rounded Rectangle 41"/>
          <p:cNvSpPr/>
          <p:nvPr/>
        </p:nvSpPr>
        <p:spPr>
          <a:xfrm>
            <a:off x="523874" y="2638425"/>
            <a:ext cx="4991100" cy="1371600"/>
          </a:xfrm>
          <a:prstGeom prst="roundRect">
            <a:avLst>
              <a:gd name="adj" fmla="val 8333"/>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7200" y="2533650"/>
            <a:ext cx="4991100" cy="1371600"/>
          </a:xfrm>
          <a:prstGeom prst="roundRect">
            <a:avLst>
              <a:gd name="adj" fmla="val 694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66724" y="2543175"/>
            <a:ext cx="49720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724" y="2562225"/>
            <a:ext cx="19050" cy="1314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23874" y="3886200"/>
            <a:ext cx="48577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705475" y="2638425"/>
            <a:ext cx="3762374" cy="1371600"/>
          </a:xfrm>
          <a:prstGeom prst="roundRect">
            <a:avLst>
              <a:gd name="adj" fmla="val 8333"/>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638800" y="2533650"/>
            <a:ext cx="3762374" cy="1371600"/>
          </a:xfrm>
          <a:prstGeom prst="roundRect">
            <a:avLst>
              <a:gd name="adj" fmla="val 694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648325" y="2543175"/>
            <a:ext cx="374332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648325" y="2562225"/>
            <a:ext cx="19050" cy="1314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705475" y="3886200"/>
            <a:ext cx="362902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7225" y="2571750"/>
            <a:ext cx="4552950" cy="933449"/>
          </a:xfrm>
          <a:prstGeom prst="rect">
            <a:avLst/>
          </a:prstGeom>
          <a:noFill/>
        </p:spPr>
        <p:txBody>
          <a:bodyPr wrap="none" lIns="0" tIns="0" rIns="0" bIns="0">
            <a:spAutoFit/>
          </a:bodyPr>
          <a:lstStyle/>
          <a:p>
            <a:pPr>
              <a:lnSpc>
                <a:spcPts val="7228"/>
              </a:lnSpc>
              <a:spcBef>
                <a:spcPts val="0"/>
              </a:spcBef>
              <a:spcAft>
                <a:spcPts val="0"/>
              </a:spcAft>
              <a:defRPr sz="5925" b="1">
                <a:solidFill>
                  <a:srgbClr val="F1C75B"/>
                </a:solidFill>
                <a:latin typeface="Open Sans Condensed"/>
              </a:defRPr>
            </a:pPr>
            <a:r>
              <a:t>2,000</a:t>
            </a:r>
          </a:p>
        </p:txBody>
      </p:sp>
      <p:sp>
        <p:nvSpPr>
          <p:cNvPr id="53" name="TextBox 52"/>
          <p:cNvSpPr txBox="1"/>
          <p:nvPr/>
        </p:nvSpPr>
        <p:spPr>
          <a:xfrm>
            <a:off x="666750" y="3505200"/>
            <a:ext cx="4533900" cy="295275"/>
          </a:xfrm>
          <a:prstGeom prst="rect">
            <a:avLst/>
          </a:prstGeom>
          <a:noFill/>
        </p:spPr>
        <p:txBody>
          <a:bodyPr wrap="none" lIns="0" tIns="0" rIns="0" bIns="0">
            <a:spAutoFit/>
          </a:bodyPr>
          <a:lstStyle/>
          <a:p>
            <a:pPr>
              <a:lnSpc>
                <a:spcPts val="1555"/>
              </a:lnSpc>
              <a:spcBef>
                <a:spcPts val="0"/>
              </a:spcBef>
              <a:spcAft>
                <a:spcPts val="0"/>
              </a:spcAft>
              <a:defRPr sz="1275" b="1">
                <a:solidFill>
                  <a:srgbClr val="F4F5F4"/>
                </a:solidFill>
                <a:latin typeface="DejaVu Sans"/>
              </a:defRPr>
            </a:pPr>
            <a:r>
              <a:t>АЖИЛГҮЙ ОРОЛЦОГЧ</a:t>
            </a:r>
          </a:p>
        </p:txBody>
      </p:sp>
      <p:sp>
        <p:nvSpPr>
          <p:cNvPr id="54" name="TextBox 53"/>
          <p:cNvSpPr txBox="1"/>
          <p:nvPr/>
        </p:nvSpPr>
        <p:spPr>
          <a:xfrm>
            <a:off x="5838825" y="2571750"/>
            <a:ext cx="3352800" cy="933449"/>
          </a:xfrm>
          <a:prstGeom prst="rect">
            <a:avLst/>
          </a:prstGeom>
          <a:noFill/>
        </p:spPr>
        <p:txBody>
          <a:bodyPr wrap="none" lIns="0" tIns="0" rIns="0" bIns="0">
            <a:spAutoFit/>
          </a:bodyPr>
          <a:lstStyle/>
          <a:p>
            <a:pPr>
              <a:lnSpc>
                <a:spcPts val="7228"/>
              </a:lnSpc>
              <a:spcBef>
                <a:spcPts val="0"/>
              </a:spcBef>
              <a:spcAft>
                <a:spcPts val="0"/>
              </a:spcAft>
              <a:defRPr sz="5925" b="1">
                <a:solidFill>
                  <a:srgbClr val="F4F5F4"/>
                </a:solidFill>
                <a:latin typeface="Open Sans Condensed"/>
              </a:defRPr>
            </a:pPr>
            <a:r>
              <a:t>€560</a:t>
            </a:r>
          </a:p>
        </p:txBody>
      </p:sp>
      <p:sp>
        <p:nvSpPr>
          <p:cNvPr id="55" name="TextBox 54"/>
          <p:cNvSpPr txBox="1"/>
          <p:nvPr/>
        </p:nvSpPr>
        <p:spPr>
          <a:xfrm>
            <a:off x="5838825" y="3505200"/>
            <a:ext cx="3343275" cy="295275"/>
          </a:xfrm>
          <a:prstGeom prst="rect">
            <a:avLst/>
          </a:prstGeom>
          <a:noFill/>
        </p:spPr>
        <p:txBody>
          <a:bodyPr wrap="none" lIns="0" tIns="0" rIns="0" bIns="0">
            <a:spAutoFit/>
          </a:bodyPr>
          <a:lstStyle/>
          <a:p>
            <a:pPr>
              <a:lnSpc>
                <a:spcPts val="1555"/>
              </a:lnSpc>
              <a:spcBef>
                <a:spcPts val="0"/>
              </a:spcBef>
              <a:spcAft>
                <a:spcPts val="0"/>
              </a:spcAft>
              <a:defRPr sz="1275" b="1">
                <a:solidFill>
                  <a:srgbClr val="F1C75B"/>
                </a:solidFill>
                <a:latin typeface="DejaVu Sans"/>
              </a:defRPr>
            </a:pPr>
            <a:r>
              <a:t>САР БҮР / НЭГ ХҮНД</a:t>
            </a:r>
          </a:p>
        </p:txBody>
      </p:sp>
      <p:sp>
        <p:nvSpPr>
          <p:cNvPr id="56" name="Rounded Rectangle 55"/>
          <p:cNvSpPr/>
          <p:nvPr/>
        </p:nvSpPr>
        <p:spPr>
          <a:xfrm>
            <a:off x="523874" y="4238625"/>
            <a:ext cx="5562600" cy="1638300"/>
          </a:xfrm>
          <a:prstGeom prst="roundRect">
            <a:avLst>
              <a:gd name="adj" fmla="val 6976"/>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57200" y="4133849"/>
            <a:ext cx="5562600" cy="1638300"/>
          </a:xfrm>
          <a:prstGeom prst="roundRect">
            <a:avLst>
              <a:gd name="adj" fmla="val 581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66724" y="4143375"/>
            <a:ext cx="5543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66724" y="4162424"/>
            <a:ext cx="19050" cy="1581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3874" y="5753100"/>
            <a:ext cx="5429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7700" y="4276725"/>
            <a:ext cx="5172075" cy="323850"/>
          </a:xfrm>
          <a:prstGeom prst="rect">
            <a:avLst/>
          </a:prstGeom>
          <a:noFill/>
        </p:spPr>
        <p:txBody>
          <a:bodyPr wrap="none" lIns="0" tIns="0" rIns="0" bIns="0">
            <a:spAutoFit/>
          </a:bodyPr>
          <a:lstStyle/>
          <a:p>
            <a:pPr>
              <a:lnSpc>
                <a:spcPts val="2196"/>
              </a:lnSpc>
              <a:spcBef>
                <a:spcPts val="0"/>
              </a:spcBef>
              <a:spcAft>
                <a:spcPts val="0"/>
              </a:spcAft>
              <a:defRPr sz="1800" b="1">
                <a:solidFill>
                  <a:srgbClr val="F1C75B"/>
                </a:solidFill>
                <a:latin typeface="DejaVu Sans"/>
              </a:defRPr>
            </a:pPr>
            <a:r>
              <a:t>Юуг ажигласан бэ?</a:t>
            </a:r>
          </a:p>
        </p:txBody>
      </p:sp>
      <p:sp>
        <p:nvSpPr>
          <p:cNvPr id="62" name="TextBox 61"/>
          <p:cNvSpPr txBox="1"/>
          <p:nvPr/>
        </p:nvSpPr>
        <p:spPr>
          <a:xfrm>
            <a:off x="647700" y="4705350"/>
            <a:ext cx="5172075" cy="885825"/>
          </a:xfrm>
          <a:prstGeom prst="rect">
            <a:avLst/>
          </a:prstGeom>
          <a:noFill/>
        </p:spPr>
        <p:txBody>
          <a:bodyPr wrap="none" lIns="0" tIns="0" rIns="0" bIns="0">
            <a:spAutoFit/>
          </a:bodyPr>
          <a:lstStyle/>
          <a:p>
            <a:pPr>
              <a:lnSpc>
                <a:spcPts val="1829"/>
              </a:lnSpc>
              <a:spcBef>
                <a:spcPts val="0"/>
              </a:spcBef>
              <a:spcAft>
                <a:spcPts val="0"/>
              </a:spcAft>
              <a:defRPr sz="1500" b="0">
                <a:solidFill>
                  <a:srgbClr val="F4F5F4"/>
                </a:solidFill>
                <a:latin typeface="DejaVu Sans"/>
              </a:defRPr>
            </a:pPr>
            <a:r>
              <a:t>Kela-ийн 2020 оны тайланд амьдралын сэтгэл</a:t>
            </a:r>
          </a:p>
          <a:p>
            <a:pPr>
              <a:lnSpc>
                <a:spcPts val="1829"/>
              </a:lnSpc>
              <a:spcBef>
                <a:spcPts val="0"/>
              </a:spcBef>
              <a:spcAft>
                <a:spcPts val="0"/>
              </a:spcAft>
              <a:defRPr sz="1500" b="0">
                <a:solidFill>
                  <a:srgbClr val="F4F5F4"/>
                </a:solidFill>
                <a:latin typeface="DejaVu Sans"/>
              </a:defRPr>
            </a:pPr>
            <a:r>
              <a:t>ханамж, эдийн засгийн аюулгүй байдлын үнэлгээ</a:t>
            </a:r>
          </a:p>
          <a:p>
            <a:pPr>
              <a:lnSpc>
                <a:spcPts val="1829"/>
              </a:lnSpc>
              <a:spcBef>
                <a:spcPts val="0"/>
              </a:spcBef>
              <a:spcAft>
                <a:spcPts val="0"/>
              </a:spcAft>
              <a:defRPr sz="1500" b="0">
                <a:solidFill>
                  <a:srgbClr val="F4F5F4"/>
                </a:solidFill>
                <a:latin typeface="DejaVu Sans"/>
              </a:defRPr>
            </a:pPr>
            <a:r>
              <a:t>илүү сайн байсныг мэдээлсэн.</a:t>
            </a:r>
          </a:p>
        </p:txBody>
      </p:sp>
      <p:sp>
        <p:nvSpPr>
          <p:cNvPr id="63" name="Rounded Rectangle 62"/>
          <p:cNvSpPr/>
          <p:nvPr/>
        </p:nvSpPr>
        <p:spPr>
          <a:xfrm>
            <a:off x="6238875" y="4238625"/>
            <a:ext cx="5562600" cy="1638300"/>
          </a:xfrm>
          <a:prstGeom prst="roundRect">
            <a:avLst>
              <a:gd name="adj" fmla="val 6976"/>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6172200" y="4133849"/>
            <a:ext cx="5562600" cy="1638300"/>
          </a:xfrm>
          <a:prstGeom prst="roundRect">
            <a:avLst>
              <a:gd name="adj" fmla="val 581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81725" y="4143375"/>
            <a:ext cx="5543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181725" y="4162424"/>
            <a:ext cx="19050" cy="1581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238875" y="5753100"/>
            <a:ext cx="5429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62700" y="4276725"/>
            <a:ext cx="5172075" cy="323850"/>
          </a:xfrm>
          <a:prstGeom prst="rect">
            <a:avLst/>
          </a:prstGeom>
          <a:noFill/>
        </p:spPr>
        <p:txBody>
          <a:bodyPr wrap="none" lIns="0" tIns="0" rIns="0" bIns="0">
            <a:spAutoFit/>
          </a:bodyPr>
          <a:lstStyle/>
          <a:p>
            <a:pPr>
              <a:lnSpc>
                <a:spcPts val="2196"/>
              </a:lnSpc>
              <a:spcBef>
                <a:spcPts val="0"/>
              </a:spcBef>
              <a:spcAft>
                <a:spcPts val="0"/>
              </a:spcAft>
              <a:defRPr sz="1800" b="1">
                <a:solidFill>
                  <a:srgbClr val="F1C75B"/>
                </a:solidFill>
                <a:latin typeface="DejaVu Sans"/>
              </a:defRPr>
            </a:pPr>
            <a:r>
              <a:t>Хязгаарлалт</a:t>
            </a:r>
          </a:p>
        </p:txBody>
      </p:sp>
      <p:sp>
        <p:nvSpPr>
          <p:cNvPr id="69" name="TextBox 68"/>
          <p:cNvSpPr txBox="1"/>
          <p:nvPr/>
        </p:nvSpPr>
        <p:spPr>
          <a:xfrm>
            <a:off x="6362700" y="4705350"/>
            <a:ext cx="5172075" cy="885825"/>
          </a:xfrm>
          <a:prstGeom prst="rect">
            <a:avLst/>
          </a:prstGeom>
          <a:noFill/>
        </p:spPr>
        <p:txBody>
          <a:bodyPr wrap="none" lIns="0" tIns="0" rIns="0" bIns="0">
            <a:spAutoFit/>
          </a:bodyPr>
          <a:lstStyle/>
          <a:p>
            <a:pPr>
              <a:lnSpc>
                <a:spcPts val="1829"/>
              </a:lnSpc>
              <a:spcBef>
                <a:spcPts val="0"/>
              </a:spcBef>
              <a:spcAft>
                <a:spcPts val="0"/>
              </a:spcAft>
              <a:defRPr sz="1500" b="0">
                <a:solidFill>
                  <a:srgbClr val="F4F5F4"/>
                </a:solidFill>
                <a:latin typeface="DejaVu Sans"/>
              </a:defRPr>
            </a:pPr>
            <a:r>
              <a:t>Ажил эрхлэлтийн нөлөө хязгаарлагдмал; хоёр</a:t>
            </a:r>
          </a:p>
          <a:p>
            <a:pPr>
              <a:lnSpc>
                <a:spcPts val="1829"/>
              </a:lnSpc>
              <a:spcBef>
                <a:spcPts val="0"/>
              </a:spcBef>
              <a:spcAft>
                <a:spcPts val="0"/>
              </a:spcAft>
              <a:defRPr sz="1500" b="0">
                <a:solidFill>
                  <a:srgbClr val="F4F5F4"/>
                </a:solidFill>
                <a:latin typeface="DejaVu Sans"/>
              </a:defRPr>
            </a:pPr>
            <a:r>
              <a:t>дахь жилд бусад бодлогын өөрчлөлт нөлөөлсөн.</a:t>
            </a:r>
          </a:p>
          <a:p>
            <a:pPr>
              <a:lnSpc>
                <a:spcPts val="1829"/>
              </a:lnSpc>
              <a:spcBef>
                <a:spcPts val="0"/>
              </a:spcBef>
              <a:spcAft>
                <a:spcPts val="0"/>
              </a:spcAft>
              <a:defRPr sz="1500" b="0">
                <a:solidFill>
                  <a:srgbClr val="F4F5F4"/>
                </a:solidFill>
                <a:latin typeface="DejaVu Sans"/>
              </a:defRPr>
            </a:pPr>
            <a:r>
              <a:t>Судалгааны хариу өгөх ялгааг ч харгалзана.</a:t>
            </a:r>
          </a:p>
        </p:txBody>
      </p:sp>
      <p:sp>
        <p:nvSpPr>
          <p:cNvPr id="70" name="Rounded Rectangle 69"/>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Сургамж: мөнгөн дэмжлэгийн нөлөөг зөвхөн ажилд орсон тоогоор биш хүний амьдралын чанараар үнэлнэ.</a:t>
            </a:r>
          </a:p>
        </p:txBody>
      </p:sp>
      <p:sp>
        <p:nvSpPr>
          <p:cNvPr id="77" name="Rectangle 76"/>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FIN</a:t>
            </a:r>
          </a:p>
        </p:txBody>
      </p:sp>
      <p:sp>
        <p:nvSpPr>
          <p:cNvPr id="79" name="TextBox 78"/>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0" name="TextBox 79"/>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БРАЗИЛЫН ЖИШЭЭ</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9525000" cy="857250"/>
          </a:xfrm>
          <a:prstGeom prst="rect">
            <a:avLst/>
          </a:prstGeom>
          <a:noFill/>
        </p:spPr>
        <p:txBody>
          <a:bodyPr wrap="none" lIns="0" tIns="0" rIns="0" bIns="0">
            <a:spAutoFit/>
          </a:bodyPr>
          <a:lstStyle/>
          <a:p>
            <a:pPr>
              <a:lnSpc>
                <a:spcPts val="5307"/>
              </a:lnSpc>
              <a:spcBef>
                <a:spcPts val="0"/>
              </a:spcBef>
              <a:spcAft>
                <a:spcPts val="0"/>
              </a:spcAft>
              <a:defRPr sz="4350" b="1">
                <a:solidFill>
                  <a:srgbClr val="030A13"/>
                </a:solidFill>
                <a:latin typeface="Open Sans Condensed"/>
              </a:defRPr>
            </a:pPr>
            <a:r>
              <a:t>БРАЗИЛ / BOLSA FAMÍLIA</a:t>
            </a:r>
          </a:p>
        </p:txBody>
      </p:sp>
      <p:sp>
        <p:nvSpPr>
          <p:cNvPr id="35" name="TextBox 34"/>
          <p:cNvSpPr txBox="1"/>
          <p:nvPr/>
        </p:nvSpPr>
        <p:spPr>
          <a:xfrm>
            <a:off x="457200" y="942975"/>
            <a:ext cx="9525000" cy="857250"/>
          </a:xfrm>
          <a:prstGeom prst="rect">
            <a:avLst/>
          </a:prstGeom>
          <a:noFill/>
        </p:spPr>
        <p:txBody>
          <a:bodyPr wrap="none" lIns="0" tIns="0" rIns="0" bIns="0">
            <a:spAutoFit/>
          </a:bodyPr>
          <a:lstStyle/>
          <a:p>
            <a:pPr>
              <a:lnSpc>
                <a:spcPts val="5307"/>
              </a:lnSpc>
              <a:spcBef>
                <a:spcPts val="0"/>
              </a:spcBef>
              <a:spcAft>
                <a:spcPts val="0"/>
              </a:spcAft>
              <a:defRPr sz="4350" b="1">
                <a:solidFill>
                  <a:srgbClr val="F4F5F4"/>
                </a:solidFill>
                <a:latin typeface="Open Sans Condensed"/>
              </a:defRPr>
            </a:pPr>
            <a:r>
              <a:t>БРАЗИЛ / BOLSA FAMÍLIA</a:t>
            </a:r>
          </a:p>
        </p:txBody>
      </p:sp>
      <p:sp>
        <p:nvSpPr>
          <p:cNvPr id="36" name="TextBox 35"/>
          <p:cNvSpPr txBox="1"/>
          <p:nvPr/>
        </p:nvSpPr>
        <p:spPr>
          <a:xfrm>
            <a:off x="504825" y="1971675"/>
            <a:ext cx="9620250" cy="561975"/>
          </a:xfrm>
          <a:prstGeom prst="rect">
            <a:avLst/>
          </a:prstGeom>
          <a:noFill/>
        </p:spPr>
        <p:txBody>
          <a:bodyPr wrap="none" lIns="0" tIns="0" rIns="0" bIns="0">
            <a:spAutoFit/>
          </a:bodyPr>
          <a:lstStyle/>
          <a:p>
            <a:pPr>
              <a:lnSpc>
                <a:spcPts val="4410"/>
              </a:lnSpc>
              <a:spcBef>
                <a:spcPts val="0"/>
              </a:spcBef>
              <a:spcAft>
                <a:spcPts val="0"/>
              </a:spcAft>
              <a:defRPr sz="3615" b="1">
                <a:solidFill>
                  <a:srgbClr val="F1C75B"/>
                </a:solidFill>
                <a:latin typeface="Open Sans Condensed"/>
              </a:defRPr>
            </a:pPr>
            <a:r>
              <a:t>2004–2023</a:t>
            </a:r>
          </a:p>
        </p:txBody>
      </p:sp>
      <p:sp>
        <p:nvSpPr>
          <p:cNvPr id="37" name="Rounded Rectangle 36"/>
          <p:cNvSpPr/>
          <p:nvPr/>
        </p:nvSpPr>
        <p:spPr>
          <a:xfrm>
            <a:off x="523874" y="3133725"/>
            <a:ext cx="3619500" cy="2733675"/>
          </a:xfrm>
          <a:prstGeom prst="roundRect">
            <a:avLst>
              <a:gd name="adj" fmla="val 4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 y="3028950"/>
            <a:ext cx="3619500" cy="2733675"/>
          </a:xfrm>
          <a:prstGeom prst="roundRect">
            <a:avLst>
              <a:gd name="adj" fmla="val 34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30384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3057525"/>
            <a:ext cx="19050" cy="26765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3874" y="5743575"/>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7700" y="3219450"/>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Эрх зүйн огноо</a:t>
            </a:r>
          </a:p>
        </p:txBody>
      </p:sp>
      <p:sp>
        <p:nvSpPr>
          <p:cNvPr id="43" name="TextBox 42"/>
          <p:cNvSpPr txBox="1"/>
          <p:nvPr/>
        </p:nvSpPr>
        <p:spPr>
          <a:xfrm>
            <a:off x="647700" y="3838575"/>
            <a:ext cx="3238500" cy="176212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Анхны хөтөлбөрийн хууль:</a:t>
            </a:r>
          </a:p>
          <a:p>
            <a:pPr>
              <a:lnSpc>
                <a:spcPts val="1921"/>
              </a:lnSpc>
              <a:spcBef>
                <a:spcPts val="0"/>
              </a:spcBef>
              <a:spcAft>
                <a:spcPts val="0"/>
              </a:spcAft>
              <a:defRPr sz="1575" b="0">
                <a:solidFill>
                  <a:srgbClr val="F4F5F4"/>
                </a:solidFill>
                <a:latin typeface="DejaVu Sans"/>
              </a:defRPr>
            </a:pPr>
            <a:r>
              <a:t>№10.836 • 2004.01.09.</a:t>
            </a:r>
          </a:p>
          <a:p>
            <a:pPr>
              <a:lnSpc>
                <a:spcPts val="1921"/>
              </a:lnSpc>
              <a:spcBef>
                <a:spcPts val="0"/>
              </a:spcBef>
              <a:spcAft>
                <a:spcPts val="0"/>
              </a:spcAft>
              <a:defRPr sz="1575" b="0">
                <a:solidFill>
                  <a:srgbClr val="F4F5F4"/>
                </a:solidFill>
                <a:latin typeface="DejaVu Sans"/>
              </a:defRPr>
            </a:pPr>
            <a:r>
              <a:t>Шинэ хууль: №14.601 •</a:t>
            </a:r>
          </a:p>
          <a:p>
            <a:pPr>
              <a:lnSpc>
                <a:spcPts val="1921"/>
              </a:lnSpc>
              <a:spcBef>
                <a:spcPts val="0"/>
              </a:spcBef>
              <a:spcAft>
                <a:spcPts val="0"/>
              </a:spcAft>
              <a:defRPr sz="1575" b="0">
                <a:solidFill>
                  <a:srgbClr val="F4F5F4"/>
                </a:solidFill>
                <a:latin typeface="DejaVu Sans"/>
              </a:defRPr>
            </a:pPr>
            <a:r>
              <a:t>2023.06.19.</a:t>
            </a:r>
          </a:p>
        </p:txBody>
      </p:sp>
      <p:sp>
        <p:nvSpPr>
          <p:cNvPr id="44" name="Rounded Rectangle 43"/>
          <p:cNvSpPr/>
          <p:nvPr/>
        </p:nvSpPr>
        <p:spPr>
          <a:xfrm>
            <a:off x="4333875" y="3133725"/>
            <a:ext cx="3619500" cy="2733675"/>
          </a:xfrm>
          <a:prstGeom prst="roundRect">
            <a:avLst>
              <a:gd name="adj" fmla="val 4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267200" y="3028950"/>
            <a:ext cx="3619500" cy="2733675"/>
          </a:xfrm>
          <a:prstGeom prst="roundRect">
            <a:avLst>
              <a:gd name="adj" fmla="val 34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76725" y="30384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76725" y="3057525"/>
            <a:ext cx="19050" cy="26765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333875" y="5743575"/>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57700" y="3219450"/>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Бодлогын механизм</a:t>
            </a:r>
          </a:p>
        </p:txBody>
      </p:sp>
      <p:sp>
        <p:nvSpPr>
          <p:cNvPr id="50" name="TextBox 49"/>
          <p:cNvSpPr txBox="1"/>
          <p:nvPr/>
        </p:nvSpPr>
        <p:spPr>
          <a:xfrm>
            <a:off x="4457700" y="3838575"/>
            <a:ext cx="3238500" cy="176212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Бага орлоготой өрхөд мөнгөн</a:t>
            </a:r>
          </a:p>
          <a:p>
            <a:pPr>
              <a:lnSpc>
                <a:spcPts val="1921"/>
              </a:lnSpc>
              <a:spcBef>
                <a:spcPts val="0"/>
              </a:spcBef>
              <a:spcAft>
                <a:spcPts val="0"/>
              </a:spcAft>
              <a:defRPr sz="1575" b="0">
                <a:solidFill>
                  <a:srgbClr val="F4F5F4"/>
                </a:solidFill>
                <a:latin typeface="DejaVu Sans"/>
              </a:defRPr>
            </a:pPr>
            <a:r>
              <a:t>дэмжлэг олгож, хүүхдийн</a:t>
            </a:r>
          </a:p>
          <a:p>
            <a:pPr>
              <a:lnSpc>
                <a:spcPts val="1921"/>
              </a:lnSpc>
              <a:spcBef>
                <a:spcPts val="0"/>
              </a:spcBef>
              <a:spcAft>
                <a:spcPts val="0"/>
              </a:spcAft>
              <a:defRPr sz="1575" b="0">
                <a:solidFill>
                  <a:srgbClr val="F4F5F4"/>
                </a:solidFill>
                <a:latin typeface="DejaVu Sans"/>
              </a:defRPr>
            </a:pPr>
            <a:r>
              <a:t>боловсрол, эрүүл мэндийн</a:t>
            </a:r>
          </a:p>
          <a:p>
            <a:pPr>
              <a:lnSpc>
                <a:spcPts val="1921"/>
              </a:lnSpc>
              <a:spcBef>
                <a:spcPts val="0"/>
              </a:spcBef>
              <a:spcAft>
                <a:spcPts val="0"/>
              </a:spcAft>
              <a:defRPr sz="1575" b="0">
                <a:solidFill>
                  <a:srgbClr val="F4F5F4"/>
                </a:solidFill>
                <a:latin typeface="DejaVu Sans"/>
              </a:defRPr>
            </a:pPr>
            <a:r>
              <a:t>хяналттай холбоотой</a:t>
            </a:r>
          </a:p>
          <a:p>
            <a:pPr>
              <a:lnSpc>
                <a:spcPts val="1921"/>
              </a:lnSpc>
              <a:spcBef>
                <a:spcPts val="0"/>
              </a:spcBef>
              <a:spcAft>
                <a:spcPts val="0"/>
              </a:spcAft>
              <a:defRPr sz="1575" b="0">
                <a:solidFill>
                  <a:srgbClr val="F4F5F4"/>
                </a:solidFill>
                <a:latin typeface="DejaVu Sans"/>
              </a:defRPr>
            </a:pPr>
            <a:r>
              <a:t>нөхцөлүүдийг ашигладаг.</a:t>
            </a:r>
          </a:p>
        </p:txBody>
      </p:sp>
      <p:sp>
        <p:nvSpPr>
          <p:cNvPr id="51" name="Rounded Rectangle 50"/>
          <p:cNvSpPr/>
          <p:nvPr/>
        </p:nvSpPr>
        <p:spPr>
          <a:xfrm>
            <a:off x="8143875" y="3133725"/>
            <a:ext cx="3619500" cy="2733675"/>
          </a:xfrm>
          <a:prstGeom prst="roundRect">
            <a:avLst>
              <a:gd name="adj" fmla="val 4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077200" y="3028950"/>
            <a:ext cx="3619500" cy="2733675"/>
          </a:xfrm>
          <a:prstGeom prst="roundRect">
            <a:avLst>
              <a:gd name="adj" fmla="val 34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086725" y="30384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86725" y="3057525"/>
            <a:ext cx="19050" cy="26765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143875" y="5743575"/>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67699" y="3219450"/>
            <a:ext cx="3238500" cy="4762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Эрхийн шүүлтүүр</a:t>
            </a:r>
          </a:p>
        </p:txBody>
      </p:sp>
      <p:sp>
        <p:nvSpPr>
          <p:cNvPr id="57" name="TextBox 56"/>
          <p:cNvSpPr txBox="1"/>
          <p:nvPr/>
        </p:nvSpPr>
        <p:spPr>
          <a:xfrm>
            <a:off x="8267699" y="3838575"/>
            <a:ext cx="3238500" cy="1762125"/>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Сургууль, эмнэлэг нь өөрөө</a:t>
            </a:r>
          </a:p>
          <a:p>
            <a:pPr>
              <a:lnSpc>
                <a:spcPts val="1921"/>
              </a:lnSpc>
              <a:spcBef>
                <a:spcPts val="0"/>
              </a:spcBef>
              <a:spcAft>
                <a:spcPts val="0"/>
              </a:spcAft>
              <a:defRPr sz="1575" b="0">
                <a:solidFill>
                  <a:srgbClr val="F4F5F4"/>
                </a:solidFill>
                <a:latin typeface="DejaVu Sans"/>
              </a:defRPr>
            </a:pPr>
            <a:r>
              <a:t>хүртээмжгүй бол өрхийг</a:t>
            </a:r>
          </a:p>
          <a:p>
            <a:pPr>
              <a:lnSpc>
                <a:spcPts val="1921"/>
              </a:lnSpc>
              <a:spcBef>
                <a:spcPts val="0"/>
              </a:spcBef>
              <a:spcAft>
                <a:spcPts val="0"/>
              </a:spcAft>
              <a:defRPr sz="1575" b="0">
                <a:solidFill>
                  <a:srgbClr val="F4F5F4"/>
                </a:solidFill>
                <a:latin typeface="DejaVu Sans"/>
              </a:defRPr>
            </a:pPr>
            <a:r>
              <a:t>дангаар буруутгаж болохгүй.</a:t>
            </a:r>
          </a:p>
          <a:p>
            <a:pPr>
              <a:lnSpc>
                <a:spcPts val="1921"/>
              </a:lnSpc>
              <a:spcBef>
                <a:spcPts val="0"/>
              </a:spcBef>
              <a:spcAft>
                <a:spcPts val="0"/>
              </a:spcAft>
              <a:defRPr sz="1575" b="0">
                <a:solidFill>
                  <a:srgbClr val="F4F5F4"/>
                </a:solidFill>
                <a:latin typeface="DejaVu Sans"/>
              </a:defRPr>
            </a:pPr>
            <a:r>
              <a:t>Бүртгэл шинэчлэх, тайлбар</a:t>
            </a:r>
          </a:p>
          <a:p>
            <a:pPr>
              <a:lnSpc>
                <a:spcPts val="1921"/>
              </a:lnSpc>
              <a:spcBef>
                <a:spcPts val="0"/>
              </a:spcBef>
              <a:spcAft>
                <a:spcPts val="0"/>
              </a:spcAft>
              <a:defRPr sz="1575" b="0">
                <a:solidFill>
                  <a:srgbClr val="F4F5F4"/>
                </a:solidFill>
                <a:latin typeface="DejaVu Sans"/>
              </a:defRPr>
            </a:pPr>
            <a:r>
              <a:t>авах, гомдол гаргах боломж</a:t>
            </a:r>
          </a:p>
          <a:p>
            <a:pPr>
              <a:lnSpc>
                <a:spcPts val="1921"/>
              </a:lnSpc>
              <a:spcBef>
                <a:spcPts val="0"/>
              </a:spcBef>
              <a:spcAft>
                <a:spcPts val="0"/>
              </a:spcAft>
              <a:defRPr sz="1575" b="0">
                <a:solidFill>
                  <a:srgbClr val="F4F5F4"/>
                </a:solidFill>
                <a:latin typeface="DejaVu Sans"/>
              </a:defRPr>
            </a:pPr>
            <a:r>
              <a:t>чухал.</a:t>
            </a:r>
          </a:p>
        </p:txBody>
      </p:sp>
      <p:sp>
        <p:nvSpPr>
          <p:cNvPr id="58" name="Rounded Rectangle 57"/>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Монголд авах санаа: тэтгэмжийг үйлчилгээтэй холбохдоо тухайн үйлчилгээ бодитоор хүрдэг эсэхийг шалгана.</a:t>
            </a:r>
          </a:p>
        </p:txBody>
      </p:sp>
      <p:sp>
        <p:nvSpPr>
          <p:cNvPr id="65" name="Rectangle 64"/>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BRA</a:t>
            </a:r>
          </a:p>
        </p:txBody>
      </p:sp>
      <p:sp>
        <p:nvSpPr>
          <p:cNvPr id="67" name="TextBox 66"/>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8" name="TextBox 67"/>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07 / МОНГОЛД ХЭРЭГЖҮҮЛЭХ САНАЛ</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9620250" cy="857250"/>
          </a:xfrm>
          <a:prstGeom prst="rect">
            <a:avLst/>
          </a:prstGeom>
          <a:noFill/>
        </p:spPr>
        <p:txBody>
          <a:bodyPr wrap="none" lIns="0" tIns="0" rIns="0" bIns="0">
            <a:spAutoFit/>
          </a:bodyPr>
          <a:lstStyle/>
          <a:p>
            <a:pPr>
              <a:lnSpc>
                <a:spcPts val="5215"/>
              </a:lnSpc>
              <a:spcBef>
                <a:spcPts val="0"/>
              </a:spcBef>
              <a:spcAft>
                <a:spcPts val="0"/>
              </a:spcAft>
              <a:defRPr sz="4275" b="1">
                <a:solidFill>
                  <a:srgbClr val="030A13"/>
                </a:solidFill>
                <a:latin typeface="Open Sans Condensed"/>
              </a:defRPr>
            </a:pPr>
            <a:r>
              <a:t>МОНГОЛД / 5 БОДИТ АЛХАМ</a:t>
            </a:r>
          </a:p>
        </p:txBody>
      </p:sp>
      <p:sp>
        <p:nvSpPr>
          <p:cNvPr id="35" name="TextBox 34"/>
          <p:cNvSpPr txBox="1"/>
          <p:nvPr/>
        </p:nvSpPr>
        <p:spPr>
          <a:xfrm>
            <a:off x="457200" y="942975"/>
            <a:ext cx="9620250" cy="857250"/>
          </a:xfrm>
          <a:prstGeom prst="rect">
            <a:avLst/>
          </a:prstGeom>
          <a:noFill/>
        </p:spPr>
        <p:txBody>
          <a:bodyPr wrap="none" lIns="0" tIns="0" rIns="0" bIns="0">
            <a:spAutoFit/>
          </a:bodyPr>
          <a:lstStyle/>
          <a:p>
            <a:pPr>
              <a:lnSpc>
                <a:spcPts val="5215"/>
              </a:lnSpc>
              <a:spcBef>
                <a:spcPts val="0"/>
              </a:spcBef>
              <a:spcAft>
                <a:spcPts val="0"/>
              </a:spcAft>
              <a:defRPr sz="4275" b="1">
                <a:solidFill>
                  <a:srgbClr val="F4F5F4"/>
                </a:solidFill>
                <a:latin typeface="Open Sans Condensed"/>
              </a:defRPr>
            </a:pPr>
            <a:r>
              <a:t>МОНГОЛД / 5 БОДИТ АЛХАМ</a:t>
            </a:r>
          </a:p>
        </p:txBody>
      </p:sp>
      <p:sp>
        <p:nvSpPr>
          <p:cNvPr id="36" name="Rounded Rectangle 35"/>
          <p:cNvSpPr/>
          <p:nvPr/>
        </p:nvSpPr>
        <p:spPr>
          <a:xfrm>
            <a:off x="523874" y="2190750"/>
            <a:ext cx="11277600" cy="3695700"/>
          </a:xfrm>
          <a:prstGeom prst="roundRect">
            <a:avLst>
              <a:gd name="adj" fmla="val 309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085975"/>
            <a:ext cx="11277600" cy="3695700"/>
          </a:xfrm>
          <a:prstGeom prst="roundRect">
            <a:avLst>
              <a:gd name="adj" fmla="val 257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095499"/>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114550"/>
            <a:ext cx="19050" cy="3638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57626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700" y="2295525"/>
            <a:ext cx="590550" cy="409575"/>
          </a:xfrm>
          <a:prstGeom prst="rect">
            <a:avLst/>
          </a:prstGeom>
          <a:noFill/>
        </p:spPr>
        <p:txBody>
          <a:bodyPr wrap="none" lIns="0" tIns="0" rIns="0" bIns="0">
            <a:spAutoFit/>
          </a:bodyPr>
          <a:lstStyle/>
          <a:p>
            <a:pPr>
              <a:lnSpc>
                <a:spcPts val="2653"/>
              </a:lnSpc>
              <a:spcBef>
                <a:spcPts val="0"/>
              </a:spcBef>
              <a:spcAft>
                <a:spcPts val="0"/>
              </a:spcAft>
              <a:defRPr sz="2175" b="1">
                <a:solidFill>
                  <a:srgbClr val="F1C75B"/>
                </a:solidFill>
                <a:latin typeface="Open Sans Condensed"/>
              </a:defRPr>
            </a:pPr>
            <a:r>
              <a:t>01</a:t>
            </a:r>
          </a:p>
        </p:txBody>
      </p:sp>
      <p:sp>
        <p:nvSpPr>
          <p:cNvPr id="42" name="TextBox 41"/>
          <p:cNvSpPr txBox="1"/>
          <p:nvPr/>
        </p:nvSpPr>
        <p:spPr>
          <a:xfrm>
            <a:off x="1400175" y="2286000"/>
            <a:ext cx="2867025" cy="4762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Open Sans Condensed"/>
              </a:defRPr>
            </a:pPr>
            <a:r>
              <a:t>Нэг цэгийн хүртээмж</a:t>
            </a:r>
          </a:p>
        </p:txBody>
      </p:sp>
      <p:sp>
        <p:nvSpPr>
          <p:cNvPr id="43" name="TextBox 42"/>
          <p:cNvSpPr txBox="1"/>
          <p:nvPr/>
        </p:nvSpPr>
        <p:spPr>
          <a:xfrm>
            <a:off x="4486275" y="2276475"/>
            <a:ext cx="3581400" cy="504825"/>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Халамж, бүртгэл, хууль зүйн</a:t>
            </a:r>
          </a:p>
          <a:p>
            <a:pPr>
              <a:lnSpc>
                <a:spcPts val="1738"/>
              </a:lnSpc>
              <a:spcBef>
                <a:spcPts val="0"/>
              </a:spcBef>
              <a:spcAft>
                <a:spcPts val="0"/>
              </a:spcAft>
              <a:defRPr sz="1425" b="0">
                <a:solidFill>
                  <a:srgbClr val="F4F5F4"/>
                </a:solidFill>
                <a:latin typeface="DejaVu Sans"/>
              </a:defRPr>
            </a:pPr>
            <a:r>
              <a:t>мэдээллийг холбох</a:t>
            </a:r>
          </a:p>
        </p:txBody>
      </p:sp>
      <p:sp>
        <p:nvSpPr>
          <p:cNvPr id="44" name="TextBox 43"/>
          <p:cNvSpPr txBox="1"/>
          <p:nvPr/>
        </p:nvSpPr>
        <p:spPr>
          <a:xfrm>
            <a:off x="8420100" y="2276475"/>
            <a:ext cx="3095625" cy="504825"/>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Хүсэлт шийдвэрлэх хугацаа;</a:t>
            </a:r>
          </a:p>
          <a:p>
            <a:pPr>
              <a:lnSpc>
                <a:spcPts val="1647"/>
              </a:lnSpc>
              <a:spcBef>
                <a:spcPts val="0"/>
              </a:spcBef>
              <a:spcAft>
                <a:spcPts val="0"/>
              </a:spcAft>
              <a:defRPr sz="1350" b="0">
                <a:solidFill>
                  <a:srgbClr val="B3C2D3"/>
                </a:solidFill>
                <a:latin typeface="DejaVu Sans"/>
              </a:defRPr>
            </a:pPr>
            <a:r>
              <a:t>давтан очилт</a:t>
            </a:r>
          </a:p>
        </p:txBody>
      </p:sp>
      <p:cxnSp>
        <p:nvCxnSpPr>
          <p:cNvPr id="45" name="Connector 44"/>
          <p:cNvCxnSpPr/>
          <p:nvPr/>
        </p:nvCxnSpPr>
        <p:spPr>
          <a:xfrm>
            <a:off x="638175" y="2838450"/>
            <a:ext cx="10887075" cy="0"/>
          </a:xfrm>
          <a:prstGeom prst="line">
            <a:avLst/>
          </a:prstGeom>
          <a:ln w="6667">
            <a:solidFill>
              <a:srgbClr val="2D425B"/>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47700" y="2990850"/>
            <a:ext cx="590550" cy="409575"/>
          </a:xfrm>
          <a:prstGeom prst="rect">
            <a:avLst/>
          </a:prstGeom>
          <a:noFill/>
        </p:spPr>
        <p:txBody>
          <a:bodyPr wrap="none" lIns="0" tIns="0" rIns="0" bIns="0">
            <a:spAutoFit/>
          </a:bodyPr>
          <a:lstStyle/>
          <a:p>
            <a:pPr>
              <a:lnSpc>
                <a:spcPts val="2653"/>
              </a:lnSpc>
              <a:spcBef>
                <a:spcPts val="0"/>
              </a:spcBef>
              <a:spcAft>
                <a:spcPts val="0"/>
              </a:spcAft>
              <a:defRPr sz="2175" b="1">
                <a:solidFill>
                  <a:srgbClr val="F1C75B"/>
                </a:solidFill>
                <a:latin typeface="Open Sans Condensed"/>
              </a:defRPr>
            </a:pPr>
            <a:r>
              <a:t>02</a:t>
            </a:r>
          </a:p>
        </p:txBody>
      </p:sp>
      <p:sp>
        <p:nvSpPr>
          <p:cNvPr id="47" name="TextBox 46"/>
          <p:cNvSpPr txBox="1"/>
          <p:nvPr/>
        </p:nvSpPr>
        <p:spPr>
          <a:xfrm>
            <a:off x="1400175" y="2981325"/>
            <a:ext cx="2867025" cy="4762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Open Sans Condensed"/>
              </a:defRPr>
            </a:pPr>
            <a:r>
              <a:t>Гомдлын бодит механизм</a:t>
            </a:r>
          </a:p>
        </p:txBody>
      </p:sp>
      <p:sp>
        <p:nvSpPr>
          <p:cNvPr id="48" name="TextBox 47"/>
          <p:cNvSpPr txBox="1"/>
          <p:nvPr/>
        </p:nvSpPr>
        <p:spPr>
          <a:xfrm>
            <a:off x="4486275" y="2971800"/>
            <a:ext cx="3581400" cy="504825"/>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Шийдвэрийн үндэслэл, хянуулах</a:t>
            </a:r>
          </a:p>
          <a:p>
            <a:pPr>
              <a:lnSpc>
                <a:spcPts val="1738"/>
              </a:lnSpc>
              <a:spcBef>
                <a:spcPts val="0"/>
              </a:spcBef>
              <a:spcAft>
                <a:spcPts val="0"/>
              </a:spcAft>
              <a:defRPr sz="1425" b="0">
                <a:solidFill>
                  <a:srgbClr val="F4F5F4"/>
                </a:solidFill>
                <a:latin typeface="DejaVu Sans"/>
              </a:defRPr>
            </a:pPr>
            <a:r>
              <a:t>сувгийг мэдээлэх</a:t>
            </a:r>
          </a:p>
        </p:txBody>
      </p:sp>
      <p:sp>
        <p:nvSpPr>
          <p:cNvPr id="49" name="TextBox 48"/>
          <p:cNvSpPr txBox="1"/>
          <p:nvPr/>
        </p:nvSpPr>
        <p:spPr>
          <a:xfrm>
            <a:off x="8420100" y="2971800"/>
            <a:ext cx="3095625" cy="504825"/>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Хугацаандаа шийдсэн гомдлын</a:t>
            </a:r>
          </a:p>
          <a:p>
            <a:pPr>
              <a:lnSpc>
                <a:spcPts val="1647"/>
              </a:lnSpc>
              <a:spcBef>
                <a:spcPts val="0"/>
              </a:spcBef>
              <a:spcAft>
                <a:spcPts val="0"/>
              </a:spcAft>
              <a:defRPr sz="1350" b="0">
                <a:solidFill>
                  <a:srgbClr val="B3C2D3"/>
                </a:solidFill>
                <a:latin typeface="DejaVu Sans"/>
              </a:defRPr>
            </a:pPr>
            <a:r>
              <a:t>хувь</a:t>
            </a:r>
          </a:p>
        </p:txBody>
      </p:sp>
      <p:cxnSp>
        <p:nvCxnSpPr>
          <p:cNvPr id="50" name="Connector 49"/>
          <p:cNvCxnSpPr/>
          <p:nvPr/>
        </p:nvCxnSpPr>
        <p:spPr>
          <a:xfrm>
            <a:off x="638175" y="3533775"/>
            <a:ext cx="10887075" cy="0"/>
          </a:xfrm>
          <a:prstGeom prst="line">
            <a:avLst/>
          </a:prstGeom>
          <a:ln w="6667">
            <a:solidFill>
              <a:srgbClr val="2D425B"/>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47700" y="3686175"/>
            <a:ext cx="590550" cy="409575"/>
          </a:xfrm>
          <a:prstGeom prst="rect">
            <a:avLst/>
          </a:prstGeom>
          <a:noFill/>
        </p:spPr>
        <p:txBody>
          <a:bodyPr wrap="none" lIns="0" tIns="0" rIns="0" bIns="0">
            <a:spAutoFit/>
          </a:bodyPr>
          <a:lstStyle/>
          <a:p>
            <a:pPr>
              <a:lnSpc>
                <a:spcPts val="2653"/>
              </a:lnSpc>
              <a:spcBef>
                <a:spcPts val="0"/>
              </a:spcBef>
              <a:spcAft>
                <a:spcPts val="0"/>
              </a:spcAft>
              <a:defRPr sz="2175" b="1">
                <a:solidFill>
                  <a:srgbClr val="F1C75B"/>
                </a:solidFill>
                <a:latin typeface="Open Sans Condensed"/>
              </a:defRPr>
            </a:pPr>
            <a:r>
              <a:t>03</a:t>
            </a:r>
          </a:p>
        </p:txBody>
      </p:sp>
      <p:sp>
        <p:nvSpPr>
          <p:cNvPr id="52" name="TextBox 51"/>
          <p:cNvSpPr txBox="1"/>
          <p:nvPr/>
        </p:nvSpPr>
        <p:spPr>
          <a:xfrm>
            <a:off x="1400175" y="3676649"/>
            <a:ext cx="2867025" cy="476250"/>
          </a:xfrm>
          <a:prstGeom prst="rect">
            <a:avLst/>
          </a:prstGeom>
          <a:noFill/>
        </p:spPr>
        <p:txBody>
          <a:bodyPr wrap="none" lIns="0" tIns="0" rIns="0" bIns="0">
            <a:spAutoFit/>
          </a:bodyPr>
          <a:lstStyle/>
          <a:p>
            <a:pPr>
              <a:lnSpc>
                <a:spcPts val="1848"/>
              </a:lnSpc>
              <a:spcBef>
                <a:spcPts val="0"/>
              </a:spcBef>
              <a:spcAft>
                <a:spcPts val="0"/>
              </a:spcAft>
              <a:defRPr sz="1515" b="1">
                <a:solidFill>
                  <a:srgbClr val="F4F5F4"/>
                </a:solidFill>
                <a:latin typeface="Open Sans Condensed"/>
              </a:defRPr>
            </a:pPr>
            <a:r>
              <a:t>Суурь үйлчилгээний саад</a:t>
            </a:r>
          </a:p>
          <a:p>
            <a:pPr>
              <a:lnSpc>
                <a:spcPts val="1848"/>
              </a:lnSpc>
              <a:spcBef>
                <a:spcPts val="0"/>
              </a:spcBef>
              <a:spcAft>
                <a:spcPts val="0"/>
              </a:spcAft>
              <a:defRPr sz="1515" b="1">
                <a:solidFill>
                  <a:srgbClr val="F4F5F4"/>
                </a:solidFill>
                <a:latin typeface="Open Sans Condensed"/>
              </a:defRPr>
            </a:pPr>
            <a:r>
              <a:t>бууруулах</a:t>
            </a:r>
          </a:p>
        </p:txBody>
      </p:sp>
      <p:sp>
        <p:nvSpPr>
          <p:cNvPr id="53" name="TextBox 52"/>
          <p:cNvSpPr txBox="1"/>
          <p:nvPr/>
        </p:nvSpPr>
        <p:spPr>
          <a:xfrm>
            <a:off x="4486275" y="3667125"/>
            <a:ext cx="3581400" cy="504825"/>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Тээвэр, хүртээмж, сургалтын далд</a:t>
            </a:r>
          </a:p>
          <a:p>
            <a:pPr>
              <a:lnSpc>
                <a:spcPts val="1738"/>
              </a:lnSpc>
              <a:spcBef>
                <a:spcPts val="0"/>
              </a:spcBef>
              <a:spcAft>
                <a:spcPts val="0"/>
              </a:spcAft>
              <a:defRPr sz="1425" b="0">
                <a:solidFill>
                  <a:srgbClr val="F4F5F4"/>
                </a:solidFill>
                <a:latin typeface="DejaVu Sans"/>
              </a:defRPr>
            </a:pPr>
            <a:r>
              <a:t>зардлын дэмжлэг</a:t>
            </a:r>
          </a:p>
        </p:txBody>
      </p:sp>
      <p:sp>
        <p:nvSpPr>
          <p:cNvPr id="54" name="TextBox 53"/>
          <p:cNvSpPr txBox="1"/>
          <p:nvPr/>
        </p:nvSpPr>
        <p:spPr>
          <a:xfrm>
            <a:off x="8420100" y="3667125"/>
            <a:ext cx="3095625" cy="504825"/>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Хичээлийн ирц; үйлчилгээ</a:t>
            </a:r>
          </a:p>
          <a:p>
            <a:pPr>
              <a:lnSpc>
                <a:spcPts val="1647"/>
              </a:lnSpc>
              <a:spcBef>
                <a:spcPts val="0"/>
              </a:spcBef>
              <a:spcAft>
                <a:spcPts val="0"/>
              </a:spcAft>
              <a:defRPr sz="1350" b="0">
                <a:solidFill>
                  <a:srgbClr val="B3C2D3"/>
                </a:solidFill>
                <a:latin typeface="DejaVu Sans"/>
              </a:defRPr>
            </a:pPr>
            <a:r>
              <a:t>тасалдсан тохиолдол</a:t>
            </a:r>
          </a:p>
        </p:txBody>
      </p:sp>
      <p:cxnSp>
        <p:nvCxnSpPr>
          <p:cNvPr id="55" name="Connector 54"/>
          <p:cNvCxnSpPr/>
          <p:nvPr/>
        </p:nvCxnSpPr>
        <p:spPr>
          <a:xfrm>
            <a:off x="638175" y="4229100"/>
            <a:ext cx="10887075" cy="0"/>
          </a:xfrm>
          <a:prstGeom prst="line">
            <a:avLst/>
          </a:prstGeom>
          <a:ln w="6667">
            <a:solidFill>
              <a:srgbClr val="2D425B"/>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47700" y="4381500"/>
            <a:ext cx="590550" cy="409575"/>
          </a:xfrm>
          <a:prstGeom prst="rect">
            <a:avLst/>
          </a:prstGeom>
          <a:noFill/>
        </p:spPr>
        <p:txBody>
          <a:bodyPr wrap="none" lIns="0" tIns="0" rIns="0" bIns="0">
            <a:spAutoFit/>
          </a:bodyPr>
          <a:lstStyle/>
          <a:p>
            <a:pPr>
              <a:lnSpc>
                <a:spcPts val="2653"/>
              </a:lnSpc>
              <a:spcBef>
                <a:spcPts val="0"/>
              </a:spcBef>
              <a:spcAft>
                <a:spcPts val="0"/>
              </a:spcAft>
              <a:defRPr sz="2175" b="1">
                <a:solidFill>
                  <a:srgbClr val="F1C75B"/>
                </a:solidFill>
                <a:latin typeface="Open Sans Condensed"/>
              </a:defRPr>
            </a:pPr>
            <a:r>
              <a:t>04</a:t>
            </a:r>
          </a:p>
        </p:txBody>
      </p:sp>
      <p:sp>
        <p:nvSpPr>
          <p:cNvPr id="57" name="TextBox 56"/>
          <p:cNvSpPr txBox="1"/>
          <p:nvPr/>
        </p:nvSpPr>
        <p:spPr>
          <a:xfrm>
            <a:off x="1400175" y="4371975"/>
            <a:ext cx="2867025" cy="4762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Open Sans Condensed"/>
              </a:defRPr>
            </a:pPr>
            <a:r>
              <a:t>Орлогын хамгаалал</a:t>
            </a:r>
          </a:p>
        </p:txBody>
      </p:sp>
      <p:sp>
        <p:nvSpPr>
          <p:cNvPr id="58" name="TextBox 57"/>
          <p:cNvSpPr txBox="1"/>
          <p:nvPr/>
        </p:nvSpPr>
        <p:spPr>
          <a:xfrm>
            <a:off x="4486275" y="4362450"/>
            <a:ext cx="3581400" cy="504825"/>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Эрсдэлд тохирсон дэмжлэг,</a:t>
            </a:r>
          </a:p>
          <a:p>
            <a:pPr>
              <a:lnSpc>
                <a:spcPts val="1738"/>
              </a:lnSpc>
              <a:spcBef>
                <a:spcPts val="0"/>
              </a:spcBef>
              <a:spcAft>
                <a:spcPts val="0"/>
              </a:spcAft>
              <a:defRPr sz="1425" b="0">
                <a:solidFill>
                  <a:srgbClr val="F4F5F4"/>
                </a:solidFill>
                <a:latin typeface="DejaVu Sans"/>
              </a:defRPr>
            </a:pPr>
            <a:r>
              <a:t>хөдөлмөрийн зуучлал</a:t>
            </a:r>
          </a:p>
        </p:txBody>
      </p:sp>
      <p:sp>
        <p:nvSpPr>
          <p:cNvPr id="59" name="TextBox 58"/>
          <p:cNvSpPr txBox="1"/>
          <p:nvPr/>
        </p:nvSpPr>
        <p:spPr>
          <a:xfrm>
            <a:off x="8420100" y="4362450"/>
            <a:ext cx="3095625" cy="504825"/>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Хамрагдалт; эрх бүхий өрхийн</a:t>
            </a:r>
          </a:p>
          <a:p>
            <a:pPr>
              <a:lnSpc>
                <a:spcPts val="1647"/>
              </a:lnSpc>
              <a:spcBef>
                <a:spcPts val="0"/>
              </a:spcBef>
              <a:spcAft>
                <a:spcPts val="0"/>
              </a:spcAft>
              <a:defRPr sz="1350" b="0">
                <a:solidFill>
                  <a:srgbClr val="B3C2D3"/>
                </a:solidFill>
                <a:latin typeface="DejaVu Sans"/>
              </a:defRPr>
            </a:pPr>
            <a:r>
              <a:t>хасагдлын алдаа</a:t>
            </a:r>
          </a:p>
        </p:txBody>
      </p:sp>
      <p:cxnSp>
        <p:nvCxnSpPr>
          <p:cNvPr id="60" name="Connector 59"/>
          <p:cNvCxnSpPr/>
          <p:nvPr/>
        </p:nvCxnSpPr>
        <p:spPr>
          <a:xfrm>
            <a:off x="638175" y="4924425"/>
            <a:ext cx="10887075" cy="0"/>
          </a:xfrm>
          <a:prstGeom prst="line">
            <a:avLst/>
          </a:prstGeom>
          <a:ln w="6667">
            <a:solidFill>
              <a:srgbClr val="2D425B"/>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7700" y="5076825"/>
            <a:ext cx="590550" cy="409575"/>
          </a:xfrm>
          <a:prstGeom prst="rect">
            <a:avLst/>
          </a:prstGeom>
          <a:noFill/>
        </p:spPr>
        <p:txBody>
          <a:bodyPr wrap="none" lIns="0" tIns="0" rIns="0" bIns="0">
            <a:spAutoFit/>
          </a:bodyPr>
          <a:lstStyle/>
          <a:p>
            <a:pPr>
              <a:lnSpc>
                <a:spcPts val="2653"/>
              </a:lnSpc>
              <a:spcBef>
                <a:spcPts val="0"/>
              </a:spcBef>
              <a:spcAft>
                <a:spcPts val="0"/>
              </a:spcAft>
              <a:defRPr sz="2175" b="1">
                <a:solidFill>
                  <a:srgbClr val="F1C75B"/>
                </a:solidFill>
                <a:latin typeface="Open Sans Condensed"/>
              </a:defRPr>
            </a:pPr>
            <a:r>
              <a:t>05</a:t>
            </a:r>
          </a:p>
        </p:txBody>
      </p:sp>
      <p:sp>
        <p:nvSpPr>
          <p:cNvPr id="62" name="TextBox 61"/>
          <p:cNvSpPr txBox="1"/>
          <p:nvPr/>
        </p:nvSpPr>
        <p:spPr>
          <a:xfrm>
            <a:off x="1400175" y="5067300"/>
            <a:ext cx="2867025" cy="4762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Open Sans Condensed"/>
              </a:defRPr>
            </a:pPr>
            <a:r>
              <a:t>Төсвийн үндэслэл, оролцоо</a:t>
            </a:r>
          </a:p>
        </p:txBody>
      </p:sp>
      <p:sp>
        <p:nvSpPr>
          <p:cNvPr id="63" name="TextBox 62"/>
          <p:cNvSpPr txBox="1"/>
          <p:nvPr/>
        </p:nvSpPr>
        <p:spPr>
          <a:xfrm>
            <a:off x="4486275" y="5057775"/>
            <a:ext cx="3581400" cy="504825"/>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Хэрэгцээнд тулгуурласан тооцоо,</a:t>
            </a:r>
          </a:p>
          <a:p>
            <a:pPr>
              <a:lnSpc>
                <a:spcPts val="1738"/>
              </a:lnSpc>
              <a:spcBef>
                <a:spcPts val="0"/>
              </a:spcBef>
              <a:spcAft>
                <a:spcPts val="0"/>
              </a:spcAft>
              <a:defRPr sz="1425" b="0">
                <a:solidFill>
                  <a:srgbClr val="F4F5F4"/>
                </a:solidFill>
                <a:latin typeface="DejaVu Sans"/>
              </a:defRPr>
            </a:pPr>
            <a:r>
              <a:t>иргэдийн санал</a:t>
            </a:r>
          </a:p>
        </p:txBody>
      </p:sp>
      <p:sp>
        <p:nvSpPr>
          <p:cNvPr id="64" name="TextBox 63"/>
          <p:cNvSpPr txBox="1"/>
          <p:nvPr/>
        </p:nvSpPr>
        <p:spPr>
          <a:xfrm>
            <a:off x="8420100" y="5057775"/>
            <a:ext cx="3095625" cy="504825"/>
          </a:xfrm>
          <a:prstGeom prst="rect">
            <a:avLst/>
          </a:prstGeom>
          <a:noFill/>
        </p:spPr>
        <p:txBody>
          <a:bodyPr wrap="none" lIns="0" tIns="0" rIns="0" bIns="0">
            <a:spAutoFit/>
          </a:bodyPr>
          <a:lstStyle/>
          <a:p>
            <a:pPr>
              <a:lnSpc>
                <a:spcPts val="1647"/>
              </a:lnSpc>
              <a:spcBef>
                <a:spcPts val="0"/>
              </a:spcBef>
              <a:spcAft>
                <a:spcPts val="0"/>
              </a:spcAft>
              <a:defRPr sz="1350" b="0">
                <a:solidFill>
                  <a:srgbClr val="B3C2D3"/>
                </a:solidFill>
                <a:latin typeface="DejaVu Sans"/>
              </a:defRPr>
            </a:pPr>
            <a:r>
              <a:t>Нийтэлсэн аргачлал;</a:t>
            </a:r>
          </a:p>
          <a:p>
            <a:pPr>
              <a:lnSpc>
                <a:spcPts val="1647"/>
              </a:lnSpc>
              <a:spcBef>
                <a:spcPts val="0"/>
              </a:spcBef>
              <a:spcAft>
                <a:spcPts val="0"/>
              </a:spcAft>
              <a:defRPr sz="1350" b="0">
                <a:solidFill>
                  <a:srgbClr val="B3C2D3"/>
                </a:solidFill>
                <a:latin typeface="DejaVu Sans"/>
              </a:defRPr>
            </a:pPr>
            <a:r>
              <a:t>хэрэгжилтийн тайлан</a:t>
            </a:r>
          </a:p>
        </p:txBody>
      </p:sp>
      <p:sp>
        <p:nvSpPr>
          <p:cNvPr id="65" name="Rounded Rectangle 64"/>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Эдгээр нь илтгэлийн бодлогын санал; одоо хүчин төгөлдөр хуульд бүгд заасан гэсэн үг биш.</a:t>
            </a:r>
          </a:p>
        </p:txBody>
      </p:sp>
      <p:sp>
        <p:nvSpPr>
          <p:cNvPr id="72" name="Rectangle 71"/>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 · SDG</a:t>
            </a:r>
          </a:p>
        </p:txBody>
      </p:sp>
      <p:sp>
        <p:nvSpPr>
          <p:cNvPr id="74" name="TextBox 73"/>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5" name="TextBox 74"/>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07 / ЭРХЭЭ ХАМГААЛАХ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9048750" cy="847725"/>
          </a:xfrm>
          <a:prstGeom prst="rect">
            <a:avLst/>
          </a:prstGeom>
          <a:noFill/>
        </p:spPr>
        <p:txBody>
          <a:bodyPr wrap="none" lIns="0" tIns="0" rIns="0" bIns="0">
            <a:spAutoFit/>
          </a:bodyPr>
          <a:lstStyle/>
          <a:p>
            <a:pPr>
              <a:lnSpc>
                <a:spcPts val="5398"/>
              </a:lnSpc>
              <a:spcBef>
                <a:spcPts val="0"/>
              </a:spcBef>
              <a:spcAft>
                <a:spcPts val="0"/>
              </a:spcAft>
              <a:defRPr sz="4425" b="1">
                <a:solidFill>
                  <a:srgbClr val="030A13"/>
                </a:solidFill>
                <a:latin typeface="Open Sans Condensed"/>
              </a:defRPr>
            </a:pPr>
            <a:r>
              <a:t>ЭРХЭЭ ХАМГААЛАХ ЗАМ</a:t>
            </a:r>
          </a:p>
        </p:txBody>
      </p:sp>
      <p:sp>
        <p:nvSpPr>
          <p:cNvPr id="35" name="TextBox 34"/>
          <p:cNvSpPr txBox="1"/>
          <p:nvPr/>
        </p:nvSpPr>
        <p:spPr>
          <a:xfrm>
            <a:off x="457200" y="942975"/>
            <a:ext cx="9048750" cy="847725"/>
          </a:xfrm>
          <a:prstGeom prst="rect">
            <a:avLst/>
          </a:prstGeom>
          <a:noFill/>
        </p:spPr>
        <p:txBody>
          <a:bodyPr wrap="none" lIns="0" tIns="0" rIns="0" bIns="0">
            <a:spAutoFit/>
          </a:bodyPr>
          <a:lstStyle/>
          <a:p>
            <a:pPr>
              <a:lnSpc>
                <a:spcPts val="5398"/>
              </a:lnSpc>
              <a:spcBef>
                <a:spcPts val="0"/>
              </a:spcBef>
              <a:spcAft>
                <a:spcPts val="0"/>
              </a:spcAft>
              <a:defRPr sz="4425" b="1">
                <a:solidFill>
                  <a:srgbClr val="F4F5F4"/>
                </a:solidFill>
                <a:latin typeface="Open Sans Condensed"/>
              </a:defRPr>
            </a:pPr>
            <a:r>
              <a:t>ЭРХЭЭ ХАМГААЛАХ ЗАМ</a:t>
            </a:r>
          </a:p>
        </p:txBody>
      </p:sp>
      <p:sp>
        <p:nvSpPr>
          <p:cNvPr id="36" name="Rounded Rectangle 35"/>
          <p:cNvSpPr/>
          <p:nvPr/>
        </p:nvSpPr>
        <p:spPr>
          <a:xfrm>
            <a:off x="552450" y="2057400"/>
            <a:ext cx="3000226"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85775" y="1952624"/>
            <a:ext cx="3000226"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299" y="1962150"/>
            <a:ext cx="2981176"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99" y="1981199"/>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450" y="2200275"/>
            <a:ext cx="2866876"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0075" y="2009774"/>
            <a:ext cx="2771626"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16.12, 16.14</a:t>
            </a:r>
          </a:p>
        </p:txBody>
      </p:sp>
      <p:sp>
        <p:nvSpPr>
          <p:cNvPr id="42" name="Oval 41"/>
          <p:cNvSpPr/>
          <p:nvPr/>
        </p:nvSpPr>
        <p:spPr>
          <a:xfrm>
            <a:off x="485775" y="2628900"/>
            <a:ext cx="409575" cy="409575"/>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5775" y="2676525"/>
            <a:ext cx="409575"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01</a:t>
            </a:r>
          </a:p>
        </p:txBody>
      </p:sp>
      <p:cxnSp>
        <p:nvCxnSpPr>
          <p:cNvPr id="44" name="Connector 43"/>
          <p:cNvCxnSpPr/>
          <p:nvPr/>
        </p:nvCxnSpPr>
        <p:spPr>
          <a:xfrm>
            <a:off x="695325" y="3048000"/>
            <a:ext cx="0" cy="371475"/>
          </a:xfrm>
          <a:prstGeom prst="line">
            <a:avLst/>
          </a:prstGeom>
          <a:ln w="9525">
            <a:solidFill>
              <a:srgbClr val="F1C75B"/>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152525" y="2619375"/>
            <a:ext cx="6191250" cy="704850"/>
          </a:xfrm>
          <a:prstGeom prst="roundRect">
            <a:avLst>
              <a:gd name="adj" fmla="val 16216"/>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085850" y="2514600"/>
            <a:ext cx="6191250" cy="704850"/>
          </a:xfrm>
          <a:prstGeom prst="roundRect">
            <a:avLst>
              <a:gd name="adj" fmla="val 1351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95375" y="2524125"/>
            <a:ext cx="61722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95375" y="2543175"/>
            <a:ext cx="19050" cy="6477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52525" y="3200400"/>
            <a:ext cx="60579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266825" y="2609850"/>
            <a:ext cx="2362200" cy="504825"/>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Баримтжуулах</a:t>
            </a:r>
          </a:p>
        </p:txBody>
      </p:sp>
      <p:sp>
        <p:nvSpPr>
          <p:cNvPr id="51" name="TextBox 50"/>
          <p:cNvSpPr txBox="1"/>
          <p:nvPr/>
        </p:nvSpPr>
        <p:spPr>
          <a:xfrm>
            <a:off x="3829050" y="2609850"/>
            <a:ext cx="3267075" cy="504825"/>
          </a:xfrm>
          <a:prstGeom prst="rect">
            <a:avLst/>
          </a:prstGeom>
          <a:noFill/>
        </p:spPr>
        <p:txBody>
          <a:bodyPr wrap="none" lIns="0" tIns="0" rIns="0" bIns="0">
            <a:spAutoFit/>
          </a:bodyPr>
          <a:lstStyle/>
          <a:p>
            <a:pPr>
              <a:lnSpc>
                <a:spcPts val="1829"/>
              </a:lnSpc>
              <a:spcBef>
                <a:spcPts val="0"/>
              </a:spcBef>
              <a:spcAft>
                <a:spcPts val="0"/>
              </a:spcAft>
              <a:defRPr sz="1500" b="0">
                <a:solidFill>
                  <a:srgbClr val="B3C2D3"/>
                </a:solidFill>
                <a:latin typeface="DejaVu Sans"/>
              </a:defRPr>
            </a:pPr>
            <a:r>
              <a:t>Хүсэлт, хариу, огноо</a:t>
            </a:r>
          </a:p>
          <a:p>
            <a:pPr>
              <a:lnSpc>
                <a:spcPts val="1829"/>
              </a:lnSpc>
              <a:spcBef>
                <a:spcPts val="0"/>
              </a:spcBef>
              <a:spcAft>
                <a:spcPts val="0"/>
              </a:spcAft>
              <a:defRPr sz="1500" b="0">
                <a:solidFill>
                  <a:srgbClr val="B3C2D3"/>
                </a:solidFill>
                <a:latin typeface="DejaVu Sans"/>
              </a:defRPr>
            </a:pPr>
            <a:r>
              <a:t>Төлбөр, холбогдох баримт</a:t>
            </a:r>
          </a:p>
        </p:txBody>
      </p:sp>
      <p:sp>
        <p:nvSpPr>
          <p:cNvPr id="52" name="Oval 51"/>
          <p:cNvSpPr/>
          <p:nvPr/>
        </p:nvSpPr>
        <p:spPr>
          <a:xfrm>
            <a:off x="485775" y="3438525"/>
            <a:ext cx="409575" cy="409575"/>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85775" y="3486150"/>
            <a:ext cx="409575"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02</a:t>
            </a:r>
          </a:p>
        </p:txBody>
      </p:sp>
      <p:cxnSp>
        <p:nvCxnSpPr>
          <p:cNvPr id="54" name="Connector 53"/>
          <p:cNvCxnSpPr/>
          <p:nvPr/>
        </p:nvCxnSpPr>
        <p:spPr>
          <a:xfrm>
            <a:off x="695325" y="3857625"/>
            <a:ext cx="0" cy="371475"/>
          </a:xfrm>
          <a:prstGeom prst="line">
            <a:avLst/>
          </a:prstGeom>
          <a:ln w="9525">
            <a:solidFill>
              <a:srgbClr val="F1C75B"/>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152525" y="3429000"/>
            <a:ext cx="6191250" cy="704850"/>
          </a:xfrm>
          <a:prstGeom prst="roundRect">
            <a:avLst>
              <a:gd name="adj" fmla="val 16216"/>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085850" y="3324225"/>
            <a:ext cx="6191250" cy="704850"/>
          </a:xfrm>
          <a:prstGeom prst="roundRect">
            <a:avLst>
              <a:gd name="adj" fmla="val 1351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95375" y="3333750"/>
            <a:ext cx="61722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95375" y="3352800"/>
            <a:ext cx="19050" cy="6477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152525" y="4010025"/>
            <a:ext cx="60579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66825" y="3419475"/>
            <a:ext cx="2362200" cy="504825"/>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Үндэслэл авах</a:t>
            </a:r>
          </a:p>
        </p:txBody>
      </p:sp>
      <p:sp>
        <p:nvSpPr>
          <p:cNvPr id="61" name="TextBox 60"/>
          <p:cNvSpPr txBox="1"/>
          <p:nvPr/>
        </p:nvSpPr>
        <p:spPr>
          <a:xfrm>
            <a:off x="3829050" y="3419475"/>
            <a:ext cx="3267075" cy="504825"/>
          </a:xfrm>
          <a:prstGeom prst="rect">
            <a:avLst/>
          </a:prstGeom>
          <a:noFill/>
        </p:spPr>
        <p:txBody>
          <a:bodyPr wrap="none" lIns="0" tIns="0" rIns="0" bIns="0">
            <a:spAutoFit/>
          </a:bodyPr>
          <a:lstStyle/>
          <a:p>
            <a:pPr>
              <a:lnSpc>
                <a:spcPts val="1829"/>
              </a:lnSpc>
              <a:spcBef>
                <a:spcPts val="0"/>
              </a:spcBef>
              <a:spcAft>
                <a:spcPts val="0"/>
              </a:spcAft>
              <a:defRPr sz="1500" b="0">
                <a:solidFill>
                  <a:srgbClr val="B3C2D3"/>
                </a:solidFill>
                <a:latin typeface="DejaVu Sans"/>
              </a:defRPr>
            </a:pPr>
            <a:r>
              <a:t>Татгалзсан шалтгаан</a:t>
            </a:r>
          </a:p>
          <a:p>
            <a:pPr>
              <a:lnSpc>
                <a:spcPts val="1829"/>
              </a:lnSpc>
              <a:spcBef>
                <a:spcPts val="0"/>
              </a:spcBef>
              <a:spcAft>
                <a:spcPts val="0"/>
              </a:spcAft>
              <a:defRPr sz="1500" b="0">
                <a:solidFill>
                  <a:srgbClr val="B3C2D3"/>
                </a:solidFill>
                <a:latin typeface="DejaVu Sans"/>
              </a:defRPr>
            </a:pPr>
            <a:r>
              <a:t>Шалгуур, хууль зүйн үндэс</a:t>
            </a:r>
          </a:p>
        </p:txBody>
      </p:sp>
      <p:sp>
        <p:nvSpPr>
          <p:cNvPr id="62" name="Oval 61"/>
          <p:cNvSpPr/>
          <p:nvPr/>
        </p:nvSpPr>
        <p:spPr>
          <a:xfrm>
            <a:off x="485775" y="4248150"/>
            <a:ext cx="409575" cy="409575"/>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5775" y="4295775"/>
            <a:ext cx="409575"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03</a:t>
            </a:r>
          </a:p>
        </p:txBody>
      </p:sp>
      <p:cxnSp>
        <p:nvCxnSpPr>
          <p:cNvPr id="64" name="Connector 63"/>
          <p:cNvCxnSpPr/>
          <p:nvPr/>
        </p:nvCxnSpPr>
        <p:spPr>
          <a:xfrm>
            <a:off x="695325" y="4667250"/>
            <a:ext cx="0" cy="371475"/>
          </a:xfrm>
          <a:prstGeom prst="line">
            <a:avLst/>
          </a:prstGeom>
          <a:ln w="9525">
            <a:solidFill>
              <a:srgbClr val="F1C75B"/>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1152525" y="4238625"/>
            <a:ext cx="6191250" cy="704850"/>
          </a:xfrm>
          <a:prstGeom prst="roundRect">
            <a:avLst>
              <a:gd name="adj" fmla="val 16216"/>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1085850" y="4133849"/>
            <a:ext cx="6191250" cy="704850"/>
          </a:xfrm>
          <a:prstGeom prst="roundRect">
            <a:avLst>
              <a:gd name="adj" fmla="val 1351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95375" y="4143375"/>
            <a:ext cx="61722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095375" y="4162424"/>
            <a:ext cx="19050" cy="6477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152525" y="4819650"/>
            <a:ext cx="60579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266825" y="4229100"/>
            <a:ext cx="2362200" cy="504825"/>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Хянуулах</a:t>
            </a:r>
          </a:p>
        </p:txBody>
      </p:sp>
      <p:sp>
        <p:nvSpPr>
          <p:cNvPr id="71" name="TextBox 70"/>
          <p:cNvSpPr txBox="1"/>
          <p:nvPr/>
        </p:nvSpPr>
        <p:spPr>
          <a:xfrm>
            <a:off x="3829050" y="4229100"/>
            <a:ext cx="3267075" cy="504825"/>
          </a:xfrm>
          <a:prstGeom prst="rect">
            <a:avLst/>
          </a:prstGeom>
          <a:noFill/>
        </p:spPr>
        <p:txBody>
          <a:bodyPr wrap="none" lIns="0" tIns="0" rIns="0" bIns="0">
            <a:spAutoFit/>
          </a:bodyPr>
          <a:lstStyle/>
          <a:p>
            <a:pPr>
              <a:lnSpc>
                <a:spcPts val="1829"/>
              </a:lnSpc>
              <a:spcBef>
                <a:spcPts val="0"/>
              </a:spcBef>
              <a:spcAft>
                <a:spcPts val="0"/>
              </a:spcAft>
              <a:defRPr sz="1500" b="0">
                <a:solidFill>
                  <a:srgbClr val="B3C2D3"/>
                </a:solidFill>
                <a:latin typeface="DejaVu Sans"/>
              </a:defRPr>
            </a:pPr>
            <a:r>
              <a:t>Эрх бүхий байгууллага</a:t>
            </a:r>
          </a:p>
          <a:p>
            <a:pPr>
              <a:lnSpc>
                <a:spcPts val="1829"/>
              </a:lnSpc>
              <a:spcBef>
                <a:spcPts val="0"/>
              </a:spcBef>
              <a:spcAft>
                <a:spcPts val="0"/>
              </a:spcAft>
              <a:defRPr sz="1500" b="0">
                <a:solidFill>
                  <a:srgbClr val="B3C2D3"/>
                </a:solidFill>
                <a:latin typeface="DejaVu Sans"/>
              </a:defRPr>
            </a:pPr>
            <a:r>
              <a:t>ХЭҮК, хууль зүйн зөвлөгөө</a:t>
            </a:r>
          </a:p>
        </p:txBody>
      </p:sp>
      <p:sp>
        <p:nvSpPr>
          <p:cNvPr id="72" name="Oval 71"/>
          <p:cNvSpPr/>
          <p:nvPr/>
        </p:nvSpPr>
        <p:spPr>
          <a:xfrm>
            <a:off x="485775" y="5057775"/>
            <a:ext cx="409575" cy="409575"/>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85775" y="5105400"/>
            <a:ext cx="409575"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04</a:t>
            </a:r>
          </a:p>
        </p:txBody>
      </p:sp>
      <p:sp>
        <p:nvSpPr>
          <p:cNvPr id="74" name="Rounded Rectangle 73"/>
          <p:cNvSpPr/>
          <p:nvPr/>
        </p:nvSpPr>
        <p:spPr>
          <a:xfrm>
            <a:off x="1152525" y="5048250"/>
            <a:ext cx="6191250" cy="704850"/>
          </a:xfrm>
          <a:prstGeom prst="roundRect">
            <a:avLst>
              <a:gd name="adj" fmla="val 16216"/>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1085850" y="4943475"/>
            <a:ext cx="6191250" cy="704850"/>
          </a:xfrm>
          <a:prstGeom prst="roundRect">
            <a:avLst>
              <a:gd name="adj" fmla="val 1351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95375" y="4953000"/>
            <a:ext cx="61722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95375" y="4972050"/>
            <a:ext cx="19050" cy="6477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152525" y="5629275"/>
            <a:ext cx="60579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266825" y="5038725"/>
            <a:ext cx="2362200" cy="504825"/>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Шүүхээр хамгаалах</a:t>
            </a:r>
          </a:p>
        </p:txBody>
      </p:sp>
      <p:sp>
        <p:nvSpPr>
          <p:cNvPr id="80" name="TextBox 79"/>
          <p:cNvSpPr txBox="1"/>
          <p:nvPr/>
        </p:nvSpPr>
        <p:spPr>
          <a:xfrm>
            <a:off x="3829050" y="5038725"/>
            <a:ext cx="3267075" cy="504825"/>
          </a:xfrm>
          <a:prstGeom prst="rect">
            <a:avLst/>
          </a:prstGeom>
          <a:noFill/>
        </p:spPr>
        <p:txBody>
          <a:bodyPr wrap="none" lIns="0" tIns="0" rIns="0" bIns="0">
            <a:spAutoFit/>
          </a:bodyPr>
          <a:lstStyle/>
          <a:p>
            <a:pPr>
              <a:lnSpc>
                <a:spcPts val="1829"/>
              </a:lnSpc>
              <a:spcBef>
                <a:spcPts val="0"/>
              </a:spcBef>
              <a:spcAft>
                <a:spcPts val="0"/>
              </a:spcAft>
              <a:defRPr sz="1500" b="0">
                <a:solidFill>
                  <a:srgbClr val="B3C2D3"/>
                </a:solidFill>
                <a:latin typeface="DejaVu Sans"/>
              </a:defRPr>
            </a:pPr>
            <a:r>
              <a:t>Маргааны харьяаллыг тогтоох</a:t>
            </a:r>
          </a:p>
          <a:p>
            <a:pPr>
              <a:lnSpc>
                <a:spcPts val="1829"/>
              </a:lnSpc>
              <a:spcBef>
                <a:spcPts val="0"/>
              </a:spcBef>
              <a:spcAft>
                <a:spcPts val="0"/>
              </a:spcAft>
              <a:defRPr sz="1500" b="0">
                <a:solidFill>
                  <a:srgbClr val="B3C2D3"/>
                </a:solidFill>
                <a:latin typeface="DejaVu Sans"/>
              </a:defRPr>
            </a:pPr>
            <a:r>
              <a:t>Хугацаа, журмыг нягтлах</a:t>
            </a:r>
          </a:p>
        </p:txBody>
      </p:sp>
      <p:sp>
        <p:nvSpPr>
          <p:cNvPr id="81" name="Rounded Rectangle 80"/>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Үндсэн хууль • 1992.01.13: 16.12, 16.14. Гомдлын төрөл бүрийн журам, хугацаа өөр.</a:t>
            </a:r>
          </a:p>
        </p:txBody>
      </p:sp>
      <p:sp>
        <p:nvSpPr>
          <p:cNvPr id="88" name="Rectangle 87"/>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a:t>
            </a:r>
          </a:p>
        </p:txBody>
      </p:sp>
      <p:sp>
        <p:nvSpPr>
          <p:cNvPr id="90" name="TextBox 89"/>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91" name="TextBox 90"/>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utur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08 / ДҮГНЭЛТ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6477000" cy="2295525"/>
          </a:xfrm>
          <a:prstGeom prst="rect">
            <a:avLst/>
          </a:prstGeom>
          <a:noFill/>
        </p:spPr>
        <p:txBody>
          <a:bodyPr wrap="none" lIns="0" tIns="0" rIns="0" bIns="0">
            <a:spAutoFit/>
          </a:bodyPr>
          <a:lstStyle/>
          <a:p>
            <a:pPr>
              <a:lnSpc>
                <a:spcPts val="6002"/>
              </a:lnSpc>
              <a:spcBef>
                <a:spcPts val="0"/>
              </a:spcBef>
              <a:spcAft>
                <a:spcPts val="0"/>
              </a:spcAft>
              <a:defRPr sz="4919" b="1">
                <a:solidFill>
                  <a:srgbClr val="030A13"/>
                </a:solidFill>
                <a:latin typeface="Open Sans Condensed"/>
              </a:defRPr>
            </a:pPr>
            <a:r>
              <a:t>НЭР ТӨРТЭЙ</a:t>
            </a:r>
          </a:p>
          <a:p>
            <a:pPr>
              <a:lnSpc>
                <a:spcPts val="6002"/>
              </a:lnSpc>
              <a:spcBef>
                <a:spcPts val="0"/>
              </a:spcBef>
              <a:spcAft>
                <a:spcPts val="0"/>
              </a:spcAft>
              <a:defRPr sz="4919" b="1">
                <a:solidFill>
                  <a:srgbClr val="030A13"/>
                </a:solidFill>
                <a:latin typeface="Open Sans Condensed"/>
              </a:defRPr>
            </a:pPr>
            <a:r>
              <a:t>АМЬДРАЛ БОЛ</a:t>
            </a:r>
          </a:p>
          <a:p>
            <a:pPr>
              <a:lnSpc>
                <a:spcPts val="6002"/>
              </a:lnSpc>
              <a:spcBef>
                <a:spcPts val="0"/>
              </a:spcBef>
              <a:spcAft>
                <a:spcPts val="0"/>
              </a:spcAft>
              <a:defRPr sz="4919" b="1">
                <a:solidFill>
                  <a:srgbClr val="030A13"/>
                </a:solidFill>
                <a:latin typeface="Open Sans Condensed"/>
              </a:defRPr>
            </a:pPr>
            <a:r>
              <a:t>ГОЛ ШАЛГУУР.</a:t>
            </a:r>
          </a:p>
        </p:txBody>
      </p:sp>
      <p:sp>
        <p:nvSpPr>
          <p:cNvPr id="35" name="TextBox 34"/>
          <p:cNvSpPr txBox="1"/>
          <p:nvPr/>
        </p:nvSpPr>
        <p:spPr>
          <a:xfrm>
            <a:off x="457200" y="942975"/>
            <a:ext cx="6477000" cy="2295525"/>
          </a:xfrm>
          <a:prstGeom prst="rect">
            <a:avLst/>
          </a:prstGeom>
          <a:noFill/>
        </p:spPr>
        <p:txBody>
          <a:bodyPr wrap="none" lIns="0" tIns="0" rIns="0" bIns="0">
            <a:spAutoFit/>
          </a:bodyPr>
          <a:lstStyle/>
          <a:p>
            <a:pPr>
              <a:lnSpc>
                <a:spcPts val="6002"/>
              </a:lnSpc>
              <a:spcBef>
                <a:spcPts val="0"/>
              </a:spcBef>
              <a:spcAft>
                <a:spcPts val="0"/>
              </a:spcAft>
              <a:defRPr sz="4919" b="1">
                <a:solidFill>
                  <a:srgbClr val="F4F5F4"/>
                </a:solidFill>
                <a:latin typeface="Open Sans Condensed"/>
              </a:defRPr>
            </a:pPr>
            <a:r>
              <a:t>НЭР ТӨРТЭЙ</a:t>
            </a:r>
          </a:p>
          <a:p>
            <a:pPr>
              <a:lnSpc>
                <a:spcPts val="6002"/>
              </a:lnSpc>
              <a:spcBef>
                <a:spcPts val="0"/>
              </a:spcBef>
              <a:spcAft>
                <a:spcPts val="0"/>
              </a:spcAft>
              <a:defRPr sz="4919" b="1">
                <a:solidFill>
                  <a:srgbClr val="F4F5F4"/>
                </a:solidFill>
                <a:latin typeface="Open Sans Condensed"/>
              </a:defRPr>
            </a:pPr>
            <a:r>
              <a:t>АМЬДРАЛ БОЛ</a:t>
            </a:r>
          </a:p>
          <a:p>
            <a:pPr>
              <a:lnSpc>
                <a:spcPts val="6002"/>
              </a:lnSpc>
              <a:spcBef>
                <a:spcPts val="0"/>
              </a:spcBef>
              <a:spcAft>
                <a:spcPts val="0"/>
              </a:spcAft>
              <a:defRPr sz="4919" b="1">
                <a:solidFill>
                  <a:srgbClr val="F4F5F4"/>
                </a:solidFill>
                <a:latin typeface="Open Sans Condensed"/>
              </a:defRPr>
            </a:pPr>
            <a:r>
              <a:t>ГОЛ ШАЛГУУР.</a:t>
            </a:r>
          </a:p>
        </p:txBody>
      </p:sp>
      <p:sp>
        <p:nvSpPr>
          <p:cNvPr id="36" name="TextBox 35"/>
          <p:cNvSpPr txBox="1"/>
          <p:nvPr/>
        </p:nvSpPr>
        <p:spPr>
          <a:xfrm>
            <a:off x="495299" y="3648075"/>
            <a:ext cx="485775" cy="428625"/>
          </a:xfrm>
          <a:prstGeom prst="rect">
            <a:avLst/>
          </a:prstGeom>
          <a:noFill/>
        </p:spPr>
        <p:txBody>
          <a:bodyPr wrap="none" lIns="0" tIns="0" rIns="0" bIns="0">
            <a:spAutoFit/>
          </a:bodyPr>
          <a:lstStyle/>
          <a:p>
            <a:pPr>
              <a:lnSpc>
                <a:spcPts val="2836"/>
              </a:lnSpc>
              <a:spcBef>
                <a:spcPts val="0"/>
              </a:spcBef>
              <a:spcAft>
                <a:spcPts val="0"/>
              </a:spcAft>
              <a:defRPr sz="2325" b="1">
                <a:solidFill>
                  <a:srgbClr val="F1C75B"/>
                </a:solidFill>
                <a:latin typeface="Open Sans Condensed"/>
              </a:defRPr>
            </a:pPr>
            <a:r>
              <a:t>01</a:t>
            </a:r>
          </a:p>
        </p:txBody>
      </p:sp>
      <p:sp>
        <p:nvSpPr>
          <p:cNvPr id="37" name="TextBox 36"/>
          <p:cNvSpPr txBox="1"/>
          <p:nvPr/>
        </p:nvSpPr>
        <p:spPr>
          <a:xfrm>
            <a:off x="1200150" y="3648075"/>
            <a:ext cx="4648200" cy="295275"/>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Эрх тэгш</a:t>
            </a:r>
          </a:p>
        </p:txBody>
      </p:sp>
      <p:sp>
        <p:nvSpPr>
          <p:cNvPr id="38" name="TextBox 37"/>
          <p:cNvSpPr txBox="1"/>
          <p:nvPr/>
        </p:nvSpPr>
        <p:spPr>
          <a:xfrm>
            <a:off x="1200150" y="3971925"/>
            <a:ext cx="4648200" cy="361950"/>
          </a:xfrm>
          <a:prstGeom prst="rect">
            <a:avLst/>
          </a:prstGeom>
          <a:noFill/>
        </p:spPr>
        <p:txBody>
          <a:bodyPr wrap="none" lIns="0" tIns="0" rIns="0" bIns="0">
            <a:spAutoFit/>
          </a:bodyPr>
          <a:lstStyle/>
          <a:p>
            <a:pPr>
              <a:lnSpc>
                <a:spcPts val="1409"/>
              </a:lnSpc>
              <a:spcBef>
                <a:spcPts val="0"/>
              </a:spcBef>
              <a:spcAft>
                <a:spcPts val="0"/>
              </a:spcAft>
              <a:defRPr sz="1155" b="0">
                <a:solidFill>
                  <a:srgbClr val="F4F5F4"/>
                </a:solidFill>
                <a:latin typeface="DejaVu Sans"/>
              </a:defRPr>
            </a:pPr>
            <a:r>
              <a:t>Орлого бага байх нь хүний эрх, нэр төрийг бууруулахгүй.</a:t>
            </a:r>
          </a:p>
          <a:p>
            <a:pPr>
              <a:lnSpc>
                <a:spcPts val="1409"/>
              </a:lnSpc>
              <a:spcBef>
                <a:spcPts val="0"/>
              </a:spcBef>
              <a:spcAft>
                <a:spcPts val="0"/>
              </a:spcAft>
              <a:defRPr sz="1155" b="0">
                <a:solidFill>
                  <a:srgbClr val="F4F5F4"/>
                </a:solidFill>
                <a:latin typeface="DejaVu Sans"/>
              </a:defRPr>
            </a:pPr>
            <a:r>
              <a:t>Ялгаварлалгүй байдал бол суурь шаардлага.</a:t>
            </a:r>
          </a:p>
        </p:txBody>
      </p:sp>
      <p:sp>
        <p:nvSpPr>
          <p:cNvPr id="39" name="TextBox 38"/>
          <p:cNvSpPr txBox="1"/>
          <p:nvPr/>
        </p:nvSpPr>
        <p:spPr>
          <a:xfrm>
            <a:off x="495299" y="4381500"/>
            <a:ext cx="485775" cy="428625"/>
          </a:xfrm>
          <a:prstGeom prst="rect">
            <a:avLst/>
          </a:prstGeom>
          <a:noFill/>
        </p:spPr>
        <p:txBody>
          <a:bodyPr wrap="none" lIns="0" tIns="0" rIns="0" bIns="0">
            <a:spAutoFit/>
          </a:bodyPr>
          <a:lstStyle/>
          <a:p>
            <a:pPr>
              <a:lnSpc>
                <a:spcPts val="2836"/>
              </a:lnSpc>
              <a:spcBef>
                <a:spcPts val="0"/>
              </a:spcBef>
              <a:spcAft>
                <a:spcPts val="0"/>
              </a:spcAft>
              <a:defRPr sz="2325" b="1">
                <a:solidFill>
                  <a:srgbClr val="F1C75B"/>
                </a:solidFill>
                <a:latin typeface="Open Sans Condensed"/>
              </a:defRPr>
            </a:pPr>
            <a:r>
              <a:t>02</a:t>
            </a:r>
          </a:p>
        </p:txBody>
      </p:sp>
      <p:sp>
        <p:nvSpPr>
          <p:cNvPr id="40" name="TextBox 39"/>
          <p:cNvSpPr txBox="1"/>
          <p:nvPr/>
        </p:nvSpPr>
        <p:spPr>
          <a:xfrm>
            <a:off x="1200150" y="4381500"/>
            <a:ext cx="4648200" cy="295275"/>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Бодит хүртээмж</a:t>
            </a:r>
          </a:p>
        </p:txBody>
      </p:sp>
      <p:sp>
        <p:nvSpPr>
          <p:cNvPr id="41" name="TextBox 40"/>
          <p:cNvSpPr txBox="1"/>
          <p:nvPr/>
        </p:nvSpPr>
        <p:spPr>
          <a:xfrm>
            <a:off x="1200150" y="4705350"/>
            <a:ext cx="4648200" cy="361950"/>
          </a:xfrm>
          <a:prstGeom prst="rect">
            <a:avLst/>
          </a:prstGeom>
          <a:noFill/>
        </p:spPr>
        <p:txBody>
          <a:bodyPr wrap="none" lIns="0" tIns="0" rIns="0" bIns="0">
            <a:spAutoFit/>
          </a:bodyPr>
          <a:lstStyle/>
          <a:p>
            <a:pPr>
              <a:lnSpc>
                <a:spcPts val="1409"/>
              </a:lnSpc>
              <a:spcBef>
                <a:spcPts val="0"/>
              </a:spcBef>
              <a:spcAft>
                <a:spcPts val="0"/>
              </a:spcAft>
              <a:defRPr sz="1155" b="0">
                <a:solidFill>
                  <a:srgbClr val="F4F5F4"/>
                </a:solidFill>
                <a:latin typeface="DejaVu Sans"/>
              </a:defRPr>
            </a:pPr>
            <a:r>
              <a:t>Хуулийн заалт нь төсөв, үйлчилгээ, мэдээлэл, орчны</a:t>
            </a:r>
          </a:p>
          <a:p>
            <a:pPr>
              <a:lnSpc>
                <a:spcPts val="1409"/>
              </a:lnSpc>
              <a:spcBef>
                <a:spcPts val="0"/>
              </a:spcBef>
              <a:spcAft>
                <a:spcPts val="0"/>
              </a:spcAft>
              <a:defRPr sz="1155" b="0">
                <a:solidFill>
                  <a:srgbClr val="F4F5F4"/>
                </a:solidFill>
                <a:latin typeface="DejaVu Sans"/>
              </a:defRPr>
            </a:pPr>
            <a:r>
              <a:t>хүртээмжээр дамжин бодит боломж болно.</a:t>
            </a:r>
          </a:p>
        </p:txBody>
      </p:sp>
      <p:sp>
        <p:nvSpPr>
          <p:cNvPr id="42" name="TextBox 41"/>
          <p:cNvSpPr txBox="1"/>
          <p:nvPr/>
        </p:nvSpPr>
        <p:spPr>
          <a:xfrm>
            <a:off x="495299" y="5114925"/>
            <a:ext cx="485775" cy="428625"/>
          </a:xfrm>
          <a:prstGeom prst="rect">
            <a:avLst/>
          </a:prstGeom>
          <a:noFill/>
        </p:spPr>
        <p:txBody>
          <a:bodyPr wrap="none" lIns="0" tIns="0" rIns="0" bIns="0">
            <a:spAutoFit/>
          </a:bodyPr>
          <a:lstStyle/>
          <a:p>
            <a:pPr>
              <a:lnSpc>
                <a:spcPts val="2836"/>
              </a:lnSpc>
              <a:spcBef>
                <a:spcPts val="0"/>
              </a:spcBef>
              <a:spcAft>
                <a:spcPts val="0"/>
              </a:spcAft>
              <a:defRPr sz="2325" b="1">
                <a:solidFill>
                  <a:srgbClr val="F1C75B"/>
                </a:solidFill>
                <a:latin typeface="Open Sans Condensed"/>
              </a:defRPr>
            </a:pPr>
            <a:r>
              <a:t>03</a:t>
            </a:r>
          </a:p>
        </p:txBody>
      </p:sp>
      <p:sp>
        <p:nvSpPr>
          <p:cNvPr id="43" name="TextBox 42"/>
          <p:cNvSpPr txBox="1"/>
          <p:nvPr/>
        </p:nvSpPr>
        <p:spPr>
          <a:xfrm>
            <a:off x="1200150" y="5114925"/>
            <a:ext cx="4648200" cy="295275"/>
          </a:xfrm>
          <a:prstGeom prst="rect">
            <a:avLst/>
          </a:prstGeom>
          <a:noFill/>
        </p:spPr>
        <p:txBody>
          <a:bodyPr wrap="none" lIns="0" tIns="0" rIns="0" bIns="0">
            <a:spAutoFit/>
          </a:bodyPr>
          <a:lstStyle/>
          <a:p>
            <a:pPr>
              <a:lnSpc>
                <a:spcPts val="1921"/>
              </a:lnSpc>
              <a:spcBef>
                <a:spcPts val="0"/>
              </a:spcBef>
              <a:spcAft>
                <a:spcPts val="0"/>
              </a:spcAft>
              <a:defRPr sz="1575" b="1">
                <a:solidFill>
                  <a:srgbClr val="F4F5F4"/>
                </a:solidFill>
                <a:latin typeface="DejaVu Sans"/>
              </a:defRPr>
            </a:pPr>
            <a:r>
              <a:t>Хариуцлага</a:t>
            </a:r>
          </a:p>
        </p:txBody>
      </p:sp>
      <p:sp>
        <p:nvSpPr>
          <p:cNvPr id="44" name="TextBox 43"/>
          <p:cNvSpPr txBox="1"/>
          <p:nvPr/>
        </p:nvSpPr>
        <p:spPr>
          <a:xfrm>
            <a:off x="1200150" y="5438775"/>
            <a:ext cx="4648200" cy="361950"/>
          </a:xfrm>
          <a:prstGeom prst="rect">
            <a:avLst/>
          </a:prstGeom>
          <a:noFill/>
        </p:spPr>
        <p:txBody>
          <a:bodyPr wrap="none" lIns="0" tIns="0" rIns="0" bIns="0">
            <a:spAutoFit/>
          </a:bodyPr>
          <a:lstStyle/>
          <a:p>
            <a:pPr>
              <a:lnSpc>
                <a:spcPts val="1409"/>
              </a:lnSpc>
              <a:spcBef>
                <a:spcPts val="0"/>
              </a:spcBef>
              <a:spcAft>
                <a:spcPts val="0"/>
              </a:spcAft>
              <a:defRPr sz="1155" b="0">
                <a:solidFill>
                  <a:srgbClr val="F4F5F4"/>
                </a:solidFill>
                <a:latin typeface="DejaVu Sans"/>
              </a:defRPr>
            </a:pPr>
            <a:r>
              <a:t>Тооцоолол ил тод, шийдвэр үндэслэлтэй, гомдол хянуулах</a:t>
            </a:r>
          </a:p>
          <a:p>
            <a:pPr>
              <a:lnSpc>
                <a:spcPts val="1409"/>
              </a:lnSpc>
              <a:spcBef>
                <a:spcPts val="0"/>
              </a:spcBef>
              <a:spcAft>
                <a:spcPts val="0"/>
              </a:spcAft>
              <a:defRPr sz="1155" b="0">
                <a:solidFill>
                  <a:srgbClr val="F4F5F4"/>
                </a:solidFill>
                <a:latin typeface="DejaVu Sans"/>
              </a:defRPr>
            </a:pPr>
            <a:r>
              <a:t>боломжтой үед хамгаалалт үр дүнтэй.</a:t>
            </a:r>
          </a:p>
        </p:txBody>
      </p:sp>
      <p:sp>
        <p:nvSpPr>
          <p:cNvPr id="45" name="Rectangle 44"/>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UDHR · ICESCR</a:t>
            </a:r>
          </a:p>
        </p:txBody>
      </p:sp>
      <p:sp>
        <p:nvSpPr>
          <p:cNvPr id="47" name="TextBox 46"/>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48" name="TextBox 47"/>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09 / ЭХ СУРВАЛЖ • 1/2</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10763250" cy="866775"/>
          </a:xfrm>
          <a:prstGeom prst="rect">
            <a:avLst/>
          </a:prstGeom>
          <a:noFill/>
        </p:spPr>
        <p:txBody>
          <a:bodyPr wrap="none" lIns="0" tIns="0" rIns="0" bIns="0">
            <a:spAutoFit/>
          </a:bodyPr>
          <a:lstStyle/>
          <a:p>
            <a:pPr>
              <a:lnSpc>
                <a:spcPts val="4758"/>
              </a:lnSpc>
              <a:spcBef>
                <a:spcPts val="0"/>
              </a:spcBef>
              <a:spcAft>
                <a:spcPts val="0"/>
              </a:spcAft>
              <a:defRPr sz="3900" b="1">
                <a:solidFill>
                  <a:srgbClr val="030A13"/>
                </a:solidFill>
                <a:latin typeface="Open Sans Condensed"/>
              </a:defRPr>
            </a:pPr>
            <a:r>
              <a:t>ЭХ СУРВАЛЖ / ХУУЛЬ, КОНВЕНЦ</a:t>
            </a:r>
          </a:p>
        </p:txBody>
      </p:sp>
      <p:sp>
        <p:nvSpPr>
          <p:cNvPr id="35" name="TextBox 34"/>
          <p:cNvSpPr txBox="1"/>
          <p:nvPr/>
        </p:nvSpPr>
        <p:spPr>
          <a:xfrm>
            <a:off x="457200" y="942975"/>
            <a:ext cx="10763250" cy="866775"/>
          </a:xfrm>
          <a:prstGeom prst="rect">
            <a:avLst/>
          </a:prstGeom>
          <a:noFill/>
        </p:spPr>
        <p:txBody>
          <a:bodyPr wrap="none" lIns="0" tIns="0" rIns="0" bIns="0">
            <a:spAutoFit/>
          </a:bodyPr>
          <a:lstStyle/>
          <a:p>
            <a:pPr>
              <a:lnSpc>
                <a:spcPts val="4758"/>
              </a:lnSpc>
              <a:spcBef>
                <a:spcPts val="0"/>
              </a:spcBef>
              <a:spcAft>
                <a:spcPts val="0"/>
              </a:spcAft>
              <a:defRPr sz="3900" b="1">
                <a:solidFill>
                  <a:srgbClr val="F4F5F4"/>
                </a:solidFill>
                <a:latin typeface="Open Sans Condensed"/>
              </a:defRPr>
            </a:pPr>
            <a:r>
              <a:t>ЭХ СУРВАЛЖ / ХУУЛЬ, КОНВЕНЦ</a:t>
            </a:r>
          </a:p>
        </p:txBody>
      </p:sp>
      <p:sp>
        <p:nvSpPr>
          <p:cNvPr id="36" name="Rounded Rectangle 35"/>
          <p:cNvSpPr/>
          <p:nvPr/>
        </p:nvSpPr>
        <p:spPr>
          <a:xfrm>
            <a:off x="523874" y="2143125"/>
            <a:ext cx="11277600" cy="3743325"/>
          </a:xfrm>
          <a:prstGeom prst="roundRect">
            <a:avLst>
              <a:gd name="adj" fmla="val 3053"/>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038349"/>
            <a:ext cx="11277600" cy="3743325"/>
          </a:xfrm>
          <a:prstGeom prst="roundRect">
            <a:avLst>
              <a:gd name="adj" fmla="val 254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0478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066924"/>
            <a:ext cx="19050" cy="36861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57626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8175" y="21907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ҮХ</a:t>
            </a:r>
          </a:p>
        </p:txBody>
      </p:sp>
      <p:sp>
        <p:nvSpPr>
          <p:cNvPr id="42" name="TextBox 41"/>
          <p:cNvSpPr txBox="1"/>
          <p:nvPr/>
        </p:nvSpPr>
        <p:spPr>
          <a:xfrm>
            <a:off x="1495425" y="21907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Монгол Улсын Үндсэн хууль — 1992.01.13</a:t>
            </a:r>
          </a:p>
        </p:txBody>
      </p:sp>
      <p:cxnSp>
        <p:nvCxnSpPr>
          <p:cNvPr id="43" name="Connector 42"/>
          <p:cNvCxnSpPr/>
          <p:nvPr/>
        </p:nvCxnSpPr>
        <p:spPr>
          <a:xfrm>
            <a:off x="638175" y="26860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44" name="Rectangle 43">
            <a:hlinkClick r:id="rId3"/>
          </p:cNvPr>
          <p:cNvSpPr/>
          <p:nvPr/>
        </p:nvSpPr>
        <p:spPr>
          <a:xfrm>
            <a:off x="638175" y="21907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8175" y="27622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ХТ</a:t>
            </a:r>
          </a:p>
        </p:txBody>
      </p:sp>
      <p:sp>
        <p:nvSpPr>
          <p:cNvPr id="46" name="TextBox 45"/>
          <p:cNvSpPr txBox="1"/>
          <p:nvPr/>
        </p:nvSpPr>
        <p:spPr>
          <a:xfrm>
            <a:off x="1495425" y="27622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Хөдөлмөрийн тухай хууль /шинэчилсэн найруулга/ —</a:t>
            </a:r>
          </a:p>
          <a:p>
            <a:pPr>
              <a:lnSpc>
                <a:spcPts val="1464"/>
              </a:lnSpc>
              <a:spcBef>
                <a:spcPts val="0"/>
              </a:spcBef>
              <a:spcAft>
                <a:spcPts val="0"/>
              </a:spcAft>
              <a:defRPr sz="1200" b="0">
                <a:solidFill>
                  <a:srgbClr val="F4F5F4"/>
                </a:solidFill>
                <a:latin typeface="DejaVu Sans"/>
              </a:defRPr>
            </a:pPr>
            <a:r>
              <a:t>2021.07.02</a:t>
            </a:r>
          </a:p>
        </p:txBody>
      </p:sp>
      <p:cxnSp>
        <p:nvCxnSpPr>
          <p:cNvPr id="47" name="Connector 46"/>
          <p:cNvCxnSpPr/>
          <p:nvPr/>
        </p:nvCxnSpPr>
        <p:spPr>
          <a:xfrm>
            <a:off x="638175" y="32575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48" name="Rectangle 47">
            <a:hlinkClick r:id="rId4"/>
          </p:cNvPr>
          <p:cNvSpPr/>
          <p:nvPr/>
        </p:nvSpPr>
        <p:spPr>
          <a:xfrm>
            <a:off x="638175" y="27622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8175" y="33337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НХ</a:t>
            </a:r>
          </a:p>
        </p:txBody>
      </p:sp>
      <p:sp>
        <p:nvSpPr>
          <p:cNvPr id="50" name="TextBox 49"/>
          <p:cNvSpPr txBox="1"/>
          <p:nvPr/>
        </p:nvSpPr>
        <p:spPr>
          <a:xfrm>
            <a:off x="1495425" y="33337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Нийгмийн халамжийн тухай хууль /шинэчилсэн</a:t>
            </a:r>
          </a:p>
          <a:p>
            <a:pPr>
              <a:lnSpc>
                <a:spcPts val="1464"/>
              </a:lnSpc>
              <a:spcBef>
                <a:spcPts val="0"/>
              </a:spcBef>
              <a:spcAft>
                <a:spcPts val="0"/>
              </a:spcAft>
              <a:defRPr sz="1200" b="0">
                <a:solidFill>
                  <a:srgbClr val="F4F5F4"/>
                </a:solidFill>
                <a:latin typeface="DejaVu Sans"/>
              </a:defRPr>
            </a:pPr>
            <a:r>
              <a:t>найруулга/ — 2012.01.19</a:t>
            </a:r>
          </a:p>
        </p:txBody>
      </p:sp>
      <p:cxnSp>
        <p:nvCxnSpPr>
          <p:cNvPr id="51" name="Connector 50"/>
          <p:cNvCxnSpPr/>
          <p:nvPr/>
        </p:nvCxnSpPr>
        <p:spPr>
          <a:xfrm>
            <a:off x="638175" y="38290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2" name="Rectangle 51">
            <a:hlinkClick r:id="rId4"/>
          </p:cNvPr>
          <p:cNvSpPr/>
          <p:nvPr/>
        </p:nvSpPr>
        <p:spPr>
          <a:xfrm>
            <a:off x="638175" y="33337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8175" y="3905249"/>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БЕХ</a:t>
            </a:r>
          </a:p>
        </p:txBody>
      </p:sp>
      <p:sp>
        <p:nvSpPr>
          <p:cNvPr id="54" name="TextBox 53"/>
          <p:cNvSpPr txBox="1"/>
          <p:nvPr/>
        </p:nvSpPr>
        <p:spPr>
          <a:xfrm>
            <a:off x="1495425" y="3905249"/>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Боловсролын ерөнхий хууль /шинэчилсэн найруулга/</a:t>
            </a:r>
          </a:p>
          <a:p>
            <a:pPr>
              <a:lnSpc>
                <a:spcPts val="1464"/>
              </a:lnSpc>
              <a:spcBef>
                <a:spcPts val="0"/>
              </a:spcBef>
              <a:spcAft>
                <a:spcPts val="0"/>
              </a:spcAft>
              <a:defRPr sz="1200" b="0">
                <a:solidFill>
                  <a:srgbClr val="F4F5F4"/>
                </a:solidFill>
                <a:latin typeface="DejaVu Sans"/>
              </a:defRPr>
            </a:pPr>
            <a:r>
              <a:t>— 2023.07.07</a:t>
            </a:r>
          </a:p>
        </p:txBody>
      </p:sp>
      <p:cxnSp>
        <p:nvCxnSpPr>
          <p:cNvPr id="55" name="Connector 54"/>
          <p:cNvCxnSpPr/>
          <p:nvPr/>
        </p:nvCxnSpPr>
        <p:spPr>
          <a:xfrm>
            <a:off x="638175" y="44005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6" name="Rectangle 55">
            <a:hlinkClick r:id="rId4"/>
          </p:cNvPr>
          <p:cNvSpPr/>
          <p:nvPr/>
        </p:nvSpPr>
        <p:spPr>
          <a:xfrm>
            <a:off x="638175" y="3905249"/>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175" y="44767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ХБХ</a:t>
            </a:r>
          </a:p>
        </p:txBody>
      </p:sp>
      <p:sp>
        <p:nvSpPr>
          <p:cNvPr id="58" name="TextBox 57"/>
          <p:cNvSpPr txBox="1"/>
          <p:nvPr/>
        </p:nvSpPr>
        <p:spPr>
          <a:xfrm>
            <a:off x="1495425" y="44767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Хөгжлийн бэрхшээлтэй хүний эрхийн тухай хууль —</a:t>
            </a:r>
          </a:p>
          <a:p>
            <a:pPr>
              <a:lnSpc>
                <a:spcPts val="1464"/>
              </a:lnSpc>
              <a:spcBef>
                <a:spcPts val="0"/>
              </a:spcBef>
              <a:spcAft>
                <a:spcPts val="0"/>
              </a:spcAft>
              <a:defRPr sz="1200" b="0">
                <a:solidFill>
                  <a:srgbClr val="F4F5F4"/>
                </a:solidFill>
                <a:latin typeface="DejaVu Sans"/>
              </a:defRPr>
            </a:pPr>
            <a:r>
              <a:t>2016.02.05</a:t>
            </a:r>
          </a:p>
        </p:txBody>
      </p:sp>
      <p:cxnSp>
        <p:nvCxnSpPr>
          <p:cNvPr id="59" name="Connector 58"/>
          <p:cNvCxnSpPr/>
          <p:nvPr/>
        </p:nvCxnSpPr>
        <p:spPr>
          <a:xfrm>
            <a:off x="638175" y="49720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60" name="Rectangle 59">
            <a:hlinkClick r:id="rId4"/>
          </p:cNvPr>
          <p:cNvSpPr/>
          <p:nvPr/>
        </p:nvSpPr>
        <p:spPr>
          <a:xfrm>
            <a:off x="638175" y="44767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8175" y="50482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UDHR</a:t>
            </a:r>
          </a:p>
        </p:txBody>
      </p:sp>
      <p:sp>
        <p:nvSpPr>
          <p:cNvPr id="62" name="TextBox 61"/>
          <p:cNvSpPr txBox="1"/>
          <p:nvPr/>
        </p:nvSpPr>
        <p:spPr>
          <a:xfrm>
            <a:off x="1495425" y="50482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Хүний эрхийн түгээмэл тунхаглал — 1948.12.10</a:t>
            </a:r>
          </a:p>
        </p:txBody>
      </p:sp>
      <p:cxnSp>
        <p:nvCxnSpPr>
          <p:cNvPr id="63" name="Connector 62"/>
          <p:cNvCxnSpPr/>
          <p:nvPr/>
        </p:nvCxnSpPr>
        <p:spPr>
          <a:xfrm>
            <a:off x="638175" y="55435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64" name="Rectangle 63">
            <a:hlinkClick r:id="rId5"/>
          </p:cNvPr>
          <p:cNvSpPr/>
          <p:nvPr/>
        </p:nvSpPr>
        <p:spPr>
          <a:xfrm>
            <a:off x="638175" y="50482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38875" y="21907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ICESCR</a:t>
            </a:r>
          </a:p>
        </p:txBody>
      </p:sp>
      <p:sp>
        <p:nvSpPr>
          <p:cNvPr id="66" name="TextBox 65"/>
          <p:cNvSpPr txBox="1"/>
          <p:nvPr/>
        </p:nvSpPr>
        <p:spPr>
          <a:xfrm>
            <a:off x="7096125" y="21907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Эдийн засаг, нийгэм, соёлын эрхийн тухай олон улсын</a:t>
            </a:r>
          </a:p>
          <a:p>
            <a:pPr>
              <a:lnSpc>
                <a:spcPts val="1464"/>
              </a:lnSpc>
              <a:spcBef>
                <a:spcPts val="0"/>
              </a:spcBef>
              <a:spcAft>
                <a:spcPts val="0"/>
              </a:spcAft>
              <a:defRPr sz="1200" b="0">
                <a:solidFill>
                  <a:srgbClr val="F4F5F4"/>
                </a:solidFill>
                <a:latin typeface="DejaVu Sans"/>
              </a:defRPr>
            </a:pPr>
            <a:r>
              <a:t>пакт — 1966.12.16; хүчин төгөлдөр: 1976.01.03</a:t>
            </a:r>
          </a:p>
        </p:txBody>
      </p:sp>
      <p:cxnSp>
        <p:nvCxnSpPr>
          <p:cNvPr id="67" name="Connector 66"/>
          <p:cNvCxnSpPr/>
          <p:nvPr/>
        </p:nvCxnSpPr>
        <p:spPr>
          <a:xfrm>
            <a:off x="6238875" y="26860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68" name="Rectangle 67">
            <a:hlinkClick r:id="rId6"/>
          </p:cNvPr>
          <p:cNvSpPr/>
          <p:nvPr/>
        </p:nvSpPr>
        <p:spPr>
          <a:xfrm>
            <a:off x="6238875" y="21907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38875" y="27622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ICCPR</a:t>
            </a:r>
          </a:p>
        </p:txBody>
      </p:sp>
      <p:sp>
        <p:nvSpPr>
          <p:cNvPr id="70" name="TextBox 69"/>
          <p:cNvSpPr txBox="1"/>
          <p:nvPr/>
        </p:nvSpPr>
        <p:spPr>
          <a:xfrm>
            <a:off x="7096125" y="27622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Иргэний болон улс төрийн эрхийн тухай олон улсын</a:t>
            </a:r>
          </a:p>
          <a:p>
            <a:pPr>
              <a:lnSpc>
                <a:spcPts val="1464"/>
              </a:lnSpc>
              <a:spcBef>
                <a:spcPts val="0"/>
              </a:spcBef>
              <a:spcAft>
                <a:spcPts val="0"/>
              </a:spcAft>
              <a:defRPr sz="1200" b="0">
                <a:solidFill>
                  <a:srgbClr val="F4F5F4"/>
                </a:solidFill>
                <a:latin typeface="DejaVu Sans"/>
              </a:defRPr>
            </a:pPr>
            <a:r>
              <a:t>пакт — 1966.12.16; хүчин төгөлдөр: 1976.03.23</a:t>
            </a:r>
          </a:p>
        </p:txBody>
      </p:sp>
      <p:cxnSp>
        <p:nvCxnSpPr>
          <p:cNvPr id="71" name="Connector 70"/>
          <p:cNvCxnSpPr/>
          <p:nvPr/>
        </p:nvCxnSpPr>
        <p:spPr>
          <a:xfrm>
            <a:off x="6238875" y="32575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72" name="Rectangle 71">
            <a:hlinkClick r:id="rId7"/>
          </p:cNvPr>
          <p:cNvSpPr/>
          <p:nvPr/>
        </p:nvSpPr>
        <p:spPr>
          <a:xfrm>
            <a:off x="6238875" y="27622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38875" y="33337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CRC</a:t>
            </a:r>
          </a:p>
        </p:txBody>
      </p:sp>
      <p:sp>
        <p:nvSpPr>
          <p:cNvPr id="74" name="TextBox 73"/>
          <p:cNvSpPr txBox="1"/>
          <p:nvPr/>
        </p:nvSpPr>
        <p:spPr>
          <a:xfrm>
            <a:off x="7096125" y="33337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Хүүхдийн эрхийн тухай конвенц — 1989.11.20; хүчин</a:t>
            </a:r>
          </a:p>
          <a:p>
            <a:pPr>
              <a:lnSpc>
                <a:spcPts val="1464"/>
              </a:lnSpc>
              <a:spcBef>
                <a:spcPts val="0"/>
              </a:spcBef>
              <a:spcAft>
                <a:spcPts val="0"/>
              </a:spcAft>
              <a:defRPr sz="1200" b="0">
                <a:solidFill>
                  <a:srgbClr val="F4F5F4"/>
                </a:solidFill>
                <a:latin typeface="DejaVu Sans"/>
              </a:defRPr>
            </a:pPr>
            <a:r>
              <a:t>төгөлдөр: 1990.09.02</a:t>
            </a:r>
          </a:p>
        </p:txBody>
      </p:sp>
      <p:cxnSp>
        <p:nvCxnSpPr>
          <p:cNvPr id="75" name="Connector 74"/>
          <p:cNvCxnSpPr/>
          <p:nvPr/>
        </p:nvCxnSpPr>
        <p:spPr>
          <a:xfrm>
            <a:off x="6238875" y="38290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76" name="Rectangle 75">
            <a:hlinkClick r:id="rId8"/>
          </p:cNvPr>
          <p:cNvSpPr/>
          <p:nvPr/>
        </p:nvSpPr>
        <p:spPr>
          <a:xfrm>
            <a:off x="6238875" y="33337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238875" y="3905249"/>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CEDAW</a:t>
            </a:r>
          </a:p>
        </p:txBody>
      </p:sp>
      <p:sp>
        <p:nvSpPr>
          <p:cNvPr id="78" name="TextBox 77"/>
          <p:cNvSpPr txBox="1"/>
          <p:nvPr/>
        </p:nvSpPr>
        <p:spPr>
          <a:xfrm>
            <a:off x="7096125" y="3905249"/>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Эмэгтэйчүүдийг алагчлах бүх хэлбэрийг устгах тухай</a:t>
            </a:r>
          </a:p>
          <a:p>
            <a:pPr>
              <a:lnSpc>
                <a:spcPts val="1464"/>
              </a:lnSpc>
              <a:spcBef>
                <a:spcPts val="0"/>
              </a:spcBef>
              <a:spcAft>
                <a:spcPts val="0"/>
              </a:spcAft>
              <a:defRPr sz="1200" b="0">
                <a:solidFill>
                  <a:srgbClr val="F4F5F4"/>
                </a:solidFill>
                <a:latin typeface="DejaVu Sans"/>
              </a:defRPr>
            </a:pPr>
            <a:r>
              <a:t>конвенц — 1979.12.18; хүчин төгөлдөр: 1981.09.03</a:t>
            </a:r>
          </a:p>
        </p:txBody>
      </p:sp>
      <p:cxnSp>
        <p:nvCxnSpPr>
          <p:cNvPr id="79" name="Connector 78"/>
          <p:cNvCxnSpPr/>
          <p:nvPr/>
        </p:nvCxnSpPr>
        <p:spPr>
          <a:xfrm>
            <a:off x="6238875" y="44005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80" name="Rectangle 79">
            <a:hlinkClick r:id="rId9"/>
          </p:cNvPr>
          <p:cNvSpPr/>
          <p:nvPr/>
        </p:nvSpPr>
        <p:spPr>
          <a:xfrm>
            <a:off x="6238875" y="3905249"/>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38875" y="44767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CRPD</a:t>
            </a:r>
          </a:p>
        </p:txBody>
      </p:sp>
      <p:sp>
        <p:nvSpPr>
          <p:cNvPr id="82" name="TextBox 81"/>
          <p:cNvSpPr txBox="1"/>
          <p:nvPr/>
        </p:nvSpPr>
        <p:spPr>
          <a:xfrm>
            <a:off x="7096125" y="44767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Хөгжлийн бэрхшээлтэй хүмүүсийн эрхийн тухай</a:t>
            </a:r>
          </a:p>
          <a:p>
            <a:pPr>
              <a:lnSpc>
                <a:spcPts val="1464"/>
              </a:lnSpc>
              <a:spcBef>
                <a:spcPts val="0"/>
              </a:spcBef>
              <a:spcAft>
                <a:spcPts val="0"/>
              </a:spcAft>
              <a:defRPr sz="1200" b="0">
                <a:solidFill>
                  <a:srgbClr val="F4F5F4"/>
                </a:solidFill>
                <a:latin typeface="DejaVu Sans"/>
              </a:defRPr>
            </a:pPr>
            <a:r>
              <a:t>конвенц — 2006.12.13; хүчин төгөлдөр: 2008.05.03</a:t>
            </a:r>
          </a:p>
        </p:txBody>
      </p:sp>
      <p:cxnSp>
        <p:nvCxnSpPr>
          <p:cNvPr id="83" name="Connector 82"/>
          <p:cNvCxnSpPr/>
          <p:nvPr/>
        </p:nvCxnSpPr>
        <p:spPr>
          <a:xfrm>
            <a:off x="6238875" y="49720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84" name="Rectangle 83">
            <a:hlinkClick r:id="rId10"/>
          </p:cNvPr>
          <p:cNvSpPr/>
          <p:nvPr/>
        </p:nvSpPr>
        <p:spPr>
          <a:xfrm>
            <a:off x="6238875" y="44767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Албан ёсны эх: legalinfo.mn • ohchr.org. Слайдын тайлбар хэсэгт холбогдох эх сурвалжийн холбоос бий.</a:t>
            </a:r>
          </a:p>
        </p:txBody>
      </p:sp>
      <p:sp>
        <p:nvSpPr>
          <p:cNvPr id="92" name="Rectangle 91"/>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a:t>
            </a:r>
          </a:p>
        </p:txBody>
      </p:sp>
      <p:sp>
        <p:nvSpPr>
          <p:cNvPr id="94" name="TextBox 93"/>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95" name="TextBox 94"/>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09 / ЭХ СУРВАЛЖ • 2/2</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TextBox 33"/>
          <p:cNvSpPr txBox="1"/>
          <p:nvPr/>
        </p:nvSpPr>
        <p:spPr>
          <a:xfrm>
            <a:off x="476250" y="971550"/>
            <a:ext cx="10763250" cy="866775"/>
          </a:xfrm>
          <a:prstGeom prst="rect">
            <a:avLst/>
          </a:prstGeom>
          <a:noFill/>
        </p:spPr>
        <p:txBody>
          <a:bodyPr wrap="none" lIns="0" tIns="0" rIns="0" bIns="0">
            <a:spAutoFit/>
          </a:bodyPr>
          <a:lstStyle/>
          <a:p>
            <a:pPr>
              <a:lnSpc>
                <a:spcPts val="4758"/>
              </a:lnSpc>
              <a:spcBef>
                <a:spcPts val="0"/>
              </a:spcBef>
              <a:spcAft>
                <a:spcPts val="0"/>
              </a:spcAft>
              <a:defRPr sz="3900" b="1">
                <a:solidFill>
                  <a:srgbClr val="030A13"/>
                </a:solidFill>
                <a:latin typeface="Open Sans Condensed"/>
              </a:defRPr>
            </a:pPr>
            <a:r>
              <a:t>ЭХ СУРВАЛЖ / КЕЙС, СУДАЛГАА</a:t>
            </a:r>
          </a:p>
        </p:txBody>
      </p:sp>
      <p:sp>
        <p:nvSpPr>
          <p:cNvPr id="35" name="TextBox 34"/>
          <p:cNvSpPr txBox="1"/>
          <p:nvPr/>
        </p:nvSpPr>
        <p:spPr>
          <a:xfrm>
            <a:off x="457200" y="942975"/>
            <a:ext cx="10763250" cy="866775"/>
          </a:xfrm>
          <a:prstGeom prst="rect">
            <a:avLst/>
          </a:prstGeom>
          <a:noFill/>
        </p:spPr>
        <p:txBody>
          <a:bodyPr wrap="none" lIns="0" tIns="0" rIns="0" bIns="0">
            <a:spAutoFit/>
          </a:bodyPr>
          <a:lstStyle/>
          <a:p>
            <a:pPr>
              <a:lnSpc>
                <a:spcPts val="4758"/>
              </a:lnSpc>
              <a:spcBef>
                <a:spcPts val="0"/>
              </a:spcBef>
              <a:spcAft>
                <a:spcPts val="0"/>
              </a:spcAft>
              <a:defRPr sz="3900" b="1">
                <a:solidFill>
                  <a:srgbClr val="F4F5F4"/>
                </a:solidFill>
                <a:latin typeface="Open Sans Condensed"/>
              </a:defRPr>
            </a:pPr>
            <a:r>
              <a:t>ЭХ СУРВАЛЖ / КЕЙС, СУДАЛГАА</a:t>
            </a:r>
          </a:p>
        </p:txBody>
      </p:sp>
      <p:sp>
        <p:nvSpPr>
          <p:cNvPr id="36" name="Rounded Rectangle 35"/>
          <p:cNvSpPr/>
          <p:nvPr/>
        </p:nvSpPr>
        <p:spPr>
          <a:xfrm>
            <a:off x="523874" y="2143125"/>
            <a:ext cx="11277600" cy="3743325"/>
          </a:xfrm>
          <a:prstGeom prst="roundRect">
            <a:avLst>
              <a:gd name="adj" fmla="val 3053"/>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2038349"/>
            <a:ext cx="11277600" cy="3743325"/>
          </a:xfrm>
          <a:prstGeom prst="roundRect">
            <a:avLst>
              <a:gd name="adj" fmla="val 254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66724" y="20478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724" y="2066924"/>
            <a:ext cx="19050" cy="36861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3874" y="57626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8175" y="21907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POV</a:t>
            </a:r>
          </a:p>
        </p:txBody>
      </p:sp>
      <p:sp>
        <p:nvSpPr>
          <p:cNvPr id="42" name="TextBox 41"/>
          <p:cNvSpPr txBox="1"/>
          <p:nvPr/>
        </p:nvSpPr>
        <p:spPr>
          <a:xfrm>
            <a:off x="1495425" y="21907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ҮСХ, Дэлхийн банк: Mongolia Poverty Update 2022, 2024</a:t>
            </a:r>
          </a:p>
          <a:p>
            <a:pPr>
              <a:lnSpc>
                <a:spcPts val="1464"/>
              </a:lnSpc>
              <a:spcBef>
                <a:spcPts val="0"/>
              </a:spcBef>
              <a:spcAft>
                <a:spcPts val="0"/>
              </a:spcAft>
              <a:defRPr sz="1200" b="0">
                <a:solidFill>
                  <a:srgbClr val="F4F5F4"/>
                </a:solidFill>
                <a:latin typeface="DejaVu Sans"/>
              </a:defRPr>
            </a:pPr>
            <a:r>
              <a:t>онд нийтэлсэн; үндэсний ядуурлын түвшин</a:t>
            </a:r>
          </a:p>
        </p:txBody>
      </p:sp>
      <p:cxnSp>
        <p:nvCxnSpPr>
          <p:cNvPr id="43" name="Connector 42"/>
          <p:cNvCxnSpPr/>
          <p:nvPr/>
        </p:nvCxnSpPr>
        <p:spPr>
          <a:xfrm>
            <a:off x="638175" y="26860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44" name="Rectangle 43">
            <a:hlinkClick r:id="rId3"/>
          </p:cNvPr>
          <p:cNvSpPr/>
          <p:nvPr/>
        </p:nvSpPr>
        <p:spPr>
          <a:xfrm>
            <a:off x="638175" y="21907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8175" y="3019425"/>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GROOT</a:t>
            </a:r>
          </a:p>
        </p:txBody>
      </p:sp>
      <p:sp>
        <p:nvSpPr>
          <p:cNvPr id="46" name="TextBox 45"/>
          <p:cNvSpPr txBox="1"/>
          <p:nvPr/>
        </p:nvSpPr>
        <p:spPr>
          <a:xfrm>
            <a:off x="1495425" y="3019425"/>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Government of the Republic of South Africa v Grootboom</a:t>
            </a:r>
          </a:p>
          <a:p>
            <a:pPr>
              <a:lnSpc>
                <a:spcPts val="1464"/>
              </a:lnSpc>
              <a:spcBef>
                <a:spcPts val="0"/>
              </a:spcBef>
              <a:spcAft>
                <a:spcPts val="0"/>
              </a:spcAft>
              <a:defRPr sz="1200" b="0">
                <a:solidFill>
                  <a:srgbClr val="F4F5F4"/>
                </a:solidFill>
                <a:latin typeface="DejaVu Sans"/>
              </a:defRPr>
            </a:pPr>
            <a:r>
              <a:t>[2000] ZACC 19 — 2000.10.04</a:t>
            </a:r>
          </a:p>
        </p:txBody>
      </p:sp>
      <p:cxnSp>
        <p:nvCxnSpPr>
          <p:cNvPr id="47" name="Connector 46"/>
          <p:cNvCxnSpPr/>
          <p:nvPr/>
        </p:nvCxnSpPr>
        <p:spPr>
          <a:xfrm>
            <a:off x="638175" y="3514725"/>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48" name="Rectangle 47">
            <a:hlinkClick r:id="rId4"/>
          </p:cNvPr>
          <p:cNvSpPr/>
          <p:nvPr/>
        </p:nvSpPr>
        <p:spPr>
          <a:xfrm>
            <a:off x="638175" y="3019425"/>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8175" y="3848099"/>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TAC</a:t>
            </a:r>
          </a:p>
        </p:txBody>
      </p:sp>
      <p:sp>
        <p:nvSpPr>
          <p:cNvPr id="50" name="TextBox 49"/>
          <p:cNvSpPr txBox="1"/>
          <p:nvPr/>
        </p:nvSpPr>
        <p:spPr>
          <a:xfrm>
            <a:off x="1495425" y="3848099"/>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Minister of Health v Treatment Action Campaign (No 2)</a:t>
            </a:r>
          </a:p>
          <a:p>
            <a:pPr>
              <a:lnSpc>
                <a:spcPts val="1464"/>
              </a:lnSpc>
              <a:spcBef>
                <a:spcPts val="0"/>
              </a:spcBef>
              <a:spcAft>
                <a:spcPts val="0"/>
              </a:spcAft>
              <a:defRPr sz="1200" b="0">
                <a:solidFill>
                  <a:srgbClr val="F4F5F4"/>
                </a:solidFill>
                <a:latin typeface="DejaVu Sans"/>
              </a:defRPr>
            </a:pPr>
            <a:r>
              <a:t>[2002] ZACC 15 — 2002.07.05</a:t>
            </a:r>
          </a:p>
        </p:txBody>
      </p:sp>
      <p:cxnSp>
        <p:nvCxnSpPr>
          <p:cNvPr id="51" name="Connector 50"/>
          <p:cNvCxnSpPr/>
          <p:nvPr/>
        </p:nvCxnSpPr>
        <p:spPr>
          <a:xfrm>
            <a:off x="638175" y="434340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2" name="Rectangle 51">
            <a:hlinkClick r:id="rId5"/>
          </p:cNvPr>
          <p:cNvSpPr/>
          <p:nvPr/>
        </p:nvSpPr>
        <p:spPr>
          <a:xfrm>
            <a:off x="638175" y="3848099"/>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8175" y="4676775"/>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GER</a:t>
            </a:r>
          </a:p>
        </p:txBody>
      </p:sp>
      <p:sp>
        <p:nvSpPr>
          <p:cNvPr id="54" name="TextBox 53"/>
          <p:cNvSpPr txBox="1"/>
          <p:nvPr/>
        </p:nvSpPr>
        <p:spPr>
          <a:xfrm>
            <a:off x="1495425" y="4676775"/>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BVerfG, 1 BvL 1/09, 1 BvL 3/09, 1 BvL 4/09 — 2010.02.09,</a:t>
            </a:r>
          </a:p>
          <a:p>
            <a:pPr>
              <a:lnSpc>
                <a:spcPts val="1464"/>
              </a:lnSpc>
              <a:spcBef>
                <a:spcPts val="0"/>
              </a:spcBef>
              <a:spcAft>
                <a:spcPts val="0"/>
              </a:spcAft>
              <a:defRPr sz="1200" b="0">
                <a:solidFill>
                  <a:srgbClr val="F4F5F4"/>
                </a:solidFill>
                <a:latin typeface="DejaVu Sans"/>
              </a:defRPr>
            </a:pPr>
            <a:r>
              <a:t>амьжиргааны доод баталгаа</a:t>
            </a:r>
          </a:p>
        </p:txBody>
      </p:sp>
      <p:cxnSp>
        <p:nvCxnSpPr>
          <p:cNvPr id="55" name="Connector 54"/>
          <p:cNvCxnSpPr/>
          <p:nvPr/>
        </p:nvCxnSpPr>
        <p:spPr>
          <a:xfrm>
            <a:off x="638175" y="5172075"/>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56" name="Rectangle 55">
            <a:hlinkClick r:id="rId6"/>
          </p:cNvPr>
          <p:cNvSpPr/>
          <p:nvPr/>
        </p:nvSpPr>
        <p:spPr>
          <a:xfrm>
            <a:off x="638175" y="4676775"/>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38875" y="2190750"/>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FIN</a:t>
            </a:r>
          </a:p>
        </p:txBody>
      </p:sp>
      <p:sp>
        <p:nvSpPr>
          <p:cNvPr id="58" name="TextBox 57"/>
          <p:cNvSpPr txBox="1"/>
          <p:nvPr/>
        </p:nvSpPr>
        <p:spPr>
          <a:xfrm>
            <a:off x="7096125" y="2190750"/>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Kela: Финландын суурь орлогын туршилт, 2017–2018;</a:t>
            </a:r>
          </a:p>
          <a:p>
            <a:pPr>
              <a:lnSpc>
                <a:spcPts val="1464"/>
              </a:lnSpc>
              <a:spcBef>
                <a:spcPts val="0"/>
              </a:spcBef>
              <a:spcAft>
                <a:spcPts val="0"/>
              </a:spcAft>
              <a:defRPr sz="1200" b="0">
                <a:solidFill>
                  <a:srgbClr val="F4F5F4"/>
                </a:solidFill>
                <a:latin typeface="DejaVu Sans"/>
              </a:defRPr>
            </a:pPr>
            <a:r>
              <a:t>эцсийн үр дүн 2020</a:t>
            </a:r>
          </a:p>
        </p:txBody>
      </p:sp>
      <p:cxnSp>
        <p:nvCxnSpPr>
          <p:cNvPr id="59" name="Connector 58"/>
          <p:cNvCxnSpPr/>
          <p:nvPr/>
        </p:nvCxnSpPr>
        <p:spPr>
          <a:xfrm>
            <a:off x="6238875" y="268605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60" name="Rectangle 59">
            <a:hlinkClick r:id="rId7"/>
          </p:cNvPr>
          <p:cNvSpPr/>
          <p:nvPr/>
        </p:nvSpPr>
        <p:spPr>
          <a:xfrm>
            <a:off x="6238875" y="2190750"/>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8875" y="3019425"/>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BRA</a:t>
            </a:r>
          </a:p>
        </p:txBody>
      </p:sp>
      <p:sp>
        <p:nvSpPr>
          <p:cNvPr id="62" name="TextBox 61"/>
          <p:cNvSpPr txBox="1"/>
          <p:nvPr/>
        </p:nvSpPr>
        <p:spPr>
          <a:xfrm>
            <a:off x="7096125" y="3019425"/>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Бразил: Lei nº 10.836 — 2004.01.09; Lei nº 14.601 —</a:t>
            </a:r>
          </a:p>
          <a:p>
            <a:pPr>
              <a:lnSpc>
                <a:spcPts val="1464"/>
              </a:lnSpc>
              <a:spcBef>
                <a:spcPts val="0"/>
              </a:spcBef>
              <a:spcAft>
                <a:spcPts val="0"/>
              </a:spcAft>
              <a:defRPr sz="1200" b="0">
                <a:solidFill>
                  <a:srgbClr val="F4F5F4"/>
                </a:solidFill>
                <a:latin typeface="DejaVu Sans"/>
              </a:defRPr>
            </a:pPr>
            <a:r>
              <a:t>2023.06.19</a:t>
            </a:r>
          </a:p>
        </p:txBody>
      </p:sp>
      <p:cxnSp>
        <p:nvCxnSpPr>
          <p:cNvPr id="63" name="Connector 62"/>
          <p:cNvCxnSpPr/>
          <p:nvPr/>
        </p:nvCxnSpPr>
        <p:spPr>
          <a:xfrm>
            <a:off x="6238875" y="3514725"/>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64" name="Rectangle 63">
            <a:hlinkClick r:id="rId8"/>
          </p:cNvPr>
          <p:cNvSpPr/>
          <p:nvPr/>
        </p:nvSpPr>
        <p:spPr>
          <a:xfrm>
            <a:off x="6238875" y="3019425"/>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38875" y="3848099"/>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GC3</a:t>
            </a:r>
          </a:p>
        </p:txBody>
      </p:sp>
      <p:sp>
        <p:nvSpPr>
          <p:cNvPr id="66" name="TextBox 65"/>
          <p:cNvSpPr txBox="1"/>
          <p:nvPr/>
        </p:nvSpPr>
        <p:spPr>
          <a:xfrm>
            <a:off x="7096125" y="3848099"/>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CESCR, Ерөнхий тайлбар №3 — 1990.12.14; улсын</a:t>
            </a:r>
          </a:p>
          <a:p>
            <a:pPr>
              <a:lnSpc>
                <a:spcPts val="1464"/>
              </a:lnSpc>
              <a:spcBef>
                <a:spcPts val="0"/>
              </a:spcBef>
              <a:spcAft>
                <a:spcPts val="0"/>
              </a:spcAft>
              <a:defRPr sz="1200" b="0">
                <a:solidFill>
                  <a:srgbClr val="F4F5F4"/>
                </a:solidFill>
                <a:latin typeface="DejaVu Sans"/>
              </a:defRPr>
            </a:pPr>
            <a:r>
              <a:t>үүрэг, доод цөм шаардлага</a:t>
            </a:r>
          </a:p>
        </p:txBody>
      </p:sp>
      <p:cxnSp>
        <p:nvCxnSpPr>
          <p:cNvPr id="67" name="Connector 66"/>
          <p:cNvCxnSpPr/>
          <p:nvPr/>
        </p:nvCxnSpPr>
        <p:spPr>
          <a:xfrm>
            <a:off x="6238875" y="4343400"/>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68" name="Rectangle 67">
            <a:hlinkClick r:id="rId9"/>
          </p:cNvPr>
          <p:cNvSpPr/>
          <p:nvPr/>
        </p:nvSpPr>
        <p:spPr>
          <a:xfrm>
            <a:off x="6238875" y="3848099"/>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38875" y="4676775"/>
            <a:ext cx="752475" cy="304800"/>
          </a:xfrm>
          <a:prstGeom prst="rect">
            <a:avLst/>
          </a:prstGeom>
          <a:noFill/>
        </p:spPr>
        <p:txBody>
          <a:bodyPr wrap="none" lIns="0" tIns="0" rIns="0" bIns="0">
            <a:spAutoFit/>
          </a:bodyPr>
          <a:lstStyle/>
          <a:p>
            <a:pPr>
              <a:lnSpc>
                <a:spcPts val="1189"/>
              </a:lnSpc>
              <a:spcBef>
                <a:spcPts val="0"/>
              </a:spcBef>
              <a:spcAft>
                <a:spcPts val="0"/>
              </a:spcAft>
              <a:defRPr sz="975" b="0">
                <a:solidFill>
                  <a:srgbClr val="F1C75B"/>
                </a:solidFill>
                <a:latin typeface="DejaVu Sans Mono"/>
              </a:defRPr>
            </a:pPr>
            <a:r>
              <a:t>SDG</a:t>
            </a:r>
          </a:p>
        </p:txBody>
      </p:sp>
      <p:sp>
        <p:nvSpPr>
          <p:cNvPr id="70" name="TextBox 69"/>
          <p:cNvSpPr txBox="1"/>
          <p:nvPr/>
        </p:nvSpPr>
        <p:spPr>
          <a:xfrm>
            <a:off x="7096125" y="4676775"/>
            <a:ext cx="4495800" cy="4762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НҮБ, A/RES/70/1 — 2015.09.25, Тогтвортой хөгжлийн</a:t>
            </a:r>
          </a:p>
          <a:p>
            <a:pPr>
              <a:lnSpc>
                <a:spcPts val="1464"/>
              </a:lnSpc>
              <a:spcBef>
                <a:spcPts val="0"/>
              </a:spcBef>
              <a:spcAft>
                <a:spcPts val="0"/>
              </a:spcAft>
              <a:defRPr sz="1200" b="0">
                <a:solidFill>
                  <a:srgbClr val="F4F5F4"/>
                </a:solidFill>
                <a:latin typeface="DejaVu Sans"/>
              </a:defRPr>
            </a:pPr>
            <a:r>
              <a:t>зорилго</a:t>
            </a:r>
          </a:p>
        </p:txBody>
      </p:sp>
      <p:cxnSp>
        <p:nvCxnSpPr>
          <p:cNvPr id="71" name="Connector 70"/>
          <p:cNvCxnSpPr/>
          <p:nvPr/>
        </p:nvCxnSpPr>
        <p:spPr>
          <a:xfrm>
            <a:off x="6238875" y="5172075"/>
            <a:ext cx="5267325" cy="0"/>
          </a:xfrm>
          <a:prstGeom prst="line">
            <a:avLst/>
          </a:prstGeom>
          <a:ln w="6667">
            <a:solidFill>
              <a:srgbClr val="2D425C"/>
            </a:solidFill>
          </a:ln>
        </p:spPr>
        <p:style>
          <a:lnRef idx="2">
            <a:schemeClr val="accent1"/>
          </a:lnRef>
          <a:fillRef idx="0">
            <a:schemeClr val="accent1"/>
          </a:fillRef>
          <a:effectRef idx="1">
            <a:schemeClr val="accent1"/>
          </a:effectRef>
          <a:fontRef idx="minor">
            <a:schemeClr val="tx1"/>
          </a:fontRef>
        </p:style>
      </p:cxnSp>
      <p:sp>
        <p:nvSpPr>
          <p:cNvPr id="72" name="Rectangle 71">
            <a:hlinkClick r:id="rId10"/>
          </p:cNvPr>
          <p:cNvSpPr/>
          <p:nvPr/>
        </p:nvSpPr>
        <p:spPr>
          <a:xfrm>
            <a:off x="6238875" y="4676775"/>
            <a:ext cx="5276850" cy="49529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523874" y="6029325"/>
            <a:ext cx="11277600" cy="352425"/>
          </a:xfrm>
          <a:prstGeom prst="roundRect">
            <a:avLst>
              <a:gd name="adj" fmla="val 32432"/>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457200" y="5924550"/>
            <a:ext cx="11277600" cy="352425"/>
          </a:xfrm>
          <a:prstGeom prst="roundRect">
            <a:avLst>
              <a:gd name="adj" fmla="val 2702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66724" y="59340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66724" y="5953125"/>
            <a:ext cx="19050" cy="295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23874" y="62579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57200" y="596265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9600" y="6000750"/>
            <a:ext cx="10972800" cy="228600"/>
          </a:xfrm>
          <a:prstGeom prst="rect">
            <a:avLst/>
          </a:prstGeom>
          <a:noFill/>
        </p:spPr>
        <p:txBody>
          <a:bodyPr wrap="none" lIns="0" tIns="0" rIns="0" bIns="0">
            <a:spAutoFit/>
          </a:bodyPr>
          <a:lstStyle/>
          <a:p>
            <a:pPr>
              <a:lnSpc>
                <a:spcPts val="1280"/>
              </a:lnSpc>
              <a:spcBef>
                <a:spcPts val="0"/>
              </a:spcBef>
              <a:spcAft>
                <a:spcPts val="0"/>
              </a:spcAft>
              <a:defRPr sz="1050" b="1">
                <a:solidFill>
                  <a:srgbClr val="F4F5F4"/>
                </a:solidFill>
                <a:latin typeface="DejaVu Sans"/>
              </a:defRPr>
            </a:pPr>
            <a:r>
              <a:t>Хязгаарлалт: албан ёсны сайтуудад шууд нэвтрэхийг орчны сүлжээ хаасан; эхүүдийг онлайн дахин тулгаж баталгаажуулаагүй.</a:t>
            </a:r>
          </a:p>
        </p:txBody>
      </p:sp>
      <p:sp>
        <p:nvSpPr>
          <p:cNvPr id="80" name="Rectangle 79"/>
          <p:cNvSpPr/>
          <p:nvPr/>
        </p:nvSpPr>
        <p:spPr>
          <a:xfrm>
            <a:off x="0" y="6457950"/>
            <a:ext cx="12192000" cy="400050"/>
          </a:xfrm>
          <a:prstGeom prst="rect">
            <a:avLst/>
          </a:prstGeom>
          <a:solidFill>
            <a:srgbClr val="08132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7200" y="6581775"/>
            <a:ext cx="7858125" cy="152400"/>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a:t>
            </a:r>
          </a:p>
        </p:txBody>
      </p:sp>
      <p:sp>
        <p:nvSpPr>
          <p:cNvPr id="82" name="TextBox 81"/>
          <p:cNvSpPr txBox="1"/>
          <p:nvPr/>
        </p:nvSpPr>
        <p:spPr>
          <a:xfrm>
            <a:off x="8420100" y="6581775"/>
            <a:ext cx="257175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3" name="TextBox 82"/>
          <p:cNvSpPr txBox="1"/>
          <p:nvPr/>
        </p:nvSpPr>
        <p:spPr>
          <a:xfrm>
            <a:off x="11125200" y="6543675"/>
            <a:ext cx="609600" cy="209550"/>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 — Cinematic 3D Edition</dc:title>
  <dc:subject>МУИС • Багш: Б. Тамир • 30 слайд • Фотореалистик 3D дүрслэл</dc:subject>
  <dc:creator>Б. Саранчимэг · Ш. Түвшинбаяр · Б. Энхзаяа</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