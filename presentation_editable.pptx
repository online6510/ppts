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Илтгэлийн үндсэн санаа: нийгэм, эдийн засгийн байр суурь нь хүний нэр төр, эрхийн үнэ цэнийг бууруулах үндэслэл биш. “Доод давхраа” гэдэг нэр томьёог хүнийг үнэлсэн утгаар бус нийгмийн бүтцийн шинжилгээний утгаар хэрэглэнэ.</a:t>
            </a:r>
          </a:p>
          <a:p/>
          <a:p/>
          <a:p/>
          <a:p>
            <a:r>
              <a:t>Нүүрний архитектурын коллаж нь AI-гаар бүтээсэн концепц дүрслэл; бодит үйл явдлын гэрэл зураг биш.</a:t>
            </a:r>
          </a:p>
          <a:p/>
          <a:p>
            <a:r>
              <a:t>ЭХ СУРВАЛЖ:</a:t>
            </a:r>
          </a:p>
          <a:p>
            <a:r>
              <a:t>[ҮХ] Монгол Улсын Үндсэн хууль — 1992.01.13</a:t>
            </a:r>
          </a:p>
          <a:p>
            <a:r>
              <a:t>https://legalinfo.mn/mn/detail/367</a:t>
            </a:r>
          </a:p>
          <a:p>
            <a:r>
              <a:t>[UDHR] Хүний эрхийн түгээмэл тунхаглал — 1948.12.10</a:t>
            </a:r>
          </a:p>
          <a:p>
            <a:r>
              <a:t>https://www.ohchr.org/en/human-rights/universal-declaration/translations/mongolian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Илтгэл гурван түвшнийг ялгана: эрх зүйн стандарт, бодит хүртээмж, хэрэгжүүлэх механизм. Статистик нь асуудлын хүрээг, шүүхийн шийдвэр нь эрхийн хэрэгжилтийг, улсын харьцуулалт нь бодлогын сонголтыг тайлбарлана.</a:t>
            </a:r>
          </a:p>
          <a:p/>
          <a:p>
            <a:r>
              <a:t>Гол байр суурь: халамжийн асуудлыг эрх, хүртээмж, хариуцлагатай холбож үзнэ.</a:t>
            </a:r>
          </a:p>
          <a:p/>
          <a:p/>
          <a:p/>
          <a:p>
            <a:r>
              <a:t>ЭХ СУРВАЛЖ:</a:t>
            </a:r>
          </a:p>
          <a:p>
            <a:r>
              <a:t>[ҮХ] Монгол Улсын Үндсэн хууль — 1992.01.13</a:t>
            </a:r>
          </a:p>
          <a:p>
            <a:r>
              <a:t>https://legalinfo.mn/mn/detail/367</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Бага орлоготой бүх хүн ижил нөхцөлтэй биш. Өрхийн хэмжээ, асаргааны ачаалал, газар зүйн байршил, хөгжлийн бэрхшээл зэрэг нь ижил орлоготой хүмүүсийн бодит боломжийг өөрчилдөг. UDHR-ийн 1, 2 дугаар зүйл нэр төр ба ялгаварлан гадуурхахгүй байх зарчмын суурь болно.</a:t>
            </a:r>
          </a:p>
          <a:p/>
          <a:p>
            <a:r>
              <a:t>Цаашид “бага орлоготой”, “ядууралд өртсөн”, “эмзэг нөхцөлтэй” гэсэн тодорхой үг хэрэглэнэ.</a:t>
            </a:r>
          </a:p>
          <a:p/>
          <a:p/>
          <a:p/>
          <a:p>
            <a:r>
              <a:t>ЭХ СУРВАЛЖ:</a:t>
            </a:r>
          </a:p>
          <a:p>
            <a:r>
              <a:t>[UDHR] Хүний эрхийн түгээмэл тунхаглал — 1948.12.10</a:t>
            </a:r>
          </a:p>
          <a:p>
            <a:r>
              <a:t>https://www.ohchr.org/en/human-rights/universal-declaration/translations/mongolian</a:t>
            </a:r>
          </a:p>
          <a:p>
            <a:r>
              <a:t>[ҮХ] Монгол Улсын Үндсэн хууль — 1992.01.13</a:t>
            </a:r>
          </a:p>
          <a:p>
            <a:r>
              <a:t>https://legalinfo.mn/mn/detail/367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Үндэсний ядуурлын хувь, олон улсын ам.долларын босго, олон хэмжээст ядуурлын индекс нь өөр аргачлалтай. Эдгээрийг нэг графикт шууд ижил хэмжүүр мэт харьцуулж болохгүй. Өрхийн хэрэглээнд суурилсан ядуурал нь бэлэн мөнгөн орлоготой яг адил ойлголт биш.</a:t>
            </a:r>
          </a:p>
          <a:p/>
          <a:p>
            <a:r>
              <a:t>Нэг үзүүлэлт бүх асуудлыг тайлбарлахгүй. Орлого, үйлчилгээний хүртээмж, эрхийн хамгаалалтыг хамт үнэлнэ.</a:t>
            </a:r>
          </a:p>
          <a:p/>
          <a:p/>
          <a:p/>
          <a:p>
            <a:r>
              <a:t>ЭХ СУРВАЛЖ:</a:t>
            </a:r>
          </a:p>
          <a:p>
            <a:r>
              <a:t>[POV] ҮСХ, Дэлхийн банк: Mongolia Poverty Update 2022, 2024 онд нийтэлсэн; үндэсний ядуурлын түвшин</a:t>
            </a:r>
          </a:p>
          <a:p>
            <a:r>
              <a:t>https://www.worldbank.org/en/country/mongolia/publication</a:t>
            </a:r>
          </a:p>
          <a:p>
            <a:r>
              <a:t>[SDG] НҮБ, A/RES/70/1 — 2015.09.25, Тогтвортой хөгжлийн зорилго</a:t>
            </a:r>
          </a:p>
          <a:p>
            <a:r>
              <a:t>https://sdgs.un.org/2030agenda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ҮСХ–Дэлхийн банкны үндэсний ядуурлын тооцоолол: 2016 онд 29.6%, 2018 онд 28.4%, 2020 онд 27.8%, 2022 онд 27.1%. 2016–2022 оны өөрчлөлт нь 2.5 нэгж хувь; “2.5 хувиар буурсан” гэж нэрлэхгүй. Эдгээр нь түүхэн тоон цуваа бөгөөд 2026 оны өнөөгийн ядуурлын түвшин гэж тайлбарлахгүй. Улс хоорондын харьцуулалт хийхэд ижил босго, ижил аргачлал шаардлагатай.</a:t>
            </a:r>
          </a:p>
          <a:p/>
          <a:p>
            <a:r>
              <a:t>2022 онд 27.1% буюу ойролцоогоор 4 хүн тутмын 1 нь үндэсний ядуурлын босгоос доогуур хэрэглээтэй.</a:t>
            </a:r>
          </a:p>
          <a:p/>
          <a:p/>
          <a:p/>
          <a:p>
            <a:r>
              <a:t>ЭХ СУРВАЛЖ:</a:t>
            </a:r>
          </a:p>
          <a:p>
            <a:r>
              <a:t>[POV] ҮСХ, Дэлхийн банк: Mongolia Poverty Update 2022, 2024 онд нийтэлсэн; үндэсний ядуурлын түвшин</a:t>
            </a:r>
          </a:p>
          <a:p>
            <a:r>
              <a:t>https://www.worldbank.org/en/country/mongolia/publication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Энэ бол тайлбарлах загвар; тоон шалтгаант нөлөөг нотолсон график биш. Нэг удаагийн тэтгэмж өрхийн бүх асуудлыг шийдэхгүй. Үйлчилгээний төлбөрөөс гадна очих зардал, хүлээх хугацаа, асаргааны үүрэг зэрэг далд зардал эрхийн хүртээмжид нөлөөлнө.</a:t>
            </a:r>
          </a:p>
          <a:p/>
          <a:p>
            <a:r>
              <a:t>Гинжин холбоог таслах арга: суурь үйлчилгээ + орлогын хамгаалалт + эрхээ шаардах боломж.</a:t>
            </a:r>
          </a:p>
          <a:p/>
          <a:p/>
          <a:p/>
          <a:p>
            <a:r>
              <a:t>ЭХ СУРВАЛЖ:</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[CRC] Хүүхдийн эрхийн тухай конвенц — 1989.11.20; хүчин төгөлдөр: 1990.09.02</a:t>
            </a:r>
          </a:p>
          <a:p>
            <a:r>
              <a:t>https://www.ohchr.org/en/instruments-mechanisms/instruments/convention-rights-child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Хүний эрхийн хандлагын гол ялгаа нь үүрэг хүлээгч, хариуцлага, гомдол шийдвэрлэх механизмыг тодорхой болгодогт оршино. Эрх эдлэх нь бүх үйлчилгээг ямар ч нөхцөлгүй, үнэ төлбөргүй олгоно гэсэн үг биш; хууль ёсны, үндэслэлтэй, ялгаварлаагүй зохицуулалт шаардлагатай.</a:t>
            </a:r>
          </a:p>
          <a:p/>
          <a:p>
            <a:r>
              <a:t>Хандив, сайн дурын тусламж нь төрийн хуулиар хүлээсэн үүргийг орлохгүй.</a:t>
            </a:r>
          </a:p>
          <a:p/>
          <a:p/>
          <a:p/>
          <a:p>
            <a:r>
              <a:t>ЭХ СУРВАЛЖ:</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[ҮХ] Монгол Улсын Үндсэн хууль — 1992.01.13</a:t>
            </a:r>
          </a:p>
          <a:p>
            <a:r>
              <a:t>https://legalinfo.mn/mn/detail/367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Үндсэн хууль 1992 оны 1 дүгээр сарын 13-нд батлагдаж, 1992 оны 2 дугаар сарын 12-ноос хүчин төгөлдөр болсон. Батлагдсан огноо, хүчин төгөлдөр болсон огноо хоёрыг ялгана. 16.7-д төрөөс бүх нийтийн ерөнхий боловсролыг төлбөргүй олгох тухай, 16.6-д эмнэлгийн төлбөргүй тусламжийн болзол, журмыг хуулиар тогтоох тухай зохицуулдаг.</a:t>
            </a:r>
          </a:p>
          <a:p/>
          <a:p>
            <a:r>
              <a:t>Энд болон бусад слайдад хуулийн агуулгыг хураангуйлсан; үгчилсэн эшлэл биш.</a:t>
            </a:r>
          </a:p>
          <a:p/>
          <a:p/>
          <a:p/>
          <a:p>
            <a:r>
              <a:t>ЭХ СУРВАЛЖ:</a:t>
            </a:r>
          </a:p>
          <a:p>
            <a:r>
              <a:t>[ҮХ] Монгол Улсын Үндсэн хууль — 1992.01.13</a:t>
            </a:r>
          </a:p>
          <a:p>
            <a:r>
              <a:t>https://legalinfo.mn/mn/detail/367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Хөдөлмөрийн тухай хуулийн шинэчилсэн найруулга 2021.07.02-нд батлагдаж 2022.01.01-нээс мөрдөгдсөн. Нийгмийн халамжийн тусламж нь төрлөөсөө хамааран өөр өөр шалгууртай; ядуу хүн бүр бүх тэтгэмжийг автоматаар авахгүй. Хуулийн тодорхой заалтыг бодит хэрэгт хэрэглэхийн өмнө хүчин төгөлдөр нэгтгэсэн эхийг шалгах шаардлагатай.</a:t>
            </a:r>
          </a:p>
          <a:p/>
          <a:p>
            <a:r>
              <a:t>Батлагдсан он нь сүүлийн нэмэлт, өөрчлөлтийн он гэсэн үг биш. Одоогийн найруулгыг Legalinfo-оос нягтална.</a:t>
            </a:r>
          </a:p>
          <a:p/>
          <a:p/>
          <a:p/>
          <a:p>
            <a:r>
              <a:t>ЭХ СУРВАЛЖ:</a:t>
            </a:r>
          </a:p>
          <a:p>
            <a:r>
              <a:t>[ХТ] Хөдөлмөрийн тухай хууль /шинэчилсэн найруулга/ — 2021.07.02</a:t>
            </a:r>
          </a:p>
          <a:p>
            <a:r>
              <a:t>https://legalinfo.mn</a:t>
            </a:r>
          </a:p>
          <a:p>
            <a:r>
              <a:t>[НХ] Нийгмийн халамжийн тухай хууль /шинэчилсэн найруулга/ — 2012.01.19</a:t>
            </a:r>
          </a:p>
          <a:p>
            <a:r>
              <a:t>https://legalinfo.mn</a:t>
            </a:r>
          </a:p>
          <a:p>
            <a:r>
              <a:t>[БЕХ] Боловсролын ерөнхий хууль /шинэчилсэн найруулга/ — 2023.07.07</a:t>
            </a:r>
          </a:p>
          <a:p>
            <a:r>
              <a:t>https://legalinfo.mn</a:t>
            </a:r>
          </a:p>
          <a:p>
            <a:r>
              <a:t>[ХБХ] Хөгжлийн бэрхшээлтэй хүний эрхийн тухай хууль — 2016.02.05</a:t>
            </a:r>
          </a:p>
          <a:p>
            <a:r>
              <a:t>https://legalinfo.mn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Тунхаглал, олон улсын гэрээ, бодлогын зорилго нь эрх зүйн өөр шинжтэй. Монгол Улс тухайн гэрээгээр ямар үүрэг хүлээснийг тайлбарлахдаа нэгдэн орсон байдал, хүчин төгөлдөр үйлчлэл, тайлбар болон нэмэлт протоколын статусыг тусад нь шалгана. Энэ слайд нэгдэн орсон огноог мэдээлээгүй.</a:t>
            </a:r>
          </a:p>
          <a:p/>
          <a:p>
            <a:r>
              <a:t>Огноонууд нь олон улсын баримт бичгийг баталсан өдөр; Монгол Улс нэгдсэн огноо биш.</a:t>
            </a:r>
          </a:p>
          <a:p/>
          <a:p/>
          <a:p/>
          <a:p>
            <a:r>
              <a:t>ЭХ СУРВАЛЖ:</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[ICCPR] Иргэний болон улс төрийн эрхийн тухай олон улсын пакт — 1966.12.16; хүчин төгөлдөр: 1976.03.23</a:t>
            </a:r>
          </a:p>
          <a:p>
            <a:r>
              <a:t>https://www.ohchr.org/en/instruments-mechanisms/instruments/international-covenant-civil-and-political-rights</a:t>
            </a:r>
          </a:p>
          <a:p>
            <a:r>
              <a:t>[CRC] Хүүхдийн эрхийн тухай конвенц — 1989.11.20; хүчин төгөлдөр: 1990.09.02</a:t>
            </a:r>
          </a:p>
          <a:p>
            <a:r>
              <a:t>https://www.ohchr.org/en/instruments-mechanisms/instruments/convention-rights-child</a:t>
            </a:r>
          </a:p>
          <a:p>
            <a:r>
              <a:t>[CRPD] Хөгжлийн бэрхшээлтэй хүмүүсийн эрхийн тухай конвенц — 2006.12.13; хүчин төгөлдөр: 2008.05.03</a:t>
            </a:r>
          </a:p>
          <a:p>
            <a:r>
              <a:t>https://www.ohchr.org/en/instruments-mechanisms/instruments/convention-rights-persons-disabilities</a:t>
            </a:r>
          </a:p>
          <a:p>
            <a:r>
              <a:t>[SDG] НҮБ, A/RES/70/1 — 2015.09.25, Тогтвортой хөгжлийн зорилго</a:t>
            </a:r>
          </a:p>
          <a:p>
            <a:r>
              <a:t>https://sdgs.un.org/2030agenda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Тунхаглалыг НҮБ-ын Ерөнхий Ассамблей 217 A (III) тогтоолоор баталсан. Энэ баримт бичгийн бүх заалтыг дангаар нь “шууд хэрэгжих олон улсын гэрээний хууль” гэж тайлбарлаж болохгүй. Хожмын гэрээ, үндэсний хууль, шүүхийн практикт үзүүлсэн нөлөөг нь тайлбарлана.</a:t>
            </a:r>
          </a:p>
          <a:p/>
          <a:p>
            <a:r>
              <a:t>Түгээмэл тунхаглал нь гэрээ биш; хүний эрхийн нийтлэг стандартын суурь баримт бичиг.</a:t>
            </a:r>
          </a:p>
          <a:p/>
          <a:p/>
          <a:p/>
          <a:p>
            <a:r>
              <a:t>ЭХ СУРВАЛЖ:</a:t>
            </a:r>
          </a:p>
          <a:p>
            <a:r>
              <a:t>[UDHR] Хүний эрхийн түгээмэл тунхаглал — 1948.12.10</a:t>
            </a:r>
          </a:p>
          <a:p>
            <a:r>
              <a:t>https://www.ohchr.org/en/human-rights/universal-declaration/translations/mongolian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ICESCR-ийн 2.1-д улс дангаараа болон олон улсын тусламж, хамтын ажиллагаагаар нөөц боломжоо дээд хэмжээгээр ашиглан арга хэмжээ авахыг заасан. CESCR-ийн Ерөнхий тайлбар №3 (1990.12.14) нь даруй авах арга хэмжээ болон эрхийн наад захын цөм үүргийг тайлбарладаг. Ерөнхий тайлбар нь пактын өөрийнх нь шинэ зүйл биш.</a:t>
            </a:r>
          </a:p>
          <a:p/>
          <a:p>
            <a:r>
              <a:t>Хүчин төгөлдөр болсон: 1976.01.03. Нөөц хязгаарлагдмал ч бодит алхам хийх үүрэг хэвээр.</a:t>
            </a:r>
          </a:p>
          <a:p/>
          <a:p/>
          <a:p/>
          <a:p>
            <a:r>
              <a:t>ЭХ СУРВАЛЖ:</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[GC3] CESCR, Ерөнхий тайлбар №3 — 1990.12.14; улсын үүрэг, доод цөм шаардлага</a:t>
            </a:r>
          </a:p>
          <a:p>
            <a:r>
              <a:t>https://www.ohchr.org/en/documents/general-comments-and-recommendations/general-comment-no-3-nature-states-parties-obligations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ICCPR нь Иргэний болон улс төрийн эрхийн тухай олон улсын пактын товчлол. 14.3(d)-ийн үнэ төлбөргүй хууль зүйн туслалцааны нөхцөл нь эрүүгийн яллагдагчид хамаардаг; бүх иргэний болон захиргааны маргаанд автоматаар үнэ төлбөргүй өмгөөлөгч олгоно гэж тайлбарлаж болохгүй. 25 дугаар зүйлийн оролцооны эрх нь иргэдэд хамаарах тусгай зохицуулалт. 26 дугаар зүйл дэх тэгш хамгаалалт болон 2.3 дахь үр нөлөөтэй эрх сэргээх арга хэрэгсэл нь хүртээмжтэй хамгаалалтын үндэс болдог.</a:t>
            </a:r>
          </a:p>
          <a:p/>
          <a:p>
            <a:r>
              <a:t>Хүчин төгөлдөр: 1976.03.23. Орлогоос үл хамаарах хамгаалалт нь нийгмийн эрхээ шаардах боломжийг дэмжинэ.</a:t>
            </a:r>
          </a:p>
          <a:p/>
          <a:p/>
          <a:p/>
          <a:p>
            <a:r>
              <a:t>ЭХ СУРВАЛЖ:</a:t>
            </a:r>
          </a:p>
          <a:p>
            <a:r>
              <a:t>[ICCPR] Иргэний болон улс төрийн эрхийн тухай олон улсын пакт — 1966.12.16; хүчин төгөлдөр: 1976.03.23</a:t>
            </a:r>
          </a:p>
          <a:p>
            <a:r>
              <a:t>https://www.ohchr.org/en/instruments-mechanisms/instruments/international-covenant-civil-and-political-rights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Хүндэтгэх–хамгаалах–хангах нь хүний эрхийн үүргийг задлан тайлбарлах нийтлэг хүрээ. Пактын бүх үүрэг нэгэн зэрэг бүрэн үр дүнд хүрэх шаардлага гэсэн үг биш. Харин ялгаварлан гадуурхахгүй байх, бодитой зорилтот арга хэмжээ авах зэрэг үүргийг зөвхөн ирээдүйд хойшлуулж болохгүй.</a:t>
            </a:r>
          </a:p>
          <a:p/>
          <a:p>
            <a:r>
              <a:t>“Төсөв хүрэхгүй” гэдэг тайлбар нь ялгаварлал, дур зоргын шийдвэрийг зөвтгөхгүй.</a:t>
            </a:r>
          </a:p>
          <a:p/>
          <a:p/>
          <a:p/>
          <a:p>
            <a:r>
              <a:t>ЭХ СУРВАЛЖ:</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[GC3] CESCR, Ерөнхий тайлбар №3 — 1990.12.14; улсын үүрэг, доод цөм шаардлага</a:t>
            </a:r>
          </a:p>
          <a:p>
            <a:r>
              <a:t>https://www.ohchr.org/en/documents/general-comments-and-recommendations/general-comment-no-3-nature-states-parties-obligations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Ядуурал, хүйс, хөгжлийн бэрхшээл, оршин суугаа газар зэрэг хүчин зүйл давхцахад үйлчилгээний саад нэмэгдэж болно. Гэхдээ эдгээр бүлгийн бүх хүнийг автоматаар “ядуу” гэж ангилахгүй. Хэрэгцээний бодит үнэлгээ, хувийн сонголт, оролцоог хүндэтгэх нь чухал.</a:t>
            </a:r>
          </a:p>
          <a:p/>
          <a:p>
            <a:r>
              <a:t>Нэг хүнд хэд хэдэн саад давхцаж болно. Ижил үйлчилгээ бүх хүнд ижил үр дүн өгөхгүй.</a:t>
            </a:r>
          </a:p>
          <a:p/>
          <a:p/>
          <a:p/>
          <a:p>
            <a:r>
              <a:t>ЭХ СУРВАЛЖ:</a:t>
            </a:r>
          </a:p>
          <a:p>
            <a:r>
              <a:t>[CRC] Хүүхдийн эрхийн тухай конвенц — 1989.11.20; хүчин төгөлдөр: 1990.09.02</a:t>
            </a:r>
          </a:p>
          <a:p>
            <a:r>
              <a:t>https://www.ohchr.org/en/instruments-mechanisms/instruments/convention-rights-child</a:t>
            </a:r>
          </a:p>
          <a:p>
            <a:r>
              <a:t>[CEDAW] Эмэгтэйчүүдийг алагчлах бүх хэлбэрийг устгах тухай конвенц — 1979.12.18; хүчин төгөлдөр: 1981.09.03</a:t>
            </a:r>
          </a:p>
          <a:p>
            <a:r>
              <a:t>https://www.ohchr.org/en/instruments-mechanisms/instruments/convention-elimination-all-forms-discrimination-against-women</a:t>
            </a:r>
          </a:p>
          <a:p>
            <a:r>
              <a:t>[CRPD] Хөгжлийн бэрхшээлтэй хүмүүсийн эрхийн тухай конвенц — 2006.12.13; хүчин төгөлдөр: 2008.05.03</a:t>
            </a:r>
          </a:p>
          <a:p>
            <a:r>
              <a:t>https://www.ohchr.org/en/instruments-mechanisms/instruments/convention-rights-persons-disabilities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Энэ слайдын эрсдэлийн жагсаалт нь Монгол дахь давтамжийг хэмжсэн статистик биш. Хөдөлмөрийн харилцаа байгаа эсэх, гэрээний төрөл, даатгалын үүргийг бодит баримтаар тогтооно. Хамгийн бага цалингийн хувьсах хэмжээг баталгаажаагүй тул энд дурдаагүй.</a:t>
            </a:r>
          </a:p>
          <a:p/>
          <a:p>
            <a:r>
              <a:t>Шийдэл: зохистой нөхцөл + хэрэгжих хяналт + ажилтны гомдол гаргах аюулгүй боломж.</a:t>
            </a:r>
          </a:p>
          <a:p/>
          <a:p/>
          <a:p/>
          <a:p>
            <a:r>
              <a:t>ЭХ СУРВАЛЖ:</a:t>
            </a:r>
          </a:p>
          <a:p>
            <a:r>
              <a:t>[ҮХ] Монгол Улсын Үндсэн хууль — 1992.01.13</a:t>
            </a:r>
          </a:p>
          <a:p>
            <a:r>
              <a:t>https://legalinfo.mn/mn/detail/367</a:t>
            </a:r>
          </a:p>
          <a:p>
            <a:r>
              <a:t>[ХТ] Хөдөлмөрийн тухай хууль /шинэчилсэн найруулга/ — 2021.07.02</a:t>
            </a:r>
          </a:p>
          <a:p>
            <a:r>
              <a:t>https://legalinfo.mn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Бага орлоготой хүүхэд бүр сургууль завсарддаг гэж ерөнхийлөхгүй. Шалгах асуулт нь орлогын ялгаанаас шалтгаалан ямар зардал суралцах боломжийг хязгаарлаж байгааг тогтоох юм. Боловсролын ерөнхий хуулийн хамгийн сүүлийн заалтыг хэрэглэхийн өмнө Legalinfo дахь нэгтгэсэн эхийг шалгана.</a:t>
            </a:r>
          </a:p>
          <a:p/>
          <a:p>
            <a:r>
              <a:t>Элсэлтээс гадна ирц, төгсөлт, сурлагын ахиц, гомдол шийдвэрлэлтийг хэмжинэ.</a:t>
            </a:r>
          </a:p>
          <a:p/>
          <a:p/>
          <a:p/>
          <a:p>
            <a:r>
              <a:t>ЭХ СУРВАЛЖ:</a:t>
            </a:r>
          </a:p>
          <a:p>
            <a:r>
              <a:t>[ҮХ] Монгол Улсын Үндсэн хууль — 1992.01.13</a:t>
            </a:r>
          </a:p>
          <a:p>
            <a:r>
              <a:t>https://legalinfo.mn/mn/detail/367</a:t>
            </a:r>
          </a:p>
          <a:p>
            <a:r>
              <a:t>[БЕХ] Боловсролын ерөнхий хууль /шинэчилсэн найруулга/ — 2023.07.07</a:t>
            </a:r>
          </a:p>
          <a:p>
            <a:r>
              <a:t>https://legalinfo.mn</a:t>
            </a:r>
          </a:p>
          <a:p>
            <a:r>
              <a:t>[CRC] Хүүхдийн эрхийн тухай конвенц — 1989.11.20; хүчин төгөлдөр: 1990.09.02</a:t>
            </a:r>
          </a:p>
          <a:p>
            <a:r>
              <a:t>https://www.ohchr.org/en/instruments-mechanisms/instruments/convention-rights-child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Үндсэн хуулийн 16.2-ыг тусдаа орон сууц үнэгүй авах эрх гэж тайлбарлахгүй. ICESCR-ийн 11 дүгээр зүйл дэх зохистой орон байр нь үйлчилгээ, аюулгүй байдал, амьдрах нөхцөлтэй холбоотой. Эмнэлгийн тусламжийн төлбөргүй хүрээ нь дотоодын хуулиар тогтоогдоно.</a:t>
            </a:r>
          </a:p>
          <a:p/>
          <a:p>
            <a:r>
              <a:t>Эрхийг зөвхөн барилга, орны тоогоор биш бодит хэрэглэгчийн боломж, үр дүнгээр үнэлнэ.</a:t>
            </a:r>
          </a:p>
          <a:p/>
          <a:p/>
          <a:p/>
          <a:p>
            <a:r>
              <a:t>ЭХ СУРВАЛЖ:</a:t>
            </a:r>
          </a:p>
          <a:p>
            <a:r>
              <a:t>[ҮХ] Монгол Улсын Үндсэн хууль — 1992.01.13</a:t>
            </a:r>
          </a:p>
          <a:p>
            <a:r>
              <a:t>https://legalinfo.mn/mn/detail/367</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Халамж ба нийгмийн даатгал нь санхүүжилт, шимтгэл, эрх үүсэх нөхцөлөөр ялгаатай. Тэтгэмжийн хэмжээ, эрх үүсэх нас, орлогын босго нь өөрчлөгдөж болох тул баталгаажаагүй дүн оруулаагүй. Жагсаалтад ил тод байдал гэдэг нь өрхийн эмзэг мэдээллийг олон нийтэд дэлгэнэ гэсэн үг биш.</a:t>
            </a:r>
          </a:p>
          <a:p/>
          <a:p>
            <a:r>
              <a:t>Зорилтот дэмжлэгийн үр ашгийг хүний нэр төр, хувийн мэдээллийн хамгаалалттай хамт үнэлнэ.</a:t>
            </a:r>
          </a:p>
          <a:p/>
          <a:p/>
          <a:p/>
          <a:p>
            <a:r>
              <a:t>ЭХ СУРВАЛЖ:</a:t>
            </a:r>
          </a:p>
          <a:p>
            <a:r>
              <a:t>[ҮХ] Монгол Улсын Үндсэн хууль — 1992.01.13</a:t>
            </a:r>
          </a:p>
          <a:p>
            <a:r>
              <a:t>https://legalinfo.mn/mn/detail/367</a:t>
            </a:r>
          </a:p>
          <a:p>
            <a:r>
              <a:t>[НХ] Нийгмийн халамжийн тухай хууль /шинэчилсэн найруулга/ — 2012.01.19</a:t>
            </a:r>
          </a:p>
          <a:p>
            <a:r>
              <a:t>https://legalinfo.mn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Хэргийн бүтэн нэр: Government of the Republic of South Africa and Others v Grootboom and Others. Үндсэн хуулийн шүүхийн шийдвэр: 2000.10.04. 26(2)-ын хүрээнд боломжит нөөцөд тулгуурласан үндэслэлтэй арга хэмжээ авах үүргийг тайлбарласан. Энэхүү шийдвэр Монголын шүүхэд шууд заавал дагах прецедент биш.</a:t>
            </a:r>
          </a:p>
          <a:p/>
          <a:p>
            <a:r>
              <a:t>Шүүх хүн бүрд нэн даруй байшин олгох ерөнхий шийдвэр гаргаагүй; бодлогын үндэслэлтэй байдлыг хянасан.</a:t>
            </a:r>
          </a:p>
          <a:p/>
          <a:p>
            <a:r>
              <a:t>Кейсийн арын зураг нь AI концепц коллаж бөгөөд тухайн хэргийн оролцогч, байршлын бодит зураг биш.</a:t>
            </a:r>
          </a:p>
          <a:p>
            <a:r>
              <a:t>Монголд авах санаа: Монголд авах санаа: урт хугацааны орон сууцны бодлогын хажуугаар түр хамгаалах байр, ус, ариун цэвэр зэрэг яаралтай хэрэгцээг тусад нь шийдэх.</a:t>
            </a:r>
          </a:p>
          <a:p/>
          <a:p>
            <a:r>
              <a:t>ЭХ СУРВАЛЖ:</a:t>
            </a:r>
          </a:p>
          <a:p>
            <a:r>
              <a:t>[GROOT] Government of the Republic of South Africa v Grootboom [2000] ZACC 19 — 2000.10.04</a:t>
            </a:r>
          </a:p>
          <a:p>
            <a:r>
              <a:t>https://www.saflii.org/za/cases/ZACC/2000/19.html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Хэргийн нэр: Minister of Health and Others v Treatment Action Campaign and Others (No 2). 2002.07.05. Шийдвэрийг бүх эмийг хүн бүрд үнэ төлбөргүй олгох тухай ерөнхий шийдвэр гэж тайлбарлахгүй. Гол асуудал нь эхээс хүүхдэд ХДХВ дамжихаас сэргийлэх эмийн хүртээмжид тавьсан тодорхой хязгаарлалт байв.</a:t>
            </a:r>
          </a:p>
          <a:p/>
          <a:p>
            <a:r>
              <a:t>Эрүүл мэндийн бодлогын сонголт нь эрхийн хүртээмжийг үндэслэлгүй хязгаарлаж болохгүй.</a:t>
            </a:r>
          </a:p>
          <a:p/>
          <a:p>
            <a:r>
              <a:t>Кейсийн арын зураг нь AI концепц коллаж бөгөөд тухайн хэргийн оролцогч, байршлын бодит зураг биш.</a:t>
            </a:r>
          </a:p>
          <a:p>
            <a:r>
              <a:t>Монголд авах санаа: Монголд авах санаа: бодлогын хязгаарлалт нь нотолгоонд суурилсан уу, орлогогүй иргэдэд ямар бодит нөлөө үзүүлж байна вэ гэдгийг хянах.</a:t>
            </a:r>
          </a:p>
          <a:p/>
          <a:p>
            <a:r>
              <a:t>ЭХ СУРВАЛЖ:</a:t>
            </a:r>
          </a:p>
          <a:p>
            <a:r>
              <a:t>[TAC] Minister of Health v Treatment Action Campaign (No 2) [2002] ZACC 15 — 2002.07.05</a:t>
            </a:r>
          </a:p>
          <a:p>
            <a:r>
              <a:t>https://www.saflii.org/za/cases/ZACC/2002/15.html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Германы Холбооны Үндсэн хуулийн шүүхийн 2010.02.09-ний шийдвэр, нэгтгэсэн хэргүүд: 1 BvL 1/09, 1 BvL 3/09, 1 BvL 4/09. Хамгаалалт нь бие махбодын амьжиргаанаас гадна нийгэм, соёл, улс төрийн амьдралд наад захын оролцоог хамарна. Германы үндэсний баталгааг Монголд шууд үйлчлэх хууль мэт хэрэглэхгүй.</a:t>
            </a:r>
          </a:p>
          <a:p/>
          <a:p>
            <a:r>
              <a:t>Шүүх нэг “зөв” мөнгөн дүн тогтоохоос илүү тооцооллын арга, үндэслэл, баталгааг шаардсан.</a:t>
            </a:r>
          </a:p>
          <a:p/>
          <a:p/>
          <a:p/>
          <a:p>
            <a:r>
              <a:t>ЭХ СУРВАЛЖ:</a:t>
            </a:r>
          </a:p>
          <a:p>
            <a:r>
              <a:t>[GER] BVerfG, 1 BvL 1/09, 1 BvL 3/09, 1 BvL 4/09 — 2010.02.09, амьжиргааны доод баталгаа</a:t>
            </a:r>
          </a:p>
          <a:p>
            <a:r>
              <a:t>https://www.bundesverfassungsgericht.de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Улс орнуудын төсвийн чадавх, хүн ам, институц, хөдөлмөрийн зах зээл өөр. Иймээс нэг орны тэтгэмжийн хэмжээг ханшаар хөрвүүлээд шууд хуулбарлах нь хангалтгүй. Харьцуулах нэгж нь эрхийн баталгаа, хэрэгжүүлэх механизм, хамрагдалт, гомдол, үр дүн байх ёстой.</a:t>
            </a:r>
          </a:p>
          <a:p/>
          <a:p>
            <a:r>
              <a:t>Энэ хүснэгт бол бодлогын харьцуулалт; улсын “хүний эрхийн чансаа” биш.</a:t>
            </a:r>
          </a:p>
          <a:p/>
          <a:p/>
          <a:p/>
          <a:p>
            <a:r>
              <a:t>ЭХ СУРВАЛЖ:</a:t>
            </a:r>
          </a:p>
          <a:p>
            <a:r>
              <a:t>[ҮХ] Монгол Улсын Үндсэн хууль — 1992.01.13</a:t>
            </a:r>
          </a:p>
          <a:p>
            <a:r>
              <a:t>https://legalinfo.mn/mn/detail/367</a:t>
            </a:r>
          </a:p>
          <a:p>
            <a:r>
              <a:t>[GROOT] Government of the Republic of South Africa v Grootboom [2000] ZACC 19 — 2000.10.04</a:t>
            </a:r>
          </a:p>
          <a:p>
            <a:r>
              <a:t>https://www.saflii.org/za/cases/ZACC/2000/19.html</a:t>
            </a:r>
          </a:p>
          <a:p>
            <a:r>
              <a:t>[GER] BVerfG, 1 BvL 1/09, 1 BvL 3/09, 1 BvL 4/09 — 2010.02.09, амьжиргааны доод баталгаа</a:t>
            </a:r>
          </a:p>
          <a:p>
            <a:r>
              <a:t>https://www.bundesverfassungsgericht.de</a:t>
            </a:r>
          </a:p>
          <a:p>
            <a:r>
              <a:t>[FIN] Kela: Финландын суурь орлогын туршилт, 2017–2018; эцсийн үр дүн 2020</a:t>
            </a:r>
          </a:p>
          <a:p>
            <a:r>
              <a:t>https://www.kela.fi/basic-income-experiment</a:t>
            </a:r>
          </a:p>
          <a:p>
            <a:r>
              <a:t>[BRA] Бразил: Lei nº 10.836 — 2004.01.09; Lei nº 14.601 — 2023.06.19</a:t>
            </a:r>
          </a:p>
          <a:p>
            <a:r>
              <a:t>https://www.planalto.gov.br/ccivil_03/_ato2023-2026/2023/lei/l14601.htm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Энэ нь Финландын бүх хүн амд хэрэгжүүлсэн байнгын суурь орлого биш, сонгосон ажилгүй хүмүүсийг хамарсан туршилт. Сайн сайхан байдлын хэсэг нь асуумжийн хариунд тулгуурласан тул ажиглагдсан бүх ялгааг мөнгөний шалтгаант нөлөө гэж дүгнэхгүй. Ажил эрхлэлтийн хэмжээг нарийвчлан тайлбарлахад туршилтын жил, хяналтын бүлэг, бодлогын өөрчлөлтийг салгана.</a:t>
            </a:r>
          </a:p>
          <a:p/>
          <a:p>
            <a:r>
              <a:t>Сургамж: мөнгөн дэмжлэгийн нөлөөг зөвхөн ажилд орсон тоогоор биш хүний амьдралын чанараар үнэлнэ.</a:t>
            </a:r>
          </a:p>
          <a:p/>
          <a:p/>
          <a:p/>
          <a:p>
            <a:r>
              <a:t>ЭХ СУРВАЛЖ:</a:t>
            </a:r>
          </a:p>
          <a:p>
            <a:r>
              <a:t>[FIN] Kela: Финландын суурь орлогын туршилт, 2017–2018; эцсийн үр дүн 2020</a:t>
            </a:r>
          </a:p>
          <a:p>
            <a:r>
              <a:t>https://www.kela.fi/basic-income-experiment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Bolsa Família нь бүх хүнд ижил мөнгө олгодог суурь орлого биш. Өрхийн бүрэлдэхүүн, орлого, хөтөлбөрийн тухайн үеийн журмаас хамаарах зохицуулалттай. Ядуурал буурсан хувь, өгөөжийн тоон дүнг баталгаажуулаагүй тул энэ слайдад шалтгаант үр дүнгийн тоо оруулаагүй.</a:t>
            </a:r>
          </a:p>
          <a:p/>
          <a:p>
            <a:r>
              <a:t>Монголд авах санаа: тэтгэмжийг үйлчилгээтэй холбохдоо тухайн үйлчилгээ бодитоор хүрдэг эсэхийг шалгана.</a:t>
            </a:r>
          </a:p>
          <a:p/>
          <a:p/>
          <a:p/>
          <a:p>
            <a:r>
              <a:t>ЭХ СУРВАЛЖ:</a:t>
            </a:r>
          </a:p>
          <a:p>
            <a:r>
              <a:t>[BRA] Бразил: Lei nº 10.836 — 2004.01.09; Lei nº 14.601 — 2023.06.19</a:t>
            </a:r>
          </a:p>
          <a:p>
            <a:r>
              <a:t>https://www.planalto.gov.br/ccivil_03/_ato2023-2026/2023/lei/l14601.htm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Хэрэгжилтийн үзүүлэлт бүр тодорхой эх үүсвэр, суурь түвшин, хэмжих хугацаа, хариуцах байгууллагатай байх шаардлагатай. Эмзэг бүлгийн мэдээллийг орлого, хүйс, байршил, хөгжлийн бэрхшээлээр задалж болох ч нууцлал, жижиг бүлгийг таних эрсдэлийг тооцно. Тоон зорилтот хувь нь суурь мэдээлэлгүй тул зохиогоогүй.</a:t>
            </a:r>
          </a:p>
          <a:p/>
          <a:p>
            <a:r>
              <a:t>Эдгээр нь илтгэлийн бодлогын санал; одоо хүчин төгөлдөр хуульд бүгд заасан гэсэн үг биш.</a:t>
            </a:r>
          </a:p>
          <a:p/>
          <a:p/>
          <a:p/>
          <a:p>
            <a:r>
              <a:t>ЭХ СУРВАЛЖ:</a:t>
            </a:r>
          </a:p>
          <a:p>
            <a:r>
              <a:t>[ҮХ] Монгол Улсын Үндсэн хууль — 1992.01.13</a:t>
            </a:r>
          </a:p>
          <a:p>
            <a:r>
              <a:t>https://legalinfo.mn/mn/detail/367</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[SDG] НҮБ, A/RES/70/1 — 2015.09.25, Тогтвортой хөгжлийн зорилго</a:t>
            </a:r>
          </a:p>
          <a:p>
            <a:r>
              <a:t>https://sdgs.un.org/2030agenda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Энэ нь ерөнхий мэдээлэл, тодорхой хэргийн хууль зүйн зөвлөгөө биш. Бүх маргаан заавал эдгээр дөрвөн алхмыг нэг ижил дарааллаар туулна гэсэн үг биш. ХЭҮК-д хандах нь шүүхэд нэхэмжлэл гаргах хугацааг автоматаар зогсооно гэж үзэхгүй. Нууц мэдээллийг илгээхдээ хамгаалж, мэргэжлийн зөвлөгөөг эрт авах нь зүйтэй.</a:t>
            </a:r>
          </a:p>
          <a:p/>
          <a:p>
            <a:r>
              <a:t>Үндсэн хууль • 1992.01.13: 16.12, 16.14. Гомдлын төрөл бүрийн журам, хугацаа өөр.</a:t>
            </a:r>
          </a:p>
          <a:p/>
          <a:p/>
          <a:p/>
          <a:p>
            <a:r>
              <a:t>ЭХ СУРВАЛЖ:</a:t>
            </a:r>
          </a:p>
          <a:p>
            <a:r>
              <a:t>[ҮХ] Монгол Улсын Үндсэн хууль — 1992.01.13</a:t>
            </a:r>
          </a:p>
          <a:p>
            <a:r>
              <a:t>https://legalinfo.mn/mn/detail/367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Дүгнэлтийг гурван асуудалтай холбож хэлнэ: мөнгөний дэмжлэг, чанартай суурь үйлчилгээ, эрхээ хамгаалах механизм. Шүүхийн кейсүүд нь бодлого хэрэгжүүлж байгаа эсэхээс гадна хэнийг орхиж байгааг хянах шаардлагатайг харуулдаг.</a:t>
            </a:r>
          </a:p>
          <a:p/>
          <a:p>
            <a:r>
              <a:t>Хэлэлцүүлэг: Монголд хамгийн түрүүнд аль саадыг арилгавал иргэдийн эрхийн бодит боломж нэмэгдэх вэ?</a:t>
            </a:r>
          </a:p>
          <a:p/>
          <a:p>
            <a:r>
              <a:t>Архитектурын коллаж нь AI концепц дүрслэл.</a:t>
            </a:r>
          </a:p>
          <a:p/>
          <a:p>
            <a:r>
              <a:t>ЭХ СУРВАЛЖ:</a:t>
            </a:r>
          </a:p>
          <a:p>
            <a:r>
              <a:t>[ҮХ] Монгол Улсын Үндсэн хууль — 1992.01.13</a:t>
            </a:r>
          </a:p>
          <a:p>
            <a:r>
              <a:t>https://legalinfo.mn/mn/detail/367</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Огноонууд нь баримт бичгийн батлагдсан огноо. Хуулийн агуулгыг сургалтын зориулалтаар хураангуйлсан бөгөөд үгчилсэн эшлэл биш. Монголын хуулийн хамгийн сүүлийн нэмэлт, өөрчлөлт, тухайн хэрэгт хэрэглэх найруулгыг албан ёсны нэгтгэсэн эхээс дахин нягтална.</a:t>
            </a:r>
          </a:p>
          <a:p/>
          <a:p>
            <a:r>
              <a:t>Албан ёсны эх: legalinfo.mn • ohchr.org. Слайдын тайлбар хэсэгт холбогдох эх сурвалжийн холбоос бий.</a:t>
            </a:r>
          </a:p>
          <a:p/>
          <a:p/>
          <a:p/>
          <a:p>
            <a:r>
              <a:t>ЭХ СУРВАЛЖ:</a:t>
            </a:r>
          </a:p>
          <a:p>
            <a:r>
              <a:t>[ҮХ] Монгол Улсын Үндсэн хууль — 1992.01.13</a:t>
            </a:r>
          </a:p>
          <a:p>
            <a:r>
              <a:t>https://legalinfo.mn/mn/detail/367</a:t>
            </a:r>
          </a:p>
          <a:p>
            <a:r>
              <a:t>[ХТ] Хөдөлмөрийн тухай хууль /шинэчилсэн найруулга/ — 2021.07.02</a:t>
            </a:r>
          </a:p>
          <a:p>
            <a:r>
              <a:t>https://legalinfo.mn</a:t>
            </a:r>
          </a:p>
          <a:p>
            <a:r>
              <a:t>[НХ] Нийгмийн халамжийн тухай хууль /шинэчилсэн найруулга/ — 2012.01.19</a:t>
            </a:r>
          </a:p>
          <a:p>
            <a:r>
              <a:t>https://legalinfo.mn</a:t>
            </a:r>
          </a:p>
          <a:p>
            <a:r>
              <a:t>[БЕХ] Боловсролын ерөнхий хууль /шинэчилсэн найруулга/ — 2023.07.07</a:t>
            </a:r>
          </a:p>
          <a:p>
            <a:r>
              <a:t>https://legalinfo.mn</a:t>
            </a:r>
          </a:p>
          <a:p>
            <a:r>
              <a:t>[ХБХ] Хөгжлийн бэрхшээлтэй хүний эрхийн тухай хууль — 2016.02.05</a:t>
            </a:r>
          </a:p>
          <a:p>
            <a:r>
              <a:t>https://legalinfo.mn</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[ICCPR] Иргэний болон улс төрийн эрхийн тухай олон улсын пакт — 1966.12.16; хүчин төгөлдөр: 1976.03.23</a:t>
            </a:r>
          </a:p>
          <a:p>
            <a:r>
              <a:t>https://www.ohchr.org/en/instruments-mechanisms/instruments/international-covenant-civil-and-political-rights</a:t>
            </a:r>
          </a:p>
          <a:p>
            <a:r>
              <a:t>[CRC] Хүүхдийн эрхийн тухай конвенц — 1989.11.20; хүчин төгөлдөр: 1990.09.02</a:t>
            </a:r>
          </a:p>
          <a:p>
            <a:r>
              <a:t>https://www.ohchr.org/en/instruments-mechanisms/instruments/convention-rights-child</a:t>
            </a:r>
          </a:p>
          <a:p>
            <a:r>
              <a:t>[CEDAW] Эмэгтэйчүүдийг алагчлах бүх хэлбэрийг устгах тухай конвенц — 1979.12.18; хүчин төгөлдөр: 1981.09.03</a:t>
            </a:r>
          </a:p>
          <a:p>
            <a:r>
              <a:t>https://www.ohchr.org/en/instruments-mechanisms/instruments/convention-elimination-all-forms-discrimination-against-women</a:t>
            </a:r>
          </a:p>
          <a:p>
            <a:r>
              <a:t>[CRPD] Хөгжлийн бэрхшээлтэй хүмүүсийн эрхийн тухай конвенц — 2006.12.13; хүчин төгөлдөр: 2008.05.03</a:t>
            </a:r>
          </a:p>
          <a:p>
            <a:r>
              <a:t>https://www.ohchr.org/en/instruments-mechanisms/instruments/convention-rights-persons-disabilities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Судалгааны тоо, кейсийн огноо, хэрэг дугаар нь нийтэд түгээмэл мэдээлэгдсэн баримтад тулгуурласан. Энэ орчинд эх сурвалжийн сайтуудад хандахад 403 хариу ирсэн тул сүүлийн хувилбарыг онлайн нягталсан гэж үзэхгүй. Ядуурлын график 2016–2022 оны түүхэн өгөгдөл; 2026 оны түвшин биш. Эндхүү эх сурвалжийн холбоосын зарим нь байгууллагын хайлт/нийтлэлийн нүүр хуудас тул баримт бичгийн гарчиг, огноо, хэрэг дугаараар хайна. Материалыг ашиглахын өмнө хууль, статистикийн анхдагч эхийг нягтлахыг зөвлөж байна.</a:t>
            </a:r>
          </a:p>
          <a:p/>
          <a:p>
            <a:r>
              <a:t>Хязгаарлалт: албан ёсны сайтуудад шууд нэвтрэхийг орчны сүлжээ хаасан; эхүүдийг онлайн дахин тулгаж баталгаажуулаагүй.</a:t>
            </a:r>
          </a:p>
          <a:p/>
          <a:p/>
          <a:p/>
          <a:p>
            <a:r>
              <a:t>ЭХ СУРВАЛЖ:</a:t>
            </a:r>
          </a:p>
          <a:p>
            <a:r>
              <a:t>[POV] ҮСХ, Дэлхийн банк: Mongolia Poverty Update 2022, 2024 онд нийтэлсэн; үндэсний ядуурлын түвшин</a:t>
            </a:r>
          </a:p>
          <a:p>
            <a:r>
              <a:t>https://www.worldbank.org/en/country/mongolia/publication</a:t>
            </a:r>
          </a:p>
          <a:p>
            <a:r>
              <a:t>[GROOT] Government of the Republic of South Africa v Grootboom [2000] ZACC 19 — 2000.10.04</a:t>
            </a:r>
          </a:p>
          <a:p>
            <a:r>
              <a:t>https://www.saflii.org/za/cases/ZACC/2000/19.html</a:t>
            </a:r>
          </a:p>
          <a:p>
            <a:r>
              <a:t>[TAC] Minister of Health v Treatment Action Campaign (No 2) [2002] ZACC 15 — 2002.07.05</a:t>
            </a:r>
          </a:p>
          <a:p>
            <a:r>
              <a:t>https://www.saflii.org/za/cases/ZACC/2002/15.html</a:t>
            </a:r>
          </a:p>
          <a:p>
            <a:r>
              <a:t>[GER] BVerfG, 1 BvL 1/09, 1 BvL 3/09, 1 BvL 4/09 — 2010.02.09, амьжиргааны доод баталгаа</a:t>
            </a:r>
          </a:p>
          <a:p>
            <a:r>
              <a:t>https://www.bundesverfassungsgericht.de</a:t>
            </a:r>
          </a:p>
          <a:p>
            <a:r>
              <a:t>[FIN] Kela: Финландын суурь орлогын туршилт, 2017–2018; эцсийн үр дүн 2020</a:t>
            </a:r>
          </a:p>
          <a:p>
            <a:r>
              <a:t>https://www.kela.fi/basic-income-experiment</a:t>
            </a:r>
          </a:p>
          <a:p>
            <a:r>
              <a:t>[BRA] Бразил: Lei nº 10.836 — 2004.01.09; Lei nº 14.601 — 2023.06.19</a:t>
            </a:r>
          </a:p>
          <a:p>
            <a:r>
              <a:t>https://www.planalto.gov.br/ccivil_03/_ato2023-2026/2023/lei/l14601.htm</a:t>
            </a:r>
          </a:p>
          <a:p>
            <a:r>
              <a:t>[GC3] CESCR, Ерөнхий тайлбар №3 — 1990.12.14; улсын үүрэг, доод цөм шаардлага</a:t>
            </a:r>
          </a:p>
          <a:p>
            <a:r>
              <a:t>https://www.ohchr.org/en/documents/general-comments-and-recommendations/general-comment-no-3-nature-states-parties-obligations</a:t>
            </a:r>
          </a:p>
          <a:p>
            <a:r>
              <a:t>[SDG] НҮБ, A/RES/70/1 — 2015.09.25, Тогтвортой хөгжлийн зорилго</a:t>
            </a:r>
          </a:p>
          <a:p>
            <a:r>
              <a:t>https://sdgs.un.org/2030agenda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galinfo.mn/mn/detail/367" TargetMode="External"/><Relationship Id="rId3" Type="http://schemas.openxmlformats.org/officeDocument/2006/relationships/hyperlink" Target="https://legalinfo.mn" TargetMode="External"/><Relationship Id="rId4" Type="http://schemas.openxmlformats.org/officeDocument/2006/relationships/hyperlink" Target="https://www.ohchr.org/en/human-rights/universal-declaration/translations/mongolian" TargetMode="External"/><Relationship Id="rId5" Type="http://schemas.openxmlformats.org/officeDocument/2006/relationships/hyperlink" Target="https://www.ohchr.org/en/instruments-mechanisms/instruments/international-covenant-economic-social-and-cultural-rights" TargetMode="External"/><Relationship Id="rId6" Type="http://schemas.openxmlformats.org/officeDocument/2006/relationships/hyperlink" Target="https://www.ohchr.org/en/instruments-mechanisms/instruments/international-covenant-civil-and-political-rights" TargetMode="External"/><Relationship Id="rId7" Type="http://schemas.openxmlformats.org/officeDocument/2006/relationships/hyperlink" Target="https://www.ohchr.org/en/instruments-mechanisms/instruments/convention-rights-child" TargetMode="External"/><Relationship Id="rId8" Type="http://schemas.openxmlformats.org/officeDocument/2006/relationships/hyperlink" Target="https://www.ohchr.org/en/instruments-mechanisms/instruments/convention-elimination-all-forms-discrimination-against-women" TargetMode="External"/><Relationship Id="rId9" Type="http://schemas.openxmlformats.org/officeDocument/2006/relationships/hyperlink" Target="https://www.ohchr.org/en/instruments-mechanisms/instruments/convention-rights-persons-disabilities" TargetMode="Externa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orldbank.org/en/country/mongolia/publication" TargetMode="External"/><Relationship Id="rId3" Type="http://schemas.openxmlformats.org/officeDocument/2006/relationships/hyperlink" Target="https://www.saflii.org/za/cases/ZACC/2000/19.html" TargetMode="External"/><Relationship Id="rId4" Type="http://schemas.openxmlformats.org/officeDocument/2006/relationships/hyperlink" Target="https://www.saflii.org/za/cases/ZACC/2002/15.html" TargetMode="External"/><Relationship Id="rId5" Type="http://schemas.openxmlformats.org/officeDocument/2006/relationships/hyperlink" Target="https://www.bundesverfassungsgericht.de" TargetMode="External"/><Relationship Id="rId6" Type="http://schemas.openxmlformats.org/officeDocument/2006/relationships/hyperlink" Target="https://www.kela.fi/basic-income-experiment" TargetMode="External"/><Relationship Id="rId7" Type="http://schemas.openxmlformats.org/officeDocument/2006/relationships/hyperlink" Target="https://www.planalto.gov.br/ccivil_03/_ato2023-2026/2023/lei/l14601.htm" TargetMode="External"/><Relationship Id="rId8" Type="http://schemas.openxmlformats.org/officeDocument/2006/relationships/hyperlink" Target="https://www.ohchr.org/en/documents/general-comments-and-recommendations/general-comment-no-3-nature-states-parties-obligations" TargetMode="External"/><Relationship Id="rId9" Type="http://schemas.openxmlformats.org/officeDocument/2006/relationships/hyperlink" Target="https://sdgs.un.org/2030agenda" TargetMode="External"/><Relationship Id="rId10"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457200" y="342900"/>
            <a:ext cx="1505359" cy="25717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1500" y="390525"/>
            <a:ext cx="1276759"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101114"/>
                </a:solidFill>
                <a:latin typeface="DejaVu Sans Mono"/>
              </a:defRPr>
            </a:pPr>
            <a:r>
              <a:t>МУИС / ХҮНИЙ ЭРХ</a:t>
            </a:r>
          </a:p>
        </p:txBody>
      </p:sp>
      <p:sp>
        <p:nvSpPr>
          <p:cNvPr id="5" name="TextBox 4"/>
          <p:cNvSpPr txBox="1"/>
          <p:nvPr/>
        </p:nvSpPr>
        <p:spPr>
          <a:xfrm>
            <a:off x="457200" y="1323975"/>
            <a:ext cx="5857875" cy="619125"/>
          </a:xfrm>
          <a:prstGeom prst="rect">
            <a:avLst/>
          </a:prstGeom>
          <a:noFill/>
        </p:spPr>
        <p:txBody>
          <a:bodyPr wrap="none" lIns="0" tIns="0" rIns="0" bIns="0">
            <a:spAutoFit/>
          </a:bodyPr>
          <a:lstStyle/>
          <a:p>
            <a:pPr>
              <a:lnSpc>
                <a:spcPts val="4867"/>
              </a:lnSpc>
              <a:spcBef>
                <a:spcPts val="0"/>
              </a:spcBef>
              <a:spcAft>
                <a:spcPts val="0"/>
              </a:spcAft>
              <a:defRPr sz="3990" b="1">
                <a:solidFill>
                  <a:srgbClr val="F7F6F1"/>
                </a:solidFill>
                <a:latin typeface="Open Sans Condensed"/>
              </a:defRPr>
            </a:pPr>
            <a:r>
              <a:t>НИЙГМИЙН</a:t>
            </a:r>
          </a:p>
        </p:txBody>
      </p:sp>
      <p:sp>
        <p:nvSpPr>
          <p:cNvPr id="6" name="TextBox 5"/>
          <p:cNvSpPr txBox="1"/>
          <p:nvPr/>
        </p:nvSpPr>
        <p:spPr>
          <a:xfrm>
            <a:off x="457200" y="2000250"/>
            <a:ext cx="6096000" cy="885825"/>
          </a:xfrm>
          <a:prstGeom prst="rect">
            <a:avLst/>
          </a:prstGeom>
          <a:noFill/>
        </p:spPr>
        <p:txBody>
          <a:bodyPr wrap="none" lIns="0" tIns="0" rIns="0" bIns="0">
            <a:spAutoFit/>
          </a:bodyPr>
          <a:lstStyle/>
          <a:p>
            <a:pPr>
              <a:lnSpc>
                <a:spcPts val="6953"/>
              </a:lnSpc>
              <a:spcBef>
                <a:spcPts val="0"/>
              </a:spcBef>
              <a:spcAft>
                <a:spcPts val="0"/>
              </a:spcAft>
              <a:defRPr sz="5699" b="1">
                <a:solidFill>
                  <a:srgbClr val="F7F6F1"/>
                </a:solidFill>
                <a:latin typeface="Open Sans Condensed"/>
              </a:defRPr>
            </a:pPr>
            <a:r>
              <a:t>ДООД ДАВХРАА</a:t>
            </a:r>
          </a:p>
        </p:txBody>
      </p:sp>
      <p:sp>
        <p:nvSpPr>
          <p:cNvPr id="7" name="TextBox 6"/>
          <p:cNvSpPr txBox="1"/>
          <p:nvPr/>
        </p:nvSpPr>
        <p:spPr>
          <a:xfrm>
            <a:off x="457200" y="2905125"/>
            <a:ext cx="4953000" cy="676275"/>
          </a:xfrm>
          <a:prstGeom prst="rect">
            <a:avLst/>
          </a:prstGeom>
          <a:noFill/>
        </p:spPr>
        <p:txBody>
          <a:bodyPr wrap="none" lIns="0" tIns="0" rIns="0" bIns="0">
            <a:spAutoFit/>
          </a:bodyPr>
          <a:lstStyle/>
          <a:p>
            <a:pPr>
              <a:lnSpc>
                <a:spcPts val="5288"/>
              </a:lnSpc>
              <a:spcBef>
                <a:spcPts val="0"/>
              </a:spcBef>
              <a:spcAft>
                <a:spcPts val="0"/>
              </a:spcAft>
              <a:defRPr sz="4335" b="1">
                <a:solidFill>
                  <a:srgbClr val="F5FF58"/>
                </a:solidFill>
                <a:latin typeface="Open Sans Condensed"/>
              </a:defRPr>
            </a:pPr>
            <a:r>
              <a:t>БА ХҮНИЙ ЭРХ</a:t>
            </a:r>
          </a:p>
        </p:txBody>
      </p:sp>
      <p:sp>
        <p:nvSpPr>
          <p:cNvPr id="8" name="TextBox 7"/>
          <p:cNvSpPr txBox="1"/>
          <p:nvPr/>
        </p:nvSpPr>
        <p:spPr>
          <a:xfrm>
            <a:off x="485775" y="3790949"/>
            <a:ext cx="4572000" cy="514350"/>
          </a:xfrm>
          <a:prstGeom prst="rect">
            <a:avLst/>
          </a:prstGeom>
          <a:noFill/>
        </p:spPr>
        <p:txBody>
          <a:bodyPr wrap="none" lIns="0" tIns="0" rIns="0" bIns="0">
            <a:spAutoFit/>
          </a:bodyPr>
          <a:lstStyle/>
          <a:p>
            <a:pPr>
              <a:lnSpc>
                <a:spcPts val="2013"/>
              </a:lnSpc>
              <a:spcBef>
                <a:spcPts val="0"/>
              </a:spcBef>
              <a:spcAft>
                <a:spcPts val="0"/>
              </a:spcAft>
              <a:defRPr sz="1650" b="0">
                <a:solidFill>
                  <a:srgbClr val="F7F6F1"/>
                </a:solidFill>
                <a:latin typeface="DejaVu Sans"/>
              </a:defRPr>
            </a:pPr>
            <a:r>
              <a:t>Ядуурал. Тэгш боломж.</a:t>
            </a:r>
          </a:p>
          <a:p>
            <a:pPr>
              <a:lnSpc>
                <a:spcPts val="2013"/>
              </a:lnSpc>
              <a:spcBef>
                <a:spcPts val="0"/>
              </a:spcBef>
              <a:spcAft>
                <a:spcPts val="0"/>
              </a:spcAft>
              <a:defRPr sz="1650" b="0">
                <a:solidFill>
                  <a:srgbClr val="F7F6F1"/>
                </a:solidFill>
                <a:latin typeface="DejaVu Sans"/>
              </a:defRPr>
            </a:pPr>
            <a:r>
              <a:t>Нэр төртэй амьдрал.</a:t>
            </a:r>
          </a:p>
        </p:txBody>
      </p:sp>
      <p:cxnSp>
        <p:nvCxnSpPr>
          <p:cNvPr id="9" name="Connector 8"/>
          <p:cNvCxnSpPr/>
          <p:nvPr/>
        </p:nvCxnSpPr>
        <p:spPr>
          <a:xfrm>
            <a:off x="485775" y="4695825"/>
            <a:ext cx="3371850" cy="0"/>
          </a:xfrm>
          <a:prstGeom prst="line">
            <a:avLst/>
          </a:prstGeom>
          <a:ln w="9525">
            <a:solidFill>
              <a:srgbClr val="A9AFB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5775" y="4924425"/>
            <a:ext cx="4667250" cy="952500"/>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ОЮУТНУУД</a:t>
            </a:r>
          </a:p>
          <a:p>
            <a:pPr>
              <a:lnSpc>
                <a:spcPts val="1555"/>
              </a:lnSpc>
              <a:spcBef>
                <a:spcPts val="0"/>
              </a:spcBef>
              <a:spcAft>
                <a:spcPts val="0"/>
              </a:spcAft>
              <a:defRPr sz="1275" b="0">
                <a:solidFill>
                  <a:srgbClr val="F7F6F1"/>
                </a:solidFill>
                <a:latin typeface="DejaVu Sans"/>
              </a:defRPr>
            </a:pPr>
            <a:r>
              <a:t>Б. Саранчимэг · Ш. Түвшинбаяр</a:t>
            </a:r>
          </a:p>
          <a:p>
            <a:pPr>
              <a:lnSpc>
                <a:spcPts val="1555"/>
              </a:lnSpc>
              <a:spcBef>
                <a:spcPts val="0"/>
              </a:spcBef>
              <a:spcAft>
                <a:spcPts val="0"/>
              </a:spcAft>
              <a:defRPr sz="1275" b="0">
                <a:solidFill>
                  <a:srgbClr val="F7F6F1"/>
                </a:solidFill>
                <a:latin typeface="DejaVu Sans"/>
              </a:defRPr>
            </a:pPr>
            <a:r>
              <a:t>Б. Энхзаяа</a:t>
            </a:r>
          </a:p>
        </p:txBody>
      </p:sp>
      <p:sp>
        <p:nvSpPr>
          <p:cNvPr id="11" name="TextBox 10"/>
          <p:cNvSpPr txBox="1"/>
          <p:nvPr/>
        </p:nvSpPr>
        <p:spPr>
          <a:xfrm>
            <a:off x="485775" y="5991225"/>
            <a:ext cx="3714750" cy="314325"/>
          </a:xfrm>
          <a:prstGeom prst="rect">
            <a:avLst/>
          </a:prstGeom>
          <a:noFill/>
        </p:spPr>
        <p:txBody>
          <a:bodyPr wrap="none" lIns="0" tIns="0" rIns="0" bIns="0">
            <a:spAutoFit/>
          </a:bodyPr>
          <a:lstStyle/>
          <a:p>
            <a:pPr>
              <a:lnSpc>
                <a:spcPts val="1555"/>
              </a:lnSpc>
              <a:spcBef>
                <a:spcPts val="0"/>
              </a:spcBef>
              <a:spcAft>
                <a:spcPts val="0"/>
              </a:spcAft>
              <a:defRPr sz="1275" b="1">
                <a:solidFill>
                  <a:srgbClr val="F7F6F1"/>
                </a:solidFill>
                <a:latin typeface="DejaVu Sans"/>
              </a:defRPr>
            </a:pPr>
            <a:r>
              <a:t>БАГШ / Б. Тамир</a:t>
            </a:r>
          </a:p>
        </p:txBody>
      </p:sp>
      <p:sp>
        <p:nvSpPr>
          <p:cNvPr id="12" name="TextBox 11"/>
          <p:cNvSpPr txBox="1"/>
          <p:nvPr/>
        </p:nvSpPr>
        <p:spPr>
          <a:xfrm>
            <a:off x="9925050" y="6477000"/>
            <a:ext cx="1857375" cy="161925"/>
          </a:xfrm>
          <a:prstGeom prst="rect">
            <a:avLst/>
          </a:prstGeom>
          <a:noFill/>
        </p:spPr>
        <p:txBody>
          <a:bodyPr wrap="none" lIns="0" tIns="0" rIns="0" bIns="0">
            <a:spAutoFit/>
          </a:bodyPr>
          <a:lstStyle/>
          <a:p>
            <a:pPr algn="r">
              <a:lnSpc>
                <a:spcPts val="823"/>
              </a:lnSpc>
              <a:spcBef>
                <a:spcPts val="0"/>
              </a:spcBef>
              <a:spcAft>
                <a:spcPts val="0"/>
              </a:spcAft>
              <a:defRPr sz="675" b="0">
                <a:solidFill>
                  <a:srgbClr val="F7F6F1"/>
                </a:solidFill>
                <a:latin typeface="DejaVu Sans Mono"/>
              </a:defRPr>
            </a:pPr>
            <a:r>
              <a:t>КОНЦЕПЦ КОЛЛАЖ /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01 / АСУУДЛЫГ ТОДОРХОЙЛОХ</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4857750" cy="1190625"/>
          </a:xfrm>
          <a:prstGeom prst="rect">
            <a:avLst/>
          </a:prstGeom>
          <a:noFill/>
        </p:spPr>
        <p:txBody>
          <a:bodyPr wrap="none" lIns="0" tIns="0" rIns="0" bIns="0">
            <a:spAutoFit/>
          </a:bodyPr>
          <a:lstStyle/>
          <a:p>
            <a:pPr>
              <a:lnSpc>
                <a:spcPts val="4684"/>
              </a:lnSpc>
              <a:spcBef>
                <a:spcPts val="0"/>
              </a:spcBef>
              <a:spcAft>
                <a:spcPts val="0"/>
              </a:spcAft>
              <a:defRPr sz="3840" b="1">
                <a:solidFill>
                  <a:srgbClr val="F7F6F1"/>
                </a:solidFill>
                <a:latin typeface="Open Sans Condensed"/>
              </a:defRPr>
            </a:pPr>
            <a:r>
              <a:t>АСУУДЛААС</a:t>
            </a:r>
          </a:p>
          <a:p>
            <a:pPr>
              <a:lnSpc>
                <a:spcPts val="4684"/>
              </a:lnSpc>
              <a:spcBef>
                <a:spcPts val="0"/>
              </a:spcBef>
              <a:spcAft>
                <a:spcPts val="0"/>
              </a:spcAft>
              <a:defRPr sz="3840" b="1">
                <a:solidFill>
                  <a:srgbClr val="F7F6F1"/>
                </a:solidFill>
                <a:latin typeface="Open Sans Condensed"/>
              </a:defRPr>
            </a:pPr>
            <a:r>
              <a:t>ШИЙДЭЛ РҮҮ</a:t>
            </a:r>
          </a:p>
        </p:txBody>
      </p:sp>
      <p:sp>
        <p:nvSpPr>
          <p:cNvPr id="7" name="TextBox 6"/>
          <p:cNvSpPr txBox="1"/>
          <p:nvPr/>
        </p:nvSpPr>
        <p:spPr>
          <a:xfrm>
            <a:off x="457200" y="3095625"/>
            <a:ext cx="3676649" cy="1524000"/>
          </a:xfrm>
          <a:prstGeom prst="rect">
            <a:avLst/>
          </a:prstGeom>
          <a:noFill/>
        </p:spPr>
        <p:txBody>
          <a:bodyPr wrap="none" lIns="0" tIns="0" rIns="0" bIns="0">
            <a:spAutoFit/>
          </a:bodyPr>
          <a:lstStyle/>
          <a:p>
            <a:pPr>
              <a:lnSpc>
                <a:spcPts val="2470"/>
              </a:lnSpc>
              <a:spcBef>
                <a:spcPts val="0"/>
              </a:spcBef>
              <a:spcAft>
                <a:spcPts val="0"/>
              </a:spcAft>
              <a:defRPr sz="2025" b="0">
                <a:solidFill>
                  <a:srgbClr val="A9AFBE"/>
                </a:solidFill>
                <a:latin typeface="DejaVu Serif"/>
              </a:defRPr>
            </a:pPr>
            <a:r>
              <a:t>Ядуурлыг зөвхөн орлогоор</a:t>
            </a:r>
          </a:p>
          <a:p>
            <a:pPr>
              <a:lnSpc>
                <a:spcPts val="2470"/>
              </a:lnSpc>
              <a:spcBef>
                <a:spcPts val="0"/>
              </a:spcBef>
              <a:spcAft>
                <a:spcPts val="0"/>
              </a:spcAft>
              <a:defRPr sz="2025" b="0">
                <a:solidFill>
                  <a:srgbClr val="A9AFBE"/>
                </a:solidFill>
                <a:latin typeface="DejaVu Serif"/>
              </a:defRPr>
            </a:pPr>
            <a:r>
              <a:t>бус эрх, боломж,</a:t>
            </a:r>
          </a:p>
          <a:p>
            <a:pPr>
              <a:lnSpc>
                <a:spcPts val="2470"/>
              </a:lnSpc>
              <a:spcBef>
                <a:spcPts val="0"/>
              </a:spcBef>
              <a:spcAft>
                <a:spcPts val="0"/>
              </a:spcAft>
              <a:defRPr sz="2025" b="0">
                <a:solidFill>
                  <a:srgbClr val="A9AFBE"/>
                </a:solidFill>
                <a:latin typeface="DejaVu Serif"/>
              </a:defRPr>
            </a:pPr>
            <a:r>
              <a:t>хариуцлагаар</a:t>
            </a:r>
          </a:p>
          <a:p>
            <a:pPr>
              <a:lnSpc>
                <a:spcPts val="2470"/>
              </a:lnSpc>
              <a:spcBef>
                <a:spcPts val="0"/>
              </a:spcBef>
              <a:spcAft>
                <a:spcPts val="0"/>
              </a:spcAft>
              <a:defRPr sz="2025" b="0">
                <a:solidFill>
                  <a:srgbClr val="A9AFBE"/>
                </a:solidFill>
                <a:latin typeface="DejaVu Serif"/>
              </a:defRPr>
            </a:pPr>
            <a:r>
              <a:t>тайлбарлана.</a:t>
            </a:r>
          </a:p>
        </p:txBody>
      </p:sp>
      <p:sp>
        <p:nvSpPr>
          <p:cNvPr id="8" name="TextBox 7"/>
          <p:cNvSpPr txBox="1"/>
          <p:nvPr/>
        </p:nvSpPr>
        <p:spPr>
          <a:xfrm>
            <a:off x="5429250" y="1047749"/>
            <a:ext cx="1143000" cy="1143000"/>
          </a:xfrm>
          <a:prstGeom prst="rect">
            <a:avLst/>
          </a:prstGeom>
          <a:noFill/>
        </p:spPr>
        <p:txBody>
          <a:bodyPr wrap="none" lIns="0" tIns="0" rIns="0" bIns="0">
            <a:spAutoFit/>
          </a:bodyPr>
          <a:lstStyle/>
          <a:p>
            <a:pPr>
              <a:lnSpc>
                <a:spcPts val="8052"/>
              </a:lnSpc>
              <a:spcBef>
                <a:spcPts val="0"/>
              </a:spcBef>
              <a:spcAft>
                <a:spcPts val="0"/>
              </a:spcAft>
              <a:defRPr sz="6600" b="1">
                <a:solidFill>
                  <a:srgbClr val="F5FF58"/>
                </a:solidFill>
                <a:latin typeface="Open Sans Condensed"/>
              </a:defRPr>
            </a:pPr>
            <a:r>
              <a:t>01</a:t>
            </a:r>
          </a:p>
        </p:txBody>
      </p:sp>
      <p:cxnSp>
        <p:nvCxnSpPr>
          <p:cNvPr id="9" name="Connector 8"/>
          <p:cNvCxnSpPr/>
          <p:nvPr/>
        </p:nvCxnSpPr>
        <p:spPr>
          <a:xfrm>
            <a:off x="6762750" y="1219200"/>
            <a:ext cx="4953000" cy="0"/>
          </a:xfrm>
          <a:prstGeom prst="line">
            <a:avLst/>
          </a:prstGeom>
          <a:ln w="9525">
            <a:solidFill>
              <a:srgbClr val="464B5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0" y="1362075"/>
            <a:ext cx="4705350" cy="333375"/>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DejaVu Sans"/>
              </a:defRPr>
            </a:pPr>
            <a:r>
              <a:t>Нөхцөл</a:t>
            </a:r>
          </a:p>
        </p:txBody>
      </p:sp>
      <p:sp>
        <p:nvSpPr>
          <p:cNvPr id="11" name="TextBox 10"/>
          <p:cNvSpPr txBox="1"/>
          <p:nvPr/>
        </p:nvSpPr>
        <p:spPr>
          <a:xfrm>
            <a:off x="6858000" y="1790700"/>
            <a:ext cx="4705350" cy="742950"/>
          </a:xfrm>
          <a:prstGeom prst="rect">
            <a:avLst/>
          </a:prstGeom>
          <a:noFill/>
        </p:spPr>
        <p:txBody>
          <a:bodyPr wrap="none" lIns="0" tIns="0" rIns="0" bIns="0">
            <a:spAutoFit/>
          </a:bodyPr>
          <a:lstStyle/>
          <a:p>
            <a:pPr>
              <a:lnSpc>
                <a:spcPts val="2013"/>
              </a:lnSpc>
              <a:spcBef>
                <a:spcPts val="0"/>
              </a:spcBef>
              <a:spcAft>
                <a:spcPts val="0"/>
              </a:spcAft>
              <a:defRPr sz="1650" b="0">
                <a:solidFill>
                  <a:srgbClr val="F7F6F1"/>
                </a:solidFill>
                <a:latin typeface="DejaVu Sans"/>
              </a:defRPr>
            </a:pPr>
            <a:r>
              <a:t>Ядуурал хүний эрхээ бодитоор эдлэх</a:t>
            </a:r>
          </a:p>
          <a:p>
            <a:pPr>
              <a:lnSpc>
                <a:spcPts val="2013"/>
              </a:lnSpc>
              <a:spcBef>
                <a:spcPts val="0"/>
              </a:spcBef>
              <a:spcAft>
                <a:spcPts val="0"/>
              </a:spcAft>
              <a:defRPr sz="1650" b="0">
                <a:solidFill>
                  <a:srgbClr val="F7F6F1"/>
                </a:solidFill>
                <a:latin typeface="DejaVu Sans"/>
              </a:defRPr>
            </a:pPr>
            <a:r>
              <a:t>боломжийг хэрхэн хязгаарладаг вэ?</a:t>
            </a:r>
          </a:p>
        </p:txBody>
      </p:sp>
      <p:sp>
        <p:nvSpPr>
          <p:cNvPr id="12" name="TextBox 11"/>
          <p:cNvSpPr txBox="1"/>
          <p:nvPr/>
        </p:nvSpPr>
        <p:spPr>
          <a:xfrm>
            <a:off x="5429250" y="2581275"/>
            <a:ext cx="1143000" cy="1143000"/>
          </a:xfrm>
          <a:prstGeom prst="rect">
            <a:avLst/>
          </a:prstGeom>
          <a:noFill/>
        </p:spPr>
        <p:txBody>
          <a:bodyPr wrap="none" lIns="0" tIns="0" rIns="0" bIns="0">
            <a:spAutoFit/>
          </a:bodyPr>
          <a:lstStyle/>
          <a:p>
            <a:pPr>
              <a:lnSpc>
                <a:spcPts val="8052"/>
              </a:lnSpc>
              <a:spcBef>
                <a:spcPts val="0"/>
              </a:spcBef>
              <a:spcAft>
                <a:spcPts val="0"/>
              </a:spcAft>
              <a:defRPr sz="6600" b="1">
                <a:solidFill>
                  <a:srgbClr val="F5FF58"/>
                </a:solidFill>
                <a:latin typeface="Open Sans Condensed"/>
              </a:defRPr>
            </a:pPr>
            <a:r>
              <a:t>02</a:t>
            </a:r>
          </a:p>
        </p:txBody>
      </p:sp>
      <p:cxnSp>
        <p:nvCxnSpPr>
          <p:cNvPr id="13" name="Connector 12"/>
          <p:cNvCxnSpPr/>
          <p:nvPr/>
        </p:nvCxnSpPr>
        <p:spPr>
          <a:xfrm>
            <a:off x="6762750" y="2752725"/>
            <a:ext cx="4953000" cy="0"/>
          </a:xfrm>
          <a:prstGeom prst="line">
            <a:avLst/>
          </a:prstGeom>
          <a:ln w="9525">
            <a:solidFill>
              <a:srgbClr val="464B5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0" y="2895600"/>
            <a:ext cx="4705350" cy="333375"/>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DejaVu Sans"/>
              </a:defRPr>
            </a:pPr>
            <a:r>
              <a:t>Баталгаа</a:t>
            </a:r>
          </a:p>
        </p:txBody>
      </p:sp>
      <p:sp>
        <p:nvSpPr>
          <p:cNvPr id="15" name="TextBox 14"/>
          <p:cNvSpPr txBox="1"/>
          <p:nvPr/>
        </p:nvSpPr>
        <p:spPr>
          <a:xfrm>
            <a:off x="6858000" y="3324225"/>
            <a:ext cx="4705350" cy="742950"/>
          </a:xfrm>
          <a:prstGeom prst="rect">
            <a:avLst/>
          </a:prstGeom>
          <a:noFill/>
        </p:spPr>
        <p:txBody>
          <a:bodyPr wrap="none" lIns="0" tIns="0" rIns="0" bIns="0">
            <a:spAutoFit/>
          </a:bodyPr>
          <a:lstStyle/>
          <a:p>
            <a:pPr>
              <a:lnSpc>
                <a:spcPts val="2013"/>
              </a:lnSpc>
              <a:spcBef>
                <a:spcPts val="0"/>
              </a:spcBef>
              <a:spcAft>
                <a:spcPts val="0"/>
              </a:spcAft>
              <a:defRPr sz="1650" b="0">
                <a:solidFill>
                  <a:srgbClr val="F7F6F1"/>
                </a:solidFill>
                <a:latin typeface="DejaVu Sans"/>
              </a:defRPr>
            </a:pPr>
            <a:r>
              <a:t>Монголын хууль ба олон улсын баримт</a:t>
            </a:r>
          </a:p>
          <a:p>
            <a:pPr>
              <a:lnSpc>
                <a:spcPts val="2013"/>
              </a:lnSpc>
              <a:spcBef>
                <a:spcPts val="0"/>
              </a:spcBef>
              <a:spcAft>
                <a:spcPts val="0"/>
              </a:spcAft>
              <a:defRPr sz="1650" b="0">
                <a:solidFill>
                  <a:srgbClr val="F7F6F1"/>
                </a:solidFill>
                <a:latin typeface="DejaVu Sans"/>
              </a:defRPr>
            </a:pPr>
            <a:r>
              <a:t>бичиг ямар хамгаалалт тогтоодог вэ?</a:t>
            </a:r>
          </a:p>
        </p:txBody>
      </p:sp>
      <p:sp>
        <p:nvSpPr>
          <p:cNvPr id="16" name="TextBox 15"/>
          <p:cNvSpPr txBox="1"/>
          <p:nvPr/>
        </p:nvSpPr>
        <p:spPr>
          <a:xfrm>
            <a:off x="5429250" y="4114800"/>
            <a:ext cx="1143000" cy="1143000"/>
          </a:xfrm>
          <a:prstGeom prst="rect">
            <a:avLst/>
          </a:prstGeom>
          <a:noFill/>
        </p:spPr>
        <p:txBody>
          <a:bodyPr wrap="none" lIns="0" tIns="0" rIns="0" bIns="0">
            <a:spAutoFit/>
          </a:bodyPr>
          <a:lstStyle/>
          <a:p>
            <a:pPr>
              <a:lnSpc>
                <a:spcPts val="8052"/>
              </a:lnSpc>
              <a:spcBef>
                <a:spcPts val="0"/>
              </a:spcBef>
              <a:spcAft>
                <a:spcPts val="0"/>
              </a:spcAft>
              <a:defRPr sz="6600" b="1">
                <a:solidFill>
                  <a:srgbClr val="F5FF58"/>
                </a:solidFill>
                <a:latin typeface="Open Sans Condensed"/>
              </a:defRPr>
            </a:pPr>
            <a:r>
              <a:t>03</a:t>
            </a:r>
          </a:p>
        </p:txBody>
      </p:sp>
      <p:cxnSp>
        <p:nvCxnSpPr>
          <p:cNvPr id="17" name="Connector 16"/>
          <p:cNvCxnSpPr/>
          <p:nvPr/>
        </p:nvCxnSpPr>
        <p:spPr>
          <a:xfrm>
            <a:off x="6762750" y="4286250"/>
            <a:ext cx="4953000" cy="0"/>
          </a:xfrm>
          <a:prstGeom prst="line">
            <a:avLst/>
          </a:prstGeom>
          <a:ln w="9525">
            <a:solidFill>
              <a:srgbClr val="464B5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0" y="4429125"/>
            <a:ext cx="4705350" cy="333375"/>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DejaVu Sans"/>
              </a:defRPr>
            </a:pPr>
            <a:r>
              <a:t>Шийдэл</a:t>
            </a:r>
          </a:p>
        </p:txBody>
      </p:sp>
      <p:sp>
        <p:nvSpPr>
          <p:cNvPr id="19" name="TextBox 18"/>
          <p:cNvSpPr txBox="1"/>
          <p:nvPr/>
        </p:nvSpPr>
        <p:spPr>
          <a:xfrm>
            <a:off x="6858000" y="4857750"/>
            <a:ext cx="4705350" cy="742950"/>
          </a:xfrm>
          <a:prstGeom prst="rect">
            <a:avLst/>
          </a:prstGeom>
          <a:noFill/>
        </p:spPr>
        <p:txBody>
          <a:bodyPr wrap="none" lIns="0" tIns="0" rIns="0" bIns="0">
            <a:spAutoFit/>
          </a:bodyPr>
          <a:lstStyle/>
          <a:p>
            <a:pPr>
              <a:lnSpc>
                <a:spcPts val="2013"/>
              </a:lnSpc>
              <a:spcBef>
                <a:spcPts val="0"/>
              </a:spcBef>
              <a:spcAft>
                <a:spcPts val="0"/>
              </a:spcAft>
              <a:defRPr sz="1650" b="0">
                <a:solidFill>
                  <a:srgbClr val="F7F6F1"/>
                </a:solidFill>
                <a:latin typeface="DejaVu Sans"/>
              </a:defRPr>
            </a:pPr>
            <a:r>
              <a:t>Шүүхийн кейс, бусад орны туршлагаас</a:t>
            </a:r>
          </a:p>
          <a:p>
            <a:pPr>
              <a:lnSpc>
                <a:spcPts val="2013"/>
              </a:lnSpc>
              <a:spcBef>
                <a:spcPts val="0"/>
              </a:spcBef>
              <a:spcAft>
                <a:spcPts val="0"/>
              </a:spcAft>
              <a:defRPr sz="1650" b="0">
                <a:solidFill>
                  <a:srgbClr val="F7F6F1"/>
                </a:solidFill>
                <a:latin typeface="DejaVu Sans"/>
              </a:defRPr>
            </a:pPr>
            <a:r>
              <a:t>Монголд юу хэрэгжүүлж болох вэ?</a:t>
            </a:r>
          </a:p>
        </p:txBody>
      </p:sp>
      <p:sp>
        <p:nvSpPr>
          <p:cNvPr id="20" name="Rectangle 19"/>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Гол байр суурь: халамжийн асуудлыг эрх, хүртээмж, хариуцлагатай холбож үзнэ.</a:t>
            </a:r>
          </a:p>
        </p:txBody>
      </p:sp>
      <p:cxnSp>
        <p:nvCxnSpPr>
          <p:cNvPr id="22" name="Connector 21"/>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ҮХ · ICESCR</a:t>
            </a:r>
          </a:p>
        </p:txBody>
      </p:sp>
      <p:sp>
        <p:nvSpPr>
          <p:cNvPr id="24" name="TextBox 23"/>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02—30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01 / НЭР ТОМЬЁО</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3934"/>
              </a:lnSpc>
              <a:spcBef>
                <a:spcPts val="0"/>
              </a:spcBef>
              <a:spcAft>
                <a:spcPts val="0"/>
              </a:spcAft>
              <a:defRPr sz="3225" b="1">
                <a:solidFill>
                  <a:srgbClr val="101114"/>
                </a:solidFill>
                <a:latin typeface="Open Sans Condensed"/>
              </a:defRPr>
            </a:pPr>
            <a:r>
              <a:t>НИЙГМИЙН БАЙР СУУРЬ ≠ ХҮНИЙ ҮНЭ ЦЭНЭ</a:t>
            </a:r>
          </a:p>
        </p:txBody>
      </p:sp>
      <p:sp>
        <p:nvSpPr>
          <p:cNvPr id="7" name="Rectangle 6"/>
          <p:cNvSpPr/>
          <p:nvPr/>
        </p:nvSpPr>
        <p:spPr>
          <a:xfrm>
            <a:off x="419100" y="2028825"/>
            <a:ext cx="4057650" cy="36957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2124075"/>
            <a:ext cx="3429000" cy="1352550"/>
          </a:xfrm>
          <a:prstGeom prst="rect">
            <a:avLst/>
          </a:prstGeom>
          <a:noFill/>
        </p:spPr>
        <p:txBody>
          <a:bodyPr wrap="none" lIns="0" tIns="0" rIns="0" bIns="0">
            <a:spAutoFit/>
          </a:bodyPr>
          <a:lstStyle/>
          <a:p>
            <a:pPr algn="ctr">
              <a:lnSpc>
                <a:spcPts val="10632"/>
              </a:lnSpc>
              <a:spcBef>
                <a:spcPts val="0"/>
              </a:spcBef>
              <a:spcAft>
                <a:spcPts val="0"/>
              </a:spcAft>
              <a:defRPr sz="8714" b="1">
                <a:solidFill>
                  <a:srgbClr val="F5FF58"/>
                </a:solidFill>
                <a:latin typeface="DejaVu Sans"/>
              </a:defRPr>
            </a:pPr>
            <a:r>
              <a:t>≠</a:t>
            </a:r>
          </a:p>
        </p:txBody>
      </p:sp>
      <p:sp>
        <p:nvSpPr>
          <p:cNvPr id="9" name="TextBox 8"/>
          <p:cNvSpPr txBox="1"/>
          <p:nvPr/>
        </p:nvSpPr>
        <p:spPr>
          <a:xfrm>
            <a:off x="723900" y="3762374"/>
            <a:ext cx="3333750" cy="1381125"/>
          </a:xfrm>
          <a:prstGeom prst="rect">
            <a:avLst/>
          </a:prstGeom>
          <a:noFill/>
        </p:spPr>
        <p:txBody>
          <a:bodyPr wrap="none" lIns="0" tIns="0" rIns="0" bIns="0">
            <a:spAutoFit/>
          </a:bodyPr>
          <a:lstStyle/>
          <a:p>
            <a:pPr>
              <a:lnSpc>
                <a:spcPts val="3202"/>
              </a:lnSpc>
              <a:spcBef>
                <a:spcPts val="0"/>
              </a:spcBef>
              <a:spcAft>
                <a:spcPts val="0"/>
              </a:spcAft>
              <a:defRPr sz="2625" b="1">
                <a:solidFill>
                  <a:srgbClr val="F7F6F1"/>
                </a:solidFill>
                <a:latin typeface="Open Sans Condensed"/>
              </a:defRPr>
            </a:pPr>
            <a:r>
              <a:t>ОРЛОГО</a:t>
            </a:r>
          </a:p>
          <a:p>
            <a:pPr>
              <a:lnSpc>
                <a:spcPts val="3202"/>
              </a:lnSpc>
              <a:spcBef>
                <a:spcPts val="0"/>
              </a:spcBef>
              <a:spcAft>
                <a:spcPts val="0"/>
              </a:spcAft>
              <a:defRPr sz="2625" b="1">
                <a:solidFill>
                  <a:srgbClr val="F7F6F1"/>
                </a:solidFill>
                <a:latin typeface="Open Sans Condensed"/>
              </a:defRPr>
            </a:pPr>
            <a:r>
              <a:t>БАГА БАЙЖ БОЛНО.</a:t>
            </a:r>
          </a:p>
          <a:p>
            <a:pPr>
              <a:lnSpc>
                <a:spcPts val="3202"/>
              </a:lnSpc>
              <a:spcBef>
                <a:spcPts val="0"/>
              </a:spcBef>
              <a:spcAft>
                <a:spcPts val="0"/>
              </a:spcAft>
              <a:defRPr sz="2625" b="1">
                <a:solidFill>
                  <a:srgbClr val="F7F6F1"/>
                </a:solidFill>
                <a:latin typeface="Open Sans Condensed"/>
              </a:defRPr>
            </a:pPr>
            <a:r>
              <a:t>ЭРХ БАГАСАХГҮЙ.</a:t>
            </a:r>
          </a:p>
        </p:txBody>
      </p:sp>
      <p:cxnSp>
        <p:nvCxnSpPr>
          <p:cNvPr id="10" name="Connector 9"/>
          <p:cNvCxnSpPr/>
          <p:nvPr/>
        </p:nvCxnSpPr>
        <p:spPr>
          <a:xfrm>
            <a:off x="4819650" y="2009774"/>
            <a:ext cx="6800850"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19650" y="215265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01</a:t>
            </a:r>
          </a:p>
        </p:txBody>
      </p:sp>
      <p:sp>
        <p:nvSpPr>
          <p:cNvPr id="12" name="TextBox 11"/>
          <p:cNvSpPr txBox="1"/>
          <p:nvPr/>
        </p:nvSpPr>
        <p:spPr>
          <a:xfrm>
            <a:off x="5648325" y="2133600"/>
            <a:ext cx="597217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Эдийн засгийн байр суурь</a:t>
            </a:r>
          </a:p>
        </p:txBody>
      </p:sp>
      <p:sp>
        <p:nvSpPr>
          <p:cNvPr id="13" name="TextBox 12"/>
          <p:cNvSpPr txBox="1"/>
          <p:nvPr/>
        </p:nvSpPr>
        <p:spPr>
          <a:xfrm>
            <a:off x="5648325" y="2514600"/>
            <a:ext cx="5972175" cy="647700"/>
          </a:xfrm>
          <a:prstGeom prst="rect">
            <a:avLst/>
          </a:prstGeom>
          <a:noFill/>
        </p:spPr>
        <p:txBody>
          <a:bodyPr wrap="none" lIns="0" tIns="0" rIns="0" bIns="0">
            <a:spAutoFit/>
          </a:bodyPr>
          <a:lstStyle/>
          <a:p>
            <a:pPr>
              <a:lnSpc>
                <a:spcPts val="1738"/>
              </a:lnSpc>
              <a:spcBef>
                <a:spcPts val="0"/>
              </a:spcBef>
              <a:spcAft>
                <a:spcPts val="0"/>
              </a:spcAft>
              <a:defRPr sz="1425" b="0">
                <a:solidFill>
                  <a:srgbClr val="101114"/>
                </a:solidFill>
                <a:latin typeface="DejaVu Sans"/>
              </a:defRPr>
            </a:pPr>
            <a:r>
              <a:t>Орлого, хөрөнгө, тогтвортой ажлын боломж бага; эдийн</a:t>
            </a:r>
          </a:p>
          <a:p>
            <a:pPr>
              <a:lnSpc>
                <a:spcPts val="1738"/>
              </a:lnSpc>
              <a:spcBef>
                <a:spcPts val="0"/>
              </a:spcBef>
              <a:spcAft>
                <a:spcPts val="0"/>
              </a:spcAft>
              <a:defRPr sz="1425" b="0">
                <a:solidFill>
                  <a:srgbClr val="101114"/>
                </a:solidFill>
                <a:latin typeface="DejaVu Sans"/>
              </a:defRPr>
            </a:pPr>
            <a:r>
              <a:t>засгийн цочролд өртөх эрсдэл өндөр.</a:t>
            </a:r>
          </a:p>
        </p:txBody>
      </p:sp>
      <p:cxnSp>
        <p:nvCxnSpPr>
          <p:cNvPr id="14" name="Connector 13"/>
          <p:cNvCxnSpPr/>
          <p:nvPr/>
        </p:nvCxnSpPr>
        <p:spPr>
          <a:xfrm>
            <a:off x="4819650" y="3219450"/>
            <a:ext cx="6800850"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819650" y="3362325"/>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02</a:t>
            </a:r>
          </a:p>
        </p:txBody>
      </p:sp>
      <p:sp>
        <p:nvSpPr>
          <p:cNvPr id="16" name="TextBox 15"/>
          <p:cNvSpPr txBox="1"/>
          <p:nvPr/>
        </p:nvSpPr>
        <p:spPr>
          <a:xfrm>
            <a:off x="5648325" y="3343275"/>
            <a:ext cx="597217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Нийгмийн боломж</a:t>
            </a:r>
          </a:p>
        </p:txBody>
      </p:sp>
      <p:sp>
        <p:nvSpPr>
          <p:cNvPr id="17" name="TextBox 16"/>
          <p:cNvSpPr txBox="1"/>
          <p:nvPr/>
        </p:nvSpPr>
        <p:spPr>
          <a:xfrm>
            <a:off x="5648325" y="3724275"/>
            <a:ext cx="5972175" cy="647700"/>
          </a:xfrm>
          <a:prstGeom prst="rect">
            <a:avLst/>
          </a:prstGeom>
          <a:noFill/>
        </p:spPr>
        <p:txBody>
          <a:bodyPr wrap="none" lIns="0" tIns="0" rIns="0" bIns="0">
            <a:spAutoFit/>
          </a:bodyPr>
          <a:lstStyle/>
          <a:p>
            <a:pPr>
              <a:lnSpc>
                <a:spcPts val="1738"/>
              </a:lnSpc>
              <a:spcBef>
                <a:spcPts val="0"/>
              </a:spcBef>
              <a:spcAft>
                <a:spcPts val="0"/>
              </a:spcAft>
              <a:defRPr sz="1425" b="0">
                <a:solidFill>
                  <a:srgbClr val="101114"/>
                </a:solidFill>
                <a:latin typeface="DejaVu Sans"/>
              </a:defRPr>
            </a:pPr>
            <a:r>
              <a:t>Чанартай боловсрол, эрүүл мэнд, орон сууц, мэдээлэлд хүрэх</a:t>
            </a:r>
          </a:p>
          <a:p>
            <a:pPr>
              <a:lnSpc>
                <a:spcPts val="1738"/>
              </a:lnSpc>
              <a:spcBef>
                <a:spcPts val="0"/>
              </a:spcBef>
              <a:spcAft>
                <a:spcPts val="0"/>
              </a:spcAft>
              <a:defRPr sz="1425" b="0">
                <a:solidFill>
                  <a:srgbClr val="101114"/>
                </a:solidFill>
                <a:latin typeface="DejaVu Sans"/>
              </a:defRPr>
            </a:pPr>
            <a:r>
              <a:t>боломж харилцан адилгүй.</a:t>
            </a:r>
          </a:p>
        </p:txBody>
      </p:sp>
      <p:cxnSp>
        <p:nvCxnSpPr>
          <p:cNvPr id="18" name="Connector 17"/>
          <p:cNvCxnSpPr/>
          <p:nvPr/>
        </p:nvCxnSpPr>
        <p:spPr>
          <a:xfrm>
            <a:off x="4819650" y="4429125"/>
            <a:ext cx="6800850"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19650" y="457200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03</a:t>
            </a:r>
          </a:p>
        </p:txBody>
      </p:sp>
      <p:sp>
        <p:nvSpPr>
          <p:cNvPr id="20" name="TextBox 19"/>
          <p:cNvSpPr txBox="1"/>
          <p:nvPr/>
        </p:nvSpPr>
        <p:spPr>
          <a:xfrm>
            <a:off x="5648325" y="4552950"/>
            <a:ext cx="597217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Эрхийн субъект</a:t>
            </a:r>
          </a:p>
        </p:txBody>
      </p:sp>
      <p:sp>
        <p:nvSpPr>
          <p:cNvPr id="21" name="TextBox 20"/>
          <p:cNvSpPr txBox="1"/>
          <p:nvPr/>
        </p:nvSpPr>
        <p:spPr>
          <a:xfrm>
            <a:off x="5648325" y="4933950"/>
            <a:ext cx="5972175" cy="647700"/>
          </a:xfrm>
          <a:prstGeom prst="rect">
            <a:avLst/>
          </a:prstGeom>
          <a:noFill/>
        </p:spPr>
        <p:txBody>
          <a:bodyPr wrap="none" lIns="0" tIns="0" rIns="0" bIns="0">
            <a:spAutoFit/>
          </a:bodyPr>
          <a:lstStyle/>
          <a:p>
            <a:pPr>
              <a:lnSpc>
                <a:spcPts val="1701"/>
              </a:lnSpc>
              <a:spcBef>
                <a:spcPts val="0"/>
              </a:spcBef>
              <a:spcAft>
                <a:spcPts val="0"/>
              </a:spcAft>
              <a:defRPr sz="1395" b="0">
                <a:solidFill>
                  <a:srgbClr val="101114"/>
                </a:solidFill>
                <a:latin typeface="DejaVu Sans"/>
              </a:defRPr>
            </a:pPr>
            <a:r>
              <a:t>Орлогоос үл хамааран хүн бүр ижил нэр төртэй, эрх эдлэгч.</a:t>
            </a:r>
          </a:p>
          <a:p>
            <a:pPr>
              <a:lnSpc>
                <a:spcPts val="1701"/>
              </a:lnSpc>
              <a:spcBef>
                <a:spcPts val="0"/>
              </a:spcBef>
              <a:spcAft>
                <a:spcPts val="0"/>
              </a:spcAft>
              <a:defRPr sz="1395" b="0">
                <a:solidFill>
                  <a:srgbClr val="101114"/>
                </a:solidFill>
                <a:latin typeface="DejaVu Sans"/>
              </a:defRPr>
            </a:pPr>
            <a:r>
              <a:t>Ядуу хүнийг буруутгах нь бүтцийн шалтгааныг бүдгэрүүлдэг.</a:t>
            </a:r>
          </a:p>
        </p:txBody>
      </p:sp>
      <p:sp>
        <p:nvSpPr>
          <p:cNvPr id="22" name="Rectangle 21"/>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Цаашид “бага орлоготой”, “ядууралд өртсөн”, “эмзэг нөхцөлтэй” гэсэн тодорхой үг хэрэглэнэ.</a:t>
            </a:r>
          </a:p>
        </p:txBody>
      </p:sp>
      <p:cxnSp>
        <p:nvCxnSpPr>
          <p:cNvPr id="24" name="Connector 23"/>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UDHR · ҮХ</a:t>
            </a:r>
          </a:p>
        </p:txBody>
      </p:sp>
      <p:sp>
        <p:nvSpPr>
          <p:cNvPr id="26" name="TextBox 25"/>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03—30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01 / ХЭМЖИЛТ</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758"/>
              </a:lnSpc>
              <a:spcBef>
                <a:spcPts val="0"/>
              </a:spcBef>
              <a:spcAft>
                <a:spcPts val="0"/>
              </a:spcAft>
              <a:defRPr sz="3900" b="1">
                <a:solidFill>
                  <a:srgbClr val="F7F6F1"/>
                </a:solidFill>
                <a:latin typeface="Open Sans Condensed"/>
              </a:defRPr>
            </a:pPr>
            <a:r>
              <a:t>ЯДУУРЛЫГ ХЭРХЭН ХАРАХ ВЭ?</a:t>
            </a:r>
          </a:p>
        </p:txBody>
      </p:sp>
      <p:sp>
        <p:nvSpPr>
          <p:cNvPr id="7" name="Oval 6"/>
          <p:cNvSpPr/>
          <p:nvPr/>
        </p:nvSpPr>
        <p:spPr>
          <a:xfrm>
            <a:off x="590550" y="2152650"/>
            <a:ext cx="3457575" cy="3457575"/>
          </a:xfrm>
          <a:prstGeom prst="ellipse">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6800" y="2628900"/>
            <a:ext cx="2505075" cy="2505075"/>
          </a:xfrm>
          <a:prstGeom prst="ellipse">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3050" y="3105150"/>
            <a:ext cx="1552575" cy="1552575"/>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24025" y="3600450"/>
            <a:ext cx="1190625" cy="571500"/>
          </a:xfrm>
          <a:prstGeom prst="rect">
            <a:avLst/>
          </a:prstGeom>
          <a:noFill/>
        </p:spPr>
        <p:txBody>
          <a:bodyPr wrap="none" lIns="0" tIns="0" rIns="0" bIns="0">
            <a:spAutoFit/>
          </a:bodyPr>
          <a:lstStyle/>
          <a:p>
            <a:pPr algn="ctr">
              <a:lnSpc>
                <a:spcPts val="3568"/>
              </a:lnSpc>
              <a:spcBef>
                <a:spcPts val="0"/>
              </a:spcBef>
              <a:spcAft>
                <a:spcPts val="0"/>
              </a:spcAft>
              <a:defRPr sz="2925" b="1">
                <a:solidFill>
                  <a:srgbClr val="101114"/>
                </a:solidFill>
                <a:latin typeface="Open Sans Condensed"/>
              </a:defRPr>
            </a:pPr>
            <a:r>
              <a:t>ЭРХ</a:t>
            </a:r>
          </a:p>
        </p:txBody>
      </p:sp>
      <p:sp>
        <p:nvSpPr>
          <p:cNvPr id="11" name="TextBox 10"/>
          <p:cNvSpPr txBox="1"/>
          <p:nvPr/>
        </p:nvSpPr>
        <p:spPr>
          <a:xfrm>
            <a:off x="495299" y="5667375"/>
            <a:ext cx="3810000" cy="219075"/>
          </a:xfrm>
          <a:prstGeom prst="rect">
            <a:avLst/>
          </a:prstGeom>
          <a:noFill/>
        </p:spPr>
        <p:txBody>
          <a:bodyPr wrap="none" lIns="0" tIns="0" rIns="0" bIns="0">
            <a:spAutoFit/>
          </a:bodyPr>
          <a:lstStyle/>
          <a:p>
            <a:pPr algn="ctr">
              <a:lnSpc>
                <a:spcPts val="1189"/>
              </a:lnSpc>
              <a:spcBef>
                <a:spcPts val="0"/>
              </a:spcBef>
              <a:spcAft>
                <a:spcPts val="0"/>
              </a:spcAft>
              <a:defRPr sz="975" b="0">
                <a:solidFill>
                  <a:srgbClr val="A9AFBE"/>
                </a:solidFill>
                <a:latin typeface="DejaVu Sans Mono"/>
              </a:defRPr>
            </a:pPr>
            <a:r>
              <a:t>ХЭМЖИЛТИЙН 3 ӨНЦӨГ</a:t>
            </a:r>
          </a:p>
        </p:txBody>
      </p:sp>
      <p:cxnSp>
        <p:nvCxnSpPr>
          <p:cNvPr id="12" name="Connector 11"/>
          <p:cNvCxnSpPr/>
          <p:nvPr/>
        </p:nvCxnSpPr>
        <p:spPr>
          <a:xfrm>
            <a:off x="4857750" y="2009774"/>
            <a:ext cx="6762750" cy="0"/>
          </a:xfrm>
          <a:prstGeom prst="line">
            <a:avLst/>
          </a:prstGeom>
          <a:ln w="9525">
            <a:solidFill>
              <a:srgbClr val="494F5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57750" y="215265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F5FF58"/>
                </a:solidFill>
                <a:latin typeface="Open Sans Condensed"/>
              </a:defRPr>
            </a:pPr>
            <a:r>
              <a:t>01</a:t>
            </a:r>
          </a:p>
        </p:txBody>
      </p:sp>
      <p:sp>
        <p:nvSpPr>
          <p:cNvPr id="14" name="TextBox 13"/>
          <p:cNvSpPr txBox="1"/>
          <p:nvPr/>
        </p:nvSpPr>
        <p:spPr>
          <a:xfrm>
            <a:off x="5686425" y="2133600"/>
            <a:ext cx="593407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F7F6F1"/>
                </a:solidFill>
                <a:latin typeface="DejaVu Sans"/>
              </a:defRPr>
            </a:pPr>
            <a:r>
              <a:t>Мөнгөн ядуурал</a:t>
            </a:r>
          </a:p>
        </p:txBody>
      </p:sp>
      <p:sp>
        <p:nvSpPr>
          <p:cNvPr id="15" name="TextBox 14"/>
          <p:cNvSpPr txBox="1"/>
          <p:nvPr/>
        </p:nvSpPr>
        <p:spPr>
          <a:xfrm>
            <a:off x="5686425" y="2514600"/>
            <a:ext cx="5934075" cy="647700"/>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Хэрэглээ эсвэл орлого тогтоосон босгоос доогуур байх.</a:t>
            </a:r>
          </a:p>
          <a:p>
            <a:pPr>
              <a:lnSpc>
                <a:spcPts val="1738"/>
              </a:lnSpc>
              <a:spcBef>
                <a:spcPts val="0"/>
              </a:spcBef>
              <a:spcAft>
                <a:spcPts val="0"/>
              </a:spcAft>
              <a:defRPr sz="1425" b="0">
                <a:solidFill>
                  <a:srgbClr val="F7F6F1"/>
                </a:solidFill>
                <a:latin typeface="DejaVu Sans"/>
              </a:defRPr>
            </a:pPr>
            <a:r>
              <a:t>Үндэсний босго нь тухайн улсын нөхцөлд тулгуурлана.</a:t>
            </a:r>
          </a:p>
        </p:txBody>
      </p:sp>
      <p:cxnSp>
        <p:nvCxnSpPr>
          <p:cNvPr id="16" name="Connector 15"/>
          <p:cNvCxnSpPr/>
          <p:nvPr/>
        </p:nvCxnSpPr>
        <p:spPr>
          <a:xfrm>
            <a:off x="4857750" y="3219450"/>
            <a:ext cx="6762750" cy="0"/>
          </a:xfrm>
          <a:prstGeom prst="line">
            <a:avLst/>
          </a:prstGeom>
          <a:ln w="9525">
            <a:solidFill>
              <a:srgbClr val="494F5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57750" y="3362325"/>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F5FF58"/>
                </a:solidFill>
                <a:latin typeface="Open Sans Condensed"/>
              </a:defRPr>
            </a:pPr>
            <a:r>
              <a:t>02</a:t>
            </a:r>
          </a:p>
        </p:txBody>
      </p:sp>
      <p:sp>
        <p:nvSpPr>
          <p:cNvPr id="18" name="TextBox 17"/>
          <p:cNvSpPr txBox="1"/>
          <p:nvPr/>
        </p:nvSpPr>
        <p:spPr>
          <a:xfrm>
            <a:off x="5686425" y="3343275"/>
            <a:ext cx="593407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F7F6F1"/>
                </a:solidFill>
                <a:latin typeface="DejaVu Sans"/>
              </a:defRPr>
            </a:pPr>
            <a:r>
              <a:t>Олон хэмжээст хомсдол</a:t>
            </a:r>
          </a:p>
        </p:txBody>
      </p:sp>
      <p:sp>
        <p:nvSpPr>
          <p:cNvPr id="19" name="TextBox 18"/>
          <p:cNvSpPr txBox="1"/>
          <p:nvPr/>
        </p:nvSpPr>
        <p:spPr>
          <a:xfrm>
            <a:off x="5686425" y="3724275"/>
            <a:ext cx="5934075" cy="647700"/>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Боловсрол, эрүүл мэнд, ундны ус, ариун цэвэр, орон сууцны</a:t>
            </a:r>
          </a:p>
          <a:p>
            <a:pPr>
              <a:lnSpc>
                <a:spcPts val="1738"/>
              </a:lnSpc>
              <a:spcBef>
                <a:spcPts val="0"/>
              </a:spcBef>
              <a:spcAft>
                <a:spcPts val="0"/>
              </a:spcAft>
              <a:defRPr sz="1425" b="0">
                <a:solidFill>
                  <a:srgbClr val="F7F6F1"/>
                </a:solidFill>
                <a:latin typeface="DejaVu Sans"/>
              </a:defRPr>
            </a:pPr>
            <a:r>
              <a:t>дутагдлыг хамтад нь харна.</a:t>
            </a:r>
          </a:p>
        </p:txBody>
      </p:sp>
      <p:cxnSp>
        <p:nvCxnSpPr>
          <p:cNvPr id="20" name="Connector 19"/>
          <p:cNvCxnSpPr/>
          <p:nvPr/>
        </p:nvCxnSpPr>
        <p:spPr>
          <a:xfrm>
            <a:off x="4857750" y="4429125"/>
            <a:ext cx="6762750" cy="0"/>
          </a:xfrm>
          <a:prstGeom prst="line">
            <a:avLst/>
          </a:prstGeom>
          <a:ln w="9525">
            <a:solidFill>
              <a:srgbClr val="494F5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857750" y="457200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F5FF58"/>
                </a:solidFill>
                <a:latin typeface="Open Sans Condensed"/>
              </a:defRPr>
            </a:pPr>
            <a:r>
              <a:t>03</a:t>
            </a:r>
          </a:p>
        </p:txBody>
      </p:sp>
      <p:sp>
        <p:nvSpPr>
          <p:cNvPr id="22" name="TextBox 21"/>
          <p:cNvSpPr txBox="1"/>
          <p:nvPr/>
        </p:nvSpPr>
        <p:spPr>
          <a:xfrm>
            <a:off x="5686425" y="4552950"/>
            <a:ext cx="593407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F7F6F1"/>
                </a:solidFill>
                <a:latin typeface="DejaVu Sans"/>
              </a:defRPr>
            </a:pPr>
            <a:r>
              <a:t>Нийгмийн гадуурхал</a:t>
            </a:r>
          </a:p>
        </p:txBody>
      </p:sp>
      <p:sp>
        <p:nvSpPr>
          <p:cNvPr id="23" name="TextBox 22"/>
          <p:cNvSpPr txBox="1"/>
          <p:nvPr/>
        </p:nvSpPr>
        <p:spPr>
          <a:xfrm>
            <a:off x="5686425" y="4933950"/>
            <a:ext cx="5934075" cy="647700"/>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Баримт бичиг, тээвэр, хэл, цахим ур чадвар, ялгаварлал</a:t>
            </a:r>
          </a:p>
          <a:p>
            <a:pPr>
              <a:lnSpc>
                <a:spcPts val="1738"/>
              </a:lnSpc>
              <a:spcBef>
                <a:spcPts val="0"/>
              </a:spcBef>
              <a:spcAft>
                <a:spcPts val="0"/>
              </a:spcAft>
              <a:defRPr sz="1425" b="0">
                <a:solidFill>
                  <a:srgbClr val="F7F6F1"/>
                </a:solidFill>
                <a:latin typeface="DejaVu Sans"/>
              </a:defRPr>
            </a:pPr>
            <a:r>
              <a:t>зэргээс үйлчилгээ авч чадахгүй болох.</a:t>
            </a:r>
          </a:p>
        </p:txBody>
      </p:sp>
      <p:sp>
        <p:nvSpPr>
          <p:cNvPr id="24" name="Rectangle 23"/>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Нэг үзүүлэлт бүх асуудлыг тайлбарлахгүй. Орлого, үйлчилгээний хүртээмж, эрхийн хамгаалалтыг хамт үнэлнэ.</a:t>
            </a:r>
          </a:p>
        </p:txBody>
      </p:sp>
      <p:cxnSp>
        <p:nvCxnSpPr>
          <p:cNvPr id="26" name="Connector 25"/>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POV · SDG</a:t>
            </a:r>
          </a:p>
        </p:txBody>
      </p:sp>
      <p:sp>
        <p:nvSpPr>
          <p:cNvPr id="28" name="TextBox 27"/>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04—30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01 / МОНГОЛЫН НӨХЦӨЛ</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6083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66"/>
              </a:lnSpc>
              <a:spcBef>
                <a:spcPts val="0"/>
              </a:spcBef>
              <a:spcAft>
                <a:spcPts val="0"/>
              </a:spcAft>
              <a:defRPr sz="3825" b="1">
                <a:solidFill>
                  <a:srgbClr val="F7F6F1"/>
                </a:solidFill>
                <a:latin typeface="Open Sans Condensed"/>
              </a:defRPr>
            </a:pPr>
            <a:r>
              <a:t>ЯДУУРАЛ / МОНГОЛ</a:t>
            </a:r>
          </a:p>
        </p:txBody>
      </p:sp>
      <p:sp>
        <p:nvSpPr>
          <p:cNvPr id="7" name="TextBox 6"/>
          <p:cNvSpPr txBox="1"/>
          <p:nvPr/>
        </p:nvSpPr>
        <p:spPr>
          <a:xfrm>
            <a:off x="438150" y="1714500"/>
            <a:ext cx="5667375" cy="1704975"/>
          </a:xfrm>
          <a:prstGeom prst="rect">
            <a:avLst/>
          </a:prstGeom>
          <a:noFill/>
        </p:spPr>
        <p:txBody>
          <a:bodyPr wrap="none" lIns="0" tIns="0" rIns="0" bIns="0">
            <a:spAutoFit/>
          </a:bodyPr>
          <a:lstStyle/>
          <a:p>
            <a:pPr>
              <a:lnSpc>
                <a:spcPts val="12718"/>
              </a:lnSpc>
              <a:spcBef>
                <a:spcPts val="0"/>
              </a:spcBef>
              <a:spcAft>
                <a:spcPts val="0"/>
              </a:spcAft>
              <a:defRPr sz="10425" b="1">
                <a:solidFill>
                  <a:srgbClr val="F5FF58"/>
                </a:solidFill>
                <a:latin typeface="Open Sans Condensed"/>
              </a:defRPr>
            </a:pPr>
            <a:r>
              <a:t>27.1%</a:t>
            </a:r>
          </a:p>
        </p:txBody>
      </p:sp>
      <p:sp>
        <p:nvSpPr>
          <p:cNvPr id="8" name="TextBox 7"/>
          <p:cNvSpPr txBox="1"/>
          <p:nvPr/>
        </p:nvSpPr>
        <p:spPr>
          <a:xfrm>
            <a:off x="523874" y="3505200"/>
            <a:ext cx="4514850" cy="771525"/>
          </a:xfrm>
          <a:prstGeom prst="rect">
            <a:avLst/>
          </a:prstGeom>
          <a:noFill/>
        </p:spPr>
        <p:txBody>
          <a:bodyPr wrap="none" lIns="0" tIns="0" rIns="0" bIns="0">
            <a:spAutoFit/>
          </a:bodyPr>
          <a:lstStyle/>
          <a:p>
            <a:pPr>
              <a:lnSpc>
                <a:spcPts val="2561"/>
              </a:lnSpc>
              <a:spcBef>
                <a:spcPts val="0"/>
              </a:spcBef>
              <a:spcAft>
                <a:spcPts val="0"/>
              </a:spcAft>
              <a:defRPr sz="2100" b="1">
                <a:solidFill>
                  <a:srgbClr val="F7F6F1"/>
                </a:solidFill>
                <a:latin typeface="DejaVu Sans"/>
              </a:defRPr>
            </a:pPr>
            <a:r>
              <a:t>2022 оны үндэсний</a:t>
            </a:r>
          </a:p>
          <a:p>
            <a:pPr>
              <a:lnSpc>
                <a:spcPts val="2561"/>
              </a:lnSpc>
              <a:spcBef>
                <a:spcPts val="0"/>
              </a:spcBef>
              <a:spcAft>
                <a:spcPts val="0"/>
              </a:spcAft>
              <a:defRPr sz="2100" b="1">
                <a:solidFill>
                  <a:srgbClr val="F7F6F1"/>
                </a:solidFill>
                <a:latin typeface="DejaVu Sans"/>
              </a:defRPr>
            </a:pPr>
            <a:r>
              <a:t>ядуурлын түвшин</a:t>
            </a:r>
          </a:p>
        </p:txBody>
      </p:sp>
      <p:sp>
        <p:nvSpPr>
          <p:cNvPr id="9" name="Oval 8"/>
          <p:cNvSpPr/>
          <p:nvPr/>
        </p:nvSpPr>
        <p:spPr>
          <a:xfrm>
            <a:off x="62890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58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2890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3471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5557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325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5557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6138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8224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992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68224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05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891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659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0891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1472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3558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326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73558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139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6225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993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76225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6806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8892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8660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78892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9473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1559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1327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1559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2140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4226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3994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4226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807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6893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6661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86893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7474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89560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9328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89560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0141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92227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1995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92227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08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94894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4662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94894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5475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97561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97329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97561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8142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00228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99996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100228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0809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02895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2663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102895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3476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105562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105330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05562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6143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108229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07997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108229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8810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110896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110664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10896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11477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1356371" y="1895474"/>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11333130" y="197681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11356371"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1414474" y="206978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62890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62658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62890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3471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65557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65325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65557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6138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97" name="Oval 96"/>
          <p:cNvSpPr/>
          <p:nvPr/>
        </p:nvSpPr>
        <p:spPr>
          <a:xfrm>
            <a:off x="68224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67992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Connector 98"/>
          <p:cNvCxnSpPr/>
          <p:nvPr/>
        </p:nvCxnSpPr>
        <p:spPr>
          <a:xfrm>
            <a:off x="68224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8805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70891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70659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70891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71472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73558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73326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73558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4139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76225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75993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1" name="Connector 110"/>
          <p:cNvCxnSpPr/>
          <p:nvPr/>
        </p:nvCxnSpPr>
        <p:spPr>
          <a:xfrm>
            <a:off x="76225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806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7889271" y="2409825"/>
            <a:ext cx="58102" cy="58102"/>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7866030" y="2491168"/>
            <a:ext cx="104584" cy="116205"/>
          </a:xfrm>
          <a:prstGeom prst="roundRect">
            <a:avLst>
              <a:gd name="adj" fmla="val 22222"/>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5" name="Connector 114"/>
          <p:cNvCxnSpPr/>
          <p:nvPr/>
        </p:nvCxnSpPr>
        <p:spPr>
          <a:xfrm>
            <a:off x="7889271"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7947374" y="2584132"/>
            <a:ext cx="0" cy="98774"/>
          </a:xfrm>
          <a:prstGeom prst="line">
            <a:avLst/>
          </a:prstGeom>
          <a:ln w="29051">
            <a:solidFill>
              <a:srgbClr val="F5FF58"/>
            </a:solidFill>
          </a:ln>
        </p:spPr>
        <p:style>
          <a:lnRef idx="2">
            <a:schemeClr val="accent1"/>
          </a:lnRef>
          <a:fillRef idx="0">
            <a:schemeClr val="accent1"/>
          </a:fillRef>
          <a:effectRef idx="1">
            <a:schemeClr val="accent1"/>
          </a:effectRef>
          <a:fontRef idx="minor">
            <a:schemeClr val="tx1"/>
          </a:fontRef>
        </p:style>
      </p:cxnSp>
      <p:sp>
        <p:nvSpPr>
          <p:cNvPr id="117" name="Oval 116"/>
          <p:cNvSpPr/>
          <p:nvPr/>
        </p:nvSpPr>
        <p:spPr>
          <a:xfrm>
            <a:off x="81559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81327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81559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82140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21" name="Oval 120"/>
          <p:cNvSpPr/>
          <p:nvPr/>
        </p:nvSpPr>
        <p:spPr>
          <a:xfrm>
            <a:off x="84226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83994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3" name="Connector 122"/>
          <p:cNvCxnSpPr/>
          <p:nvPr/>
        </p:nvCxnSpPr>
        <p:spPr>
          <a:xfrm>
            <a:off x="84226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4807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25" name="Oval 124"/>
          <p:cNvSpPr/>
          <p:nvPr/>
        </p:nvSpPr>
        <p:spPr>
          <a:xfrm>
            <a:off x="86893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86661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86893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7474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29" name="Oval 128"/>
          <p:cNvSpPr/>
          <p:nvPr/>
        </p:nvSpPr>
        <p:spPr>
          <a:xfrm>
            <a:off x="89560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89328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a:off x="89560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90141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33" name="Oval 132"/>
          <p:cNvSpPr/>
          <p:nvPr/>
        </p:nvSpPr>
        <p:spPr>
          <a:xfrm>
            <a:off x="92227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91995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5" name="Connector 134"/>
          <p:cNvCxnSpPr/>
          <p:nvPr/>
        </p:nvCxnSpPr>
        <p:spPr>
          <a:xfrm>
            <a:off x="92227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92808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94894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ounded Rectangle 137"/>
          <p:cNvSpPr/>
          <p:nvPr/>
        </p:nvSpPr>
        <p:spPr>
          <a:xfrm>
            <a:off x="94662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Connector 138"/>
          <p:cNvCxnSpPr/>
          <p:nvPr/>
        </p:nvCxnSpPr>
        <p:spPr>
          <a:xfrm>
            <a:off x="94894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95475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41" name="Oval 140"/>
          <p:cNvSpPr/>
          <p:nvPr/>
        </p:nvSpPr>
        <p:spPr>
          <a:xfrm>
            <a:off x="97561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ounded Rectangle 141"/>
          <p:cNvSpPr/>
          <p:nvPr/>
        </p:nvSpPr>
        <p:spPr>
          <a:xfrm>
            <a:off x="97329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3" name="Connector 142"/>
          <p:cNvCxnSpPr/>
          <p:nvPr/>
        </p:nvCxnSpPr>
        <p:spPr>
          <a:xfrm>
            <a:off x="97561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98142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45" name="Oval 144"/>
          <p:cNvSpPr/>
          <p:nvPr/>
        </p:nvSpPr>
        <p:spPr>
          <a:xfrm>
            <a:off x="100228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ounded Rectangle 145"/>
          <p:cNvSpPr/>
          <p:nvPr/>
        </p:nvSpPr>
        <p:spPr>
          <a:xfrm>
            <a:off x="99996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7" name="Connector 146"/>
          <p:cNvCxnSpPr/>
          <p:nvPr/>
        </p:nvCxnSpPr>
        <p:spPr>
          <a:xfrm>
            <a:off x="100228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00809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49" name="Oval 148"/>
          <p:cNvSpPr/>
          <p:nvPr/>
        </p:nvSpPr>
        <p:spPr>
          <a:xfrm>
            <a:off x="102895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ounded Rectangle 149"/>
          <p:cNvSpPr/>
          <p:nvPr/>
        </p:nvSpPr>
        <p:spPr>
          <a:xfrm>
            <a:off x="102663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1" name="Connector 150"/>
          <p:cNvCxnSpPr/>
          <p:nvPr/>
        </p:nvCxnSpPr>
        <p:spPr>
          <a:xfrm>
            <a:off x="102895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03476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53" name="Oval 152"/>
          <p:cNvSpPr/>
          <p:nvPr/>
        </p:nvSpPr>
        <p:spPr>
          <a:xfrm>
            <a:off x="105562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ounded Rectangle 153"/>
          <p:cNvSpPr/>
          <p:nvPr/>
        </p:nvSpPr>
        <p:spPr>
          <a:xfrm>
            <a:off x="105330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5" name="Connector 154"/>
          <p:cNvCxnSpPr/>
          <p:nvPr/>
        </p:nvCxnSpPr>
        <p:spPr>
          <a:xfrm>
            <a:off x="105562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06143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57" name="Oval 156"/>
          <p:cNvSpPr/>
          <p:nvPr/>
        </p:nvSpPr>
        <p:spPr>
          <a:xfrm>
            <a:off x="108229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107997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9" name="Connector 158"/>
          <p:cNvCxnSpPr/>
          <p:nvPr/>
        </p:nvCxnSpPr>
        <p:spPr>
          <a:xfrm>
            <a:off x="108229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08810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61" name="Oval 160"/>
          <p:cNvSpPr/>
          <p:nvPr/>
        </p:nvSpPr>
        <p:spPr>
          <a:xfrm>
            <a:off x="110896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110664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3" name="Connector 162"/>
          <p:cNvCxnSpPr/>
          <p:nvPr/>
        </p:nvCxnSpPr>
        <p:spPr>
          <a:xfrm>
            <a:off x="110896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11477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65" name="Oval 164"/>
          <p:cNvSpPr/>
          <p:nvPr/>
        </p:nvSpPr>
        <p:spPr>
          <a:xfrm>
            <a:off x="11356371" y="24098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ounded Rectangle 165"/>
          <p:cNvSpPr/>
          <p:nvPr/>
        </p:nvSpPr>
        <p:spPr>
          <a:xfrm>
            <a:off x="11333130" y="24911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7" name="Connector 166"/>
          <p:cNvCxnSpPr/>
          <p:nvPr/>
        </p:nvCxnSpPr>
        <p:spPr>
          <a:xfrm>
            <a:off x="11356371"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1414474" y="25841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69" name="Oval 168"/>
          <p:cNvSpPr/>
          <p:nvPr/>
        </p:nvSpPr>
        <p:spPr>
          <a:xfrm>
            <a:off x="62890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ounded Rectangle 169"/>
          <p:cNvSpPr/>
          <p:nvPr/>
        </p:nvSpPr>
        <p:spPr>
          <a:xfrm>
            <a:off x="62658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1" name="Connector 170"/>
          <p:cNvCxnSpPr/>
          <p:nvPr/>
        </p:nvCxnSpPr>
        <p:spPr>
          <a:xfrm>
            <a:off x="62890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63471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73" name="Oval 172"/>
          <p:cNvSpPr/>
          <p:nvPr/>
        </p:nvSpPr>
        <p:spPr>
          <a:xfrm>
            <a:off x="65557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ounded Rectangle 173"/>
          <p:cNvSpPr/>
          <p:nvPr/>
        </p:nvSpPr>
        <p:spPr>
          <a:xfrm>
            <a:off x="65325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5" name="Connector 174"/>
          <p:cNvCxnSpPr/>
          <p:nvPr/>
        </p:nvCxnSpPr>
        <p:spPr>
          <a:xfrm>
            <a:off x="65557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66138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77" name="Oval 176"/>
          <p:cNvSpPr/>
          <p:nvPr/>
        </p:nvSpPr>
        <p:spPr>
          <a:xfrm>
            <a:off x="68224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ounded Rectangle 177"/>
          <p:cNvSpPr/>
          <p:nvPr/>
        </p:nvSpPr>
        <p:spPr>
          <a:xfrm>
            <a:off x="67992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9" name="Connector 178"/>
          <p:cNvCxnSpPr/>
          <p:nvPr/>
        </p:nvCxnSpPr>
        <p:spPr>
          <a:xfrm>
            <a:off x="68224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68805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81" name="Oval 180"/>
          <p:cNvSpPr/>
          <p:nvPr/>
        </p:nvSpPr>
        <p:spPr>
          <a:xfrm>
            <a:off x="70891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ounded Rectangle 181"/>
          <p:cNvSpPr/>
          <p:nvPr/>
        </p:nvSpPr>
        <p:spPr>
          <a:xfrm>
            <a:off x="70659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3" name="Connector 182"/>
          <p:cNvCxnSpPr/>
          <p:nvPr/>
        </p:nvCxnSpPr>
        <p:spPr>
          <a:xfrm>
            <a:off x="70891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71472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85" name="Oval 184"/>
          <p:cNvSpPr/>
          <p:nvPr/>
        </p:nvSpPr>
        <p:spPr>
          <a:xfrm>
            <a:off x="73558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ounded Rectangle 185"/>
          <p:cNvSpPr/>
          <p:nvPr/>
        </p:nvSpPr>
        <p:spPr>
          <a:xfrm>
            <a:off x="73326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7" name="Connector 186"/>
          <p:cNvCxnSpPr/>
          <p:nvPr/>
        </p:nvCxnSpPr>
        <p:spPr>
          <a:xfrm>
            <a:off x="73558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74139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89" name="Oval 188"/>
          <p:cNvSpPr/>
          <p:nvPr/>
        </p:nvSpPr>
        <p:spPr>
          <a:xfrm>
            <a:off x="76225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ounded Rectangle 189"/>
          <p:cNvSpPr/>
          <p:nvPr/>
        </p:nvSpPr>
        <p:spPr>
          <a:xfrm>
            <a:off x="75993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1" name="Connector 190"/>
          <p:cNvCxnSpPr/>
          <p:nvPr/>
        </p:nvCxnSpPr>
        <p:spPr>
          <a:xfrm>
            <a:off x="76225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76806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93" name="Oval 192"/>
          <p:cNvSpPr/>
          <p:nvPr/>
        </p:nvSpPr>
        <p:spPr>
          <a:xfrm>
            <a:off x="78892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ounded Rectangle 193"/>
          <p:cNvSpPr/>
          <p:nvPr/>
        </p:nvSpPr>
        <p:spPr>
          <a:xfrm>
            <a:off x="78660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5" name="Connector 194"/>
          <p:cNvCxnSpPr/>
          <p:nvPr/>
        </p:nvCxnSpPr>
        <p:spPr>
          <a:xfrm>
            <a:off x="78892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79473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197" name="Oval 196"/>
          <p:cNvSpPr/>
          <p:nvPr/>
        </p:nvSpPr>
        <p:spPr>
          <a:xfrm>
            <a:off x="81559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ounded Rectangle 197"/>
          <p:cNvSpPr/>
          <p:nvPr/>
        </p:nvSpPr>
        <p:spPr>
          <a:xfrm>
            <a:off x="81327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9" name="Connector 198"/>
          <p:cNvCxnSpPr/>
          <p:nvPr/>
        </p:nvCxnSpPr>
        <p:spPr>
          <a:xfrm>
            <a:off x="81559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82140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01" name="Oval 200"/>
          <p:cNvSpPr/>
          <p:nvPr/>
        </p:nvSpPr>
        <p:spPr>
          <a:xfrm>
            <a:off x="84226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ounded Rectangle 201"/>
          <p:cNvSpPr/>
          <p:nvPr/>
        </p:nvSpPr>
        <p:spPr>
          <a:xfrm>
            <a:off x="83994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3" name="Connector 202"/>
          <p:cNvCxnSpPr/>
          <p:nvPr/>
        </p:nvCxnSpPr>
        <p:spPr>
          <a:xfrm>
            <a:off x="84226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84807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05" name="Oval 204"/>
          <p:cNvSpPr/>
          <p:nvPr/>
        </p:nvSpPr>
        <p:spPr>
          <a:xfrm>
            <a:off x="86893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ounded Rectangle 205"/>
          <p:cNvSpPr/>
          <p:nvPr/>
        </p:nvSpPr>
        <p:spPr>
          <a:xfrm>
            <a:off x="86661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Connector 206"/>
          <p:cNvCxnSpPr/>
          <p:nvPr/>
        </p:nvCxnSpPr>
        <p:spPr>
          <a:xfrm>
            <a:off x="86893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87474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09" name="Oval 208"/>
          <p:cNvSpPr/>
          <p:nvPr/>
        </p:nvSpPr>
        <p:spPr>
          <a:xfrm>
            <a:off x="89560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ounded Rectangle 209"/>
          <p:cNvSpPr/>
          <p:nvPr/>
        </p:nvSpPr>
        <p:spPr>
          <a:xfrm>
            <a:off x="89328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1" name="Connector 210"/>
          <p:cNvCxnSpPr/>
          <p:nvPr/>
        </p:nvCxnSpPr>
        <p:spPr>
          <a:xfrm>
            <a:off x="89560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90141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13" name="Oval 212"/>
          <p:cNvSpPr/>
          <p:nvPr/>
        </p:nvSpPr>
        <p:spPr>
          <a:xfrm>
            <a:off x="92227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ounded Rectangle 213"/>
          <p:cNvSpPr/>
          <p:nvPr/>
        </p:nvSpPr>
        <p:spPr>
          <a:xfrm>
            <a:off x="91995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5" name="Connector 214"/>
          <p:cNvCxnSpPr/>
          <p:nvPr/>
        </p:nvCxnSpPr>
        <p:spPr>
          <a:xfrm>
            <a:off x="92227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92808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17" name="Oval 216"/>
          <p:cNvSpPr/>
          <p:nvPr/>
        </p:nvSpPr>
        <p:spPr>
          <a:xfrm>
            <a:off x="94894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ounded Rectangle 217"/>
          <p:cNvSpPr/>
          <p:nvPr/>
        </p:nvSpPr>
        <p:spPr>
          <a:xfrm>
            <a:off x="94662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9" name="Connector 218"/>
          <p:cNvCxnSpPr/>
          <p:nvPr/>
        </p:nvCxnSpPr>
        <p:spPr>
          <a:xfrm>
            <a:off x="94894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95475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21" name="Oval 220"/>
          <p:cNvSpPr/>
          <p:nvPr/>
        </p:nvSpPr>
        <p:spPr>
          <a:xfrm>
            <a:off x="97561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ounded Rectangle 221"/>
          <p:cNvSpPr/>
          <p:nvPr/>
        </p:nvSpPr>
        <p:spPr>
          <a:xfrm>
            <a:off x="97329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97561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98142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25" name="Oval 224"/>
          <p:cNvSpPr/>
          <p:nvPr/>
        </p:nvSpPr>
        <p:spPr>
          <a:xfrm>
            <a:off x="100228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ounded Rectangle 225"/>
          <p:cNvSpPr/>
          <p:nvPr/>
        </p:nvSpPr>
        <p:spPr>
          <a:xfrm>
            <a:off x="99996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7" name="Connector 226"/>
          <p:cNvCxnSpPr/>
          <p:nvPr/>
        </p:nvCxnSpPr>
        <p:spPr>
          <a:xfrm>
            <a:off x="100228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100809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29" name="Oval 228"/>
          <p:cNvSpPr/>
          <p:nvPr/>
        </p:nvSpPr>
        <p:spPr>
          <a:xfrm>
            <a:off x="102895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ounded Rectangle 229"/>
          <p:cNvSpPr/>
          <p:nvPr/>
        </p:nvSpPr>
        <p:spPr>
          <a:xfrm>
            <a:off x="102663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1" name="Connector 230"/>
          <p:cNvCxnSpPr/>
          <p:nvPr/>
        </p:nvCxnSpPr>
        <p:spPr>
          <a:xfrm>
            <a:off x="102895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103476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33" name="Oval 232"/>
          <p:cNvSpPr/>
          <p:nvPr/>
        </p:nvSpPr>
        <p:spPr>
          <a:xfrm>
            <a:off x="105562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ounded Rectangle 233"/>
          <p:cNvSpPr/>
          <p:nvPr/>
        </p:nvSpPr>
        <p:spPr>
          <a:xfrm>
            <a:off x="105330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5" name="Connector 234"/>
          <p:cNvCxnSpPr/>
          <p:nvPr/>
        </p:nvCxnSpPr>
        <p:spPr>
          <a:xfrm>
            <a:off x="105562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06143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37" name="Oval 236"/>
          <p:cNvSpPr/>
          <p:nvPr/>
        </p:nvSpPr>
        <p:spPr>
          <a:xfrm>
            <a:off x="108229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ounded Rectangle 237"/>
          <p:cNvSpPr/>
          <p:nvPr/>
        </p:nvSpPr>
        <p:spPr>
          <a:xfrm>
            <a:off x="107997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9" name="Connector 238"/>
          <p:cNvCxnSpPr/>
          <p:nvPr/>
        </p:nvCxnSpPr>
        <p:spPr>
          <a:xfrm>
            <a:off x="108229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108810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41" name="Oval 240"/>
          <p:cNvSpPr/>
          <p:nvPr/>
        </p:nvSpPr>
        <p:spPr>
          <a:xfrm>
            <a:off x="110896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ounded Rectangle 241"/>
          <p:cNvSpPr/>
          <p:nvPr/>
        </p:nvSpPr>
        <p:spPr>
          <a:xfrm>
            <a:off x="110664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3" name="Connector 242"/>
          <p:cNvCxnSpPr/>
          <p:nvPr/>
        </p:nvCxnSpPr>
        <p:spPr>
          <a:xfrm>
            <a:off x="110896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11477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45" name="Oval 244"/>
          <p:cNvSpPr/>
          <p:nvPr/>
        </p:nvSpPr>
        <p:spPr>
          <a:xfrm>
            <a:off x="11356371" y="29241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ounded Rectangle 245"/>
          <p:cNvSpPr/>
          <p:nvPr/>
        </p:nvSpPr>
        <p:spPr>
          <a:xfrm>
            <a:off x="11333130" y="30055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7" name="Connector 246"/>
          <p:cNvCxnSpPr/>
          <p:nvPr/>
        </p:nvCxnSpPr>
        <p:spPr>
          <a:xfrm>
            <a:off x="11356371"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11414474" y="30984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49" name="Oval 248"/>
          <p:cNvSpPr/>
          <p:nvPr/>
        </p:nvSpPr>
        <p:spPr>
          <a:xfrm>
            <a:off x="62890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ounded Rectangle 249"/>
          <p:cNvSpPr/>
          <p:nvPr/>
        </p:nvSpPr>
        <p:spPr>
          <a:xfrm>
            <a:off x="62658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1" name="Connector 250"/>
          <p:cNvCxnSpPr/>
          <p:nvPr/>
        </p:nvCxnSpPr>
        <p:spPr>
          <a:xfrm>
            <a:off x="62890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63471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53" name="Oval 252"/>
          <p:cNvSpPr/>
          <p:nvPr/>
        </p:nvSpPr>
        <p:spPr>
          <a:xfrm>
            <a:off x="65557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ounded Rectangle 253"/>
          <p:cNvSpPr/>
          <p:nvPr/>
        </p:nvSpPr>
        <p:spPr>
          <a:xfrm>
            <a:off x="65325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 name="Connector 254"/>
          <p:cNvCxnSpPr/>
          <p:nvPr/>
        </p:nvCxnSpPr>
        <p:spPr>
          <a:xfrm>
            <a:off x="65557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66138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57" name="Oval 256"/>
          <p:cNvSpPr/>
          <p:nvPr/>
        </p:nvSpPr>
        <p:spPr>
          <a:xfrm>
            <a:off x="68224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ounded Rectangle 257"/>
          <p:cNvSpPr/>
          <p:nvPr/>
        </p:nvSpPr>
        <p:spPr>
          <a:xfrm>
            <a:off x="67992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9" name="Connector 258"/>
          <p:cNvCxnSpPr/>
          <p:nvPr/>
        </p:nvCxnSpPr>
        <p:spPr>
          <a:xfrm>
            <a:off x="68224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68805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61" name="Oval 260"/>
          <p:cNvSpPr/>
          <p:nvPr/>
        </p:nvSpPr>
        <p:spPr>
          <a:xfrm>
            <a:off x="70891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ounded Rectangle 261"/>
          <p:cNvSpPr/>
          <p:nvPr/>
        </p:nvSpPr>
        <p:spPr>
          <a:xfrm>
            <a:off x="70659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3" name="Connector 262"/>
          <p:cNvCxnSpPr/>
          <p:nvPr/>
        </p:nvCxnSpPr>
        <p:spPr>
          <a:xfrm>
            <a:off x="70891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71472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65" name="Oval 264"/>
          <p:cNvSpPr/>
          <p:nvPr/>
        </p:nvSpPr>
        <p:spPr>
          <a:xfrm>
            <a:off x="73558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ounded Rectangle 265"/>
          <p:cNvSpPr/>
          <p:nvPr/>
        </p:nvSpPr>
        <p:spPr>
          <a:xfrm>
            <a:off x="73326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7" name="Connector 266"/>
          <p:cNvCxnSpPr/>
          <p:nvPr/>
        </p:nvCxnSpPr>
        <p:spPr>
          <a:xfrm>
            <a:off x="73558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74139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69" name="Oval 268"/>
          <p:cNvSpPr/>
          <p:nvPr/>
        </p:nvSpPr>
        <p:spPr>
          <a:xfrm>
            <a:off x="76225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ounded Rectangle 269"/>
          <p:cNvSpPr/>
          <p:nvPr/>
        </p:nvSpPr>
        <p:spPr>
          <a:xfrm>
            <a:off x="75993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1" name="Connector 270"/>
          <p:cNvCxnSpPr/>
          <p:nvPr/>
        </p:nvCxnSpPr>
        <p:spPr>
          <a:xfrm>
            <a:off x="76225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76806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73" name="Oval 272"/>
          <p:cNvSpPr/>
          <p:nvPr/>
        </p:nvSpPr>
        <p:spPr>
          <a:xfrm>
            <a:off x="78892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ounded Rectangle 273"/>
          <p:cNvSpPr/>
          <p:nvPr/>
        </p:nvSpPr>
        <p:spPr>
          <a:xfrm>
            <a:off x="78660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Connector 274"/>
          <p:cNvCxnSpPr/>
          <p:nvPr/>
        </p:nvCxnSpPr>
        <p:spPr>
          <a:xfrm>
            <a:off x="78892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79473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77" name="Oval 276"/>
          <p:cNvSpPr/>
          <p:nvPr/>
        </p:nvSpPr>
        <p:spPr>
          <a:xfrm>
            <a:off x="81559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ounded Rectangle 277"/>
          <p:cNvSpPr/>
          <p:nvPr/>
        </p:nvSpPr>
        <p:spPr>
          <a:xfrm>
            <a:off x="81327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9" name="Connector 278"/>
          <p:cNvCxnSpPr/>
          <p:nvPr/>
        </p:nvCxnSpPr>
        <p:spPr>
          <a:xfrm>
            <a:off x="81559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82140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81" name="Oval 280"/>
          <p:cNvSpPr/>
          <p:nvPr/>
        </p:nvSpPr>
        <p:spPr>
          <a:xfrm>
            <a:off x="84226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ounded Rectangle 281"/>
          <p:cNvSpPr/>
          <p:nvPr/>
        </p:nvSpPr>
        <p:spPr>
          <a:xfrm>
            <a:off x="83994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3" name="Connector 282"/>
          <p:cNvCxnSpPr/>
          <p:nvPr/>
        </p:nvCxnSpPr>
        <p:spPr>
          <a:xfrm>
            <a:off x="84226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84807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85" name="Oval 284"/>
          <p:cNvSpPr/>
          <p:nvPr/>
        </p:nvSpPr>
        <p:spPr>
          <a:xfrm>
            <a:off x="86893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ounded Rectangle 285"/>
          <p:cNvSpPr/>
          <p:nvPr/>
        </p:nvSpPr>
        <p:spPr>
          <a:xfrm>
            <a:off x="86661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7" name="Connector 286"/>
          <p:cNvCxnSpPr/>
          <p:nvPr/>
        </p:nvCxnSpPr>
        <p:spPr>
          <a:xfrm>
            <a:off x="86893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87474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89" name="Oval 288"/>
          <p:cNvSpPr/>
          <p:nvPr/>
        </p:nvSpPr>
        <p:spPr>
          <a:xfrm>
            <a:off x="89560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ounded Rectangle 289"/>
          <p:cNvSpPr/>
          <p:nvPr/>
        </p:nvSpPr>
        <p:spPr>
          <a:xfrm>
            <a:off x="89328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1" name="Connector 290"/>
          <p:cNvCxnSpPr/>
          <p:nvPr/>
        </p:nvCxnSpPr>
        <p:spPr>
          <a:xfrm>
            <a:off x="89560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90141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93" name="Oval 292"/>
          <p:cNvSpPr/>
          <p:nvPr/>
        </p:nvSpPr>
        <p:spPr>
          <a:xfrm>
            <a:off x="92227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ounded Rectangle 293"/>
          <p:cNvSpPr/>
          <p:nvPr/>
        </p:nvSpPr>
        <p:spPr>
          <a:xfrm>
            <a:off x="91995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5" name="Connector 294"/>
          <p:cNvCxnSpPr/>
          <p:nvPr/>
        </p:nvCxnSpPr>
        <p:spPr>
          <a:xfrm>
            <a:off x="92227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92808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297" name="Oval 296"/>
          <p:cNvSpPr/>
          <p:nvPr/>
        </p:nvSpPr>
        <p:spPr>
          <a:xfrm>
            <a:off x="94894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ounded Rectangle 297"/>
          <p:cNvSpPr/>
          <p:nvPr/>
        </p:nvSpPr>
        <p:spPr>
          <a:xfrm>
            <a:off x="94662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9" name="Connector 298"/>
          <p:cNvCxnSpPr/>
          <p:nvPr/>
        </p:nvCxnSpPr>
        <p:spPr>
          <a:xfrm>
            <a:off x="94894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95475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01" name="Oval 300"/>
          <p:cNvSpPr/>
          <p:nvPr/>
        </p:nvSpPr>
        <p:spPr>
          <a:xfrm>
            <a:off x="97561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ounded Rectangle 301"/>
          <p:cNvSpPr/>
          <p:nvPr/>
        </p:nvSpPr>
        <p:spPr>
          <a:xfrm>
            <a:off x="97329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3" name="Connector 302"/>
          <p:cNvCxnSpPr/>
          <p:nvPr/>
        </p:nvCxnSpPr>
        <p:spPr>
          <a:xfrm>
            <a:off x="97561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98142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05" name="Oval 304"/>
          <p:cNvSpPr/>
          <p:nvPr/>
        </p:nvSpPr>
        <p:spPr>
          <a:xfrm>
            <a:off x="100228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99996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7" name="Connector 306"/>
          <p:cNvCxnSpPr/>
          <p:nvPr/>
        </p:nvCxnSpPr>
        <p:spPr>
          <a:xfrm>
            <a:off x="100228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100809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09" name="Oval 308"/>
          <p:cNvSpPr/>
          <p:nvPr/>
        </p:nvSpPr>
        <p:spPr>
          <a:xfrm>
            <a:off x="102895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ounded Rectangle 309"/>
          <p:cNvSpPr/>
          <p:nvPr/>
        </p:nvSpPr>
        <p:spPr>
          <a:xfrm>
            <a:off x="102663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1" name="Connector 310"/>
          <p:cNvCxnSpPr/>
          <p:nvPr/>
        </p:nvCxnSpPr>
        <p:spPr>
          <a:xfrm>
            <a:off x="102895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103476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13" name="Oval 312"/>
          <p:cNvSpPr/>
          <p:nvPr/>
        </p:nvSpPr>
        <p:spPr>
          <a:xfrm>
            <a:off x="105562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ounded Rectangle 313"/>
          <p:cNvSpPr/>
          <p:nvPr/>
        </p:nvSpPr>
        <p:spPr>
          <a:xfrm>
            <a:off x="105330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 name="Connector 314"/>
          <p:cNvCxnSpPr/>
          <p:nvPr/>
        </p:nvCxnSpPr>
        <p:spPr>
          <a:xfrm>
            <a:off x="105562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106143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17" name="Oval 316"/>
          <p:cNvSpPr/>
          <p:nvPr/>
        </p:nvSpPr>
        <p:spPr>
          <a:xfrm>
            <a:off x="108229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ounded Rectangle 317"/>
          <p:cNvSpPr/>
          <p:nvPr/>
        </p:nvSpPr>
        <p:spPr>
          <a:xfrm>
            <a:off x="107997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9" name="Connector 318"/>
          <p:cNvCxnSpPr/>
          <p:nvPr/>
        </p:nvCxnSpPr>
        <p:spPr>
          <a:xfrm>
            <a:off x="108229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108810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21" name="Oval 320"/>
          <p:cNvSpPr/>
          <p:nvPr/>
        </p:nvSpPr>
        <p:spPr>
          <a:xfrm>
            <a:off x="110896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ounded Rectangle 321"/>
          <p:cNvSpPr/>
          <p:nvPr/>
        </p:nvSpPr>
        <p:spPr>
          <a:xfrm>
            <a:off x="110664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3" name="Connector 322"/>
          <p:cNvCxnSpPr/>
          <p:nvPr/>
        </p:nvCxnSpPr>
        <p:spPr>
          <a:xfrm>
            <a:off x="110896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111477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25" name="Oval 324"/>
          <p:cNvSpPr/>
          <p:nvPr/>
        </p:nvSpPr>
        <p:spPr>
          <a:xfrm>
            <a:off x="11356371" y="343852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ounded Rectangle 325"/>
          <p:cNvSpPr/>
          <p:nvPr/>
        </p:nvSpPr>
        <p:spPr>
          <a:xfrm>
            <a:off x="11333130" y="351986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7" name="Connector 326"/>
          <p:cNvCxnSpPr/>
          <p:nvPr/>
        </p:nvCxnSpPr>
        <p:spPr>
          <a:xfrm>
            <a:off x="11356371"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a:off x="11414474" y="361283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29" name="Oval 328"/>
          <p:cNvSpPr/>
          <p:nvPr/>
        </p:nvSpPr>
        <p:spPr>
          <a:xfrm>
            <a:off x="62890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ounded Rectangle 329"/>
          <p:cNvSpPr/>
          <p:nvPr/>
        </p:nvSpPr>
        <p:spPr>
          <a:xfrm>
            <a:off x="62658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1" name="Connector 330"/>
          <p:cNvCxnSpPr/>
          <p:nvPr/>
        </p:nvCxnSpPr>
        <p:spPr>
          <a:xfrm>
            <a:off x="62890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63471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33" name="Oval 332"/>
          <p:cNvSpPr/>
          <p:nvPr/>
        </p:nvSpPr>
        <p:spPr>
          <a:xfrm>
            <a:off x="65557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ounded Rectangle 333"/>
          <p:cNvSpPr/>
          <p:nvPr/>
        </p:nvSpPr>
        <p:spPr>
          <a:xfrm>
            <a:off x="65325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5" name="Connector 334"/>
          <p:cNvCxnSpPr/>
          <p:nvPr/>
        </p:nvCxnSpPr>
        <p:spPr>
          <a:xfrm>
            <a:off x="65557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66138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37" name="Oval 336"/>
          <p:cNvSpPr/>
          <p:nvPr/>
        </p:nvSpPr>
        <p:spPr>
          <a:xfrm>
            <a:off x="68224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ounded Rectangle 337"/>
          <p:cNvSpPr/>
          <p:nvPr/>
        </p:nvSpPr>
        <p:spPr>
          <a:xfrm>
            <a:off x="67992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9" name="Connector 338"/>
          <p:cNvCxnSpPr/>
          <p:nvPr/>
        </p:nvCxnSpPr>
        <p:spPr>
          <a:xfrm>
            <a:off x="68224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68805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41" name="Oval 340"/>
          <p:cNvSpPr/>
          <p:nvPr/>
        </p:nvSpPr>
        <p:spPr>
          <a:xfrm>
            <a:off x="70891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ounded Rectangle 341"/>
          <p:cNvSpPr/>
          <p:nvPr/>
        </p:nvSpPr>
        <p:spPr>
          <a:xfrm>
            <a:off x="70659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3" name="Connector 342"/>
          <p:cNvCxnSpPr/>
          <p:nvPr/>
        </p:nvCxnSpPr>
        <p:spPr>
          <a:xfrm>
            <a:off x="70891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71472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45" name="Oval 344"/>
          <p:cNvSpPr/>
          <p:nvPr/>
        </p:nvSpPr>
        <p:spPr>
          <a:xfrm>
            <a:off x="73558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ounded Rectangle 345"/>
          <p:cNvSpPr/>
          <p:nvPr/>
        </p:nvSpPr>
        <p:spPr>
          <a:xfrm>
            <a:off x="73326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7" name="Connector 346"/>
          <p:cNvCxnSpPr/>
          <p:nvPr/>
        </p:nvCxnSpPr>
        <p:spPr>
          <a:xfrm>
            <a:off x="73558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74139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49" name="Oval 348"/>
          <p:cNvSpPr/>
          <p:nvPr/>
        </p:nvSpPr>
        <p:spPr>
          <a:xfrm>
            <a:off x="76225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ounded Rectangle 349"/>
          <p:cNvSpPr/>
          <p:nvPr/>
        </p:nvSpPr>
        <p:spPr>
          <a:xfrm>
            <a:off x="75993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1" name="Connector 350"/>
          <p:cNvCxnSpPr/>
          <p:nvPr/>
        </p:nvCxnSpPr>
        <p:spPr>
          <a:xfrm>
            <a:off x="76225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76806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53" name="Oval 352"/>
          <p:cNvSpPr/>
          <p:nvPr/>
        </p:nvSpPr>
        <p:spPr>
          <a:xfrm>
            <a:off x="78892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ounded Rectangle 353"/>
          <p:cNvSpPr/>
          <p:nvPr/>
        </p:nvSpPr>
        <p:spPr>
          <a:xfrm>
            <a:off x="78660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5" name="Connector 354"/>
          <p:cNvCxnSpPr/>
          <p:nvPr/>
        </p:nvCxnSpPr>
        <p:spPr>
          <a:xfrm>
            <a:off x="78892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79473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57" name="Oval 356"/>
          <p:cNvSpPr/>
          <p:nvPr/>
        </p:nvSpPr>
        <p:spPr>
          <a:xfrm>
            <a:off x="81559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ounded Rectangle 357"/>
          <p:cNvSpPr/>
          <p:nvPr/>
        </p:nvSpPr>
        <p:spPr>
          <a:xfrm>
            <a:off x="81327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9" name="Connector 358"/>
          <p:cNvCxnSpPr/>
          <p:nvPr/>
        </p:nvCxnSpPr>
        <p:spPr>
          <a:xfrm>
            <a:off x="81559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82140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61" name="Oval 360"/>
          <p:cNvSpPr/>
          <p:nvPr/>
        </p:nvSpPr>
        <p:spPr>
          <a:xfrm>
            <a:off x="84226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ounded Rectangle 361"/>
          <p:cNvSpPr/>
          <p:nvPr/>
        </p:nvSpPr>
        <p:spPr>
          <a:xfrm>
            <a:off x="83994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3" name="Connector 362"/>
          <p:cNvCxnSpPr/>
          <p:nvPr/>
        </p:nvCxnSpPr>
        <p:spPr>
          <a:xfrm>
            <a:off x="84226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84807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65" name="Oval 364"/>
          <p:cNvSpPr/>
          <p:nvPr/>
        </p:nvSpPr>
        <p:spPr>
          <a:xfrm>
            <a:off x="86893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ounded Rectangle 365"/>
          <p:cNvSpPr/>
          <p:nvPr/>
        </p:nvSpPr>
        <p:spPr>
          <a:xfrm>
            <a:off x="86661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7" name="Connector 366"/>
          <p:cNvCxnSpPr/>
          <p:nvPr/>
        </p:nvCxnSpPr>
        <p:spPr>
          <a:xfrm>
            <a:off x="86893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87474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69" name="Oval 368"/>
          <p:cNvSpPr/>
          <p:nvPr/>
        </p:nvSpPr>
        <p:spPr>
          <a:xfrm>
            <a:off x="89560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ounded Rectangle 369"/>
          <p:cNvSpPr/>
          <p:nvPr/>
        </p:nvSpPr>
        <p:spPr>
          <a:xfrm>
            <a:off x="89328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1" name="Connector 370"/>
          <p:cNvCxnSpPr/>
          <p:nvPr/>
        </p:nvCxnSpPr>
        <p:spPr>
          <a:xfrm>
            <a:off x="89560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90141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73" name="Oval 372"/>
          <p:cNvSpPr/>
          <p:nvPr/>
        </p:nvSpPr>
        <p:spPr>
          <a:xfrm>
            <a:off x="92227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ounded Rectangle 373"/>
          <p:cNvSpPr/>
          <p:nvPr/>
        </p:nvSpPr>
        <p:spPr>
          <a:xfrm>
            <a:off x="91995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5" name="Connector 374"/>
          <p:cNvCxnSpPr/>
          <p:nvPr/>
        </p:nvCxnSpPr>
        <p:spPr>
          <a:xfrm>
            <a:off x="92227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92808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77" name="Oval 376"/>
          <p:cNvSpPr/>
          <p:nvPr/>
        </p:nvSpPr>
        <p:spPr>
          <a:xfrm>
            <a:off x="94894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ounded Rectangle 377"/>
          <p:cNvSpPr/>
          <p:nvPr/>
        </p:nvSpPr>
        <p:spPr>
          <a:xfrm>
            <a:off x="94662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9" name="Connector 378"/>
          <p:cNvCxnSpPr/>
          <p:nvPr/>
        </p:nvCxnSpPr>
        <p:spPr>
          <a:xfrm>
            <a:off x="94894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95475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81" name="Oval 380"/>
          <p:cNvSpPr/>
          <p:nvPr/>
        </p:nvSpPr>
        <p:spPr>
          <a:xfrm>
            <a:off x="97561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ounded Rectangle 381"/>
          <p:cNvSpPr/>
          <p:nvPr/>
        </p:nvSpPr>
        <p:spPr>
          <a:xfrm>
            <a:off x="97329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3" name="Connector 382"/>
          <p:cNvCxnSpPr/>
          <p:nvPr/>
        </p:nvCxnSpPr>
        <p:spPr>
          <a:xfrm>
            <a:off x="97561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98142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85" name="Oval 384"/>
          <p:cNvSpPr/>
          <p:nvPr/>
        </p:nvSpPr>
        <p:spPr>
          <a:xfrm>
            <a:off x="100228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ounded Rectangle 385"/>
          <p:cNvSpPr/>
          <p:nvPr/>
        </p:nvSpPr>
        <p:spPr>
          <a:xfrm>
            <a:off x="99996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7" name="Connector 386"/>
          <p:cNvCxnSpPr/>
          <p:nvPr/>
        </p:nvCxnSpPr>
        <p:spPr>
          <a:xfrm>
            <a:off x="100228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100809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89" name="Oval 388"/>
          <p:cNvSpPr/>
          <p:nvPr/>
        </p:nvSpPr>
        <p:spPr>
          <a:xfrm>
            <a:off x="102895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Rounded Rectangle 389"/>
          <p:cNvSpPr/>
          <p:nvPr/>
        </p:nvSpPr>
        <p:spPr>
          <a:xfrm>
            <a:off x="102663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1" name="Connector 390"/>
          <p:cNvCxnSpPr/>
          <p:nvPr/>
        </p:nvCxnSpPr>
        <p:spPr>
          <a:xfrm>
            <a:off x="102895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103476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93" name="Oval 392"/>
          <p:cNvSpPr/>
          <p:nvPr/>
        </p:nvSpPr>
        <p:spPr>
          <a:xfrm>
            <a:off x="105562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Rounded Rectangle 393"/>
          <p:cNvSpPr/>
          <p:nvPr/>
        </p:nvSpPr>
        <p:spPr>
          <a:xfrm>
            <a:off x="105330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5" name="Connector 394"/>
          <p:cNvCxnSpPr/>
          <p:nvPr/>
        </p:nvCxnSpPr>
        <p:spPr>
          <a:xfrm>
            <a:off x="105562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106143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397" name="Oval 396"/>
          <p:cNvSpPr/>
          <p:nvPr/>
        </p:nvSpPr>
        <p:spPr>
          <a:xfrm>
            <a:off x="108229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Rounded Rectangle 397"/>
          <p:cNvSpPr/>
          <p:nvPr/>
        </p:nvSpPr>
        <p:spPr>
          <a:xfrm>
            <a:off x="107997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9" name="Connector 398"/>
          <p:cNvCxnSpPr/>
          <p:nvPr/>
        </p:nvCxnSpPr>
        <p:spPr>
          <a:xfrm>
            <a:off x="108229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108810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401" name="Oval 400"/>
          <p:cNvSpPr/>
          <p:nvPr/>
        </p:nvSpPr>
        <p:spPr>
          <a:xfrm>
            <a:off x="110896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ounded Rectangle 401"/>
          <p:cNvSpPr/>
          <p:nvPr/>
        </p:nvSpPr>
        <p:spPr>
          <a:xfrm>
            <a:off x="110664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3" name="Connector 402"/>
          <p:cNvCxnSpPr/>
          <p:nvPr/>
        </p:nvCxnSpPr>
        <p:spPr>
          <a:xfrm>
            <a:off x="110896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a:off x="111477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405" name="Oval 404"/>
          <p:cNvSpPr/>
          <p:nvPr/>
        </p:nvSpPr>
        <p:spPr>
          <a:xfrm>
            <a:off x="11356371" y="3952875"/>
            <a:ext cx="58102" cy="58102"/>
          </a:xfrm>
          <a:prstGeom prst="ellipse">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Rounded Rectangle 405"/>
          <p:cNvSpPr/>
          <p:nvPr/>
        </p:nvSpPr>
        <p:spPr>
          <a:xfrm>
            <a:off x="11333130" y="4034218"/>
            <a:ext cx="104584" cy="116205"/>
          </a:xfrm>
          <a:prstGeom prst="roundRect">
            <a:avLst>
              <a:gd name="adj" fmla="val 22222"/>
            </a:avLst>
          </a:prstGeom>
          <a:solidFill>
            <a:srgbClr val="60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7" name="Connector 406"/>
          <p:cNvCxnSpPr/>
          <p:nvPr/>
        </p:nvCxnSpPr>
        <p:spPr>
          <a:xfrm>
            <a:off x="11356371"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11414474" y="4127182"/>
            <a:ext cx="0" cy="98774"/>
          </a:xfrm>
          <a:prstGeom prst="line">
            <a:avLst/>
          </a:prstGeom>
          <a:ln w="29051">
            <a:solidFill>
              <a:srgbClr val="6083FF"/>
            </a:solidFill>
          </a:ln>
        </p:spPr>
        <p:style>
          <a:lnRef idx="2">
            <a:schemeClr val="accent1"/>
          </a:lnRef>
          <a:fillRef idx="0">
            <a:schemeClr val="accent1"/>
          </a:fillRef>
          <a:effectRef idx="1">
            <a:schemeClr val="accent1"/>
          </a:effectRef>
          <a:fontRef idx="minor">
            <a:schemeClr val="tx1"/>
          </a:fontRef>
        </p:style>
      </p:cxnSp>
      <p:sp>
        <p:nvSpPr>
          <p:cNvPr id="409" name="TextBox 408"/>
          <p:cNvSpPr txBox="1"/>
          <p:nvPr/>
        </p:nvSpPr>
        <p:spPr>
          <a:xfrm>
            <a:off x="6257925" y="4676775"/>
            <a:ext cx="5095875" cy="3333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Mono"/>
              </a:defRPr>
            </a:pPr>
            <a:r>
              <a:t>100 ХҮНЭЭС ОЙРОЛЦООГООР 27</a:t>
            </a:r>
          </a:p>
        </p:txBody>
      </p:sp>
      <p:sp>
        <p:nvSpPr>
          <p:cNvPr id="410" name="Oval 409"/>
          <p:cNvSpPr/>
          <p:nvPr/>
        </p:nvSpPr>
        <p:spPr>
          <a:xfrm>
            <a:off x="590550" y="5248275"/>
            <a:ext cx="76200" cy="7620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TextBox 410"/>
          <p:cNvSpPr txBox="1"/>
          <p:nvPr/>
        </p:nvSpPr>
        <p:spPr>
          <a:xfrm>
            <a:off x="438150" y="5010150"/>
            <a:ext cx="714375" cy="219075"/>
          </a:xfrm>
          <a:prstGeom prst="rect">
            <a:avLst/>
          </a:prstGeom>
          <a:noFill/>
        </p:spPr>
        <p:txBody>
          <a:bodyPr wrap="none" lIns="0" tIns="0" rIns="0" bIns="0">
            <a:spAutoFit/>
          </a:bodyPr>
          <a:lstStyle/>
          <a:p>
            <a:pPr>
              <a:lnSpc>
                <a:spcPts val="1464"/>
              </a:lnSpc>
              <a:spcBef>
                <a:spcPts val="0"/>
              </a:spcBef>
              <a:spcAft>
                <a:spcPts val="0"/>
              </a:spcAft>
              <a:defRPr sz="1200" b="1">
                <a:solidFill>
                  <a:srgbClr val="F7F6F1"/>
                </a:solidFill>
                <a:latin typeface="DejaVu Sans"/>
              </a:defRPr>
            </a:pPr>
            <a:r>
              <a:t>29.6</a:t>
            </a:r>
          </a:p>
        </p:txBody>
      </p:sp>
      <p:sp>
        <p:nvSpPr>
          <p:cNvPr id="412" name="TextBox 411"/>
          <p:cNvSpPr txBox="1"/>
          <p:nvPr/>
        </p:nvSpPr>
        <p:spPr>
          <a:xfrm>
            <a:off x="438150" y="5715000"/>
            <a:ext cx="714375" cy="219075"/>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2016</a:t>
            </a:r>
          </a:p>
        </p:txBody>
      </p:sp>
      <p:cxnSp>
        <p:nvCxnSpPr>
          <p:cNvPr id="413" name="Connector 412"/>
          <p:cNvCxnSpPr/>
          <p:nvPr/>
        </p:nvCxnSpPr>
        <p:spPr>
          <a:xfrm>
            <a:off x="628650" y="5286375"/>
            <a:ext cx="1343025" cy="137160"/>
          </a:xfrm>
          <a:prstGeom prst="line">
            <a:avLst/>
          </a:prstGeom>
          <a:ln w="19050">
            <a:solidFill>
              <a:srgbClr val="F7F6F1"/>
            </a:solidFill>
          </a:ln>
        </p:spPr>
        <p:style>
          <a:lnRef idx="2">
            <a:schemeClr val="accent1"/>
          </a:lnRef>
          <a:fillRef idx="0">
            <a:schemeClr val="accent1"/>
          </a:fillRef>
          <a:effectRef idx="1">
            <a:schemeClr val="accent1"/>
          </a:effectRef>
          <a:fontRef idx="minor">
            <a:schemeClr val="tx1"/>
          </a:fontRef>
        </p:style>
      </p:cxnSp>
      <p:sp>
        <p:nvSpPr>
          <p:cNvPr id="414" name="Oval 413"/>
          <p:cNvSpPr/>
          <p:nvPr/>
        </p:nvSpPr>
        <p:spPr>
          <a:xfrm>
            <a:off x="1933575" y="5385435"/>
            <a:ext cx="76200" cy="7620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TextBox 414"/>
          <p:cNvSpPr txBox="1"/>
          <p:nvPr/>
        </p:nvSpPr>
        <p:spPr>
          <a:xfrm>
            <a:off x="1781175" y="5147310"/>
            <a:ext cx="714375" cy="219075"/>
          </a:xfrm>
          <a:prstGeom prst="rect">
            <a:avLst/>
          </a:prstGeom>
          <a:noFill/>
        </p:spPr>
        <p:txBody>
          <a:bodyPr wrap="none" lIns="0" tIns="0" rIns="0" bIns="0">
            <a:spAutoFit/>
          </a:bodyPr>
          <a:lstStyle/>
          <a:p>
            <a:pPr>
              <a:lnSpc>
                <a:spcPts val="1464"/>
              </a:lnSpc>
              <a:spcBef>
                <a:spcPts val="0"/>
              </a:spcBef>
              <a:spcAft>
                <a:spcPts val="0"/>
              </a:spcAft>
              <a:defRPr sz="1200" b="1">
                <a:solidFill>
                  <a:srgbClr val="F7F6F1"/>
                </a:solidFill>
                <a:latin typeface="DejaVu Sans"/>
              </a:defRPr>
            </a:pPr>
            <a:r>
              <a:t>28.4</a:t>
            </a:r>
          </a:p>
        </p:txBody>
      </p:sp>
      <p:sp>
        <p:nvSpPr>
          <p:cNvPr id="416" name="TextBox 415"/>
          <p:cNvSpPr txBox="1"/>
          <p:nvPr/>
        </p:nvSpPr>
        <p:spPr>
          <a:xfrm>
            <a:off x="1781175" y="5715000"/>
            <a:ext cx="714375" cy="219075"/>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2018</a:t>
            </a:r>
          </a:p>
        </p:txBody>
      </p:sp>
      <p:cxnSp>
        <p:nvCxnSpPr>
          <p:cNvPr id="417" name="Connector 416"/>
          <p:cNvCxnSpPr/>
          <p:nvPr/>
        </p:nvCxnSpPr>
        <p:spPr>
          <a:xfrm>
            <a:off x="1971675" y="5423535"/>
            <a:ext cx="1343025" cy="68580"/>
          </a:xfrm>
          <a:prstGeom prst="line">
            <a:avLst/>
          </a:prstGeom>
          <a:ln w="19050">
            <a:solidFill>
              <a:srgbClr val="F7F6F1"/>
            </a:solidFill>
          </a:ln>
        </p:spPr>
        <p:style>
          <a:lnRef idx="2">
            <a:schemeClr val="accent1"/>
          </a:lnRef>
          <a:fillRef idx="0">
            <a:schemeClr val="accent1"/>
          </a:fillRef>
          <a:effectRef idx="1">
            <a:schemeClr val="accent1"/>
          </a:effectRef>
          <a:fontRef idx="minor">
            <a:schemeClr val="tx1"/>
          </a:fontRef>
        </p:style>
      </p:cxnSp>
      <p:sp>
        <p:nvSpPr>
          <p:cNvPr id="418" name="Oval 417"/>
          <p:cNvSpPr/>
          <p:nvPr/>
        </p:nvSpPr>
        <p:spPr>
          <a:xfrm>
            <a:off x="3276600" y="5454015"/>
            <a:ext cx="76200" cy="7620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418"/>
          <p:cNvSpPr txBox="1"/>
          <p:nvPr/>
        </p:nvSpPr>
        <p:spPr>
          <a:xfrm>
            <a:off x="3124200" y="5215890"/>
            <a:ext cx="714375" cy="219075"/>
          </a:xfrm>
          <a:prstGeom prst="rect">
            <a:avLst/>
          </a:prstGeom>
          <a:noFill/>
        </p:spPr>
        <p:txBody>
          <a:bodyPr wrap="none" lIns="0" tIns="0" rIns="0" bIns="0">
            <a:spAutoFit/>
          </a:bodyPr>
          <a:lstStyle/>
          <a:p>
            <a:pPr>
              <a:lnSpc>
                <a:spcPts val="1464"/>
              </a:lnSpc>
              <a:spcBef>
                <a:spcPts val="0"/>
              </a:spcBef>
              <a:spcAft>
                <a:spcPts val="0"/>
              </a:spcAft>
              <a:defRPr sz="1200" b="1">
                <a:solidFill>
                  <a:srgbClr val="F7F6F1"/>
                </a:solidFill>
                <a:latin typeface="DejaVu Sans"/>
              </a:defRPr>
            </a:pPr>
            <a:r>
              <a:t>27.8</a:t>
            </a:r>
          </a:p>
        </p:txBody>
      </p:sp>
      <p:sp>
        <p:nvSpPr>
          <p:cNvPr id="420" name="TextBox 419"/>
          <p:cNvSpPr txBox="1"/>
          <p:nvPr/>
        </p:nvSpPr>
        <p:spPr>
          <a:xfrm>
            <a:off x="3124200" y="5715000"/>
            <a:ext cx="714375" cy="219075"/>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2020</a:t>
            </a:r>
          </a:p>
        </p:txBody>
      </p:sp>
      <p:cxnSp>
        <p:nvCxnSpPr>
          <p:cNvPr id="421" name="Connector 420"/>
          <p:cNvCxnSpPr/>
          <p:nvPr/>
        </p:nvCxnSpPr>
        <p:spPr>
          <a:xfrm>
            <a:off x="3314700" y="5492115"/>
            <a:ext cx="1343025" cy="80010"/>
          </a:xfrm>
          <a:prstGeom prst="line">
            <a:avLst/>
          </a:prstGeom>
          <a:ln w="19050">
            <a:solidFill>
              <a:srgbClr val="F7F6F1"/>
            </a:solidFill>
          </a:ln>
        </p:spPr>
        <p:style>
          <a:lnRef idx="2">
            <a:schemeClr val="accent1"/>
          </a:lnRef>
          <a:fillRef idx="0">
            <a:schemeClr val="accent1"/>
          </a:fillRef>
          <a:effectRef idx="1">
            <a:schemeClr val="accent1"/>
          </a:effectRef>
          <a:fontRef idx="minor">
            <a:schemeClr val="tx1"/>
          </a:fontRef>
        </p:style>
      </p:cxnSp>
      <p:sp>
        <p:nvSpPr>
          <p:cNvPr id="422" name="Oval 421"/>
          <p:cNvSpPr/>
          <p:nvPr/>
        </p:nvSpPr>
        <p:spPr>
          <a:xfrm>
            <a:off x="4619625" y="5534025"/>
            <a:ext cx="76200" cy="7620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TextBox 422"/>
          <p:cNvSpPr txBox="1"/>
          <p:nvPr/>
        </p:nvSpPr>
        <p:spPr>
          <a:xfrm>
            <a:off x="4467225" y="5295900"/>
            <a:ext cx="714375" cy="219075"/>
          </a:xfrm>
          <a:prstGeom prst="rect">
            <a:avLst/>
          </a:prstGeom>
          <a:noFill/>
        </p:spPr>
        <p:txBody>
          <a:bodyPr wrap="none" lIns="0" tIns="0" rIns="0" bIns="0">
            <a:spAutoFit/>
          </a:bodyPr>
          <a:lstStyle/>
          <a:p>
            <a:pPr>
              <a:lnSpc>
                <a:spcPts val="1464"/>
              </a:lnSpc>
              <a:spcBef>
                <a:spcPts val="0"/>
              </a:spcBef>
              <a:spcAft>
                <a:spcPts val="0"/>
              </a:spcAft>
              <a:defRPr sz="1200" b="1">
                <a:solidFill>
                  <a:srgbClr val="F7F6F1"/>
                </a:solidFill>
                <a:latin typeface="DejaVu Sans"/>
              </a:defRPr>
            </a:pPr>
            <a:r>
              <a:t>27.1</a:t>
            </a:r>
          </a:p>
        </p:txBody>
      </p:sp>
      <p:sp>
        <p:nvSpPr>
          <p:cNvPr id="424" name="TextBox 423"/>
          <p:cNvSpPr txBox="1"/>
          <p:nvPr/>
        </p:nvSpPr>
        <p:spPr>
          <a:xfrm>
            <a:off x="4467225" y="5715000"/>
            <a:ext cx="714375" cy="219075"/>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2022</a:t>
            </a:r>
          </a:p>
        </p:txBody>
      </p:sp>
      <p:sp>
        <p:nvSpPr>
          <p:cNvPr id="425" name="TextBox 424"/>
          <p:cNvSpPr txBox="1"/>
          <p:nvPr/>
        </p:nvSpPr>
        <p:spPr>
          <a:xfrm>
            <a:off x="6238875" y="5210175"/>
            <a:ext cx="5143500" cy="542925"/>
          </a:xfrm>
          <a:prstGeom prst="rect">
            <a:avLst/>
          </a:prstGeom>
          <a:noFill/>
        </p:spPr>
        <p:txBody>
          <a:bodyPr wrap="none" lIns="0" tIns="0" rIns="0" bIns="0">
            <a:spAutoFit/>
          </a:bodyPr>
          <a:lstStyle/>
          <a:p>
            <a:pPr>
              <a:lnSpc>
                <a:spcPts val="2379"/>
              </a:lnSpc>
              <a:spcBef>
                <a:spcPts val="0"/>
              </a:spcBef>
              <a:spcAft>
                <a:spcPts val="0"/>
              </a:spcAft>
              <a:defRPr sz="1950" b="1">
                <a:solidFill>
                  <a:srgbClr val="F5FF58"/>
                </a:solidFill>
                <a:latin typeface="DejaVu Sans"/>
              </a:defRPr>
            </a:pPr>
            <a:r>
              <a:t>2016–2022: −2.5 нэгж хувь</a:t>
            </a:r>
          </a:p>
        </p:txBody>
      </p:sp>
      <p:sp>
        <p:nvSpPr>
          <p:cNvPr id="426" name="TextBox 425"/>
          <p:cNvSpPr txBox="1"/>
          <p:nvPr/>
        </p:nvSpPr>
        <p:spPr>
          <a:xfrm>
            <a:off x="6238875" y="5648325"/>
            <a:ext cx="5143500" cy="4095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Түүхэн өгөгдөл. 2026 оны түвшин биш.</a:t>
            </a:r>
          </a:p>
        </p:txBody>
      </p:sp>
      <p:cxnSp>
        <p:nvCxnSpPr>
          <p:cNvPr id="427" name="Connector 426"/>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428" name="TextBox 427"/>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POV</a:t>
            </a:r>
          </a:p>
        </p:txBody>
      </p:sp>
      <p:sp>
        <p:nvSpPr>
          <p:cNvPr id="429" name="TextBox 428"/>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05—30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01 / ШАЛТГААН БА ҮР ДАГАВАР</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66"/>
              </a:lnSpc>
              <a:spcBef>
                <a:spcPts val="0"/>
              </a:spcBef>
              <a:spcAft>
                <a:spcPts val="0"/>
              </a:spcAft>
              <a:defRPr sz="3825" b="1">
                <a:solidFill>
                  <a:srgbClr val="101114"/>
                </a:solidFill>
                <a:latin typeface="Open Sans Condensed"/>
              </a:defRPr>
            </a:pPr>
            <a:r>
              <a:t>ЯДУУРЛЫН ДАВТАГДАХ ТОЙРОГ</a:t>
            </a:r>
          </a:p>
        </p:txBody>
      </p:sp>
      <p:sp>
        <p:nvSpPr>
          <p:cNvPr id="7" name="Rectangle 6"/>
          <p:cNvSpPr/>
          <p:nvPr/>
        </p:nvSpPr>
        <p:spPr>
          <a:xfrm>
            <a:off x="552450" y="2200275"/>
            <a:ext cx="5076825" cy="14382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2352675"/>
            <a:ext cx="838200" cy="762000"/>
          </a:xfrm>
          <a:prstGeom prst="rect">
            <a:avLst/>
          </a:prstGeom>
          <a:noFill/>
        </p:spPr>
        <p:txBody>
          <a:bodyPr wrap="none" lIns="0" tIns="0" rIns="0" bIns="0">
            <a:spAutoFit/>
          </a:bodyPr>
          <a:lstStyle/>
          <a:p>
            <a:pPr>
              <a:lnSpc>
                <a:spcPts val="5307"/>
              </a:lnSpc>
              <a:spcBef>
                <a:spcPts val="0"/>
              </a:spcBef>
              <a:spcAft>
                <a:spcPts val="0"/>
              </a:spcAft>
              <a:defRPr sz="4350" b="1">
                <a:solidFill>
                  <a:srgbClr val="F5FF58"/>
                </a:solidFill>
                <a:latin typeface="Open Sans Condensed"/>
              </a:defRPr>
            </a:pPr>
            <a:r>
              <a:t>01</a:t>
            </a:r>
          </a:p>
        </p:txBody>
      </p:sp>
      <p:sp>
        <p:nvSpPr>
          <p:cNvPr id="9" name="TextBox 8"/>
          <p:cNvSpPr txBox="1"/>
          <p:nvPr/>
        </p:nvSpPr>
        <p:spPr>
          <a:xfrm>
            <a:off x="1714500" y="2409825"/>
            <a:ext cx="3667125" cy="361950"/>
          </a:xfrm>
          <a:prstGeom prst="rect">
            <a:avLst/>
          </a:prstGeom>
          <a:noFill/>
        </p:spPr>
        <p:txBody>
          <a:bodyPr wrap="none" lIns="0" tIns="0" rIns="0" bIns="0">
            <a:spAutoFit/>
          </a:bodyPr>
          <a:lstStyle/>
          <a:p>
            <a:pPr>
              <a:lnSpc>
                <a:spcPts val="2470"/>
              </a:lnSpc>
              <a:spcBef>
                <a:spcPts val="0"/>
              </a:spcBef>
              <a:spcAft>
                <a:spcPts val="0"/>
              </a:spcAft>
              <a:defRPr sz="2025" b="1">
                <a:solidFill>
                  <a:srgbClr val="F7F6F1"/>
                </a:solidFill>
                <a:latin typeface="DejaVu Sans"/>
              </a:defRPr>
            </a:pPr>
            <a:r>
              <a:t>Орлогын эрсдэл</a:t>
            </a:r>
          </a:p>
        </p:txBody>
      </p:sp>
      <p:sp>
        <p:nvSpPr>
          <p:cNvPr id="10" name="TextBox 9"/>
          <p:cNvSpPr txBox="1"/>
          <p:nvPr/>
        </p:nvSpPr>
        <p:spPr>
          <a:xfrm>
            <a:off x="1714500" y="2867025"/>
            <a:ext cx="3667125" cy="6858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Ажлын тогтворгүй байдал</a:t>
            </a:r>
          </a:p>
          <a:p>
            <a:pPr>
              <a:lnSpc>
                <a:spcPts val="1829"/>
              </a:lnSpc>
              <a:spcBef>
                <a:spcPts val="0"/>
              </a:spcBef>
              <a:spcAft>
                <a:spcPts val="0"/>
              </a:spcAft>
              <a:defRPr sz="1500" b="0">
                <a:solidFill>
                  <a:srgbClr val="F7F6F1"/>
                </a:solidFill>
                <a:latin typeface="DejaVu Sans"/>
              </a:defRPr>
            </a:pPr>
            <a:r>
              <a:t>Үнэ, өрийн дарамт</a:t>
            </a:r>
          </a:p>
        </p:txBody>
      </p:sp>
      <p:sp>
        <p:nvSpPr>
          <p:cNvPr id="11" name="Rectangle 10"/>
          <p:cNvSpPr/>
          <p:nvPr/>
        </p:nvSpPr>
        <p:spPr>
          <a:xfrm>
            <a:off x="6419850" y="2200275"/>
            <a:ext cx="5076825" cy="14382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0350" y="2352675"/>
            <a:ext cx="838200" cy="762000"/>
          </a:xfrm>
          <a:prstGeom prst="rect">
            <a:avLst/>
          </a:prstGeom>
          <a:noFill/>
        </p:spPr>
        <p:txBody>
          <a:bodyPr wrap="none" lIns="0" tIns="0" rIns="0" bIns="0">
            <a:spAutoFit/>
          </a:bodyPr>
          <a:lstStyle/>
          <a:p>
            <a:pPr>
              <a:lnSpc>
                <a:spcPts val="5307"/>
              </a:lnSpc>
              <a:spcBef>
                <a:spcPts val="0"/>
              </a:spcBef>
              <a:spcAft>
                <a:spcPts val="0"/>
              </a:spcAft>
              <a:defRPr sz="4350" b="1">
                <a:solidFill>
                  <a:srgbClr val="F5FF58"/>
                </a:solidFill>
                <a:latin typeface="Open Sans Condensed"/>
              </a:defRPr>
            </a:pPr>
            <a:r>
              <a:t>02</a:t>
            </a:r>
          </a:p>
        </p:txBody>
      </p:sp>
      <p:sp>
        <p:nvSpPr>
          <p:cNvPr id="13" name="TextBox 12"/>
          <p:cNvSpPr txBox="1"/>
          <p:nvPr/>
        </p:nvSpPr>
        <p:spPr>
          <a:xfrm>
            <a:off x="7581899" y="2409825"/>
            <a:ext cx="3667125" cy="361950"/>
          </a:xfrm>
          <a:prstGeom prst="rect">
            <a:avLst/>
          </a:prstGeom>
          <a:noFill/>
        </p:spPr>
        <p:txBody>
          <a:bodyPr wrap="none" lIns="0" tIns="0" rIns="0" bIns="0">
            <a:spAutoFit/>
          </a:bodyPr>
          <a:lstStyle/>
          <a:p>
            <a:pPr>
              <a:lnSpc>
                <a:spcPts val="2470"/>
              </a:lnSpc>
              <a:spcBef>
                <a:spcPts val="0"/>
              </a:spcBef>
              <a:spcAft>
                <a:spcPts val="0"/>
              </a:spcAft>
              <a:defRPr sz="2025" b="1">
                <a:solidFill>
                  <a:srgbClr val="F7F6F1"/>
                </a:solidFill>
                <a:latin typeface="DejaVu Sans"/>
              </a:defRPr>
            </a:pPr>
            <a:r>
              <a:t>Үйлчилгээний саад</a:t>
            </a:r>
          </a:p>
        </p:txBody>
      </p:sp>
      <p:sp>
        <p:nvSpPr>
          <p:cNvPr id="14" name="TextBox 13"/>
          <p:cNvSpPr txBox="1"/>
          <p:nvPr/>
        </p:nvSpPr>
        <p:spPr>
          <a:xfrm>
            <a:off x="7581899" y="2867025"/>
            <a:ext cx="3667125" cy="6858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Тээврийн зардал</a:t>
            </a:r>
          </a:p>
          <a:p>
            <a:pPr>
              <a:lnSpc>
                <a:spcPts val="1829"/>
              </a:lnSpc>
              <a:spcBef>
                <a:spcPts val="0"/>
              </a:spcBef>
              <a:spcAft>
                <a:spcPts val="0"/>
              </a:spcAft>
              <a:defRPr sz="1500" b="0">
                <a:solidFill>
                  <a:srgbClr val="F7F6F1"/>
                </a:solidFill>
                <a:latin typeface="DejaVu Sans"/>
              </a:defRPr>
            </a:pPr>
            <a:r>
              <a:t>Баримт бичиг, хүртээмж</a:t>
            </a:r>
          </a:p>
        </p:txBody>
      </p:sp>
      <p:sp>
        <p:nvSpPr>
          <p:cNvPr id="15" name="Rectangle 14"/>
          <p:cNvSpPr/>
          <p:nvPr/>
        </p:nvSpPr>
        <p:spPr>
          <a:xfrm>
            <a:off x="6419850" y="4124325"/>
            <a:ext cx="5076825" cy="14382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10350" y="4276725"/>
            <a:ext cx="838200" cy="762000"/>
          </a:xfrm>
          <a:prstGeom prst="rect">
            <a:avLst/>
          </a:prstGeom>
          <a:noFill/>
        </p:spPr>
        <p:txBody>
          <a:bodyPr wrap="none" lIns="0" tIns="0" rIns="0" bIns="0">
            <a:spAutoFit/>
          </a:bodyPr>
          <a:lstStyle/>
          <a:p>
            <a:pPr>
              <a:lnSpc>
                <a:spcPts val="5307"/>
              </a:lnSpc>
              <a:spcBef>
                <a:spcPts val="0"/>
              </a:spcBef>
              <a:spcAft>
                <a:spcPts val="0"/>
              </a:spcAft>
              <a:defRPr sz="4350" b="1">
                <a:solidFill>
                  <a:srgbClr val="F5FF58"/>
                </a:solidFill>
                <a:latin typeface="Open Sans Condensed"/>
              </a:defRPr>
            </a:pPr>
            <a:r>
              <a:t>03</a:t>
            </a:r>
          </a:p>
        </p:txBody>
      </p:sp>
      <p:sp>
        <p:nvSpPr>
          <p:cNvPr id="17" name="TextBox 16"/>
          <p:cNvSpPr txBox="1"/>
          <p:nvPr/>
        </p:nvSpPr>
        <p:spPr>
          <a:xfrm>
            <a:off x="7581899" y="4333875"/>
            <a:ext cx="3667125" cy="361950"/>
          </a:xfrm>
          <a:prstGeom prst="rect">
            <a:avLst/>
          </a:prstGeom>
          <a:noFill/>
        </p:spPr>
        <p:txBody>
          <a:bodyPr wrap="none" lIns="0" tIns="0" rIns="0" bIns="0">
            <a:spAutoFit/>
          </a:bodyPr>
          <a:lstStyle/>
          <a:p>
            <a:pPr>
              <a:lnSpc>
                <a:spcPts val="2470"/>
              </a:lnSpc>
              <a:spcBef>
                <a:spcPts val="0"/>
              </a:spcBef>
              <a:spcAft>
                <a:spcPts val="0"/>
              </a:spcAft>
              <a:defRPr sz="2025" b="1">
                <a:solidFill>
                  <a:srgbClr val="F7F6F1"/>
                </a:solidFill>
                <a:latin typeface="DejaVu Sans"/>
              </a:defRPr>
            </a:pPr>
            <a:r>
              <a:t>Боломж хумигдах</a:t>
            </a:r>
          </a:p>
        </p:txBody>
      </p:sp>
      <p:sp>
        <p:nvSpPr>
          <p:cNvPr id="18" name="TextBox 17"/>
          <p:cNvSpPr txBox="1"/>
          <p:nvPr/>
        </p:nvSpPr>
        <p:spPr>
          <a:xfrm>
            <a:off x="7581899" y="4791075"/>
            <a:ext cx="3667125" cy="6858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Хичээл тасалдах</a:t>
            </a:r>
          </a:p>
          <a:p>
            <a:pPr>
              <a:lnSpc>
                <a:spcPts val="1829"/>
              </a:lnSpc>
              <a:spcBef>
                <a:spcPts val="0"/>
              </a:spcBef>
              <a:spcAft>
                <a:spcPts val="0"/>
              </a:spcAft>
              <a:defRPr sz="1500" b="0">
                <a:solidFill>
                  <a:srgbClr val="F7F6F1"/>
                </a:solidFill>
                <a:latin typeface="DejaVu Sans"/>
              </a:defRPr>
            </a:pPr>
            <a:r>
              <a:t>Эмчилгээ хойшлох</a:t>
            </a:r>
          </a:p>
        </p:txBody>
      </p:sp>
      <p:sp>
        <p:nvSpPr>
          <p:cNvPr id="19" name="Rectangle 18"/>
          <p:cNvSpPr/>
          <p:nvPr/>
        </p:nvSpPr>
        <p:spPr>
          <a:xfrm>
            <a:off x="552450" y="4124325"/>
            <a:ext cx="5076825" cy="14382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950" y="4276725"/>
            <a:ext cx="838200" cy="762000"/>
          </a:xfrm>
          <a:prstGeom prst="rect">
            <a:avLst/>
          </a:prstGeom>
          <a:noFill/>
        </p:spPr>
        <p:txBody>
          <a:bodyPr wrap="none" lIns="0" tIns="0" rIns="0" bIns="0">
            <a:spAutoFit/>
          </a:bodyPr>
          <a:lstStyle/>
          <a:p>
            <a:pPr>
              <a:lnSpc>
                <a:spcPts val="5307"/>
              </a:lnSpc>
              <a:spcBef>
                <a:spcPts val="0"/>
              </a:spcBef>
              <a:spcAft>
                <a:spcPts val="0"/>
              </a:spcAft>
              <a:defRPr sz="4350" b="1">
                <a:solidFill>
                  <a:srgbClr val="F5FF58"/>
                </a:solidFill>
                <a:latin typeface="Open Sans Condensed"/>
              </a:defRPr>
            </a:pPr>
            <a:r>
              <a:t>04</a:t>
            </a:r>
          </a:p>
        </p:txBody>
      </p:sp>
      <p:sp>
        <p:nvSpPr>
          <p:cNvPr id="21" name="TextBox 20"/>
          <p:cNvSpPr txBox="1"/>
          <p:nvPr/>
        </p:nvSpPr>
        <p:spPr>
          <a:xfrm>
            <a:off x="1714500" y="4333875"/>
            <a:ext cx="3667125" cy="361950"/>
          </a:xfrm>
          <a:prstGeom prst="rect">
            <a:avLst/>
          </a:prstGeom>
          <a:noFill/>
        </p:spPr>
        <p:txBody>
          <a:bodyPr wrap="none" lIns="0" tIns="0" rIns="0" bIns="0">
            <a:spAutoFit/>
          </a:bodyPr>
          <a:lstStyle/>
          <a:p>
            <a:pPr>
              <a:lnSpc>
                <a:spcPts val="2470"/>
              </a:lnSpc>
              <a:spcBef>
                <a:spcPts val="0"/>
              </a:spcBef>
              <a:spcAft>
                <a:spcPts val="0"/>
              </a:spcAft>
              <a:defRPr sz="2025" b="1">
                <a:solidFill>
                  <a:srgbClr val="F7F6F1"/>
                </a:solidFill>
                <a:latin typeface="DejaVu Sans"/>
              </a:defRPr>
            </a:pPr>
            <a:r>
              <a:t>Эмзэг байдал</a:t>
            </a:r>
          </a:p>
        </p:txBody>
      </p:sp>
      <p:sp>
        <p:nvSpPr>
          <p:cNvPr id="22" name="TextBox 21"/>
          <p:cNvSpPr txBox="1"/>
          <p:nvPr/>
        </p:nvSpPr>
        <p:spPr>
          <a:xfrm>
            <a:off x="1714500" y="4791075"/>
            <a:ext cx="3667125" cy="6858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Ур чадвар, эрүүл мэнд доройтох</a:t>
            </a:r>
          </a:p>
          <a:p>
            <a:pPr>
              <a:lnSpc>
                <a:spcPts val="1829"/>
              </a:lnSpc>
              <a:spcBef>
                <a:spcPts val="0"/>
              </a:spcBef>
              <a:spcAft>
                <a:spcPts val="0"/>
              </a:spcAft>
              <a:defRPr sz="1500" b="0">
                <a:solidFill>
                  <a:srgbClr val="F7F6F1"/>
                </a:solidFill>
                <a:latin typeface="DejaVu Sans"/>
              </a:defRPr>
            </a:pPr>
            <a:r>
              <a:t>Орлого дахин буурах</a:t>
            </a:r>
          </a:p>
        </p:txBody>
      </p:sp>
      <p:sp>
        <p:nvSpPr>
          <p:cNvPr id="23" name="TextBox 22"/>
          <p:cNvSpPr txBox="1"/>
          <p:nvPr/>
        </p:nvSpPr>
        <p:spPr>
          <a:xfrm>
            <a:off x="5734050" y="2600325"/>
            <a:ext cx="552450" cy="638175"/>
          </a:xfrm>
          <a:prstGeom prst="rect">
            <a:avLst/>
          </a:prstGeom>
          <a:noFill/>
        </p:spPr>
        <p:txBody>
          <a:bodyPr wrap="none" lIns="0" tIns="0" rIns="0" bIns="0">
            <a:spAutoFit/>
          </a:bodyPr>
          <a:lstStyle/>
          <a:p>
            <a:pPr>
              <a:lnSpc>
                <a:spcPts val="4026"/>
              </a:lnSpc>
              <a:spcBef>
                <a:spcPts val="0"/>
              </a:spcBef>
              <a:spcAft>
                <a:spcPts val="0"/>
              </a:spcAft>
              <a:defRPr sz="3300" b="1">
                <a:solidFill>
                  <a:srgbClr val="164BFF"/>
                </a:solidFill>
                <a:latin typeface="DejaVu Sans"/>
              </a:defRPr>
            </a:pPr>
            <a:r>
              <a:t>→</a:t>
            </a:r>
          </a:p>
        </p:txBody>
      </p:sp>
      <p:sp>
        <p:nvSpPr>
          <p:cNvPr id="24" name="TextBox 23"/>
          <p:cNvSpPr txBox="1"/>
          <p:nvPr/>
        </p:nvSpPr>
        <p:spPr>
          <a:xfrm>
            <a:off x="5734050" y="4457700"/>
            <a:ext cx="552450" cy="638175"/>
          </a:xfrm>
          <a:prstGeom prst="rect">
            <a:avLst/>
          </a:prstGeom>
          <a:noFill/>
        </p:spPr>
        <p:txBody>
          <a:bodyPr wrap="none" lIns="0" tIns="0" rIns="0" bIns="0">
            <a:spAutoFit/>
          </a:bodyPr>
          <a:lstStyle/>
          <a:p>
            <a:pPr>
              <a:lnSpc>
                <a:spcPts val="4026"/>
              </a:lnSpc>
              <a:spcBef>
                <a:spcPts val="0"/>
              </a:spcBef>
              <a:spcAft>
                <a:spcPts val="0"/>
              </a:spcAft>
              <a:defRPr sz="3300" b="1">
                <a:solidFill>
                  <a:srgbClr val="164BFF"/>
                </a:solidFill>
                <a:latin typeface="DejaVu Sans"/>
              </a:defRPr>
            </a:pPr>
            <a:r>
              <a:t>←</a:t>
            </a:r>
          </a:p>
        </p:txBody>
      </p:sp>
      <p:sp>
        <p:nvSpPr>
          <p:cNvPr id="25" name="TextBox 24"/>
          <p:cNvSpPr txBox="1"/>
          <p:nvPr/>
        </p:nvSpPr>
        <p:spPr>
          <a:xfrm>
            <a:off x="2800350" y="3676649"/>
            <a:ext cx="57150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DejaVu Sans"/>
              </a:defRPr>
            </a:pPr>
            <a:r>
              <a:t>↑</a:t>
            </a:r>
          </a:p>
        </p:txBody>
      </p:sp>
      <p:sp>
        <p:nvSpPr>
          <p:cNvPr id="26" name="TextBox 25"/>
          <p:cNvSpPr txBox="1"/>
          <p:nvPr/>
        </p:nvSpPr>
        <p:spPr>
          <a:xfrm>
            <a:off x="8667750" y="3676649"/>
            <a:ext cx="57150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DejaVu Sans"/>
              </a:defRPr>
            </a:pPr>
            <a:r>
              <a:t>↓</a:t>
            </a:r>
          </a:p>
        </p:txBody>
      </p:sp>
      <p:sp>
        <p:nvSpPr>
          <p:cNvPr id="27" name="Rectangle 26"/>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Гинжин холбоог таслах арга: суурь үйлчилгээ + орлогын хамгаалалт + эрхээ шаардах боломж.</a:t>
            </a:r>
          </a:p>
        </p:txBody>
      </p:sp>
      <p:cxnSp>
        <p:nvCxnSpPr>
          <p:cNvPr id="29" name="Connector 28"/>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ICESCR · CRC</a:t>
            </a:r>
          </a:p>
        </p:txBody>
      </p:sp>
      <p:sp>
        <p:nvSpPr>
          <p:cNvPr id="31" name="TextBox 30"/>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06—30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02 / ХҮНИЙ ЭРХИЙН СУУРЬ</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6083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857250"/>
            <a:ext cx="5048250" cy="1524000"/>
          </a:xfrm>
          <a:prstGeom prst="rect">
            <a:avLst/>
          </a:prstGeom>
          <a:noFill/>
        </p:spPr>
        <p:txBody>
          <a:bodyPr wrap="none" lIns="0" tIns="0" rIns="0" bIns="0">
            <a:spAutoFit/>
          </a:bodyPr>
          <a:lstStyle/>
          <a:p>
            <a:pPr>
              <a:lnSpc>
                <a:spcPts val="11968"/>
              </a:lnSpc>
              <a:spcBef>
                <a:spcPts val="0"/>
              </a:spcBef>
              <a:spcAft>
                <a:spcPts val="0"/>
              </a:spcAft>
              <a:defRPr sz="9809" b="1">
                <a:solidFill>
                  <a:srgbClr val="F5FF58"/>
                </a:solidFill>
                <a:latin typeface="Open Sans Condensed"/>
              </a:defRPr>
            </a:pPr>
            <a:r>
              <a:t>ЭРХ</a:t>
            </a:r>
          </a:p>
        </p:txBody>
      </p:sp>
      <p:sp>
        <p:nvSpPr>
          <p:cNvPr id="7" name="TextBox 6"/>
          <p:cNvSpPr txBox="1"/>
          <p:nvPr/>
        </p:nvSpPr>
        <p:spPr>
          <a:xfrm>
            <a:off x="457200" y="2628900"/>
            <a:ext cx="3857625" cy="1447800"/>
          </a:xfrm>
          <a:prstGeom prst="rect">
            <a:avLst/>
          </a:prstGeom>
          <a:noFill/>
        </p:spPr>
        <p:txBody>
          <a:bodyPr wrap="none" lIns="0" tIns="0" rIns="0" bIns="0">
            <a:spAutoFit/>
          </a:bodyPr>
          <a:lstStyle/>
          <a:p>
            <a:pPr>
              <a:lnSpc>
                <a:spcPts val="4849"/>
              </a:lnSpc>
              <a:spcBef>
                <a:spcPts val="0"/>
              </a:spcBef>
              <a:spcAft>
                <a:spcPts val="0"/>
              </a:spcAft>
              <a:defRPr sz="3975" b="1">
                <a:solidFill>
                  <a:srgbClr val="F7F6F1"/>
                </a:solidFill>
                <a:latin typeface="Open Sans Condensed"/>
              </a:defRPr>
            </a:pPr>
            <a:r>
              <a:t>ТУСЛАМЖ БУС,</a:t>
            </a:r>
          </a:p>
          <a:p>
            <a:pPr>
              <a:lnSpc>
                <a:spcPts val="4849"/>
              </a:lnSpc>
              <a:spcBef>
                <a:spcPts val="0"/>
              </a:spcBef>
              <a:spcAft>
                <a:spcPts val="0"/>
              </a:spcAft>
              <a:defRPr sz="3975" b="1">
                <a:solidFill>
                  <a:srgbClr val="F7F6F1"/>
                </a:solidFill>
                <a:latin typeface="Open Sans Condensed"/>
              </a:defRPr>
            </a:pPr>
            <a:r>
              <a:t>БАТАЛГАА.</a:t>
            </a:r>
          </a:p>
        </p:txBody>
      </p:sp>
      <p:sp>
        <p:nvSpPr>
          <p:cNvPr id="8" name="TextBox 7"/>
          <p:cNvSpPr txBox="1"/>
          <p:nvPr/>
        </p:nvSpPr>
        <p:spPr>
          <a:xfrm>
            <a:off x="466724" y="4505325"/>
            <a:ext cx="3705224" cy="1123950"/>
          </a:xfrm>
          <a:prstGeom prst="rect">
            <a:avLst/>
          </a:prstGeom>
          <a:noFill/>
        </p:spPr>
        <p:txBody>
          <a:bodyPr wrap="none" lIns="0" tIns="0" rIns="0" bIns="0">
            <a:spAutoFit/>
          </a:bodyPr>
          <a:lstStyle/>
          <a:p>
            <a:pPr>
              <a:lnSpc>
                <a:spcPts val="2287"/>
              </a:lnSpc>
              <a:spcBef>
                <a:spcPts val="0"/>
              </a:spcBef>
              <a:spcAft>
                <a:spcPts val="0"/>
              </a:spcAft>
              <a:defRPr sz="1875" b="0">
                <a:solidFill>
                  <a:srgbClr val="F7F6F1"/>
                </a:solidFill>
                <a:latin typeface="DejaVu Sans"/>
              </a:defRPr>
            </a:pPr>
            <a:r>
              <a:t>Хүн — эрх эдлэгч.</a:t>
            </a:r>
          </a:p>
          <a:p>
            <a:pPr>
              <a:lnSpc>
                <a:spcPts val="2287"/>
              </a:lnSpc>
              <a:spcBef>
                <a:spcPts val="0"/>
              </a:spcBef>
              <a:spcAft>
                <a:spcPts val="0"/>
              </a:spcAft>
              <a:defRPr sz="1875" b="0">
                <a:solidFill>
                  <a:srgbClr val="F7F6F1"/>
                </a:solidFill>
                <a:latin typeface="DejaVu Sans"/>
              </a:defRPr>
            </a:pPr>
            <a:r>
              <a:t>Төр — үүрэг хүлээгч.</a:t>
            </a:r>
          </a:p>
          <a:p>
            <a:pPr>
              <a:lnSpc>
                <a:spcPts val="2287"/>
              </a:lnSpc>
              <a:spcBef>
                <a:spcPts val="0"/>
              </a:spcBef>
              <a:spcAft>
                <a:spcPts val="0"/>
              </a:spcAft>
              <a:defRPr sz="1875" b="0">
                <a:solidFill>
                  <a:srgbClr val="F7F6F1"/>
                </a:solidFill>
                <a:latin typeface="DejaVu Sans"/>
              </a:defRPr>
            </a:pPr>
            <a:r>
              <a:t>Шийдвэр — хяналттай.</a:t>
            </a:r>
          </a:p>
        </p:txBody>
      </p:sp>
      <p:cxnSp>
        <p:nvCxnSpPr>
          <p:cNvPr id="9" name="Connector 8"/>
          <p:cNvCxnSpPr/>
          <p:nvPr/>
        </p:nvCxnSpPr>
        <p:spPr>
          <a:xfrm>
            <a:off x="5076825" y="1133475"/>
            <a:ext cx="6562725" cy="0"/>
          </a:xfrm>
          <a:prstGeom prst="line">
            <a:avLst/>
          </a:prstGeom>
          <a:ln w="9525">
            <a:solidFill>
              <a:srgbClr val="494F5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6825" y="127635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F5FF58"/>
                </a:solidFill>
                <a:latin typeface="Open Sans Condensed"/>
              </a:defRPr>
            </a:pPr>
            <a:r>
              <a:t>01</a:t>
            </a:r>
          </a:p>
        </p:txBody>
      </p:sp>
      <p:sp>
        <p:nvSpPr>
          <p:cNvPr id="11" name="TextBox 10"/>
          <p:cNvSpPr txBox="1"/>
          <p:nvPr/>
        </p:nvSpPr>
        <p:spPr>
          <a:xfrm>
            <a:off x="5905500" y="1257300"/>
            <a:ext cx="5734050"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F7F6F1"/>
                </a:solidFill>
                <a:latin typeface="DejaVu Sans"/>
              </a:defRPr>
            </a:pPr>
            <a:r>
              <a:t>Хүн бүр эрх эдэлнэ</a:t>
            </a:r>
          </a:p>
        </p:txBody>
      </p:sp>
      <p:sp>
        <p:nvSpPr>
          <p:cNvPr id="12" name="TextBox 11"/>
          <p:cNvSpPr txBox="1"/>
          <p:nvPr/>
        </p:nvSpPr>
        <p:spPr>
          <a:xfrm>
            <a:off x="5905500" y="1638300"/>
            <a:ext cx="5734050" cy="923925"/>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Хүний эрхийн түгээмэл тунхаглал, 1948.12.10: 1 дүгээр</a:t>
            </a:r>
          </a:p>
          <a:p>
            <a:pPr>
              <a:lnSpc>
                <a:spcPts val="1738"/>
              </a:lnSpc>
              <a:spcBef>
                <a:spcPts val="0"/>
              </a:spcBef>
              <a:spcAft>
                <a:spcPts val="0"/>
              </a:spcAft>
              <a:defRPr sz="1425" b="0">
                <a:solidFill>
                  <a:srgbClr val="F7F6F1"/>
                </a:solidFill>
                <a:latin typeface="DejaVu Sans"/>
              </a:defRPr>
            </a:pPr>
            <a:r>
              <a:t>зүйл — нэр төр, эрхийн тэгш байдал; 2 — ялгаварлахгүй</a:t>
            </a:r>
          </a:p>
          <a:p>
            <a:pPr>
              <a:lnSpc>
                <a:spcPts val="1738"/>
              </a:lnSpc>
              <a:spcBef>
                <a:spcPts val="0"/>
              </a:spcBef>
              <a:spcAft>
                <a:spcPts val="0"/>
              </a:spcAft>
              <a:defRPr sz="1425" b="0">
                <a:solidFill>
                  <a:srgbClr val="F7F6F1"/>
                </a:solidFill>
                <a:latin typeface="DejaVu Sans"/>
              </a:defRPr>
            </a:pPr>
            <a:r>
              <a:t>байх.</a:t>
            </a:r>
          </a:p>
        </p:txBody>
      </p:sp>
      <p:cxnSp>
        <p:nvCxnSpPr>
          <p:cNvPr id="13" name="Connector 12"/>
          <p:cNvCxnSpPr/>
          <p:nvPr/>
        </p:nvCxnSpPr>
        <p:spPr>
          <a:xfrm>
            <a:off x="5076825" y="2619375"/>
            <a:ext cx="6562725" cy="0"/>
          </a:xfrm>
          <a:prstGeom prst="line">
            <a:avLst/>
          </a:prstGeom>
          <a:ln w="9525">
            <a:solidFill>
              <a:srgbClr val="494F5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76825" y="276225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F5FF58"/>
                </a:solidFill>
                <a:latin typeface="Open Sans Condensed"/>
              </a:defRPr>
            </a:pPr>
            <a:r>
              <a:t>02</a:t>
            </a:r>
          </a:p>
        </p:txBody>
      </p:sp>
      <p:sp>
        <p:nvSpPr>
          <p:cNvPr id="15" name="TextBox 14"/>
          <p:cNvSpPr txBox="1"/>
          <p:nvPr/>
        </p:nvSpPr>
        <p:spPr>
          <a:xfrm>
            <a:off x="5905500" y="2743200"/>
            <a:ext cx="5734050"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F7F6F1"/>
                </a:solidFill>
                <a:latin typeface="DejaVu Sans"/>
              </a:defRPr>
            </a:pPr>
            <a:r>
              <a:t>Улс үүрэг хүлээнэ</a:t>
            </a:r>
          </a:p>
        </p:txBody>
      </p:sp>
      <p:sp>
        <p:nvSpPr>
          <p:cNvPr id="16" name="TextBox 15"/>
          <p:cNvSpPr txBox="1"/>
          <p:nvPr/>
        </p:nvSpPr>
        <p:spPr>
          <a:xfrm>
            <a:off x="5905500" y="3124200"/>
            <a:ext cx="5734050" cy="923925"/>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ICESCR, 1966.12.16: 2.1 — нөөц бололцоогоо дээд</a:t>
            </a:r>
          </a:p>
          <a:p>
            <a:pPr>
              <a:lnSpc>
                <a:spcPts val="1738"/>
              </a:lnSpc>
              <a:spcBef>
                <a:spcPts val="0"/>
              </a:spcBef>
              <a:spcAft>
                <a:spcPts val="0"/>
              </a:spcAft>
              <a:defRPr sz="1425" b="0">
                <a:solidFill>
                  <a:srgbClr val="F7F6F1"/>
                </a:solidFill>
                <a:latin typeface="DejaVu Sans"/>
              </a:defRPr>
            </a:pPr>
            <a:r>
              <a:t>хэмжээгээр ашиглан эрхийг дэвшилттэй хэрэгжүүлэх.</a:t>
            </a:r>
          </a:p>
        </p:txBody>
      </p:sp>
      <p:cxnSp>
        <p:nvCxnSpPr>
          <p:cNvPr id="17" name="Connector 16"/>
          <p:cNvCxnSpPr/>
          <p:nvPr/>
        </p:nvCxnSpPr>
        <p:spPr>
          <a:xfrm>
            <a:off x="5076825" y="4105274"/>
            <a:ext cx="6562725" cy="0"/>
          </a:xfrm>
          <a:prstGeom prst="line">
            <a:avLst/>
          </a:prstGeom>
          <a:ln w="9525">
            <a:solidFill>
              <a:srgbClr val="494F5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76825" y="424815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F5FF58"/>
                </a:solidFill>
                <a:latin typeface="Open Sans Condensed"/>
              </a:defRPr>
            </a:pPr>
            <a:r>
              <a:t>03</a:t>
            </a:r>
          </a:p>
        </p:txBody>
      </p:sp>
      <p:sp>
        <p:nvSpPr>
          <p:cNvPr id="19" name="TextBox 18"/>
          <p:cNvSpPr txBox="1"/>
          <p:nvPr/>
        </p:nvSpPr>
        <p:spPr>
          <a:xfrm>
            <a:off x="5905500" y="4229100"/>
            <a:ext cx="5734050"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F7F6F1"/>
                </a:solidFill>
                <a:latin typeface="DejaVu Sans"/>
              </a:defRPr>
            </a:pPr>
            <a:r>
              <a:t>Шийдвэрийг хянуулна</a:t>
            </a:r>
          </a:p>
        </p:txBody>
      </p:sp>
      <p:sp>
        <p:nvSpPr>
          <p:cNvPr id="20" name="TextBox 19"/>
          <p:cNvSpPr txBox="1"/>
          <p:nvPr/>
        </p:nvSpPr>
        <p:spPr>
          <a:xfrm>
            <a:off x="5905500" y="4610100"/>
            <a:ext cx="5734050" cy="923925"/>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Үндсэн хууль, 1992.01.13: 16.12 — өргөдөл, гомдол; 16.14</a:t>
            </a:r>
          </a:p>
          <a:p>
            <a:pPr>
              <a:lnSpc>
                <a:spcPts val="1738"/>
              </a:lnSpc>
              <a:spcBef>
                <a:spcPts val="0"/>
              </a:spcBef>
              <a:spcAft>
                <a:spcPts val="0"/>
              </a:spcAft>
              <a:defRPr sz="1425" b="0">
                <a:solidFill>
                  <a:srgbClr val="F7F6F1"/>
                </a:solidFill>
                <a:latin typeface="DejaVu Sans"/>
              </a:defRPr>
            </a:pPr>
            <a:r>
              <a:t>— шүүхээр хамгаалуулах, хууль зүйн туслалцаа.</a:t>
            </a:r>
          </a:p>
        </p:txBody>
      </p:sp>
      <p:sp>
        <p:nvSpPr>
          <p:cNvPr id="21" name="Rectangle 20"/>
          <p:cNvSpPr/>
          <p:nvPr/>
        </p:nvSpPr>
        <p:spPr>
          <a:xfrm>
            <a:off x="419100" y="5895975"/>
            <a:ext cx="11353800" cy="35242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Хандив, сайн дурын тусламж нь төрийн хуулиар хүлээсэн үүргийг орлохгүй.</a:t>
            </a:r>
          </a:p>
        </p:txBody>
      </p:sp>
      <p:cxnSp>
        <p:nvCxnSpPr>
          <p:cNvPr id="23" name="Connector 22"/>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UDHR · ICESCR · ҮХ</a:t>
            </a:r>
          </a:p>
        </p:txBody>
      </p:sp>
      <p:sp>
        <p:nvSpPr>
          <p:cNvPr id="25" name="TextBox 24"/>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07—30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02 / МОНГОЛЫН ЭРХ ЗҮЙ</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0" y="600075"/>
            <a:ext cx="4057650" cy="57816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9575" y="1047749"/>
            <a:ext cx="3343275" cy="781050"/>
          </a:xfrm>
          <a:prstGeom prst="rect">
            <a:avLst/>
          </a:prstGeom>
          <a:noFill/>
        </p:spPr>
        <p:txBody>
          <a:bodyPr wrap="none" lIns="0" tIns="0" rIns="0" bIns="0">
            <a:spAutoFit/>
          </a:bodyPr>
          <a:lstStyle/>
          <a:p>
            <a:pPr>
              <a:lnSpc>
                <a:spcPts val="5307"/>
              </a:lnSpc>
              <a:spcBef>
                <a:spcPts val="0"/>
              </a:spcBef>
              <a:spcAft>
                <a:spcPts val="0"/>
              </a:spcAft>
              <a:defRPr sz="4350" b="1">
                <a:solidFill>
                  <a:srgbClr val="F7F6F1"/>
                </a:solidFill>
                <a:latin typeface="Open Sans Condensed"/>
              </a:defRPr>
            </a:pPr>
            <a:r>
              <a:t>ҮНДСЭН</a:t>
            </a:r>
          </a:p>
        </p:txBody>
      </p:sp>
      <p:sp>
        <p:nvSpPr>
          <p:cNvPr id="8" name="TextBox 7"/>
          <p:cNvSpPr txBox="1"/>
          <p:nvPr/>
        </p:nvSpPr>
        <p:spPr>
          <a:xfrm>
            <a:off x="409575" y="1762125"/>
            <a:ext cx="3343275" cy="781050"/>
          </a:xfrm>
          <a:prstGeom prst="rect">
            <a:avLst/>
          </a:prstGeom>
          <a:noFill/>
        </p:spPr>
        <p:txBody>
          <a:bodyPr wrap="none" lIns="0" tIns="0" rIns="0" bIns="0">
            <a:spAutoFit/>
          </a:bodyPr>
          <a:lstStyle/>
          <a:p>
            <a:pPr>
              <a:lnSpc>
                <a:spcPts val="5307"/>
              </a:lnSpc>
              <a:spcBef>
                <a:spcPts val="0"/>
              </a:spcBef>
              <a:spcAft>
                <a:spcPts val="0"/>
              </a:spcAft>
              <a:defRPr sz="4350" b="1">
                <a:solidFill>
                  <a:srgbClr val="F7F6F1"/>
                </a:solidFill>
                <a:latin typeface="Open Sans Condensed"/>
              </a:defRPr>
            </a:pPr>
            <a:r>
              <a:t>ХУУЛЬ</a:t>
            </a:r>
          </a:p>
        </p:txBody>
      </p:sp>
      <p:sp>
        <p:nvSpPr>
          <p:cNvPr id="9" name="TextBox 8"/>
          <p:cNvSpPr txBox="1"/>
          <p:nvPr/>
        </p:nvSpPr>
        <p:spPr>
          <a:xfrm>
            <a:off x="342900" y="3057525"/>
            <a:ext cx="3524250" cy="1381125"/>
          </a:xfrm>
          <a:prstGeom prst="rect">
            <a:avLst/>
          </a:prstGeom>
          <a:noFill/>
        </p:spPr>
        <p:txBody>
          <a:bodyPr wrap="none" lIns="0" tIns="0" rIns="0" bIns="0">
            <a:spAutoFit/>
          </a:bodyPr>
          <a:lstStyle/>
          <a:p>
            <a:pPr>
              <a:lnSpc>
                <a:spcPts val="9882"/>
              </a:lnSpc>
              <a:spcBef>
                <a:spcPts val="0"/>
              </a:spcBef>
              <a:spcAft>
                <a:spcPts val="0"/>
              </a:spcAft>
              <a:defRPr sz="8100" b="1">
                <a:solidFill>
                  <a:srgbClr val="F5FF58"/>
                </a:solidFill>
                <a:latin typeface="Open Sans Condensed"/>
              </a:defRPr>
            </a:pPr>
            <a:r>
              <a:t>1992</a:t>
            </a:r>
          </a:p>
        </p:txBody>
      </p:sp>
      <p:sp>
        <p:nvSpPr>
          <p:cNvPr id="10" name="Rectangle 9"/>
          <p:cNvSpPr/>
          <p:nvPr/>
        </p:nvSpPr>
        <p:spPr>
          <a:xfrm>
            <a:off x="438150" y="4562475"/>
            <a:ext cx="1367730" cy="2571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4610100"/>
            <a:ext cx="1139130"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01 САР / 13 ӨДӨР</a:t>
            </a:r>
          </a:p>
        </p:txBody>
      </p:sp>
      <p:sp>
        <p:nvSpPr>
          <p:cNvPr id="12" name="TextBox 11"/>
          <p:cNvSpPr txBox="1"/>
          <p:nvPr/>
        </p:nvSpPr>
        <p:spPr>
          <a:xfrm>
            <a:off x="438150" y="5114925"/>
            <a:ext cx="3171825" cy="666750"/>
          </a:xfrm>
          <a:prstGeom prst="rect">
            <a:avLst/>
          </a:prstGeom>
          <a:noFill/>
        </p:spPr>
        <p:txBody>
          <a:bodyPr wrap="none" lIns="0" tIns="0" rIns="0" bIns="0">
            <a:spAutoFit/>
          </a:bodyPr>
          <a:lstStyle/>
          <a:p>
            <a:pPr>
              <a:lnSpc>
                <a:spcPts val="1921"/>
              </a:lnSpc>
              <a:spcBef>
                <a:spcPts val="0"/>
              </a:spcBef>
              <a:spcAft>
                <a:spcPts val="0"/>
              </a:spcAft>
              <a:defRPr sz="1575" b="0">
                <a:solidFill>
                  <a:srgbClr val="F7F6F1"/>
                </a:solidFill>
                <a:latin typeface="DejaVu Sans"/>
              </a:defRPr>
            </a:pPr>
            <a:r>
              <a:t>Орлогоос үл хамаарах</a:t>
            </a:r>
          </a:p>
          <a:p>
            <a:pPr>
              <a:lnSpc>
                <a:spcPts val="1921"/>
              </a:lnSpc>
              <a:spcBef>
                <a:spcPts val="0"/>
              </a:spcBef>
              <a:spcAft>
                <a:spcPts val="0"/>
              </a:spcAft>
              <a:defRPr sz="1575" b="0">
                <a:solidFill>
                  <a:srgbClr val="F7F6F1"/>
                </a:solidFill>
                <a:latin typeface="DejaVu Sans"/>
              </a:defRPr>
            </a:pPr>
            <a:r>
              <a:t>эрхийн баталгаа</a:t>
            </a:r>
          </a:p>
        </p:txBody>
      </p:sp>
      <p:cxnSp>
        <p:nvCxnSpPr>
          <p:cNvPr id="13" name="Connector 12"/>
          <p:cNvCxnSpPr/>
          <p:nvPr/>
        </p:nvCxnSpPr>
        <p:spPr>
          <a:xfrm>
            <a:off x="4410075" y="942975"/>
            <a:ext cx="73342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57700" y="1095375"/>
            <a:ext cx="1562100"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164BFF"/>
                </a:solidFill>
                <a:latin typeface="Open Sans Condensed"/>
              </a:defRPr>
            </a:pPr>
            <a:r>
              <a:t>14.1; 14.2</a:t>
            </a:r>
          </a:p>
        </p:txBody>
      </p:sp>
      <p:sp>
        <p:nvSpPr>
          <p:cNvPr id="15" name="TextBox 14"/>
          <p:cNvSpPr txBox="1"/>
          <p:nvPr/>
        </p:nvSpPr>
        <p:spPr>
          <a:xfrm>
            <a:off x="6219825" y="1057275"/>
            <a:ext cx="5391150" cy="409575"/>
          </a:xfrm>
          <a:prstGeom prst="rect">
            <a:avLst/>
          </a:prstGeom>
          <a:noFill/>
        </p:spPr>
        <p:txBody>
          <a:bodyPr wrap="none" lIns="0" tIns="0" rIns="0" bIns="0">
            <a:spAutoFit/>
          </a:bodyPr>
          <a:lstStyle/>
          <a:p>
            <a:pPr>
              <a:lnSpc>
                <a:spcPts val="1610"/>
              </a:lnSpc>
              <a:spcBef>
                <a:spcPts val="0"/>
              </a:spcBef>
              <a:spcAft>
                <a:spcPts val="0"/>
              </a:spcAft>
              <a:defRPr sz="1320" b="1">
                <a:solidFill>
                  <a:srgbClr val="101114"/>
                </a:solidFill>
                <a:latin typeface="DejaVu Sans"/>
              </a:defRPr>
            </a:pPr>
            <a:r>
              <a:t>Хуулийн өмнө эрх тэгш; хөрөнгө чинээ зэрэг</a:t>
            </a:r>
          </a:p>
          <a:p>
            <a:pPr>
              <a:lnSpc>
                <a:spcPts val="1610"/>
              </a:lnSpc>
              <a:spcBef>
                <a:spcPts val="0"/>
              </a:spcBef>
              <a:spcAft>
                <a:spcPts val="0"/>
              </a:spcAft>
              <a:defRPr sz="1320" b="1">
                <a:solidFill>
                  <a:srgbClr val="101114"/>
                </a:solidFill>
                <a:latin typeface="DejaVu Sans"/>
              </a:defRPr>
            </a:pPr>
            <a:r>
              <a:t>үндэслэлээр ялгаварлахгүй</a:t>
            </a:r>
          </a:p>
        </p:txBody>
      </p:sp>
      <p:sp>
        <p:nvSpPr>
          <p:cNvPr id="16" name="TextBox 15"/>
          <p:cNvSpPr txBox="1"/>
          <p:nvPr/>
        </p:nvSpPr>
        <p:spPr>
          <a:xfrm>
            <a:off x="6219825" y="1514475"/>
            <a:ext cx="53911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606775"/>
                </a:solidFill>
                <a:latin typeface="DejaVu Sans"/>
              </a:defRPr>
            </a:pPr>
            <a:r>
              <a:t>Үйлчилгээний шалгуур хүнийг дорд үзэж болохгүй</a:t>
            </a:r>
          </a:p>
        </p:txBody>
      </p:sp>
      <p:cxnSp>
        <p:nvCxnSpPr>
          <p:cNvPr id="17" name="Connector 16"/>
          <p:cNvCxnSpPr/>
          <p:nvPr/>
        </p:nvCxnSpPr>
        <p:spPr>
          <a:xfrm>
            <a:off x="4410075" y="1924049"/>
            <a:ext cx="73342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57700" y="2076450"/>
            <a:ext cx="1562100"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164BFF"/>
                </a:solidFill>
                <a:latin typeface="Open Sans Condensed"/>
              </a:defRPr>
            </a:pPr>
            <a:r>
              <a:t>16.4</a:t>
            </a:r>
          </a:p>
        </p:txBody>
      </p:sp>
      <p:sp>
        <p:nvSpPr>
          <p:cNvPr id="19" name="TextBox 18"/>
          <p:cNvSpPr txBox="1"/>
          <p:nvPr/>
        </p:nvSpPr>
        <p:spPr>
          <a:xfrm>
            <a:off x="6219825" y="2038349"/>
            <a:ext cx="5391150" cy="409575"/>
          </a:xfrm>
          <a:prstGeom prst="rect">
            <a:avLst/>
          </a:prstGeom>
          <a:noFill/>
        </p:spPr>
        <p:txBody>
          <a:bodyPr wrap="none" lIns="0" tIns="0" rIns="0" bIns="0">
            <a:spAutoFit/>
          </a:bodyPr>
          <a:lstStyle/>
          <a:p>
            <a:pPr>
              <a:lnSpc>
                <a:spcPts val="1610"/>
              </a:lnSpc>
              <a:spcBef>
                <a:spcPts val="0"/>
              </a:spcBef>
              <a:spcAft>
                <a:spcPts val="0"/>
              </a:spcAft>
              <a:defRPr sz="1320" b="1">
                <a:solidFill>
                  <a:srgbClr val="101114"/>
                </a:solidFill>
                <a:latin typeface="DejaVu Sans"/>
              </a:defRPr>
            </a:pPr>
            <a:r>
              <a:t>Ажил, хөдөлмөрөө сонгох; хөдөлмөрийн аятай</a:t>
            </a:r>
          </a:p>
          <a:p>
            <a:pPr>
              <a:lnSpc>
                <a:spcPts val="1610"/>
              </a:lnSpc>
              <a:spcBef>
                <a:spcPts val="0"/>
              </a:spcBef>
              <a:spcAft>
                <a:spcPts val="0"/>
              </a:spcAft>
              <a:defRPr sz="1320" b="1">
                <a:solidFill>
                  <a:srgbClr val="101114"/>
                </a:solidFill>
                <a:latin typeface="DejaVu Sans"/>
              </a:defRPr>
            </a:pPr>
            <a:r>
              <a:t>нөхцөл; цалин</a:t>
            </a:r>
          </a:p>
        </p:txBody>
      </p:sp>
      <p:sp>
        <p:nvSpPr>
          <p:cNvPr id="20" name="TextBox 19"/>
          <p:cNvSpPr txBox="1"/>
          <p:nvPr/>
        </p:nvSpPr>
        <p:spPr>
          <a:xfrm>
            <a:off x="6219825" y="2495550"/>
            <a:ext cx="53911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606775"/>
                </a:solidFill>
                <a:latin typeface="DejaVu Sans"/>
              </a:defRPr>
            </a:pPr>
            <a:r>
              <a:t>Аюулгүй ажил, хуульд нийцсэн хөлс</a:t>
            </a:r>
          </a:p>
        </p:txBody>
      </p:sp>
      <p:cxnSp>
        <p:nvCxnSpPr>
          <p:cNvPr id="21" name="Connector 20"/>
          <p:cNvCxnSpPr/>
          <p:nvPr/>
        </p:nvCxnSpPr>
        <p:spPr>
          <a:xfrm>
            <a:off x="4410075" y="2905125"/>
            <a:ext cx="73342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457700" y="3057525"/>
            <a:ext cx="1562100"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164BFF"/>
                </a:solidFill>
                <a:latin typeface="Open Sans Condensed"/>
              </a:defRPr>
            </a:pPr>
            <a:r>
              <a:t>16.5</a:t>
            </a:r>
          </a:p>
        </p:txBody>
      </p:sp>
      <p:sp>
        <p:nvSpPr>
          <p:cNvPr id="23" name="TextBox 22"/>
          <p:cNvSpPr txBox="1"/>
          <p:nvPr/>
        </p:nvSpPr>
        <p:spPr>
          <a:xfrm>
            <a:off x="6219825" y="3019425"/>
            <a:ext cx="5391150" cy="409575"/>
          </a:xfrm>
          <a:prstGeom prst="rect">
            <a:avLst/>
          </a:prstGeom>
          <a:noFill/>
        </p:spPr>
        <p:txBody>
          <a:bodyPr wrap="none" lIns="0" tIns="0" rIns="0" bIns="0">
            <a:spAutoFit/>
          </a:bodyPr>
          <a:lstStyle/>
          <a:p>
            <a:pPr>
              <a:lnSpc>
                <a:spcPts val="1683"/>
              </a:lnSpc>
              <a:spcBef>
                <a:spcPts val="0"/>
              </a:spcBef>
              <a:spcAft>
                <a:spcPts val="0"/>
              </a:spcAft>
              <a:defRPr sz="1380" b="1">
                <a:solidFill>
                  <a:srgbClr val="101114"/>
                </a:solidFill>
                <a:latin typeface="DejaVu Sans"/>
              </a:defRPr>
            </a:pPr>
            <a:r>
              <a:t>Хуульд заасан нөхцөлд эд, мөнгөний тусламж авах</a:t>
            </a:r>
          </a:p>
        </p:txBody>
      </p:sp>
      <p:sp>
        <p:nvSpPr>
          <p:cNvPr id="24" name="TextBox 23"/>
          <p:cNvSpPr txBox="1"/>
          <p:nvPr/>
        </p:nvSpPr>
        <p:spPr>
          <a:xfrm>
            <a:off x="6219825" y="3476625"/>
            <a:ext cx="53911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606775"/>
                </a:solidFill>
                <a:latin typeface="DejaVu Sans"/>
              </a:defRPr>
            </a:pPr>
            <a:r>
              <a:t>Өндөр нас, хөдөлмөрийн чадвар алдалт зэрэг</a:t>
            </a:r>
          </a:p>
        </p:txBody>
      </p:sp>
      <p:cxnSp>
        <p:nvCxnSpPr>
          <p:cNvPr id="25" name="Connector 24"/>
          <p:cNvCxnSpPr/>
          <p:nvPr/>
        </p:nvCxnSpPr>
        <p:spPr>
          <a:xfrm>
            <a:off x="4410075" y="3886200"/>
            <a:ext cx="73342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457700" y="4038600"/>
            <a:ext cx="1562100"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164BFF"/>
                </a:solidFill>
                <a:latin typeface="Open Sans Condensed"/>
              </a:defRPr>
            </a:pPr>
            <a:r>
              <a:t>16.6; 16.7</a:t>
            </a:r>
          </a:p>
        </p:txBody>
      </p:sp>
      <p:sp>
        <p:nvSpPr>
          <p:cNvPr id="27" name="TextBox 26"/>
          <p:cNvSpPr txBox="1"/>
          <p:nvPr/>
        </p:nvSpPr>
        <p:spPr>
          <a:xfrm>
            <a:off x="6219825" y="4000500"/>
            <a:ext cx="5391150" cy="409575"/>
          </a:xfrm>
          <a:prstGeom prst="rect">
            <a:avLst/>
          </a:prstGeom>
          <a:noFill/>
        </p:spPr>
        <p:txBody>
          <a:bodyPr wrap="none" lIns="0" tIns="0" rIns="0" bIns="0">
            <a:spAutoFit/>
          </a:bodyPr>
          <a:lstStyle/>
          <a:p>
            <a:pPr>
              <a:lnSpc>
                <a:spcPts val="1829"/>
              </a:lnSpc>
              <a:spcBef>
                <a:spcPts val="0"/>
              </a:spcBef>
              <a:spcAft>
                <a:spcPts val="0"/>
              </a:spcAft>
              <a:defRPr sz="1500" b="1">
                <a:solidFill>
                  <a:srgbClr val="101114"/>
                </a:solidFill>
                <a:latin typeface="DejaVu Sans"/>
              </a:defRPr>
            </a:pPr>
            <a:r>
              <a:t>Эрүүл мэндээ хамгаалуулах; сурч боловсрох</a:t>
            </a:r>
          </a:p>
        </p:txBody>
      </p:sp>
      <p:sp>
        <p:nvSpPr>
          <p:cNvPr id="28" name="TextBox 27"/>
          <p:cNvSpPr txBox="1"/>
          <p:nvPr/>
        </p:nvSpPr>
        <p:spPr>
          <a:xfrm>
            <a:off x="6219825" y="4457700"/>
            <a:ext cx="53911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606775"/>
                </a:solidFill>
                <a:latin typeface="DejaVu Sans"/>
              </a:defRPr>
            </a:pPr>
            <a:r>
              <a:t>Төлбөргүй үйлчилгээний хүрээг хууль тогтооно</a:t>
            </a:r>
          </a:p>
        </p:txBody>
      </p:sp>
      <p:cxnSp>
        <p:nvCxnSpPr>
          <p:cNvPr id="29" name="Connector 28"/>
          <p:cNvCxnSpPr/>
          <p:nvPr/>
        </p:nvCxnSpPr>
        <p:spPr>
          <a:xfrm>
            <a:off x="4410075" y="4867275"/>
            <a:ext cx="73342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457700" y="5019675"/>
            <a:ext cx="1562100"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164BFF"/>
                </a:solidFill>
                <a:latin typeface="Open Sans Condensed"/>
              </a:defRPr>
            </a:pPr>
            <a:r>
              <a:t>19.1</a:t>
            </a:r>
          </a:p>
        </p:txBody>
      </p:sp>
      <p:sp>
        <p:nvSpPr>
          <p:cNvPr id="31" name="TextBox 30"/>
          <p:cNvSpPr txBox="1"/>
          <p:nvPr/>
        </p:nvSpPr>
        <p:spPr>
          <a:xfrm>
            <a:off x="6219825" y="4981575"/>
            <a:ext cx="5391150" cy="409575"/>
          </a:xfrm>
          <a:prstGeom prst="rect">
            <a:avLst/>
          </a:prstGeom>
          <a:noFill/>
        </p:spPr>
        <p:txBody>
          <a:bodyPr wrap="none" lIns="0" tIns="0" rIns="0" bIns="0">
            <a:spAutoFit/>
          </a:bodyPr>
          <a:lstStyle/>
          <a:p>
            <a:pPr>
              <a:lnSpc>
                <a:spcPts val="1610"/>
              </a:lnSpc>
              <a:spcBef>
                <a:spcPts val="0"/>
              </a:spcBef>
              <a:spcAft>
                <a:spcPts val="0"/>
              </a:spcAft>
              <a:defRPr sz="1320" b="1">
                <a:solidFill>
                  <a:srgbClr val="101114"/>
                </a:solidFill>
                <a:latin typeface="DejaVu Sans"/>
              </a:defRPr>
            </a:pPr>
            <a:r>
              <a:t>Эдийн засаг, нийгэм, хууль зүйн баталгааг бүрдүүлэх</a:t>
            </a:r>
          </a:p>
          <a:p>
            <a:pPr>
              <a:lnSpc>
                <a:spcPts val="1610"/>
              </a:lnSpc>
              <a:spcBef>
                <a:spcPts val="0"/>
              </a:spcBef>
              <a:spcAft>
                <a:spcPts val="0"/>
              </a:spcAft>
              <a:defRPr sz="1320" b="1">
                <a:solidFill>
                  <a:srgbClr val="101114"/>
                </a:solidFill>
                <a:latin typeface="DejaVu Sans"/>
              </a:defRPr>
            </a:pPr>
            <a:r>
              <a:t>төрийн үүрэг</a:t>
            </a:r>
          </a:p>
        </p:txBody>
      </p:sp>
      <p:sp>
        <p:nvSpPr>
          <p:cNvPr id="32" name="TextBox 31"/>
          <p:cNvSpPr txBox="1"/>
          <p:nvPr/>
        </p:nvSpPr>
        <p:spPr>
          <a:xfrm>
            <a:off x="6219825" y="5438775"/>
            <a:ext cx="53911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606775"/>
                </a:solidFill>
                <a:latin typeface="DejaVu Sans"/>
              </a:defRPr>
            </a:pPr>
            <a:r>
              <a:t>Эрхийн хэрэгжилтийг төсөв, бодлогоор хангах</a:t>
            </a:r>
          </a:p>
        </p:txBody>
      </p:sp>
      <p:cxnSp>
        <p:nvCxnSpPr>
          <p:cNvPr id="33" name="Connector 32"/>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ҮХ / 1992.01.13 • АГУУЛГЫГ ХУРААНГУЙЛСАН, ҮГЧИЛСЭН ЭШЛЭЛ БИШ</a:t>
            </a:r>
          </a:p>
        </p:txBody>
      </p:sp>
      <p:sp>
        <p:nvSpPr>
          <p:cNvPr id="35" name="TextBox 34"/>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08—30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02 / САЛБАРЫН ХУУЛЬ</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66"/>
              </a:lnSpc>
              <a:spcBef>
                <a:spcPts val="0"/>
              </a:spcBef>
              <a:spcAft>
                <a:spcPts val="0"/>
              </a:spcAft>
              <a:defRPr sz="3825" b="1">
                <a:solidFill>
                  <a:srgbClr val="F7F6F1"/>
                </a:solidFill>
                <a:latin typeface="Open Sans Condensed"/>
              </a:defRPr>
            </a:pPr>
            <a:r>
              <a:t>БАТАЛГААНААС ХЭРЭГЖИЛТ РҮҮ</a:t>
            </a:r>
          </a:p>
        </p:txBody>
      </p:sp>
      <p:sp>
        <p:nvSpPr>
          <p:cNvPr id="7" name="TextBox 6"/>
          <p:cNvSpPr txBox="1"/>
          <p:nvPr/>
        </p:nvSpPr>
        <p:spPr>
          <a:xfrm>
            <a:off x="438150" y="1762125"/>
            <a:ext cx="10191750" cy="314325"/>
          </a:xfrm>
          <a:prstGeom prst="rect">
            <a:avLst/>
          </a:prstGeom>
          <a:noFill/>
        </p:spPr>
        <p:txBody>
          <a:bodyPr wrap="none" lIns="0" tIns="0" rIns="0" bIns="0">
            <a:spAutoFit/>
          </a:bodyPr>
          <a:lstStyle/>
          <a:p>
            <a:pPr>
              <a:lnSpc>
                <a:spcPts val="1280"/>
              </a:lnSpc>
              <a:spcBef>
                <a:spcPts val="0"/>
              </a:spcBef>
              <a:spcAft>
                <a:spcPts val="0"/>
              </a:spcAft>
              <a:defRPr sz="1050" b="0">
                <a:solidFill>
                  <a:srgbClr val="A9AFBE"/>
                </a:solidFill>
                <a:latin typeface="DejaVu Sans Mono"/>
              </a:defRPr>
            </a:pPr>
            <a:r>
              <a:t>МОНГОЛЫН САЛБАРЫН ХУУЛИУД / БАТЛАГДСАН ОГНОО</a:t>
            </a:r>
          </a:p>
        </p:txBody>
      </p:sp>
      <p:sp>
        <p:nvSpPr>
          <p:cNvPr id="8" name="Oval 7"/>
          <p:cNvSpPr/>
          <p:nvPr/>
        </p:nvSpPr>
        <p:spPr>
          <a:xfrm>
            <a:off x="447675" y="2371725"/>
            <a:ext cx="133350" cy="1333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14350" y="2505075"/>
            <a:ext cx="0" cy="581025"/>
          </a:xfrm>
          <a:prstGeom prst="line">
            <a:avLst/>
          </a:prstGeom>
          <a:ln w="9525">
            <a:solidFill>
              <a:srgbClr val="555C6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00100" y="2305050"/>
            <a:ext cx="4657725" cy="361950"/>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Open Sans Condensed"/>
              </a:defRPr>
            </a:pPr>
            <a:r>
              <a:t>Хөдөлмөрийн тухай</a:t>
            </a:r>
          </a:p>
        </p:txBody>
      </p:sp>
      <p:sp>
        <p:nvSpPr>
          <p:cNvPr id="11" name="TextBox 10"/>
          <p:cNvSpPr txBox="1"/>
          <p:nvPr/>
        </p:nvSpPr>
        <p:spPr>
          <a:xfrm>
            <a:off x="809625" y="2714625"/>
            <a:ext cx="4514850" cy="219075"/>
          </a:xfrm>
          <a:prstGeom prst="rect">
            <a:avLst/>
          </a:prstGeom>
          <a:noFill/>
        </p:spPr>
        <p:txBody>
          <a:bodyPr wrap="none" lIns="0" tIns="0" rIns="0" bIns="0">
            <a:spAutoFit/>
          </a:bodyPr>
          <a:lstStyle/>
          <a:p>
            <a:pPr>
              <a:lnSpc>
                <a:spcPts val="1464"/>
              </a:lnSpc>
              <a:spcBef>
                <a:spcPts val="0"/>
              </a:spcBef>
              <a:spcAft>
                <a:spcPts val="0"/>
              </a:spcAft>
              <a:defRPr sz="1200" b="0">
                <a:solidFill>
                  <a:srgbClr val="F5FF58"/>
                </a:solidFill>
                <a:latin typeface="DejaVu Sans Mono"/>
              </a:defRPr>
            </a:pPr>
            <a:r>
              <a:t>2021.07.02</a:t>
            </a:r>
          </a:p>
        </p:txBody>
      </p:sp>
      <p:sp>
        <p:nvSpPr>
          <p:cNvPr id="12" name="TextBox 11"/>
          <p:cNvSpPr txBox="1"/>
          <p:nvPr/>
        </p:nvSpPr>
        <p:spPr>
          <a:xfrm>
            <a:off x="5715000" y="2295525"/>
            <a:ext cx="3409950" cy="7239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6 дугаар зүйл: хөдөлмөрт</a:t>
            </a:r>
          </a:p>
          <a:p>
            <a:pPr>
              <a:lnSpc>
                <a:spcPts val="1829"/>
              </a:lnSpc>
              <a:spcBef>
                <a:spcPts val="0"/>
              </a:spcBef>
              <a:spcAft>
                <a:spcPts val="0"/>
              </a:spcAft>
              <a:defRPr sz="1500" b="0">
                <a:solidFill>
                  <a:srgbClr val="F7F6F1"/>
                </a:solidFill>
                <a:latin typeface="DejaVu Sans"/>
              </a:defRPr>
            </a:pPr>
            <a:r>
              <a:t>ялгаварлан гадуурхахыг</a:t>
            </a:r>
          </a:p>
          <a:p>
            <a:pPr>
              <a:lnSpc>
                <a:spcPts val="1829"/>
              </a:lnSpc>
              <a:spcBef>
                <a:spcPts val="0"/>
              </a:spcBef>
              <a:spcAft>
                <a:spcPts val="0"/>
              </a:spcAft>
              <a:defRPr sz="1500" b="0">
                <a:solidFill>
                  <a:srgbClr val="F7F6F1"/>
                </a:solidFill>
                <a:latin typeface="DejaVu Sans"/>
              </a:defRPr>
            </a:pPr>
            <a:r>
              <a:t>хориглох</a:t>
            </a:r>
          </a:p>
        </p:txBody>
      </p:sp>
      <p:sp>
        <p:nvSpPr>
          <p:cNvPr id="13" name="TextBox 12"/>
          <p:cNvSpPr txBox="1"/>
          <p:nvPr/>
        </p:nvSpPr>
        <p:spPr>
          <a:xfrm>
            <a:off x="9486900" y="2295525"/>
            <a:ext cx="2238375" cy="723900"/>
          </a:xfrm>
          <a:prstGeom prst="rect">
            <a:avLst/>
          </a:prstGeom>
          <a:noFill/>
        </p:spPr>
        <p:txBody>
          <a:bodyPr wrap="none" lIns="0" tIns="0" rIns="0" bIns="0">
            <a:spAutoFit/>
          </a:bodyPr>
          <a:lstStyle/>
          <a:p>
            <a:pPr>
              <a:lnSpc>
                <a:spcPts val="1555"/>
              </a:lnSpc>
              <a:spcBef>
                <a:spcPts val="0"/>
              </a:spcBef>
              <a:spcAft>
                <a:spcPts val="0"/>
              </a:spcAft>
              <a:defRPr sz="1275" b="0">
                <a:solidFill>
                  <a:srgbClr val="A9AFBE"/>
                </a:solidFill>
                <a:latin typeface="DejaVu Sans"/>
              </a:defRPr>
            </a:pPr>
            <a:r>
              <a:t>Сонгон шалгаруулалт,</a:t>
            </a:r>
          </a:p>
          <a:p>
            <a:pPr>
              <a:lnSpc>
                <a:spcPts val="1555"/>
              </a:lnSpc>
              <a:spcBef>
                <a:spcPts val="0"/>
              </a:spcBef>
              <a:spcAft>
                <a:spcPts val="0"/>
              </a:spcAft>
              <a:defRPr sz="1275" b="0">
                <a:solidFill>
                  <a:srgbClr val="A9AFBE"/>
                </a:solidFill>
                <a:latin typeface="DejaVu Sans"/>
              </a:defRPr>
            </a:pPr>
            <a:r>
              <a:t>цалин тэгш үү?</a:t>
            </a:r>
          </a:p>
        </p:txBody>
      </p:sp>
      <p:cxnSp>
        <p:nvCxnSpPr>
          <p:cNvPr id="14" name="Connector 13"/>
          <p:cNvCxnSpPr/>
          <p:nvPr/>
        </p:nvCxnSpPr>
        <p:spPr>
          <a:xfrm>
            <a:off x="800100" y="3028950"/>
            <a:ext cx="10915650" cy="0"/>
          </a:xfrm>
          <a:prstGeom prst="line">
            <a:avLst/>
          </a:prstGeom>
          <a:ln w="9525">
            <a:solidFill>
              <a:srgbClr val="373C4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47675" y="3219450"/>
            <a:ext cx="133350" cy="1333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514350" y="3352800"/>
            <a:ext cx="0" cy="581024"/>
          </a:xfrm>
          <a:prstGeom prst="line">
            <a:avLst/>
          </a:prstGeom>
          <a:ln w="9525">
            <a:solidFill>
              <a:srgbClr val="555C6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0100" y="3152775"/>
            <a:ext cx="4657725" cy="361950"/>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Open Sans Condensed"/>
              </a:defRPr>
            </a:pPr>
            <a:r>
              <a:t>Нийгмийн халамжийн тухай</a:t>
            </a:r>
          </a:p>
        </p:txBody>
      </p:sp>
      <p:sp>
        <p:nvSpPr>
          <p:cNvPr id="18" name="TextBox 17"/>
          <p:cNvSpPr txBox="1"/>
          <p:nvPr/>
        </p:nvSpPr>
        <p:spPr>
          <a:xfrm>
            <a:off x="809625" y="3562350"/>
            <a:ext cx="4514850" cy="219075"/>
          </a:xfrm>
          <a:prstGeom prst="rect">
            <a:avLst/>
          </a:prstGeom>
          <a:noFill/>
        </p:spPr>
        <p:txBody>
          <a:bodyPr wrap="none" lIns="0" tIns="0" rIns="0" bIns="0">
            <a:spAutoFit/>
          </a:bodyPr>
          <a:lstStyle/>
          <a:p>
            <a:pPr>
              <a:lnSpc>
                <a:spcPts val="1464"/>
              </a:lnSpc>
              <a:spcBef>
                <a:spcPts val="0"/>
              </a:spcBef>
              <a:spcAft>
                <a:spcPts val="0"/>
              </a:spcAft>
              <a:defRPr sz="1200" b="0">
                <a:solidFill>
                  <a:srgbClr val="F5FF58"/>
                </a:solidFill>
                <a:latin typeface="DejaVu Sans Mono"/>
              </a:defRPr>
            </a:pPr>
            <a:r>
              <a:t>2012.01.19</a:t>
            </a:r>
          </a:p>
        </p:txBody>
      </p:sp>
      <p:sp>
        <p:nvSpPr>
          <p:cNvPr id="19" name="TextBox 18"/>
          <p:cNvSpPr txBox="1"/>
          <p:nvPr/>
        </p:nvSpPr>
        <p:spPr>
          <a:xfrm>
            <a:off x="5715000" y="3143250"/>
            <a:ext cx="3409950" cy="7239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Нийгмийн халамжийн тэтгэвэр,</a:t>
            </a:r>
          </a:p>
          <a:p>
            <a:pPr>
              <a:lnSpc>
                <a:spcPts val="1829"/>
              </a:lnSpc>
              <a:spcBef>
                <a:spcPts val="0"/>
              </a:spcBef>
              <a:spcAft>
                <a:spcPts val="0"/>
              </a:spcAft>
              <a:defRPr sz="1500" b="0">
                <a:solidFill>
                  <a:srgbClr val="F7F6F1"/>
                </a:solidFill>
                <a:latin typeface="DejaVu Sans"/>
              </a:defRPr>
            </a:pPr>
            <a:r>
              <a:t>тэтгэмж, үйлчилгээ</a:t>
            </a:r>
          </a:p>
        </p:txBody>
      </p:sp>
      <p:sp>
        <p:nvSpPr>
          <p:cNvPr id="20" name="TextBox 19"/>
          <p:cNvSpPr txBox="1"/>
          <p:nvPr/>
        </p:nvSpPr>
        <p:spPr>
          <a:xfrm>
            <a:off x="9486900" y="3143250"/>
            <a:ext cx="2238375" cy="723900"/>
          </a:xfrm>
          <a:prstGeom prst="rect">
            <a:avLst/>
          </a:prstGeom>
          <a:noFill/>
        </p:spPr>
        <p:txBody>
          <a:bodyPr wrap="none" lIns="0" tIns="0" rIns="0" bIns="0">
            <a:spAutoFit/>
          </a:bodyPr>
          <a:lstStyle/>
          <a:p>
            <a:pPr>
              <a:lnSpc>
                <a:spcPts val="1555"/>
              </a:lnSpc>
              <a:spcBef>
                <a:spcPts val="0"/>
              </a:spcBef>
              <a:spcAft>
                <a:spcPts val="0"/>
              </a:spcAft>
              <a:defRPr sz="1275" b="0">
                <a:solidFill>
                  <a:srgbClr val="A9AFBE"/>
                </a:solidFill>
                <a:latin typeface="DejaVu Sans"/>
              </a:defRPr>
            </a:pPr>
            <a:r>
              <a:t>Хуулийн шалгуур</a:t>
            </a:r>
          </a:p>
          <a:p>
            <a:pPr>
              <a:lnSpc>
                <a:spcPts val="1555"/>
              </a:lnSpc>
              <a:spcBef>
                <a:spcPts val="0"/>
              </a:spcBef>
              <a:spcAft>
                <a:spcPts val="0"/>
              </a:spcAft>
              <a:defRPr sz="1275" b="0">
                <a:solidFill>
                  <a:srgbClr val="A9AFBE"/>
                </a:solidFill>
                <a:latin typeface="DejaVu Sans"/>
              </a:defRPr>
            </a:pPr>
            <a:r>
              <a:t>хангасан хүнд хүрч</a:t>
            </a:r>
          </a:p>
          <a:p>
            <a:pPr>
              <a:lnSpc>
                <a:spcPts val="1555"/>
              </a:lnSpc>
              <a:spcBef>
                <a:spcPts val="0"/>
              </a:spcBef>
              <a:spcAft>
                <a:spcPts val="0"/>
              </a:spcAft>
              <a:defRPr sz="1275" b="0">
                <a:solidFill>
                  <a:srgbClr val="A9AFBE"/>
                </a:solidFill>
                <a:latin typeface="DejaVu Sans"/>
              </a:defRPr>
            </a:pPr>
            <a:r>
              <a:t>байна уу?</a:t>
            </a:r>
          </a:p>
        </p:txBody>
      </p:sp>
      <p:cxnSp>
        <p:nvCxnSpPr>
          <p:cNvPr id="21" name="Connector 20"/>
          <p:cNvCxnSpPr/>
          <p:nvPr/>
        </p:nvCxnSpPr>
        <p:spPr>
          <a:xfrm>
            <a:off x="800100" y="3876674"/>
            <a:ext cx="10915650" cy="0"/>
          </a:xfrm>
          <a:prstGeom prst="line">
            <a:avLst/>
          </a:prstGeom>
          <a:ln w="9525">
            <a:solidFill>
              <a:srgbClr val="373C4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47675" y="4067175"/>
            <a:ext cx="133350" cy="1333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14350" y="4200525"/>
            <a:ext cx="0" cy="581025"/>
          </a:xfrm>
          <a:prstGeom prst="line">
            <a:avLst/>
          </a:prstGeom>
          <a:ln w="9525">
            <a:solidFill>
              <a:srgbClr val="555C6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00100" y="4000500"/>
            <a:ext cx="4657725" cy="361950"/>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Open Sans Condensed"/>
              </a:defRPr>
            </a:pPr>
            <a:r>
              <a:t>Боловсролын ерөнхий хууль</a:t>
            </a:r>
          </a:p>
        </p:txBody>
      </p:sp>
      <p:sp>
        <p:nvSpPr>
          <p:cNvPr id="25" name="TextBox 24"/>
          <p:cNvSpPr txBox="1"/>
          <p:nvPr/>
        </p:nvSpPr>
        <p:spPr>
          <a:xfrm>
            <a:off x="809625" y="4410075"/>
            <a:ext cx="4514850" cy="219075"/>
          </a:xfrm>
          <a:prstGeom prst="rect">
            <a:avLst/>
          </a:prstGeom>
          <a:noFill/>
        </p:spPr>
        <p:txBody>
          <a:bodyPr wrap="none" lIns="0" tIns="0" rIns="0" bIns="0">
            <a:spAutoFit/>
          </a:bodyPr>
          <a:lstStyle/>
          <a:p>
            <a:pPr>
              <a:lnSpc>
                <a:spcPts val="1464"/>
              </a:lnSpc>
              <a:spcBef>
                <a:spcPts val="0"/>
              </a:spcBef>
              <a:spcAft>
                <a:spcPts val="0"/>
              </a:spcAft>
              <a:defRPr sz="1200" b="0">
                <a:solidFill>
                  <a:srgbClr val="F5FF58"/>
                </a:solidFill>
                <a:latin typeface="DejaVu Sans Mono"/>
              </a:defRPr>
            </a:pPr>
            <a:r>
              <a:t>2023.07.07</a:t>
            </a:r>
          </a:p>
        </p:txBody>
      </p:sp>
      <p:sp>
        <p:nvSpPr>
          <p:cNvPr id="26" name="TextBox 25"/>
          <p:cNvSpPr txBox="1"/>
          <p:nvPr/>
        </p:nvSpPr>
        <p:spPr>
          <a:xfrm>
            <a:off x="5715000" y="3990974"/>
            <a:ext cx="3409950" cy="7239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Боловсролын тэгш боломж,</a:t>
            </a:r>
          </a:p>
          <a:p>
            <a:pPr>
              <a:lnSpc>
                <a:spcPts val="1829"/>
              </a:lnSpc>
              <a:spcBef>
                <a:spcPts val="0"/>
              </a:spcBef>
              <a:spcAft>
                <a:spcPts val="0"/>
              </a:spcAft>
              <a:defRPr sz="1500" b="0">
                <a:solidFill>
                  <a:srgbClr val="F7F6F1"/>
                </a:solidFill>
                <a:latin typeface="DejaVu Sans"/>
              </a:defRPr>
            </a:pPr>
            <a:r>
              <a:t>хүртээмжийн зохицуулалт</a:t>
            </a:r>
          </a:p>
        </p:txBody>
      </p:sp>
      <p:sp>
        <p:nvSpPr>
          <p:cNvPr id="27" name="TextBox 26"/>
          <p:cNvSpPr txBox="1"/>
          <p:nvPr/>
        </p:nvSpPr>
        <p:spPr>
          <a:xfrm>
            <a:off x="9486900" y="3990974"/>
            <a:ext cx="2238375" cy="723900"/>
          </a:xfrm>
          <a:prstGeom prst="rect">
            <a:avLst/>
          </a:prstGeom>
          <a:noFill/>
        </p:spPr>
        <p:txBody>
          <a:bodyPr wrap="none" lIns="0" tIns="0" rIns="0" bIns="0">
            <a:spAutoFit/>
          </a:bodyPr>
          <a:lstStyle/>
          <a:p>
            <a:pPr>
              <a:lnSpc>
                <a:spcPts val="1555"/>
              </a:lnSpc>
              <a:spcBef>
                <a:spcPts val="0"/>
              </a:spcBef>
              <a:spcAft>
                <a:spcPts val="0"/>
              </a:spcAft>
              <a:defRPr sz="1275" b="0">
                <a:solidFill>
                  <a:srgbClr val="A9AFBE"/>
                </a:solidFill>
                <a:latin typeface="DejaVu Sans"/>
              </a:defRPr>
            </a:pPr>
            <a:r>
              <a:t>Төлбөрөөс гаднах саадыг</a:t>
            </a:r>
          </a:p>
          <a:p>
            <a:pPr>
              <a:lnSpc>
                <a:spcPts val="1555"/>
              </a:lnSpc>
              <a:spcBef>
                <a:spcPts val="0"/>
              </a:spcBef>
              <a:spcAft>
                <a:spcPts val="0"/>
              </a:spcAft>
              <a:defRPr sz="1275" b="0">
                <a:solidFill>
                  <a:srgbClr val="A9AFBE"/>
                </a:solidFill>
                <a:latin typeface="DejaVu Sans"/>
              </a:defRPr>
            </a:pPr>
            <a:r>
              <a:t>арилгасан уу?</a:t>
            </a:r>
          </a:p>
        </p:txBody>
      </p:sp>
      <p:cxnSp>
        <p:nvCxnSpPr>
          <p:cNvPr id="28" name="Connector 27"/>
          <p:cNvCxnSpPr/>
          <p:nvPr/>
        </p:nvCxnSpPr>
        <p:spPr>
          <a:xfrm>
            <a:off x="800100" y="4724400"/>
            <a:ext cx="10915650" cy="0"/>
          </a:xfrm>
          <a:prstGeom prst="line">
            <a:avLst/>
          </a:prstGeom>
          <a:ln w="9525">
            <a:solidFill>
              <a:srgbClr val="373C4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47675" y="4914900"/>
            <a:ext cx="133350" cy="1333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514350" y="5048250"/>
            <a:ext cx="0" cy="581025"/>
          </a:xfrm>
          <a:prstGeom prst="line">
            <a:avLst/>
          </a:prstGeom>
          <a:ln w="9525">
            <a:solidFill>
              <a:srgbClr val="555C6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00100" y="4848225"/>
            <a:ext cx="4657725" cy="361950"/>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Open Sans Condensed"/>
              </a:defRPr>
            </a:pPr>
            <a:r>
              <a:t>Хөгжлийн бэрхшээлтэй хүний эрхийн тухай</a:t>
            </a:r>
          </a:p>
        </p:txBody>
      </p:sp>
      <p:sp>
        <p:nvSpPr>
          <p:cNvPr id="32" name="TextBox 31"/>
          <p:cNvSpPr txBox="1"/>
          <p:nvPr/>
        </p:nvSpPr>
        <p:spPr>
          <a:xfrm>
            <a:off x="809625" y="5257800"/>
            <a:ext cx="4514850" cy="219075"/>
          </a:xfrm>
          <a:prstGeom prst="rect">
            <a:avLst/>
          </a:prstGeom>
          <a:noFill/>
        </p:spPr>
        <p:txBody>
          <a:bodyPr wrap="none" lIns="0" tIns="0" rIns="0" bIns="0">
            <a:spAutoFit/>
          </a:bodyPr>
          <a:lstStyle/>
          <a:p>
            <a:pPr>
              <a:lnSpc>
                <a:spcPts val="1464"/>
              </a:lnSpc>
              <a:spcBef>
                <a:spcPts val="0"/>
              </a:spcBef>
              <a:spcAft>
                <a:spcPts val="0"/>
              </a:spcAft>
              <a:defRPr sz="1200" b="0">
                <a:solidFill>
                  <a:srgbClr val="F5FF58"/>
                </a:solidFill>
                <a:latin typeface="DejaVu Sans Mono"/>
              </a:defRPr>
            </a:pPr>
            <a:r>
              <a:t>2016.02.05</a:t>
            </a:r>
          </a:p>
        </p:txBody>
      </p:sp>
      <p:sp>
        <p:nvSpPr>
          <p:cNvPr id="33" name="TextBox 32"/>
          <p:cNvSpPr txBox="1"/>
          <p:nvPr/>
        </p:nvSpPr>
        <p:spPr>
          <a:xfrm>
            <a:off x="5715000" y="4838700"/>
            <a:ext cx="3409950" cy="723900"/>
          </a:xfrm>
          <a:prstGeom prst="rect">
            <a:avLst/>
          </a:prstGeom>
          <a:noFill/>
        </p:spPr>
        <p:txBody>
          <a:bodyPr wrap="none" lIns="0" tIns="0" rIns="0" bIns="0">
            <a:spAutoFit/>
          </a:bodyPr>
          <a:lstStyle/>
          <a:p>
            <a:pPr>
              <a:lnSpc>
                <a:spcPts val="1829"/>
              </a:lnSpc>
              <a:spcBef>
                <a:spcPts val="0"/>
              </a:spcBef>
              <a:spcAft>
                <a:spcPts val="0"/>
              </a:spcAft>
              <a:defRPr sz="1500" b="0">
                <a:solidFill>
                  <a:srgbClr val="F7F6F1"/>
                </a:solidFill>
                <a:latin typeface="DejaVu Sans"/>
              </a:defRPr>
            </a:pPr>
            <a:r>
              <a:t>Ялгаварлалгүй оролцоо,</a:t>
            </a:r>
          </a:p>
          <a:p>
            <a:pPr>
              <a:lnSpc>
                <a:spcPts val="1829"/>
              </a:lnSpc>
              <a:spcBef>
                <a:spcPts val="0"/>
              </a:spcBef>
              <a:spcAft>
                <a:spcPts val="0"/>
              </a:spcAft>
              <a:defRPr sz="1500" b="0">
                <a:solidFill>
                  <a:srgbClr val="F7F6F1"/>
                </a:solidFill>
                <a:latin typeface="DejaVu Sans"/>
              </a:defRPr>
            </a:pPr>
            <a:r>
              <a:t>хүртээмжийн зохицуулалт</a:t>
            </a:r>
          </a:p>
        </p:txBody>
      </p:sp>
      <p:sp>
        <p:nvSpPr>
          <p:cNvPr id="34" name="TextBox 33"/>
          <p:cNvSpPr txBox="1"/>
          <p:nvPr/>
        </p:nvSpPr>
        <p:spPr>
          <a:xfrm>
            <a:off x="9486900" y="4838700"/>
            <a:ext cx="2238375" cy="723900"/>
          </a:xfrm>
          <a:prstGeom prst="rect">
            <a:avLst/>
          </a:prstGeom>
          <a:noFill/>
        </p:spPr>
        <p:txBody>
          <a:bodyPr wrap="none" lIns="0" tIns="0" rIns="0" bIns="0">
            <a:spAutoFit/>
          </a:bodyPr>
          <a:lstStyle/>
          <a:p>
            <a:pPr>
              <a:lnSpc>
                <a:spcPts val="1555"/>
              </a:lnSpc>
              <a:spcBef>
                <a:spcPts val="0"/>
              </a:spcBef>
              <a:spcAft>
                <a:spcPts val="0"/>
              </a:spcAft>
              <a:defRPr sz="1275" b="0">
                <a:solidFill>
                  <a:srgbClr val="A9AFBE"/>
                </a:solidFill>
                <a:latin typeface="DejaVu Sans"/>
              </a:defRPr>
            </a:pPr>
            <a:r>
              <a:t>Орчин, мэдээлэл,</a:t>
            </a:r>
          </a:p>
          <a:p>
            <a:pPr>
              <a:lnSpc>
                <a:spcPts val="1555"/>
              </a:lnSpc>
              <a:spcBef>
                <a:spcPts val="0"/>
              </a:spcBef>
              <a:spcAft>
                <a:spcPts val="0"/>
              </a:spcAft>
              <a:defRPr sz="1275" b="0">
                <a:solidFill>
                  <a:srgbClr val="A9AFBE"/>
                </a:solidFill>
                <a:latin typeface="DejaVu Sans"/>
              </a:defRPr>
            </a:pPr>
            <a:r>
              <a:t>үйлчилгээ хүртээмжтэй</a:t>
            </a:r>
          </a:p>
          <a:p>
            <a:pPr>
              <a:lnSpc>
                <a:spcPts val="1555"/>
              </a:lnSpc>
              <a:spcBef>
                <a:spcPts val="0"/>
              </a:spcBef>
              <a:spcAft>
                <a:spcPts val="0"/>
              </a:spcAft>
              <a:defRPr sz="1275" b="0">
                <a:solidFill>
                  <a:srgbClr val="A9AFBE"/>
                </a:solidFill>
                <a:latin typeface="DejaVu Sans"/>
              </a:defRPr>
            </a:pPr>
            <a:r>
              <a:t>юу?</a:t>
            </a:r>
          </a:p>
        </p:txBody>
      </p:sp>
      <p:cxnSp>
        <p:nvCxnSpPr>
          <p:cNvPr id="35" name="Connector 34"/>
          <p:cNvCxnSpPr/>
          <p:nvPr/>
        </p:nvCxnSpPr>
        <p:spPr>
          <a:xfrm>
            <a:off x="800100" y="5572125"/>
            <a:ext cx="10915650" cy="0"/>
          </a:xfrm>
          <a:prstGeom prst="line">
            <a:avLst/>
          </a:prstGeom>
          <a:ln w="9525">
            <a:solidFill>
              <a:srgbClr val="373C46"/>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Батлагдсан он нь сүүлийн нэмэлт, өөрчлөлтийн он гэсэн үг биш. Одоогийн найруулгыг Legalinfo-оос нягтална.</a:t>
            </a:r>
          </a:p>
        </p:txBody>
      </p:sp>
      <p:cxnSp>
        <p:nvCxnSpPr>
          <p:cNvPr id="38" name="Connector 37"/>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ХТ · НХ · БЕХ · ХБХ</a:t>
            </a:r>
          </a:p>
        </p:txBody>
      </p:sp>
      <p:sp>
        <p:nvSpPr>
          <p:cNvPr id="40" name="TextBox 39"/>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09—30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03 / ОЛОН УЛСЫН СТАНДАРТ</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6083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84"/>
              </a:lnSpc>
              <a:spcBef>
                <a:spcPts val="0"/>
              </a:spcBef>
              <a:spcAft>
                <a:spcPts val="0"/>
              </a:spcAft>
              <a:defRPr sz="3840" b="1">
                <a:solidFill>
                  <a:srgbClr val="F7F6F1"/>
                </a:solidFill>
                <a:latin typeface="Open Sans Condensed"/>
              </a:defRPr>
            </a:pPr>
            <a:r>
              <a:t>ЭРХИЙН АРХИТЕКТУР</a:t>
            </a:r>
          </a:p>
          <a:p>
            <a:pPr>
              <a:lnSpc>
                <a:spcPts val="4684"/>
              </a:lnSpc>
              <a:spcBef>
                <a:spcPts val="0"/>
              </a:spcBef>
              <a:spcAft>
                <a:spcPts val="0"/>
              </a:spcAft>
              <a:defRPr sz="3840" b="1">
                <a:solidFill>
                  <a:srgbClr val="F7F6F1"/>
                </a:solidFill>
                <a:latin typeface="Open Sans Condensed"/>
              </a:defRPr>
            </a:pPr>
            <a:r>
              <a:t>1948 → 2015</a:t>
            </a:r>
          </a:p>
        </p:txBody>
      </p:sp>
      <p:sp>
        <p:nvSpPr>
          <p:cNvPr id="7" name="Rectangle 6"/>
          <p:cNvSpPr/>
          <p:nvPr/>
        </p:nvSpPr>
        <p:spPr>
          <a:xfrm>
            <a:off x="457200" y="3190875"/>
            <a:ext cx="2114550" cy="25050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3314700"/>
            <a:ext cx="1847850" cy="752475"/>
          </a:xfrm>
          <a:prstGeom prst="rect">
            <a:avLst/>
          </a:prstGeom>
          <a:noFill/>
        </p:spPr>
        <p:txBody>
          <a:bodyPr wrap="none" lIns="0" tIns="0" rIns="0" bIns="0">
            <a:spAutoFit/>
          </a:bodyPr>
          <a:lstStyle/>
          <a:p>
            <a:pPr>
              <a:lnSpc>
                <a:spcPts val="5673"/>
              </a:lnSpc>
              <a:spcBef>
                <a:spcPts val="0"/>
              </a:spcBef>
              <a:spcAft>
                <a:spcPts val="0"/>
              </a:spcAft>
              <a:defRPr sz="4650" b="1">
                <a:solidFill>
                  <a:srgbClr val="F5FF58"/>
                </a:solidFill>
                <a:latin typeface="Open Sans Condensed"/>
              </a:defRPr>
            </a:pPr>
            <a:r>
              <a:t>1948</a:t>
            </a:r>
          </a:p>
        </p:txBody>
      </p:sp>
      <p:sp>
        <p:nvSpPr>
          <p:cNvPr id="9" name="TextBox 8"/>
          <p:cNvSpPr txBox="1"/>
          <p:nvPr/>
        </p:nvSpPr>
        <p:spPr>
          <a:xfrm>
            <a:off x="609600" y="4124325"/>
            <a:ext cx="1809750" cy="647700"/>
          </a:xfrm>
          <a:prstGeom prst="rect">
            <a:avLst/>
          </a:prstGeom>
          <a:noFill/>
        </p:spPr>
        <p:txBody>
          <a:bodyPr wrap="none" lIns="0" tIns="0" rIns="0" bIns="0">
            <a:spAutoFit/>
          </a:bodyPr>
          <a:lstStyle/>
          <a:p>
            <a:pPr>
              <a:lnSpc>
                <a:spcPts val="2013"/>
              </a:lnSpc>
              <a:spcBef>
                <a:spcPts val="0"/>
              </a:spcBef>
              <a:spcAft>
                <a:spcPts val="0"/>
              </a:spcAft>
              <a:defRPr sz="1650" b="1">
                <a:solidFill>
                  <a:srgbClr val="F7F6F1"/>
                </a:solidFill>
                <a:latin typeface="DejaVu Sans"/>
              </a:defRPr>
            </a:pPr>
            <a:r>
              <a:t>Түгээмэл</a:t>
            </a:r>
          </a:p>
          <a:p>
            <a:pPr>
              <a:lnSpc>
                <a:spcPts val="2013"/>
              </a:lnSpc>
              <a:spcBef>
                <a:spcPts val="0"/>
              </a:spcBef>
              <a:spcAft>
                <a:spcPts val="0"/>
              </a:spcAft>
              <a:defRPr sz="1650" b="1">
                <a:solidFill>
                  <a:srgbClr val="F7F6F1"/>
                </a:solidFill>
                <a:latin typeface="DejaVu Sans"/>
              </a:defRPr>
            </a:pPr>
            <a:r>
              <a:t>тунхаглал</a:t>
            </a:r>
          </a:p>
        </p:txBody>
      </p:sp>
      <p:sp>
        <p:nvSpPr>
          <p:cNvPr id="10" name="TextBox 9"/>
          <p:cNvSpPr txBox="1"/>
          <p:nvPr/>
        </p:nvSpPr>
        <p:spPr>
          <a:xfrm>
            <a:off x="609600" y="4953000"/>
            <a:ext cx="1809750" cy="5619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Хүн бүрийн нэр төр,</a:t>
            </a:r>
          </a:p>
          <a:p>
            <a:pPr>
              <a:lnSpc>
                <a:spcPts val="1555"/>
              </a:lnSpc>
              <a:spcBef>
                <a:spcPts val="0"/>
              </a:spcBef>
              <a:spcAft>
                <a:spcPts val="0"/>
              </a:spcAft>
              <a:defRPr sz="1275" b="0">
                <a:solidFill>
                  <a:srgbClr val="F7F6F1"/>
                </a:solidFill>
                <a:latin typeface="DejaVu Sans"/>
              </a:defRPr>
            </a:pPr>
            <a:r>
              <a:t>суурь эрх</a:t>
            </a:r>
          </a:p>
        </p:txBody>
      </p:sp>
      <p:sp>
        <p:nvSpPr>
          <p:cNvPr id="11" name="TextBox 10"/>
          <p:cNvSpPr txBox="1"/>
          <p:nvPr/>
        </p:nvSpPr>
        <p:spPr>
          <a:xfrm>
            <a:off x="609600" y="2914650"/>
            <a:ext cx="1809750" cy="2381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1948.12.10</a:t>
            </a:r>
          </a:p>
        </p:txBody>
      </p:sp>
      <p:sp>
        <p:nvSpPr>
          <p:cNvPr id="12" name="Rectangle 11"/>
          <p:cNvSpPr/>
          <p:nvPr/>
        </p:nvSpPr>
        <p:spPr>
          <a:xfrm>
            <a:off x="2743200" y="3190875"/>
            <a:ext cx="2114550" cy="2505075"/>
          </a:xfrm>
          <a:prstGeom prst="rect">
            <a:avLst/>
          </a:prstGeom>
          <a:solidFill>
            <a:srgbClr val="2C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6550" y="3314700"/>
            <a:ext cx="1847850" cy="752475"/>
          </a:xfrm>
          <a:prstGeom prst="rect">
            <a:avLst/>
          </a:prstGeom>
          <a:noFill/>
        </p:spPr>
        <p:txBody>
          <a:bodyPr wrap="none" lIns="0" tIns="0" rIns="0" bIns="0">
            <a:spAutoFit/>
          </a:bodyPr>
          <a:lstStyle/>
          <a:p>
            <a:pPr>
              <a:lnSpc>
                <a:spcPts val="5673"/>
              </a:lnSpc>
              <a:spcBef>
                <a:spcPts val="0"/>
              </a:spcBef>
              <a:spcAft>
                <a:spcPts val="0"/>
              </a:spcAft>
              <a:defRPr sz="4650" b="1">
                <a:solidFill>
                  <a:srgbClr val="F5FF58"/>
                </a:solidFill>
                <a:latin typeface="Open Sans Condensed"/>
              </a:defRPr>
            </a:pPr>
            <a:r>
              <a:t>1966</a:t>
            </a:r>
          </a:p>
        </p:txBody>
      </p:sp>
      <p:sp>
        <p:nvSpPr>
          <p:cNvPr id="14" name="TextBox 13"/>
          <p:cNvSpPr txBox="1"/>
          <p:nvPr/>
        </p:nvSpPr>
        <p:spPr>
          <a:xfrm>
            <a:off x="2895600" y="4124325"/>
            <a:ext cx="1809750" cy="647700"/>
          </a:xfrm>
          <a:prstGeom prst="rect">
            <a:avLst/>
          </a:prstGeom>
          <a:noFill/>
        </p:spPr>
        <p:txBody>
          <a:bodyPr wrap="none" lIns="0" tIns="0" rIns="0" bIns="0">
            <a:spAutoFit/>
          </a:bodyPr>
          <a:lstStyle/>
          <a:p>
            <a:pPr>
              <a:lnSpc>
                <a:spcPts val="2013"/>
              </a:lnSpc>
              <a:spcBef>
                <a:spcPts val="0"/>
              </a:spcBef>
              <a:spcAft>
                <a:spcPts val="0"/>
              </a:spcAft>
              <a:defRPr sz="1650" b="1">
                <a:solidFill>
                  <a:srgbClr val="F7F6F1"/>
                </a:solidFill>
                <a:latin typeface="DejaVu Sans"/>
              </a:defRPr>
            </a:pPr>
            <a:r>
              <a:t>Хоёр олон</a:t>
            </a:r>
          </a:p>
          <a:p>
            <a:pPr>
              <a:lnSpc>
                <a:spcPts val="2013"/>
              </a:lnSpc>
              <a:spcBef>
                <a:spcPts val="0"/>
              </a:spcBef>
              <a:spcAft>
                <a:spcPts val="0"/>
              </a:spcAft>
              <a:defRPr sz="1650" b="1">
                <a:solidFill>
                  <a:srgbClr val="F7F6F1"/>
                </a:solidFill>
                <a:latin typeface="DejaVu Sans"/>
              </a:defRPr>
            </a:pPr>
            <a:r>
              <a:t>улсын пакт</a:t>
            </a:r>
          </a:p>
        </p:txBody>
      </p:sp>
      <p:sp>
        <p:nvSpPr>
          <p:cNvPr id="15" name="TextBox 14"/>
          <p:cNvSpPr txBox="1"/>
          <p:nvPr/>
        </p:nvSpPr>
        <p:spPr>
          <a:xfrm>
            <a:off x="2895600" y="4953000"/>
            <a:ext cx="1809750" cy="5619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Иргэний ба нийгэм,</a:t>
            </a:r>
          </a:p>
          <a:p>
            <a:pPr>
              <a:lnSpc>
                <a:spcPts val="1555"/>
              </a:lnSpc>
              <a:spcBef>
                <a:spcPts val="0"/>
              </a:spcBef>
              <a:spcAft>
                <a:spcPts val="0"/>
              </a:spcAft>
              <a:defRPr sz="1275" b="0">
                <a:solidFill>
                  <a:srgbClr val="F7F6F1"/>
                </a:solidFill>
                <a:latin typeface="DejaVu Sans"/>
              </a:defRPr>
            </a:pPr>
            <a:r>
              <a:t>эдийн засгийн эрх</a:t>
            </a:r>
          </a:p>
        </p:txBody>
      </p:sp>
      <p:sp>
        <p:nvSpPr>
          <p:cNvPr id="16" name="TextBox 15"/>
          <p:cNvSpPr txBox="1"/>
          <p:nvPr/>
        </p:nvSpPr>
        <p:spPr>
          <a:xfrm>
            <a:off x="2895600" y="2914650"/>
            <a:ext cx="1809750" cy="2381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1966.12.16</a:t>
            </a:r>
          </a:p>
        </p:txBody>
      </p:sp>
      <p:sp>
        <p:nvSpPr>
          <p:cNvPr id="17" name="Rectangle 16"/>
          <p:cNvSpPr/>
          <p:nvPr/>
        </p:nvSpPr>
        <p:spPr>
          <a:xfrm>
            <a:off x="5029200" y="3190875"/>
            <a:ext cx="2114550" cy="25050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2550" y="3314700"/>
            <a:ext cx="1847850" cy="752475"/>
          </a:xfrm>
          <a:prstGeom prst="rect">
            <a:avLst/>
          </a:prstGeom>
          <a:noFill/>
        </p:spPr>
        <p:txBody>
          <a:bodyPr wrap="none" lIns="0" tIns="0" rIns="0" bIns="0">
            <a:spAutoFit/>
          </a:bodyPr>
          <a:lstStyle/>
          <a:p>
            <a:pPr>
              <a:lnSpc>
                <a:spcPts val="5673"/>
              </a:lnSpc>
              <a:spcBef>
                <a:spcPts val="0"/>
              </a:spcBef>
              <a:spcAft>
                <a:spcPts val="0"/>
              </a:spcAft>
              <a:defRPr sz="4650" b="1">
                <a:solidFill>
                  <a:srgbClr val="F5FF58"/>
                </a:solidFill>
                <a:latin typeface="Open Sans Condensed"/>
              </a:defRPr>
            </a:pPr>
            <a:r>
              <a:t>1989</a:t>
            </a:r>
          </a:p>
        </p:txBody>
      </p:sp>
      <p:sp>
        <p:nvSpPr>
          <p:cNvPr id="19" name="TextBox 18"/>
          <p:cNvSpPr txBox="1"/>
          <p:nvPr/>
        </p:nvSpPr>
        <p:spPr>
          <a:xfrm>
            <a:off x="5181600" y="4124325"/>
            <a:ext cx="1809750" cy="647700"/>
          </a:xfrm>
          <a:prstGeom prst="rect">
            <a:avLst/>
          </a:prstGeom>
          <a:noFill/>
        </p:spPr>
        <p:txBody>
          <a:bodyPr wrap="none" lIns="0" tIns="0" rIns="0" bIns="0">
            <a:spAutoFit/>
          </a:bodyPr>
          <a:lstStyle/>
          <a:p>
            <a:pPr>
              <a:lnSpc>
                <a:spcPts val="1866"/>
              </a:lnSpc>
              <a:spcBef>
                <a:spcPts val="0"/>
              </a:spcBef>
              <a:spcAft>
                <a:spcPts val="0"/>
              </a:spcAft>
              <a:defRPr sz="1530" b="1">
                <a:solidFill>
                  <a:srgbClr val="F7F6F1"/>
                </a:solidFill>
                <a:latin typeface="DejaVu Sans"/>
              </a:defRPr>
            </a:pPr>
            <a:r>
              <a:t>Хүүхдийн</a:t>
            </a:r>
          </a:p>
          <a:p>
            <a:pPr>
              <a:lnSpc>
                <a:spcPts val="1866"/>
              </a:lnSpc>
              <a:spcBef>
                <a:spcPts val="0"/>
              </a:spcBef>
              <a:spcAft>
                <a:spcPts val="0"/>
              </a:spcAft>
              <a:defRPr sz="1530" b="1">
                <a:solidFill>
                  <a:srgbClr val="F7F6F1"/>
                </a:solidFill>
                <a:latin typeface="DejaVu Sans"/>
              </a:defRPr>
            </a:pPr>
            <a:r>
              <a:t>эрхийн конвенц</a:t>
            </a:r>
          </a:p>
        </p:txBody>
      </p:sp>
      <p:sp>
        <p:nvSpPr>
          <p:cNvPr id="20" name="TextBox 19"/>
          <p:cNvSpPr txBox="1"/>
          <p:nvPr/>
        </p:nvSpPr>
        <p:spPr>
          <a:xfrm>
            <a:off x="5181600" y="4953000"/>
            <a:ext cx="1809750" cy="5619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Хүүхдийн</a:t>
            </a:r>
          </a:p>
          <a:p>
            <a:pPr>
              <a:lnSpc>
                <a:spcPts val="1555"/>
              </a:lnSpc>
              <a:spcBef>
                <a:spcPts val="0"/>
              </a:spcBef>
              <a:spcAft>
                <a:spcPts val="0"/>
              </a:spcAft>
              <a:defRPr sz="1275" b="0">
                <a:solidFill>
                  <a:srgbClr val="F7F6F1"/>
                </a:solidFill>
                <a:latin typeface="DejaVu Sans"/>
              </a:defRPr>
            </a:pPr>
            <a:r>
              <a:t>хамгаалалт, хөгжил</a:t>
            </a:r>
          </a:p>
        </p:txBody>
      </p:sp>
      <p:sp>
        <p:nvSpPr>
          <p:cNvPr id="21" name="TextBox 20"/>
          <p:cNvSpPr txBox="1"/>
          <p:nvPr/>
        </p:nvSpPr>
        <p:spPr>
          <a:xfrm>
            <a:off x="5181600" y="2914650"/>
            <a:ext cx="1809750" cy="2381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1989.11.20</a:t>
            </a:r>
          </a:p>
        </p:txBody>
      </p:sp>
      <p:sp>
        <p:nvSpPr>
          <p:cNvPr id="22" name="Rectangle 21"/>
          <p:cNvSpPr/>
          <p:nvPr/>
        </p:nvSpPr>
        <p:spPr>
          <a:xfrm>
            <a:off x="7315200" y="3190875"/>
            <a:ext cx="2114550" cy="2505075"/>
          </a:xfrm>
          <a:prstGeom prst="rect">
            <a:avLst/>
          </a:prstGeom>
          <a:solidFill>
            <a:srgbClr val="2C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8550" y="3314700"/>
            <a:ext cx="1847850" cy="752475"/>
          </a:xfrm>
          <a:prstGeom prst="rect">
            <a:avLst/>
          </a:prstGeom>
          <a:noFill/>
        </p:spPr>
        <p:txBody>
          <a:bodyPr wrap="none" lIns="0" tIns="0" rIns="0" bIns="0">
            <a:spAutoFit/>
          </a:bodyPr>
          <a:lstStyle/>
          <a:p>
            <a:pPr>
              <a:lnSpc>
                <a:spcPts val="5673"/>
              </a:lnSpc>
              <a:spcBef>
                <a:spcPts val="0"/>
              </a:spcBef>
              <a:spcAft>
                <a:spcPts val="0"/>
              </a:spcAft>
              <a:defRPr sz="4650" b="1">
                <a:solidFill>
                  <a:srgbClr val="F5FF58"/>
                </a:solidFill>
                <a:latin typeface="Open Sans Condensed"/>
              </a:defRPr>
            </a:pPr>
            <a:r>
              <a:t>2006</a:t>
            </a:r>
          </a:p>
        </p:txBody>
      </p:sp>
      <p:sp>
        <p:nvSpPr>
          <p:cNvPr id="24" name="TextBox 23"/>
          <p:cNvSpPr txBox="1"/>
          <p:nvPr/>
        </p:nvSpPr>
        <p:spPr>
          <a:xfrm>
            <a:off x="7467599" y="4124325"/>
            <a:ext cx="1809750" cy="647700"/>
          </a:xfrm>
          <a:prstGeom prst="rect">
            <a:avLst/>
          </a:prstGeom>
          <a:noFill/>
        </p:spPr>
        <p:txBody>
          <a:bodyPr wrap="none" lIns="0" tIns="0" rIns="0" bIns="0">
            <a:spAutoFit/>
          </a:bodyPr>
          <a:lstStyle/>
          <a:p>
            <a:pPr>
              <a:lnSpc>
                <a:spcPts val="1866"/>
              </a:lnSpc>
              <a:spcBef>
                <a:spcPts val="0"/>
              </a:spcBef>
              <a:spcAft>
                <a:spcPts val="0"/>
              </a:spcAft>
              <a:defRPr sz="1530" b="1">
                <a:solidFill>
                  <a:srgbClr val="F7F6F1"/>
                </a:solidFill>
                <a:latin typeface="DejaVu Sans"/>
              </a:defRPr>
            </a:pPr>
            <a:r>
              <a:t>ХБХ-ийн эрхийн</a:t>
            </a:r>
          </a:p>
          <a:p>
            <a:pPr>
              <a:lnSpc>
                <a:spcPts val="1866"/>
              </a:lnSpc>
              <a:spcBef>
                <a:spcPts val="0"/>
              </a:spcBef>
              <a:spcAft>
                <a:spcPts val="0"/>
              </a:spcAft>
              <a:defRPr sz="1530" b="1">
                <a:solidFill>
                  <a:srgbClr val="F7F6F1"/>
                </a:solidFill>
                <a:latin typeface="DejaVu Sans"/>
              </a:defRPr>
            </a:pPr>
            <a:r>
              <a:t>конвенц</a:t>
            </a:r>
          </a:p>
        </p:txBody>
      </p:sp>
      <p:sp>
        <p:nvSpPr>
          <p:cNvPr id="25" name="TextBox 24"/>
          <p:cNvSpPr txBox="1"/>
          <p:nvPr/>
        </p:nvSpPr>
        <p:spPr>
          <a:xfrm>
            <a:off x="7467599" y="4953000"/>
            <a:ext cx="1809750" cy="5619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Хүртээмж ба тэгш</a:t>
            </a:r>
          </a:p>
          <a:p>
            <a:pPr>
              <a:lnSpc>
                <a:spcPts val="1555"/>
              </a:lnSpc>
              <a:spcBef>
                <a:spcPts val="0"/>
              </a:spcBef>
              <a:spcAft>
                <a:spcPts val="0"/>
              </a:spcAft>
              <a:defRPr sz="1275" b="0">
                <a:solidFill>
                  <a:srgbClr val="F7F6F1"/>
                </a:solidFill>
                <a:latin typeface="DejaVu Sans"/>
              </a:defRPr>
            </a:pPr>
            <a:r>
              <a:t>оролцоо</a:t>
            </a:r>
          </a:p>
        </p:txBody>
      </p:sp>
      <p:sp>
        <p:nvSpPr>
          <p:cNvPr id="26" name="TextBox 25"/>
          <p:cNvSpPr txBox="1"/>
          <p:nvPr/>
        </p:nvSpPr>
        <p:spPr>
          <a:xfrm>
            <a:off x="7467599" y="2914650"/>
            <a:ext cx="1809750" cy="2381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2006.12.13</a:t>
            </a:r>
          </a:p>
        </p:txBody>
      </p:sp>
      <p:sp>
        <p:nvSpPr>
          <p:cNvPr id="27" name="Rectangle 26"/>
          <p:cNvSpPr/>
          <p:nvPr/>
        </p:nvSpPr>
        <p:spPr>
          <a:xfrm>
            <a:off x="9601200" y="3190875"/>
            <a:ext cx="2114550" cy="25050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4550" y="3314700"/>
            <a:ext cx="1847850" cy="752475"/>
          </a:xfrm>
          <a:prstGeom prst="rect">
            <a:avLst/>
          </a:prstGeom>
          <a:noFill/>
        </p:spPr>
        <p:txBody>
          <a:bodyPr wrap="none" lIns="0" tIns="0" rIns="0" bIns="0">
            <a:spAutoFit/>
          </a:bodyPr>
          <a:lstStyle/>
          <a:p>
            <a:pPr>
              <a:lnSpc>
                <a:spcPts val="5673"/>
              </a:lnSpc>
              <a:spcBef>
                <a:spcPts val="0"/>
              </a:spcBef>
              <a:spcAft>
                <a:spcPts val="0"/>
              </a:spcAft>
              <a:defRPr sz="4650" b="1">
                <a:solidFill>
                  <a:srgbClr val="F5FF58"/>
                </a:solidFill>
                <a:latin typeface="Open Sans Condensed"/>
              </a:defRPr>
            </a:pPr>
            <a:r>
              <a:t>2015</a:t>
            </a:r>
          </a:p>
        </p:txBody>
      </p:sp>
      <p:sp>
        <p:nvSpPr>
          <p:cNvPr id="29" name="TextBox 28"/>
          <p:cNvSpPr txBox="1"/>
          <p:nvPr/>
        </p:nvSpPr>
        <p:spPr>
          <a:xfrm>
            <a:off x="9753600" y="4124325"/>
            <a:ext cx="1809750" cy="647700"/>
          </a:xfrm>
          <a:prstGeom prst="rect">
            <a:avLst/>
          </a:prstGeom>
          <a:noFill/>
        </p:spPr>
        <p:txBody>
          <a:bodyPr wrap="none" lIns="0" tIns="0" rIns="0" bIns="0">
            <a:spAutoFit/>
          </a:bodyPr>
          <a:lstStyle/>
          <a:p>
            <a:pPr>
              <a:lnSpc>
                <a:spcPts val="2013"/>
              </a:lnSpc>
              <a:spcBef>
                <a:spcPts val="0"/>
              </a:spcBef>
              <a:spcAft>
                <a:spcPts val="0"/>
              </a:spcAft>
              <a:defRPr sz="1650" b="1">
                <a:solidFill>
                  <a:srgbClr val="F7F6F1"/>
                </a:solidFill>
                <a:latin typeface="DejaVu Sans"/>
              </a:defRPr>
            </a:pPr>
            <a:r>
              <a:t>ТХЗ • 2030</a:t>
            </a:r>
          </a:p>
          <a:p>
            <a:pPr>
              <a:lnSpc>
                <a:spcPts val="2013"/>
              </a:lnSpc>
              <a:spcBef>
                <a:spcPts val="0"/>
              </a:spcBef>
              <a:spcAft>
                <a:spcPts val="0"/>
              </a:spcAft>
              <a:defRPr sz="1650" b="1">
                <a:solidFill>
                  <a:srgbClr val="F7F6F1"/>
                </a:solidFill>
                <a:latin typeface="DejaVu Sans"/>
              </a:defRPr>
            </a:pPr>
            <a:r>
              <a:t>хөтөлбөр</a:t>
            </a:r>
          </a:p>
        </p:txBody>
      </p:sp>
      <p:sp>
        <p:nvSpPr>
          <p:cNvPr id="30" name="TextBox 29"/>
          <p:cNvSpPr txBox="1"/>
          <p:nvPr/>
        </p:nvSpPr>
        <p:spPr>
          <a:xfrm>
            <a:off x="9753600" y="4953000"/>
            <a:ext cx="1809750" cy="561975"/>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Ядуурал, тэгш бус</a:t>
            </a:r>
          </a:p>
          <a:p>
            <a:pPr>
              <a:lnSpc>
                <a:spcPts val="1555"/>
              </a:lnSpc>
              <a:spcBef>
                <a:spcPts val="0"/>
              </a:spcBef>
              <a:spcAft>
                <a:spcPts val="0"/>
              </a:spcAft>
              <a:defRPr sz="1275" b="0">
                <a:solidFill>
                  <a:srgbClr val="F7F6F1"/>
                </a:solidFill>
                <a:latin typeface="DejaVu Sans"/>
              </a:defRPr>
            </a:pPr>
            <a:r>
              <a:t>байдлыг бууруулах</a:t>
            </a:r>
          </a:p>
        </p:txBody>
      </p:sp>
      <p:sp>
        <p:nvSpPr>
          <p:cNvPr id="31" name="TextBox 30"/>
          <p:cNvSpPr txBox="1"/>
          <p:nvPr/>
        </p:nvSpPr>
        <p:spPr>
          <a:xfrm>
            <a:off x="9753600" y="2914650"/>
            <a:ext cx="1809750" cy="2381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2015.09.25</a:t>
            </a:r>
          </a:p>
        </p:txBody>
      </p:sp>
      <p:sp>
        <p:nvSpPr>
          <p:cNvPr id="32" name="Rectangle 31"/>
          <p:cNvSpPr/>
          <p:nvPr/>
        </p:nvSpPr>
        <p:spPr>
          <a:xfrm>
            <a:off x="419100" y="5895975"/>
            <a:ext cx="11353800" cy="35242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Огноонууд нь олон улсын баримт бичгийг баталсан өдөр; Монгол Улс нэгдсэн огноо биш.</a:t>
            </a:r>
          </a:p>
        </p:txBody>
      </p:sp>
      <p:cxnSp>
        <p:nvCxnSpPr>
          <p:cNvPr id="34" name="Connector 33"/>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UDHR · ICESCR · ICCPR · CRC · CRPD · SDG</a:t>
            </a:r>
          </a:p>
        </p:txBody>
      </p:sp>
      <p:sp>
        <p:nvSpPr>
          <p:cNvPr id="36" name="TextBox 35"/>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10—30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03 / ТҮГЭЭМЭЛ ТУНХАГЛАЛ</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392"/>
              </a:lnSpc>
              <a:spcBef>
                <a:spcPts val="0"/>
              </a:spcBef>
              <a:spcAft>
                <a:spcPts val="0"/>
              </a:spcAft>
              <a:defRPr sz="3600" b="1">
                <a:solidFill>
                  <a:srgbClr val="101114"/>
                </a:solidFill>
                <a:latin typeface="Open Sans Condensed"/>
              </a:defRPr>
            </a:pPr>
            <a:r>
              <a:t>ТҮГЭЭМЭЛ ТУНХАГЛАЛ</a:t>
            </a:r>
          </a:p>
        </p:txBody>
      </p:sp>
      <p:sp>
        <p:nvSpPr>
          <p:cNvPr id="7" name="Rectangle 6"/>
          <p:cNvSpPr/>
          <p:nvPr/>
        </p:nvSpPr>
        <p:spPr>
          <a:xfrm>
            <a:off x="447675" y="1657350"/>
            <a:ext cx="1574173" cy="2571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1975" y="1704975"/>
            <a:ext cx="1345573"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1948.12.10 / UDHR</a:t>
            </a:r>
          </a:p>
        </p:txBody>
      </p:sp>
      <p:sp>
        <p:nvSpPr>
          <p:cNvPr id="9" name="Rectangle 8"/>
          <p:cNvSpPr/>
          <p:nvPr/>
        </p:nvSpPr>
        <p:spPr>
          <a:xfrm>
            <a:off x="438150" y="2162175"/>
            <a:ext cx="1200150"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222885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1, 2</a:t>
            </a:r>
          </a:p>
        </p:txBody>
      </p:sp>
      <p:sp>
        <p:nvSpPr>
          <p:cNvPr id="11" name="TextBox 10"/>
          <p:cNvSpPr txBox="1"/>
          <p:nvPr/>
        </p:nvSpPr>
        <p:spPr>
          <a:xfrm>
            <a:off x="1847850" y="220980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Эрх тэгш байдал; ялгаварлан</a:t>
            </a:r>
          </a:p>
          <a:p>
            <a:pPr>
              <a:lnSpc>
                <a:spcPts val="2067"/>
              </a:lnSpc>
              <a:spcBef>
                <a:spcPts val="0"/>
              </a:spcBef>
              <a:spcAft>
                <a:spcPts val="0"/>
              </a:spcAft>
              <a:defRPr sz="1695" b="1">
                <a:solidFill>
                  <a:srgbClr val="101114"/>
                </a:solidFill>
                <a:latin typeface="DejaVu Sans"/>
              </a:defRPr>
            </a:pPr>
            <a:r>
              <a:t>гадуурхахгүй байх</a:t>
            </a:r>
          </a:p>
        </p:txBody>
      </p:sp>
      <p:sp>
        <p:nvSpPr>
          <p:cNvPr id="12" name="TextBox 11"/>
          <p:cNvSpPr txBox="1"/>
          <p:nvPr/>
        </p:nvSpPr>
        <p:spPr>
          <a:xfrm>
            <a:off x="6800850" y="223837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Бага орлогыг доромжлох үндэслэл болгохгүй</a:t>
            </a:r>
          </a:p>
        </p:txBody>
      </p:sp>
      <p:cxnSp>
        <p:nvCxnSpPr>
          <p:cNvPr id="13" name="Connector 12"/>
          <p:cNvCxnSpPr/>
          <p:nvPr/>
        </p:nvCxnSpPr>
        <p:spPr>
          <a:xfrm>
            <a:off x="1838324" y="278130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8150" y="2867025"/>
            <a:ext cx="1200150" cy="59055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293370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22</a:t>
            </a:r>
          </a:p>
        </p:txBody>
      </p:sp>
      <p:sp>
        <p:nvSpPr>
          <p:cNvPr id="16" name="TextBox 15"/>
          <p:cNvSpPr txBox="1"/>
          <p:nvPr/>
        </p:nvSpPr>
        <p:spPr>
          <a:xfrm>
            <a:off x="1847850" y="2914650"/>
            <a:ext cx="4400550" cy="533400"/>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Нийгмийн хамгаалал</a:t>
            </a:r>
          </a:p>
        </p:txBody>
      </p:sp>
      <p:sp>
        <p:nvSpPr>
          <p:cNvPr id="17" name="TextBox 16"/>
          <p:cNvSpPr txBox="1"/>
          <p:nvPr/>
        </p:nvSpPr>
        <p:spPr>
          <a:xfrm>
            <a:off x="6800850" y="294322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Эрсдэлд орсон үед баталгаатай дэмжлэг</a:t>
            </a:r>
          </a:p>
        </p:txBody>
      </p:sp>
      <p:cxnSp>
        <p:nvCxnSpPr>
          <p:cNvPr id="18" name="Connector 17"/>
          <p:cNvCxnSpPr/>
          <p:nvPr/>
        </p:nvCxnSpPr>
        <p:spPr>
          <a:xfrm>
            <a:off x="1838324" y="348615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38150" y="3571875"/>
            <a:ext cx="1200150"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400" y="363855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23</a:t>
            </a:r>
          </a:p>
        </p:txBody>
      </p:sp>
      <p:sp>
        <p:nvSpPr>
          <p:cNvPr id="21" name="TextBox 20"/>
          <p:cNvSpPr txBox="1"/>
          <p:nvPr/>
        </p:nvSpPr>
        <p:spPr>
          <a:xfrm>
            <a:off x="1847850" y="361950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Хөдөлмөр; шударга, таатай цалин</a:t>
            </a:r>
          </a:p>
          <a:p>
            <a:pPr>
              <a:lnSpc>
                <a:spcPts val="2067"/>
              </a:lnSpc>
              <a:spcBef>
                <a:spcPts val="0"/>
              </a:spcBef>
              <a:spcAft>
                <a:spcPts val="0"/>
              </a:spcAft>
              <a:defRPr sz="1695" b="1">
                <a:solidFill>
                  <a:srgbClr val="101114"/>
                </a:solidFill>
                <a:latin typeface="DejaVu Sans"/>
              </a:defRPr>
            </a:pPr>
            <a:r>
              <a:t>хөлс</a:t>
            </a:r>
          </a:p>
        </p:txBody>
      </p:sp>
      <p:sp>
        <p:nvSpPr>
          <p:cNvPr id="22" name="TextBox 21"/>
          <p:cNvSpPr txBox="1"/>
          <p:nvPr/>
        </p:nvSpPr>
        <p:spPr>
          <a:xfrm>
            <a:off x="6800850" y="364807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Ажилтай ч ядуурах эрсдэлийг авч үзнэ</a:t>
            </a:r>
          </a:p>
        </p:txBody>
      </p:sp>
      <p:cxnSp>
        <p:nvCxnSpPr>
          <p:cNvPr id="23" name="Connector 22"/>
          <p:cNvCxnSpPr/>
          <p:nvPr/>
        </p:nvCxnSpPr>
        <p:spPr>
          <a:xfrm>
            <a:off x="1838324" y="4190999"/>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38150" y="4276725"/>
            <a:ext cx="1200150" cy="59055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3400" y="434340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25</a:t>
            </a:r>
          </a:p>
        </p:txBody>
      </p:sp>
      <p:sp>
        <p:nvSpPr>
          <p:cNvPr id="26" name="TextBox 25"/>
          <p:cNvSpPr txBox="1"/>
          <p:nvPr/>
        </p:nvSpPr>
        <p:spPr>
          <a:xfrm>
            <a:off x="1847850" y="432435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Зохистой амьжиргаа; хоол, орон</a:t>
            </a:r>
          </a:p>
          <a:p>
            <a:pPr>
              <a:lnSpc>
                <a:spcPts val="2067"/>
              </a:lnSpc>
              <a:spcBef>
                <a:spcPts val="0"/>
              </a:spcBef>
              <a:spcAft>
                <a:spcPts val="0"/>
              </a:spcAft>
              <a:defRPr sz="1695" b="1">
                <a:solidFill>
                  <a:srgbClr val="101114"/>
                </a:solidFill>
                <a:latin typeface="DejaVu Sans"/>
              </a:defRPr>
            </a:pPr>
            <a:r>
              <a:t>байр, эрүүл мэнд</a:t>
            </a:r>
          </a:p>
        </p:txBody>
      </p:sp>
      <p:sp>
        <p:nvSpPr>
          <p:cNvPr id="27" name="TextBox 26"/>
          <p:cNvSpPr txBox="1"/>
          <p:nvPr/>
        </p:nvSpPr>
        <p:spPr>
          <a:xfrm>
            <a:off x="6800850" y="435292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Амьдралын суурь хэрэгцээг эрхтэй холбох</a:t>
            </a:r>
          </a:p>
        </p:txBody>
      </p:sp>
      <p:cxnSp>
        <p:nvCxnSpPr>
          <p:cNvPr id="28" name="Connector 27"/>
          <p:cNvCxnSpPr/>
          <p:nvPr/>
        </p:nvCxnSpPr>
        <p:spPr>
          <a:xfrm>
            <a:off x="1838324" y="489585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38150" y="4981575"/>
            <a:ext cx="1200150"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400" y="504825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26</a:t>
            </a:r>
          </a:p>
        </p:txBody>
      </p:sp>
      <p:sp>
        <p:nvSpPr>
          <p:cNvPr id="31" name="TextBox 30"/>
          <p:cNvSpPr txBox="1"/>
          <p:nvPr/>
        </p:nvSpPr>
        <p:spPr>
          <a:xfrm>
            <a:off x="1847850" y="5029200"/>
            <a:ext cx="4400550" cy="533400"/>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Боловсрол</a:t>
            </a:r>
          </a:p>
        </p:txBody>
      </p:sp>
      <p:sp>
        <p:nvSpPr>
          <p:cNvPr id="32" name="TextBox 31"/>
          <p:cNvSpPr txBox="1"/>
          <p:nvPr/>
        </p:nvSpPr>
        <p:spPr>
          <a:xfrm>
            <a:off x="6800850" y="505777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Бага шатны боловсрол үнэ төлбөргүй, заавал</a:t>
            </a:r>
          </a:p>
          <a:p>
            <a:pPr>
              <a:lnSpc>
                <a:spcPts val="1829"/>
              </a:lnSpc>
              <a:spcBef>
                <a:spcPts val="0"/>
              </a:spcBef>
              <a:spcAft>
                <a:spcPts val="0"/>
              </a:spcAft>
              <a:defRPr sz="1500" b="0">
                <a:solidFill>
                  <a:srgbClr val="535B67"/>
                </a:solidFill>
                <a:latin typeface="DejaVu Sans"/>
              </a:defRPr>
            </a:pPr>
            <a:r>
              <a:t>байх</a:t>
            </a:r>
          </a:p>
        </p:txBody>
      </p:sp>
      <p:cxnSp>
        <p:nvCxnSpPr>
          <p:cNvPr id="33" name="Connector 32"/>
          <p:cNvCxnSpPr/>
          <p:nvPr/>
        </p:nvCxnSpPr>
        <p:spPr>
          <a:xfrm>
            <a:off x="1838324" y="560070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Түгээмэл тунхаглал нь гэрээ биш; хүний эрхийн нийтлэг стандартын суурь баримт бичиг.</a:t>
            </a:r>
          </a:p>
        </p:txBody>
      </p:sp>
      <p:cxnSp>
        <p:nvCxnSpPr>
          <p:cNvPr id="36" name="Connector 35"/>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UDHR</a:t>
            </a:r>
          </a:p>
        </p:txBody>
      </p:sp>
      <p:sp>
        <p:nvSpPr>
          <p:cNvPr id="38" name="TextBox 37"/>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11—30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03 / ЭДИЙН ЗАСАГ, НИЙГМИЙН ЭРХ</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392"/>
              </a:lnSpc>
              <a:spcBef>
                <a:spcPts val="0"/>
              </a:spcBef>
              <a:spcAft>
                <a:spcPts val="0"/>
              </a:spcAft>
              <a:defRPr sz="3600" b="1">
                <a:solidFill>
                  <a:srgbClr val="101114"/>
                </a:solidFill>
                <a:latin typeface="Open Sans Condensed"/>
              </a:defRPr>
            </a:pPr>
            <a:r>
              <a:t>ЭДИЙН ЗАСАГ, НИЙГЭМ, СОЁЛЫН ЭРХ</a:t>
            </a:r>
          </a:p>
        </p:txBody>
      </p:sp>
      <p:sp>
        <p:nvSpPr>
          <p:cNvPr id="7" name="Rectangle 6"/>
          <p:cNvSpPr/>
          <p:nvPr/>
        </p:nvSpPr>
        <p:spPr>
          <a:xfrm>
            <a:off x="447675" y="1657350"/>
            <a:ext cx="1711802" cy="2571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1975" y="1704975"/>
            <a:ext cx="1483202"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1966.12.16 / ICESCR</a:t>
            </a:r>
          </a:p>
        </p:txBody>
      </p:sp>
      <p:sp>
        <p:nvSpPr>
          <p:cNvPr id="9" name="Rectangle 8"/>
          <p:cNvSpPr/>
          <p:nvPr/>
        </p:nvSpPr>
        <p:spPr>
          <a:xfrm>
            <a:off x="438150" y="2162175"/>
            <a:ext cx="1200150"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222885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2.1; 2.2</a:t>
            </a:r>
          </a:p>
        </p:txBody>
      </p:sp>
      <p:sp>
        <p:nvSpPr>
          <p:cNvPr id="11" name="TextBox 10"/>
          <p:cNvSpPr txBox="1"/>
          <p:nvPr/>
        </p:nvSpPr>
        <p:spPr>
          <a:xfrm>
            <a:off x="1847850" y="220980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Дэвшилттэй хэрэгжилт;</a:t>
            </a:r>
          </a:p>
          <a:p>
            <a:pPr>
              <a:lnSpc>
                <a:spcPts val="2067"/>
              </a:lnSpc>
              <a:spcBef>
                <a:spcPts val="0"/>
              </a:spcBef>
              <a:spcAft>
                <a:spcPts val="0"/>
              </a:spcAft>
              <a:defRPr sz="1695" b="1">
                <a:solidFill>
                  <a:srgbClr val="101114"/>
                </a:solidFill>
                <a:latin typeface="DejaVu Sans"/>
              </a:defRPr>
            </a:pPr>
            <a:r>
              <a:t>ялгаварлалгүй байдал</a:t>
            </a:r>
          </a:p>
        </p:txBody>
      </p:sp>
      <p:sp>
        <p:nvSpPr>
          <p:cNvPr id="12" name="TextBox 11"/>
          <p:cNvSpPr txBox="1"/>
          <p:nvPr/>
        </p:nvSpPr>
        <p:spPr>
          <a:xfrm>
            <a:off x="6800850" y="223837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Нөөц ба хэрэгжилтийн ахицыг тайлагнах</a:t>
            </a:r>
          </a:p>
        </p:txBody>
      </p:sp>
      <p:cxnSp>
        <p:nvCxnSpPr>
          <p:cNvPr id="13" name="Connector 12"/>
          <p:cNvCxnSpPr/>
          <p:nvPr/>
        </p:nvCxnSpPr>
        <p:spPr>
          <a:xfrm>
            <a:off x="1838324" y="278130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8150" y="2867025"/>
            <a:ext cx="1200150" cy="59055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293370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6; 7</a:t>
            </a:r>
          </a:p>
        </p:txBody>
      </p:sp>
      <p:sp>
        <p:nvSpPr>
          <p:cNvPr id="16" name="TextBox 15"/>
          <p:cNvSpPr txBox="1"/>
          <p:nvPr/>
        </p:nvSpPr>
        <p:spPr>
          <a:xfrm>
            <a:off x="1847850" y="291465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Хөдөлмөрлөх; шударга, таатай</a:t>
            </a:r>
          </a:p>
          <a:p>
            <a:pPr>
              <a:lnSpc>
                <a:spcPts val="2067"/>
              </a:lnSpc>
              <a:spcBef>
                <a:spcPts val="0"/>
              </a:spcBef>
              <a:spcAft>
                <a:spcPts val="0"/>
              </a:spcAft>
              <a:defRPr sz="1695" b="1">
                <a:solidFill>
                  <a:srgbClr val="101114"/>
                </a:solidFill>
                <a:latin typeface="DejaVu Sans"/>
              </a:defRPr>
            </a:pPr>
            <a:r>
              <a:t>нөхцөл</a:t>
            </a:r>
          </a:p>
        </p:txBody>
      </p:sp>
      <p:sp>
        <p:nvSpPr>
          <p:cNvPr id="17" name="TextBox 16"/>
          <p:cNvSpPr txBox="1"/>
          <p:nvPr/>
        </p:nvSpPr>
        <p:spPr>
          <a:xfrm>
            <a:off x="6800850" y="294322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Аюулгүй ажлын байр, зохистой цалин</a:t>
            </a:r>
          </a:p>
        </p:txBody>
      </p:sp>
      <p:cxnSp>
        <p:nvCxnSpPr>
          <p:cNvPr id="18" name="Connector 17"/>
          <p:cNvCxnSpPr/>
          <p:nvPr/>
        </p:nvCxnSpPr>
        <p:spPr>
          <a:xfrm>
            <a:off x="1838324" y="348615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38150" y="3571875"/>
            <a:ext cx="1200150"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400" y="363855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9</a:t>
            </a:r>
          </a:p>
        </p:txBody>
      </p:sp>
      <p:sp>
        <p:nvSpPr>
          <p:cNvPr id="21" name="TextBox 20"/>
          <p:cNvSpPr txBox="1"/>
          <p:nvPr/>
        </p:nvSpPr>
        <p:spPr>
          <a:xfrm>
            <a:off x="1847850" y="361950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Нийгмийн хамгаалал, нийгмийн</a:t>
            </a:r>
          </a:p>
          <a:p>
            <a:pPr>
              <a:lnSpc>
                <a:spcPts val="2067"/>
              </a:lnSpc>
              <a:spcBef>
                <a:spcPts val="0"/>
              </a:spcBef>
              <a:spcAft>
                <a:spcPts val="0"/>
              </a:spcAft>
              <a:defRPr sz="1695" b="1">
                <a:solidFill>
                  <a:srgbClr val="101114"/>
                </a:solidFill>
                <a:latin typeface="DejaVu Sans"/>
              </a:defRPr>
            </a:pPr>
            <a:r>
              <a:t>даатгал</a:t>
            </a:r>
          </a:p>
        </p:txBody>
      </p:sp>
      <p:sp>
        <p:nvSpPr>
          <p:cNvPr id="22" name="TextBox 21"/>
          <p:cNvSpPr txBox="1"/>
          <p:nvPr/>
        </p:nvSpPr>
        <p:spPr>
          <a:xfrm>
            <a:off x="6800850" y="364807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Өндөр нас, ажилгүйдэл, бусад эрсдэлийн</a:t>
            </a:r>
          </a:p>
          <a:p>
            <a:pPr>
              <a:lnSpc>
                <a:spcPts val="1829"/>
              </a:lnSpc>
              <a:spcBef>
                <a:spcPts val="0"/>
              </a:spcBef>
              <a:spcAft>
                <a:spcPts val="0"/>
              </a:spcAft>
              <a:defRPr sz="1500" b="0">
                <a:solidFill>
                  <a:srgbClr val="535B67"/>
                </a:solidFill>
                <a:latin typeface="DejaVu Sans"/>
              </a:defRPr>
            </a:pPr>
            <a:r>
              <a:t>хамгаалалт</a:t>
            </a:r>
          </a:p>
        </p:txBody>
      </p:sp>
      <p:cxnSp>
        <p:nvCxnSpPr>
          <p:cNvPr id="23" name="Connector 22"/>
          <p:cNvCxnSpPr/>
          <p:nvPr/>
        </p:nvCxnSpPr>
        <p:spPr>
          <a:xfrm>
            <a:off x="1838324" y="4190999"/>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38150" y="4276725"/>
            <a:ext cx="1200150" cy="59055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3400" y="434340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11</a:t>
            </a:r>
          </a:p>
        </p:txBody>
      </p:sp>
      <p:sp>
        <p:nvSpPr>
          <p:cNvPr id="26" name="TextBox 25"/>
          <p:cNvSpPr txBox="1"/>
          <p:nvPr/>
        </p:nvSpPr>
        <p:spPr>
          <a:xfrm>
            <a:off x="1847850" y="4324350"/>
            <a:ext cx="4400550" cy="533400"/>
          </a:xfrm>
          <a:prstGeom prst="rect">
            <a:avLst/>
          </a:prstGeom>
          <a:noFill/>
        </p:spPr>
        <p:txBody>
          <a:bodyPr wrap="none" lIns="0" tIns="0" rIns="0" bIns="0">
            <a:spAutoFit/>
          </a:bodyPr>
          <a:lstStyle/>
          <a:p>
            <a:pPr>
              <a:lnSpc>
                <a:spcPts val="2067"/>
              </a:lnSpc>
              <a:spcBef>
                <a:spcPts val="0"/>
              </a:spcBef>
              <a:spcAft>
                <a:spcPts val="0"/>
              </a:spcAft>
              <a:defRPr sz="1695" b="1">
                <a:solidFill>
                  <a:srgbClr val="101114"/>
                </a:solidFill>
                <a:latin typeface="DejaVu Sans"/>
              </a:defRPr>
            </a:pPr>
            <a:r>
              <a:t>Зохистой амьжиргаа;</a:t>
            </a:r>
          </a:p>
          <a:p>
            <a:pPr>
              <a:lnSpc>
                <a:spcPts val="2067"/>
              </a:lnSpc>
              <a:spcBef>
                <a:spcPts val="0"/>
              </a:spcBef>
              <a:spcAft>
                <a:spcPts val="0"/>
              </a:spcAft>
              <a:defRPr sz="1695" b="1">
                <a:solidFill>
                  <a:srgbClr val="101114"/>
                </a:solidFill>
                <a:latin typeface="DejaVu Sans"/>
              </a:defRPr>
            </a:pPr>
            <a:r>
              <a:t>өлсгөлөнгөөс ангид байх</a:t>
            </a:r>
          </a:p>
        </p:txBody>
      </p:sp>
      <p:sp>
        <p:nvSpPr>
          <p:cNvPr id="27" name="TextBox 26"/>
          <p:cNvSpPr txBox="1"/>
          <p:nvPr/>
        </p:nvSpPr>
        <p:spPr>
          <a:xfrm>
            <a:off x="6800850" y="435292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Хоол хүнс, хувцас, орон байрны бодлого</a:t>
            </a:r>
          </a:p>
        </p:txBody>
      </p:sp>
      <p:cxnSp>
        <p:nvCxnSpPr>
          <p:cNvPr id="28" name="Connector 27"/>
          <p:cNvCxnSpPr/>
          <p:nvPr/>
        </p:nvCxnSpPr>
        <p:spPr>
          <a:xfrm>
            <a:off x="1838324" y="489585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38150" y="4981575"/>
            <a:ext cx="1200150"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400" y="5048250"/>
            <a:ext cx="1009650" cy="457200"/>
          </a:xfrm>
          <a:prstGeom prst="rect">
            <a:avLst/>
          </a:prstGeom>
          <a:noFill/>
        </p:spPr>
        <p:txBody>
          <a:bodyPr wrap="none" lIns="0" tIns="0" rIns="0" bIns="0">
            <a:spAutoFit/>
          </a:bodyPr>
          <a:lstStyle/>
          <a:p>
            <a:pPr algn="ctr">
              <a:lnSpc>
                <a:spcPts val="2653"/>
              </a:lnSpc>
              <a:spcBef>
                <a:spcPts val="0"/>
              </a:spcBef>
              <a:spcAft>
                <a:spcPts val="0"/>
              </a:spcAft>
              <a:defRPr sz="2175" b="1">
                <a:solidFill>
                  <a:srgbClr val="F5FF58"/>
                </a:solidFill>
                <a:latin typeface="Open Sans Condensed"/>
              </a:defRPr>
            </a:pPr>
            <a:r>
              <a:t>12; 13</a:t>
            </a:r>
          </a:p>
        </p:txBody>
      </p:sp>
      <p:sp>
        <p:nvSpPr>
          <p:cNvPr id="31" name="TextBox 30"/>
          <p:cNvSpPr txBox="1"/>
          <p:nvPr/>
        </p:nvSpPr>
        <p:spPr>
          <a:xfrm>
            <a:off x="1847850" y="5029200"/>
            <a:ext cx="4400550" cy="533400"/>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Эрүүл мэнд; боловсрол</a:t>
            </a:r>
          </a:p>
        </p:txBody>
      </p:sp>
      <p:sp>
        <p:nvSpPr>
          <p:cNvPr id="32" name="TextBox 31"/>
          <p:cNvSpPr txBox="1"/>
          <p:nvPr/>
        </p:nvSpPr>
        <p:spPr>
          <a:xfrm>
            <a:off x="6800850" y="5057775"/>
            <a:ext cx="4829175" cy="495299"/>
          </a:xfrm>
          <a:prstGeom prst="rect">
            <a:avLst/>
          </a:prstGeom>
          <a:noFill/>
        </p:spPr>
        <p:txBody>
          <a:bodyPr wrap="none" lIns="0" tIns="0" rIns="0" bIns="0">
            <a:spAutoFit/>
          </a:bodyPr>
          <a:lstStyle/>
          <a:p>
            <a:pPr>
              <a:lnSpc>
                <a:spcPts val="1829"/>
              </a:lnSpc>
              <a:spcBef>
                <a:spcPts val="0"/>
              </a:spcBef>
              <a:spcAft>
                <a:spcPts val="0"/>
              </a:spcAft>
              <a:defRPr sz="1500" b="0">
                <a:solidFill>
                  <a:srgbClr val="535B67"/>
                </a:solidFill>
                <a:latin typeface="DejaVu Sans"/>
              </a:defRPr>
            </a:pPr>
            <a:r>
              <a:t>Хүртээмжтэй анхан шатны тусламж,</a:t>
            </a:r>
          </a:p>
          <a:p>
            <a:pPr>
              <a:lnSpc>
                <a:spcPts val="1829"/>
              </a:lnSpc>
              <a:spcBef>
                <a:spcPts val="0"/>
              </a:spcBef>
              <a:spcAft>
                <a:spcPts val="0"/>
              </a:spcAft>
              <a:defRPr sz="1500" b="0">
                <a:solidFill>
                  <a:srgbClr val="535B67"/>
                </a:solidFill>
                <a:latin typeface="DejaVu Sans"/>
              </a:defRPr>
            </a:pPr>
            <a:r>
              <a:t>боловсрол</a:t>
            </a:r>
          </a:p>
        </p:txBody>
      </p:sp>
      <p:cxnSp>
        <p:nvCxnSpPr>
          <p:cNvPr id="33" name="Connector 32"/>
          <p:cNvCxnSpPr/>
          <p:nvPr/>
        </p:nvCxnSpPr>
        <p:spPr>
          <a:xfrm>
            <a:off x="1838324" y="5600700"/>
            <a:ext cx="9896476"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Хүчин төгөлдөр болсон: 1976.01.03. Нөөц хязгаарлагдмал ч бодит алхам хийх үүрэг хэвээр.</a:t>
            </a:r>
          </a:p>
        </p:txBody>
      </p:sp>
      <p:cxnSp>
        <p:nvCxnSpPr>
          <p:cNvPr id="36" name="Connector 35"/>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ICESCR · GC3</a:t>
            </a:r>
          </a:p>
        </p:txBody>
      </p:sp>
      <p:sp>
        <p:nvSpPr>
          <p:cNvPr id="38" name="TextBox 37"/>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12—30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03 / ИРГЭНИЙ БОЛОН УЛС ТӨРИЙН ЭРХ</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66"/>
              </a:lnSpc>
              <a:spcBef>
                <a:spcPts val="0"/>
              </a:spcBef>
              <a:spcAft>
                <a:spcPts val="0"/>
              </a:spcAft>
              <a:defRPr sz="3825" b="1">
                <a:solidFill>
                  <a:srgbClr val="F7F6F1"/>
                </a:solidFill>
                <a:latin typeface="Open Sans Condensed"/>
              </a:defRPr>
            </a:pPr>
            <a:r>
              <a:t>ОРЛОГО БАГА Ч</a:t>
            </a:r>
          </a:p>
          <a:p>
            <a:pPr>
              <a:lnSpc>
                <a:spcPts val="4666"/>
              </a:lnSpc>
              <a:spcBef>
                <a:spcPts val="0"/>
              </a:spcBef>
              <a:spcAft>
                <a:spcPts val="0"/>
              </a:spcAft>
              <a:defRPr sz="3825" b="1">
                <a:solidFill>
                  <a:srgbClr val="F7F6F1"/>
                </a:solidFill>
                <a:latin typeface="Open Sans Condensed"/>
              </a:defRPr>
            </a:pPr>
            <a:r>
              <a:t>ДУУ ХООЛОЙ БАГАСАХГҮЙ.</a:t>
            </a:r>
          </a:p>
        </p:txBody>
      </p:sp>
      <p:sp>
        <p:nvSpPr>
          <p:cNvPr id="7" name="Rectangle 6"/>
          <p:cNvSpPr/>
          <p:nvPr/>
        </p:nvSpPr>
        <p:spPr>
          <a:xfrm>
            <a:off x="457200" y="2352675"/>
            <a:ext cx="1505359" cy="25717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 y="2400300"/>
            <a:ext cx="1276759"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101114"/>
                </a:solidFill>
                <a:latin typeface="DejaVu Sans Mono"/>
              </a:defRPr>
            </a:pPr>
            <a:r>
              <a:t>1966.12.16 / ICCPR</a:t>
            </a:r>
          </a:p>
        </p:txBody>
      </p:sp>
      <p:cxnSp>
        <p:nvCxnSpPr>
          <p:cNvPr id="9" name="Connector 8"/>
          <p:cNvCxnSpPr/>
          <p:nvPr/>
        </p:nvCxnSpPr>
        <p:spPr>
          <a:xfrm>
            <a:off x="457200" y="3038475"/>
            <a:ext cx="3571875" cy="0"/>
          </a:xfrm>
          <a:prstGeom prst="line">
            <a:avLst/>
          </a:prstGeom>
          <a:ln w="9525">
            <a:solidFill>
              <a:srgbClr val="A9AFB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3200400"/>
            <a:ext cx="3476625" cy="762000"/>
          </a:xfrm>
          <a:prstGeom prst="rect">
            <a:avLst/>
          </a:prstGeom>
          <a:noFill/>
        </p:spPr>
        <p:txBody>
          <a:bodyPr wrap="none" lIns="0" tIns="0" rIns="0" bIns="0">
            <a:spAutoFit/>
          </a:bodyPr>
          <a:lstStyle/>
          <a:p>
            <a:pPr>
              <a:lnSpc>
                <a:spcPts val="5965"/>
              </a:lnSpc>
              <a:spcBef>
                <a:spcPts val="0"/>
              </a:spcBef>
              <a:spcAft>
                <a:spcPts val="0"/>
              </a:spcAft>
              <a:defRPr sz="4889" b="1">
                <a:solidFill>
                  <a:srgbClr val="F5FF58"/>
                </a:solidFill>
                <a:latin typeface="Open Sans Condensed"/>
              </a:defRPr>
            </a:pPr>
            <a:r>
              <a:t>26</a:t>
            </a:r>
          </a:p>
        </p:txBody>
      </p:sp>
      <p:sp>
        <p:nvSpPr>
          <p:cNvPr id="11" name="TextBox 10"/>
          <p:cNvSpPr txBox="1"/>
          <p:nvPr/>
        </p:nvSpPr>
        <p:spPr>
          <a:xfrm>
            <a:off x="457200" y="4095750"/>
            <a:ext cx="3476625"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DejaVu Sans"/>
              </a:defRPr>
            </a:pPr>
            <a:r>
              <a:t>Хуулийн өмнө тэгш</a:t>
            </a:r>
          </a:p>
        </p:txBody>
      </p:sp>
      <p:sp>
        <p:nvSpPr>
          <p:cNvPr id="12" name="TextBox 11"/>
          <p:cNvSpPr txBox="1"/>
          <p:nvPr/>
        </p:nvSpPr>
        <p:spPr>
          <a:xfrm>
            <a:off x="457200" y="4562475"/>
            <a:ext cx="3476625" cy="1114425"/>
          </a:xfrm>
          <a:prstGeom prst="rect">
            <a:avLst/>
          </a:prstGeom>
          <a:noFill/>
        </p:spPr>
        <p:txBody>
          <a:bodyPr wrap="none" lIns="0" tIns="0" rIns="0" bIns="0">
            <a:spAutoFit/>
          </a:bodyPr>
          <a:lstStyle/>
          <a:p>
            <a:pPr>
              <a:lnSpc>
                <a:spcPts val="1720"/>
              </a:lnSpc>
              <a:spcBef>
                <a:spcPts val="0"/>
              </a:spcBef>
              <a:spcAft>
                <a:spcPts val="0"/>
              </a:spcAft>
              <a:defRPr sz="1410" b="0">
                <a:solidFill>
                  <a:srgbClr val="F7F6F1"/>
                </a:solidFill>
                <a:latin typeface="DejaVu Sans"/>
              </a:defRPr>
            </a:pPr>
            <a:r>
              <a:t>ICCPR-ийн 26 дугаар зүйл: хүн бүр</a:t>
            </a:r>
          </a:p>
          <a:p>
            <a:pPr>
              <a:lnSpc>
                <a:spcPts val="1720"/>
              </a:lnSpc>
              <a:spcBef>
                <a:spcPts val="0"/>
              </a:spcBef>
              <a:spcAft>
                <a:spcPts val="0"/>
              </a:spcAft>
              <a:defRPr sz="1410" b="0">
                <a:solidFill>
                  <a:srgbClr val="F7F6F1"/>
                </a:solidFill>
                <a:latin typeface="DejaVu Sans"/>
              </a:defRPr>
            </a:pPr>
            <a:r>
              <a:t>хуулийн өмнө тэгш; эд хөрөнгө</a:t>
            </a:r>
          </a:p>
          <a:p>
            <a:pPr>
              <a:lnSpc>
                <a:spcPts val="1720"/>
              </a:lnSpc>
              <a:spcBef>
                <a:spcPts val="0"/>
              </a:spcBef>
              <a:spcAft>
                <a:spcPts val="0"/>
              </a:spcAft>
              <a:defRPr sz="1410" b="0">
                <a:solidFill>
                  <a:srgbClr val="F7F6F1"/>
                </a:solidFill>
                <a:latin typeface="DejaVu Sans"/>
              </a:defRPr>
            </a:pPr>
            <a:r>
              <a:t>болон бусад байдлаар</a:t>
            </a:r>
          </a:p>
          <a:p>
            <a:pPr>
              <a:lnSpc>
                <a:spcPts val="1720"/>
              </a:lnSpc>
              <a:spcBef>
                <a:spcPts val="0"/>
              </a:spcBef>
              <a:spcAft>
                <a:spcPts val="0"/>
              </a:spcAft>
              <a:defRPr sz="1410" b="0">
                <a:solidFill>
                  <a:srgbClr val="F7F6F1"/>
                </a:solidFill>
                <a:latin typeface="DejaVu Sans"/>
              </a:defRPr>
            </a:pPr>
            <a:r>
              <a:t>ялгаварлахгүй, тэгш хамгаалуулах.</a:t>
            </a:r>
          </a:p>
        </p:txBody>
      </p:sp>
      <p:cxnSp>
        <p:nvCxnSpPr>
          <p:cNvPr id="13" name="Connector 12"/>
          <p:cNvCxnSpPr/>
          <p:nvPr/>
        </p:nvCxnSpPr>
        <p:spPr>
          <a:xfrm>
            <a:off x="4286250" y="3038475"/>
            <a:ext cx="3571875" cy="0"/>
          </a:xfrm>
          <a:prstGeom prst="line">
            <a:avLst/>
          </a:prstGeom>
          <a:ln w="9525">
            <a:solidFill>
              <a:srgbClr val="A9AFB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86250" y="3200400"/>
            <a:ext cx="3476625" cy="762000"/>
          </a:xfrm>
          <a:prstGeom prst="rect">
            <a:avLst/>
          </a:prstGeom>
          <a:noFill/>
        </p:spPr>
        <p:txBody>
          <a:bodyPr wrap="none" lIns="0" tIns="0" rIns="0" bIns="0">
            <a:spAutoFit/>
          </a:bodyPr>
          <a:lstStyle/>
          <a:p>
            <a:pPr>
              <a:lnSpc>
                <a:spcPts val="5965"/>
              </a:lnSpc>
              <a:spcBef>
                <a:spcPts val="0"/>
              </a:spcBef>
              <a:spcAft>
                <a:spcPts val="0"/>
              </a:spcAft>
              <a:defRPr sz="4889" b="1">
                <a:solidFill>
                  <a:srgbClr val="F5FF58"/>
                </a:solidFill>
                <a:latin typeface="Open Sans Condensed"/>
              </a:defRPr>
            </a:pPr>
            <a:r>
              <a:t>14</a:t>
            </a:r>
          </a:p>
        </p:txBody>
      </p:sp>
      <p:sp>
        <p:nvSpPr>
          <p:cNvPr id="15" name="TextBox 14"/>
          <p:cNvSpPr txBox="1"/>
          <p:nvPr/>
        </p:nvSpPr>
        <p:spPr>
          <a:xfrm>
            <a:off x="4286250" y="4095750"/>
            <a:ext cx="3476625"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DejaVu Sans"/>
              </a:defRPr>
            </a:pPr>
            <a:r>
              <a:t>Шүүхэд хүрэх боломж</a:t>
            </a:r>
          </a:p>
        </p:txBody>
      </p:sp>
      <p:sp>
        <p:nvSpPr>
          <p:cNvPr id="16" name="TextBox 15"/>
          <p:cNvSpPr txBox="1"/>
          <p:nvPr/>
        </p:nvSpPr>
        <p:spPr>
          <a:xfrm>
            <a:off x="4286250" y="4562475"/>
            <a:ext cx="3476625" cy="1114425"/>
          </a:xfrm>
          <a:prstGeom prst="rect">
            <a:avLst/>
          </a:prstGeom>
          <a:noFill/>
        </p:spPr>
        <p:txBody>
          <a:bodyPr wrap="none" lIns="0" tIns="0" rIns="0" bIns="0">
            <a:spAutoFit/>
          </a:bodyPr>
          <a:lstStyle/>
          <a:p>
            <a:pPr>
              <a:lnSpc>
                <a:spcPts val="1720"/>
              </a:lnSpc>
              <a:spcBef>
                <a:spcPts val="0"/>
              </a:spcBef>
              <a:spcAft>
                <a:spcPts val="0"/>
              </a:spcAft>
              <a:defRPr sz="1410" b="0">
                <a:solidFill>
                  <a:srgbClr val="F7F6F1"/>
                </a:solidFill>
                <a:latin typeface="DejaVu Sans"/>
              </a:defRPr>
            </a:pPr>
            <a:r>
              <a:t>14.1 — шүүхийн өмнө тэгш байх.</a:t>
            </a:r>
          </a:p>
          <a:p>
            <a:pPr>
              <a:lnSpc>
                <a:spcPts val="1720"/>
              </a:lnSpc>
              <a:spcBef>
                <a:spcPts val="0"/>
              </a:spcBef>
              <a:spcAft>
                <a:spcPts val="0"/>
              </a:spcAft>
              <a:defRPr sz="1410" b="0">
                <a:solidFill>
                  <a:srgbClr val="F7F6F1"/>
                </a:solidFill>
                <a:latin typeface="DejaVu Sans"/>
              </a:defRPr>
            </a:pPr>
            <a:r>
              <a:t>14.3(d) — эрүүгийн хэрэгт шударга</a:t>
            </a:r>
          </a:p>
          <a:p>
            <a:pPr>
              <a:lnSpc>
                <a:spcPts val="1720"/>
              </a:lnSpc>
              <a:spcBef>
                <a:spcPts val="0"/>
              </a:spcBef>
              <a:spcAft>
                <a:spcPts val="0"/>
              </a:spcAft>
              <a:defRPr sz="1410" b="0">
                <a:solidFill>
                  <a:srgbClr val="F7F6F1"/>
                </a:solidFill>
                <a:latin typeface="DejaVu Sans"/>
              </a:defRPr>
            </a:pPr>
            <a:r>
              <a:t>ёсны шаардлагаар, төлбөрийн</a:t>
            </a:r>
          </a:p>
          <a:p>
            <a:pPr>
              <a:lnSpc>
                <a:spcPts val="1720"/>
              </a:lnSpc>
              <a:spcBef>
                <a:spcPts val="0"/>
              </a:spcBef>
              <a:spcAft>
                <a:spcPts val="0"/>
              </a:spcAft>
              <a:defRPr sz="1410" b="0">
                <a:solidFill>
                  <a:srgbClr val="F7F6F1"/>
                </a:solidFill>
                <a:latin typeface="DejaVu Sans"/>
              </a:defRPr>
            </a:pPr>
            <a:r>
              <a:t>чадваргүй бол үнэ төлбөргүй</a:t>
            </a:r>
          </a:p>
          <a:p>
            <a:pPr>
              <a:lnSpc>
                <a:spcPts val="1720"/>
              </a:lnSpc>
              <a:spcBef>
                <a:spcPts val="0"/>
              </a:spcBef>
              <a:spcAft>
                <a:spcPts val="0"/>
              </a:spcAft>
              <a:defRPr sz="1410" b="0">
                <a:solidFill>
                  <a:srgbClr val="F7F6F1"/>
                </a:solidFill>
                <a:latin typeface="DejaVu Sans"/>
              </a:defRPr>
            </a:pPr>
            <a:r>
              <a:t>өмгөөлөл.</a:t>
            </a:r>
          </a:p>
        </p:txBody>
      </p:sp>
      <p:cxnSp>
        <p:nvCxnSpPr>
          <p:cNvPr id="17" name="Connector 16"/>
          <p:cNvCxnSpPr/>
          <p:nvPr/>
        </p:nvCxnSpPr>
        <p:spPr>
          <a:xfrm>
            <a:off x="8115300" y="3038475"/>
            <a:ext cx="3571875" cy="0"/>
          </a:xfrm>
          <a:prstGeom prst="line">
            <a:avLst/>
          </a:prstGeom>
          <a:ln w="9525">
            <a:solidFill>
              <a:srgbClr val="A9AFB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15300" y="3200400"/>
            <a:ext cx="3476625" cy="762000"/>
          </a:xfrm>
          <a:prstGeom prst="rect">
            <a:avLst/>
          </a:prstGeom>
          <a:noFill/>
        </p:spPr>
        <p:txBody>
          <a:bodyPr wrap="none" lIns="0" tIns="0" rIns="0" bIns="0">
            <a:spAutoFit/>
          </a:bodyPr>
          <a:lstStyle/>
          <a:p>
            <a:pPr>
              <a:lnSpc>
                <a:spcPts val="5965"/>
              </a:lnSpc>
              <a:spcBef>
                <a:spcPts val="0"/>
              </a:spcBef>
              <a:spcAft>
                <a:spcPts val="0"/>
              </a:spcAft>
              <a:defRPr sz="4889" b="1">
                <a:solidFill>
                  <a:srgbClr val="F5FF58"/>
                </a:solidFill>
                <a:latin typeface="Open Sans Condensed"/>
              </a:defRPr>
            </a:pPr>
            <a:r>
              <a:t>25</a:t>
            </a:r>
          </a:p>
        </p:txBody>
      </p:sp>
      <p:sp>
        <p:nvSpPr>
          <p:cNvPr id="19" name="TextBox 18"/>
          <p:cNvSpPr txBox="1"/>
          <p:nvPr/>
        </p:nvSpPr>
        <p:spPr>
          <a:xfrm>
            <a:off x="8115300" y="4095750"/>
            <a:ext cx="3476625"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F7F6F1"/>
                </a:solidFill>
                <a:latin typeface="DejaVu Sans"/>
              </a:defRPr>
            </a:pPr>
            <a:r>
              <a:t>Оролцох эрх</a:t>
            </a:r>
          </a:p>
        </p:txBody>
      </p:sp>
      <p:sp>
        <p:nvSpPr>
          <p:cNvPr id="20" name="TextBox 19"/>
          <p:cNvSpPr txBox="1"/>
          <p:nvPr/>
        </p:nvSpPr>
        <p:spPr>
          <a:xfrm>
            <a:off x="8115300" y="4562475"/>
            <a:ext cx="3476625" cy="1114425"/>
          </a:xfrm>
          <a:prstGeom prst="rect">
            <a:avLst/>
          </a:prstGeom>
          <a:noFill/>
        </p:spPr>
        <p:txBody>
          <a:bodyPr wrap="none" lIns="0" tIns="0" rIns="0" bIns="0">
            <a:spAutoFit/>
          </a:bodyPr>
          <a:lstStyle/>
          <a:p>
            <a:pPr>
              <a:lnSpc>
                <a:spcPts val="1720"/>
              </a:lnSpc>
              <a:spcBef>
                <a:spcPts val="0"/>
              </a:spcBef>
              <a:spcAft>
                <a:spcPts val="0"/>
              </a:spcAft>
              <a:defRPr sz="1410" b="0">
                <a:solidFill>
                  <a:srgbClr val="F7F6F1"/>
                </a:solidFill>
                <a:latin typeface="DejaVu Sans"/>
              </a:defRPr>
            </a:pPr>
            <a:r>
              <a:t>25 дугаар зүйл: иргэд төрийн</a:t>
            </a:r>
          </a:p>
          <a:p>
            <a:pPr>
              <a:lnSpc>
                <a:spcPts val="1720"/>
              </a:lnSpc>
              <a:spcBef>
                <a:spcPts val="0"/>
              </a:spcBef>
              <a:spcAft>
                <a:spcPts val="0"/>
              </a:spcAft>
              <a:defRPr sz="1410" b="0">
                <a:solidFill>
                  <a:srgbClr val="F7F6F1"/>
                </a:solidFill>
                <a:latin typeface="DejaVu Sans"/>
              </a:defRPr>
            </a:pPr>
            <a:r>
              <a:t>хэрэгт оролцох, сонгох, сонгогдох</a:t>
            </a:r>
          </a:p>
          <a:p>
            <a:pPr>
              <a:lnSpc>
                <a:spcPts val="1720"/>
              </a:lnSpc>
              <a:spcBef>
                <a:spcPts val="0"/>
              </a:spcBef>
              <a:spcAft>
                <a:spcPts val="0"/>
              </a:spcAft>
              <a:defRPr sz="1410" b="0">
                <a:solidFill>
                  <a:srgbClr val="F7F6F1"/>
                </a:solidFill>
                <a:latin typeface="DejaVu Sans"/>
              </a:defRPr>
            </a:pPr>
            <a:r>
              <a:t>боломжтой. Ядуурал нь иргэний</a:t>
            </a:r>
          </a:p>
          <a:p>
            <a:pPr>
              <a:lnSpc>
                <a:spcPts val="1720"/>
              </a:lnSpc>
              <a:spcBef>
                <a:spcPts val="0"/>
              </a:spcBef>
              <a:spcAft>
                <a:spcPts val="0"/>
              </a:spcAft>
              <a:defRPr sz="1410" b="0">
                <a:solidFill>
                  <a:srgbClr val="F7F6F1"/>
                </a:solidFill>
                <a:latin typeface="DejaVu Sans"/>
              </a:defRPr>
            </a:pPr>
            <a:r>
              <a:t>дуу хоолойг үгүйсгэх үндэслэл биш.</a:t>
            </a:r>
          </a:p>
        </p:txBody>
      </p:sp>
      <p:sp>
        <p:nvSpPr>
          <p:cNvPr id="21" name="Rectangle 20"/>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Хүчин төгөлдөр: 1976.03.23. Орлогоос үл хамаарах хамгаалалт нь нийгмийн эрхээ шаардах боломжийг дэмжинэ.</a:t>
            </a:r>
          </a:p>
        </p:txBody>
      </p:sp>
      <p:cxnSp>
        <p:nvCxnSpPr>
          <p:cNvPr id="23" name="Connector 22"/>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ICCPR</a:t>
            </a:r>
          </a:p>
        </p:txBody>
      </p:sp>
      <p:sp>
        <p:nvSpPr>
          <p:cNvPr id="25" name="TextBox 24"/>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13—30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03 / ТӨРИЙН ҮҮРЭГ</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758"/>
              </a:lnSpc>
              <a:spcBef>
                <a:spcPts val="0"/>
              </a:spcBef>
              <a:spcAft>
                <a:spcPts val="0"/>
              </a:spcAft>
              <a:defRPr sz="3900" b="1">
                <a:solidFill>
                  <a:srgbClr val="101114"/>
                </a:solidFill>
                <a:latin typeface="Open Sans Condensed"/>
              </a:defRPr>
            </a:pPr>
            <a:r>
              <a:t>ТӨРИЙН ҮҮРЭГ / 3 ТҮВШИН</a:t>
            </a:r>
          </a:p>
        </p:txBody>
      </p:sp>
      <p:sp>
        <p:nvSpPr>
          <p:cNvPr id="7" name="Rectangle 6"/>
          <p:cNvSpPr/>
          <p:nvPr/>
        </p:nvSpPr>
        <p:spPr>
          <a:xfrm>
            <a:off x="457200" y="2162175"/>
            <a:ext cx="3571875" cy="320992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175" y="2257425"/>
            <a:ext cx="3200400" cy="942975"/>
          </a:xfrm>
          <a:prstGeom prst="rect">
            <a:avLst/>
          </a:prstGeom>
          <a:noFill/>
        </p:spPr>
        <p:txBody>
          <a:bodyPr wrap="none" lIns="0" tIns="0" rIns="0" bIns="0">
            <a:spAutoFit/>
          </a:bodyPr>
          <a:lstStyle/>
          <a:p>
            <a:pPr>
              <a:lnSpc>
                <a:spcPts val="7393"/>
              </a:lnSpc>
              <a:spcBef>
                <a:spcPts val="0"/>
              </a:spcBef>
              <a:spcAft>
                <a:spcPts val="0"/>
              </a:spcAft>
              <a:defRPr sz="6059" b="1">
                <a:solidFill>
                  <a:srgbClr val="F5FF58"/>
                </a:solidFill>
                <a:latin typeface="Open Sans Condensed"/>
              </a:defRPr>
            </a:pPr>
            <a:r>
              <a:t>01</a:t>
            </a:r>
          </a:p>
        </p:txBody>
      </p:sp>
      <p:sp>
        <p:nvSpPr>
          <p:cNvPr id="9" name="TextBox 8"/>
          <p:cNvSpPr txBox="1"/>
          <p:nvPr/>
        </p:nvSpPr>
        <p:spPr>
          <a:xfrm>
            <a:off x="647700" y="3400425"/>
            <a:ext cx="3190875" cy="457200"/>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ХҮНДЭТГЭХ</a:t>
            </a:r>
          </a:p>
        </p:txBody>
      </p:sp>
      <p:sp>
        <p:nvSpPr>
          <p:cNvPr id="10" name="TextBox 9"/>
          <p:cNvSpPr txBox="1"/>
          <p:nvPr/>
        </p:nvSpPr>
        <p:spPr>
          <a:xfrm>
            <a:off x="647700" y="3981450"/>
            <a:ext cx="3171825" cy="1219200"/>
          </a:xfrm>
          <a:prstGeom prst="rect">
            <a:avLst/>
          </a:prstGeom>
          <a:noFill/>
        </p:spPr>
        <p:txBody>
          <a:bodyPr wrap="none" lIns="0" tIns="0" rIns="0" bIns="0">
            <a:spAutoFit/>
          </a:bodyPr>
          <a:lstStyle/>
          <a:p>
            <a:pPr>
              <a:lnSpc>
                <a:spcPts val="1921"/>
              </a:lnSpc>
              <a:spcBef>
                <a:spcPts val="0"/>
              </a:spcBef>
              <a:spcAft>
                <a:spcPts val="0"/>
              </a:spcAft>
              <a:defRPr sz="1575" b="0">
                <a:solidFill>
                  <a:srgbClr val="F7F6F1"/>
                </a:solidFill>
                <a:latin typeface="DejaVu Sans"/>
              </a:defRPr>
            </a:pPr>
            <a:r>
              <a:t>Төр өөрөө эрхэд үндэслэлгүй</a:t>
            </a:r>
          </a:p>
          <a:p>
            <a:pPr>
              <a:lnSpc>
                <a:spcPts val="1921"/>
              </a:lnSpc>
              <a:spcBef>
                <a:spcPts val="0"/>
              </a:spcBef>
              <a:spcAft>
                <a:spcPts val="0"/>
              </a:spcAft>
              <a:defRPr sz="1575" b="0">
                <a:solidFill>
                  <a:srgbClr val="F7F6F1"/>
                </a:solidFill>
                <a:latin typeface="DejaVu Sans"/>
              </a:defRPr>
            </a:pPr>
            <a:r>
              <a:t>халдахгүй. Жишээ: хууль</a:t>
            </a:r>
          </a:p>
          <a:p>
            <a:pPr>
              <a:lnSpc>
                <a:spcPts val="1921"/>
              </a:lnSpc>
              <a:spcBef>
                <a:spcPts val="0"/>
              </a:spcBef>
              <a:spcAft>
                <a:spcPts val="0"/>
              </a:spcAft>
              <a:defRPr sz="1575" b="0">
                <a:solidFill>
                  <a:srgbClr val="F7F6F1"/>
                </a:solidFill>
                <a:latin typeface="DejaVu Sans"/>
              </a:defRPr>
            </a:pPr>
            <a:r>
              <a:t>ёсны хамгаалалтгүй албадан</a:t>
            </a:r>
          </a:p>
          <a:p>
            <a:pPr>
              <a:lnSpc>
                <a:spcPts val="1921"/>
              </a:lnSpc>
              <a:spcBef>
                <a:spcPts val="0"/>
              </a:spcBef>
              <a:spcAft>
                <a:spcPts val="0"/>
              </a:spcAft>
              <a:defRPr sz="1575" b="0">
                <a:solidFill>
                  <a:srgbClr val="F7F6F1"/>
                </a:solidFill>
                <a:latin typeface="DejaVu Sans"/>
              </a:defRPr>
            </a:pPr>
            <a:r>
              <a:t>нүүлгэхээс зайлсхийх.</a:t>
            </a:r>
          </a:p>
        </p:txBody>
      </p:sp>
      <p:sp>
        <p:nvSpPr>
          <p:cNvPr id="11" name="Rectangle 10"/>
          <p:cNvSpPr/>
          <p:nvPr/>
        </p:nvSpPr>
        <p:spPr>
          <a:xfrm>
            <a:off x="4257675" y="2409825"/>
            <a:ext cx="3571875" cy="32099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8650" y="2505075"/>
            <a:ext cx="3200400" cy="942975"/>
          </a:xfrm>
          <a:prstGeom prst="rect">
            <a:avLst/>
          </a:prstGeom>
          <a:noFill/>
        </p:spPr>
        <p:txBody>
          <a:bodyPr wrap="none" lIns="0" tIns="0" rIns="0" bIns="0">
            <a:spAutoFit/>
          </a:bodyPr>
          <a:lstStyle/>
          <a:p>
            <a:pPr>
              <a:lnSpc>
                <a:spcPts val="7393"/>
              </a:lnSpc>
              <a:spcBef>
                <a:spcPts val="0"/>
              </a:spcBef>
              <a:spcAft>
                <a:spcPts val="0"/>
              </a:spcAft>
              <a:defRPr sz="6059" b="1">
                <a:solidFill>
                  <a:srgbClr val="F5FF58"/>
                </a:solidFill>
                <a:latin typeface="Open Sans Condensed"/>
              </a:defRPr>
            </a:pPr>
            <a:r>
              <a:t>02</a:t>
            </a:r>
          </a:p>
        </p:txBody>
      </p:sp>
      <p:sp>
        <p:nvSpPr>
          <p:cNvPr id="13" name="TextBox 12"/>
          <p:cNvSpPr txBox="1"/>
          <p:nvPr/>
        </p:nvSpPr>
        <p:spPr>
          <a:xfrm>
            <a:off x="4448175" y="3648075"/>
            <a:ext cx="3190875" cy="457200"/>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ХАМГААЛАХ</a:t>
            </a:r>
          </a:p>
        </p:txBody>
      </p:sp>
      <p:sp>
        <p:nvSpPr>
          <p:cNvPr id="14" name="TextBox 13"/>
          <p:cNvSpPr txBox="1"/>
          <p:nvPr/>
        </p:nvSpPr>
        <p:spPr>
          <a:xfrm>
            <a:off x="4448175" y="4229100"/>
            <a:ext cx="3171825" cy="1219200"/>
          </a:xfrm>
          <a:prstGeom prst="rect">
            <a:avLst/>
          </a:prstGeom>
          <a:noFill/>
        </p:spPr>
        <p:txBody>
          <a:bodyPr wrap="none" lIns="0" tIns="0" rIns="0" bIns="0">
            <a:spAutoFit/>
          </a:bodyPr>
          <a:lstStyle/>
          <a:p>
            <a:pPr>
              <a:lnSpc>
                <a:spcPts val="1884"/>
              </a:lnSpc>
              <a:spcBef>
                <a:spcPts val="0"/>
              </a:spcBef>
              <a:spcAft>
                <a:spcPts val="0"/>
              </a:spcAft>
              <a:defRPr sz="1545" b="0">
                <a:solidFill>
                  <a:srgbClr val="F7F6F1"/>
                </a:solidFill>
                <a:latin typeface="DejaVu Sans"/>
              </a:defRPr>
            </a:pPr>
            <a:r>
              <a:t>Гуравдагч этгээдийн</a:t>
            </a:r>
          </a:p>
          <a:p>
            <a:pPr>
              <a:lnSpc>
                <a:spcPts val="1884"/>
              </a:lnSpc>
              <a:spcBef>
                <a:spcPts val="0"/>
              </a:spcBef>
              <a:spcAft>
                <a:spcPts val="0"/>
              </a:spcAft>
              <a:defRPr sz="1545" b="0">
                <a:solidFill>
                  <a:srgbClr val="F7F6F1"/>
                </a:solidFill>
                <a:latin typeface="DejaVu Sans"/>
              </a:defRPr>
            </a:pPr>
            <a:r>
              <a:t>зөрчлөөс хамгаална. Жишээ:</a:t>
            </a:r>
          </a:p>
          <a:p>
            <a:pPr>
              <a:lnSpc>
                <a:spcPts val="1884"/>
              </a:lnSpc>
              <a:spcBef>
                <a:spcPts val="0"/>
              </a:spcBef>
              <a:spcAft>
                <a:spcPts val="0"/>
              </a:spcAft>
              <a:defRPr sz="1545" b="0">
                <a:solidFill>
                  <a:srgbClr val="F7F6F1"/>
                </a:solidFill>
                <a:latin typeface="DejaVu Sans"/>
              </a:defRPr>
            </a:pPr>
            <a:r>
              <a:t>ажил олгогчийн ялгаварлал,</a:t>
            </a:r>
          </a:p>
          <a:p>
            <a:pPr>
              <a:lnSpc>
                <a:spcPts val="1884"/>
              </a:lnSpc>
              <a:spcBef>
                <a:spcPts val="0"/>
              </a:spcBef>
              <a:spcAft>
                <a:spcPts val="0"/>
              </a:spcAft>
              <a:defRPr sz="1545" b="0">
                <a:solidFill>
                  <a:srgbClr val="F7F6F1"/>
                </a:solidFill>
                <a:latin typeface="DejaVu Sans"/>
              </a:defRPr>
            </a:pPr>
            <a:r>
              <a:t>аюултай нөхцөлд хяналт</a:t>
            </a:r>
          </a:p>
          <a:p>
            <a:pPr>
              <a:lnSpc>
                <a:spcPts val="1884"/>
              </a:lnSpc>
              <a:spcBef>
                <a:spcPts val="0"/>
              </a:spcBef>
              <a:spcAft>
                <a:spcPts val="0"/>
              </a:spcAft>
              <a:defRPr sz="1545" b="0">
                <a:solidFill>
                  <a:srgbClr val="F7F6F1"/>
                </a:solidFill>
                <a:latin typeface="DejaVu Sans"/>
              </a:defRPr>
            </a:pPr>
            <a:r>
              <a:t>тавих.</a:t>
            </a:r>
          </a:p>
        </p:txBody>
      </p:sp>
      <p:sp>
        <p:nvSpPr>
          <p:cNvPr id="15" name="Rectangle 14"/>
          <p:cNvSpPr/>
          <p:nvPr/>
        </p:nvSpPr>
        <p:spPr>
          <a:xfrm>
            <a:off x="8058150" y="2657475"/>
            <a:ext cx="3571875" cy="320992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9124" y="2752725"/>
            <a:ext cx="3200400" cy="942975"/>
          </a:xfrm>
          <a:prstGeom prst="rect">
            <a:avLst/>
          </a:prstGeom>
          <a:noFill/>
        </p:spPr>
        <p:txBody>
          <a:bodyPr wrap="none" lIns="0" tIns="0" rIns="0" bIns="0">
            <a:spAutoFit/>
          </a:bodyPr>
          <a:lstStyle/>
          <a:p>
            <a:pPr>
              <a:lnSpc>
                <a:spcPts val="7393"/>
              </a:lnSpc>
              <a:spcBef>
                <a:spcPts val="0"/>
              </a:spcBef>
              <a:spcAft>
                <a:spcPts val="0"/>
              </a:spcAft>
              <a:defRPr sz="6059" b="1">
                <a:solidFill>
                  <a:srgbClr val="F5FF58"/>
                </a:solidFill>
                <a:latin typeface="Open Sans Condensed"/>
              </a:defRPr>
            </a:pPr>
            <a:r>
              <a:t>03</a:t>
            </a:r>
          </a:p>
        </p:txBody>
      </p:sp>
      <p:sp>
        <p:nvSpPr>
          <p:cNvPr id="17" name="TextBox 16"/>
          <p:cNvSpPr txBox="1"/>
          <p:nvPr/>
        </p:nvSpPr>
        <p:spPr>
          <a:xfrm>
            <a:off x="8248650" y="3895725"/>
            <a:ext cx="3190875" cy="457200"/>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ХАНГАХ</a:t>
            </a:r>
          </a:p>
        </p:txBody>
      </p:sp>
      <p:sp>
        <p:nvSpPr>
          <p:cNvPr id="18" name="TextBox 17"/>
          <p:cNvSpPr txBox="1"/>
          <p:nvPr/>
        </p:nvSpPr>
        <p:spPr>
          <a:xfrm>
            <a:off x="8248650" y="4476750"/>
            <a:ext cx="3171825" cy="1219200"/>
          </a:xfrm>
          <a:prstGeom prst="rect">
            <a:avLst/>
          </a:prstGeom>
          <a:noFill/>
        </p:spPr>
        <p:txBody>
          <a:bodyPr wrap="none" lIns="0" tIns="0" rIns="0" bIns="0">
            <a:spAutoFit/>
          </a:bodyPr>
          <a:lstStyle/>
          <a:p>
            <a:pPr>
              <a:lnSpc>
                <a:spcPts val="1811"/>
              </a:lnSpc>
              <a:spcBef>
                <a:spcPts val="0"/>
              </a:spcBef>
              <a:spcAft>
                <a:spcPts val="0"/>
              </a:spcAft>
              <a:defRPr sz="1485" b="0">
                <a:solidFill>
                  <a:srgbClr val="F7F6F1"/>
                </a:solidFill>
                <a:latin typeface="DejaVu Sans"/>
              </a:defRPr>
            </a:pPr>
            <a:r>
              <a:t>Хууль, төсөв, үйлчилгээ,</a:t>
            </a:r>
          </a:p>
          <a:p>
            <a:pPr>
              <a:lnSpc>
                <a:spcPts val="1811"/>
              </a:lnSpc>
              <a:spcBef>
                <a:spcPts val="0"/>
              </a:spcBef>
              <a:spcAft>
                <a:spcPts val="0"/>
              </a:spcAft>
              <a:defRPr sz="1485" b="0">
                <a:solidFill>
                  <a:srgbClr val="F7F6F1"/>
                </a:solidFill>
                <a:latin typeface="DejaVu Sans"/>
              </a:defRPr>
            </a:pPr>
            <a:r>
              <a:t>хүртээмжийг бүрдүүлнэ.</a:t>
            </a:r>
          </a:p>
          <a:p>
            <a:pPr>
              <a:lnSpc>
                <a:spcPts val="1811"/>
              </a:lnSpc>
              <a:spcBef>
                <a:spcPts val="0"/>
              </a:spcBef>
              <a:spcAft>
                <a:spcPts val="0"/>
              </a:spcAft>
              <a:defRPr sz="1485" b="0">
                <a:solidFill>
                  <a:srgbClr val="F7F6F1"/>
                </a:solidFill>
                <a:latin typeface="DejaVu Sans"/>
              </a:defRPr>
            </a:pPr>
            <a:r>
              <a:t>Жишээ: анхан шатны тусламж,</a:t>
            </a:r>
          </a:p>
          <a:p>
            <a:pPr>
              <a:lnSpc>
                <a:spcPts val="1811"/>
              </a:lnSpc>
              <a:spcBef>
                <a:spcPts val="0"/>
              </a:spcBef>
              <a:spcAft>
                <a:spcPts val="0"/>
              </a:spcAft>
              <a:defRPr sz="1485" b="0">
                <a:solidFill>
                  <a:srgbClr val="F7F6F1"/>
                </a:solidFill>
                <a:latin typeface="DejaVu Sans"/>
              </a:defRPr>
            </a:pPr>
            <a:r>
              <a:t>нийгмийн хамгаалалд бодит</a:t>
            </a:r>
          </a:p>
          <a:p>
            <a:pPr>
              <a:lnSpc>
                <a:spcPts val="1811"/>
              </a:lnSpc>
              <a:spcBef>
                <a:spcPts val="0"/>
              </a:spcBef>
              <a:spcAft>
                <a:spcPts val="0"/>
              </a:spcAft>
              <a:defRPr sz="1485" b="0">
                <a:solidFill>
                  <a:srgbClr val="F7F6F1"/>
                </a:solidFill>
                <a:latin typeface="DejaVu Sans"/>
              </a:defRPr>
            </a:pPr>
            <a:r>
              <a:t>хүрэх боломж.</a:t>
            </a:r>
          </a:p>
        </p:txBody>
      </p:sp>
      <p:sp>
        <p:nvSpPr>
          <p:cNvPr id="19" name="Rectangle 18"/>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“Төсөв хүрэхгүй” гэдэг тайлбар нь ялгаварлал, дур зоргын шийдвэрийг зөвтгөхгүй.</a:t>
            </a:r>
          </a:p>
        </p:txBody>
      </p:sp>
      <p:cxnSp>
        <p:nvCxnSpPr>
          <p:cNvPr id="21" name="Connector 20"/>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ICESCR · GC3</a:t>
            </a:r>
          </a:p>
        </p:txBody>
      </p:sp>
      <p:sp>
        <p:nvSpPr>
          <p:cNvPr id="23" name="TextBox 22"/>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14—30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03 / ОГТЛОЛЦСОН ЭМЗЭГ БАЙДАЛ</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6083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66"/>
              </a:lnSpc>
              <a:spcBef>
                <a:spcPts val="0"/>
              </a:spcBef>
              <a:spcAft>
                <a:spcPts val="0"/>
              </a:spcAft>
              <a:defRPr sz="3825" b="1">
                <a:solidFill>
                  <a:srgbClr val="F7F6F1"/>
                </a:solidFill>
                <a:latin typeface="Open Sans Condensed"/>
              </a:defRPr>
            </a:pPr>
            <a:r>
              <a:t>НЭГ ХҮНД ОЛОН СААД</a:t>
            </a:r>
          </a:p>
          <a:p>
            <a:pPr>
              <a:lnSpc>
                <a:spcPts val="4666"/>
              </a:lnSpc>
              <a:spcBef>
                <a:spcPts val="0"/>
              </a:spcBef>
              <a:spcAft>
                <a:spcPts val="0"/>
              </a:spcAft>
              <a:defRPr sz="3825" b="1">
                <a:solidFill>
                  <a:srgbClr val="F7F6F1"/>
                </a:solidFill>
                <a:latin typeface="Open Sans Condensed"/>
              </a:defRPr>
            </a:pPr>
            <a:r>
              <a:t>ДАВХЦАЖ БОЛНО.</a:t>
            </a:r>
          </a:p>
        </p:txBody>
      </p:sp>
      <p:sp>
        <p:nvSpPr>
          <p:cNvPr id="7" name="Rectangle 6"/>
          <p:cNvSpPr/>
          <p:nvPr/>
        </p:nvSpPr>
        <p:spPr>
          <a:xfrm>
            <a:off x="457200" y="2886075"/>
            <a:ext cx="3571875" cy="2714625"/>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8650" y="3000375"/>
            <a:ext cx="3238500" cy="619125"/>
          </a:xfrm>
          <a:prstGeom prst="rect">
            <a:avLst/>
          </a:prstGeom>
          <a:noFill/>
        </p:spPr>
        <p:txBody>
          <a:bodyPr wrap="none" lIns="0" tIns="0" rIns="0" bIns="0">
            <a:spAutoFit/>
          </a:bodyPr>
          <a:lstStyle/>
          <a:p>
            <a:pPr>
              <a:lnSpc>
                <a:spcPts val="4849"/>
              </a:lnSpc>
              <a:spcBef>
                <a:spcPts val="0"/>
              </a:spcBef>
              <a:spcAft>
                <a:spcPts val="0"/>
              </a:spcAft>
              <a:defRPr sz="3975" b="1">
                <a:solidFill>
                  <a:srgbClr val="101114"/>
                </a:solidFill>
                <a:latin typeface="Open Sans Condensed"/>
              </a:defRPr>
            </a:pPr>
            <a:r>
              <a:t>CRC</a:t>
            </a:r>
          </a:p>
        </p:txBody>
      </p:sp>
      <p:sp>
        <p:nvSpPr>
          <p:cNvPr id="9" name="TextBox 8"/>
          <p:cNvSpPr txBox="1"/>
          <p:nvPr/>
        </p:nvSpPr>
        <p:spPr>
          <a:xfrm>
            <a:off x="647700" y="3676649"/>
            <a:ext cx="3190875" cy="247649"/>
          </a:xfrm>
          <a:prstGeom prst="rect">
            <a:avLst/>
          </a:prstGeom>
          <a:noFill/>
        </p:spPr>
        <p:txBody>
          <a:bodyPr wrap="none" lIns="0" tIns="0" rIns="0" bIns="0">
            <a:spAutoFit/>
          </a:bodyPr>
          <a:lstStyle/>
          <a:p>
            <a:pPr>
              <a:lnSpc>
                <a:spcPts val="1464"/>
              </a:lnSpc>
              <a:spcBef>
                <a:spcPts val="0"/>
              </a:spcBef>
              <a:spcAft>
                <a:spcPts val="0"/>
              </a:spcAft>
              <a:defRPr sz="1200" b="0">
                <a:solidFill>
                  <a:srgbClr val="164BFF"/>
                </a:solidFill>
                <a:latin typeface="DejaVu Sans Mono"/>
              </a:defRPr>
            </a:pPr>
            <a:r>
              <a:t>1989.11.20</a:t>
            </a:r>
          </a:p>
        </p:txBody>
      </p:sp>
      <p:sp>
        <p:nvSpPr>
          <p:cNvPr id="10" name="TextBox 9"/>
          <p:cNvSpPr txBox="1"/>
          <p:nvPr/>
        </p:nvSpPr>
        <p:spPr>
          <a:xfrm>
            <a:off x="647700" y="4048124"/>
            <a:ext cx="3190875" cy="800100"/>
          </a:xfrm>
          <a:prstGeom prst="rect">
            <a:avLst/>
          </a:prstGeom>
          <a:noFill/>
        </p:spPr>
        <p:txBody>
          <a:bodyPr wrap="none" lIns="0" tIns="0" rIns="0" bIns="0">
            <a:spAutoFit/>
          </a:bodyPr>
          <a:lstStyle/>
          <a:p>
            <a:pPr>
              <a:lnSpc>
                <a:spcPts val="1829"/>
              </a:lnSpc>
              <a:spcBef>
                <a:spcPts val="0"/>
              </a:spcBef>
              <a:spcAft>
                <a:spcPts val="0"/>
              </a:spcAft>
              <a:defRPr sz="1500" b="1">
                <a:solidFill>
                  <a:srgbClr val="101114"/>
                </a:solidFill>
                <a:latin typeface="DejaVu Sans"/>
              </a:defRPr>
            </a:pPr>
            <a:r>
              <a:t>2 — ялгаварлахгүй; 3 —</a:t>
            </a:r>
          </a:p>
          <a:p>
            <a:pPr>
              <a:lnSpc>
                <a:spcPts val="1829"/>
              </a:lnSpc>
              <a:spcBef>
                <a:spcPts val="0"/>
              </a:spcBef>
              <a:spcAft>
                <a:spcPts val="0"/>
              </a:spcAft>
              <a:defRPr sz="1500" b="1">
                <a:solidFill>
                  <a:srgbClr val="101114"/>
                </a:solidFill>
                <a:latin typeface="DejaVu Sans"/>
              </a:defRPr>
            </a:pPr>
            <a:r>
              <a:t>дээд ашиг сонирхол; 26, 27</a:t>
            </a:r>
          </a:p>
          <a:p>
            <a:pPr>
              <a:lnSpc>
                <a:spcPts val="1829"/>
              </a:lnSpc>
              <a:spcBef>
                <a:spcPts val="0"/>
              </a:spcBef>
              <a:spcAft>
                <a:spcPts val="0"/>
              </a:spcAft>
              <a:defRPr sz="1500" b="1">
                <a:solidFill>
                  <a:srgbClr val="101114"/>
                </a:solidFill>
                <a:latin typeface="DejaVu Sans"/>
              </a:defRPr>
            </a:pPr>
            <a:r>
              <a:t>— хамгаалал, амьжиргаа</a:t>
            </a:r>
          </a:p>
        </p:txBody>
      </p:sp>
      <p:sp>
        <p:nvSpPr>
          <p:cNvPr id="11" name="TextBox 10"/>
          <p:cNvSpPr txBox="1"/>
          <p:nvPr/>
        </p:nvSpPr>
        <p:spPr>
          <a:xfrm>
            <a:off x="647700" y="4962525"/>
            <a:ext cx="3190875"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101114"/>
                </a:solidFill>
                <a:latin typeface="DejaVu Sans"/>
              </a:defRPr>
            </a:pPr>
            <a:r>
              <a:t>Өрхийн ядуурлаас шалтгаалсан</a:t>
            </a:r>
          </a:p>
          <a:p>
            <a:pPr>
              <a:lnSpc>
                <a:spcPts val="1647"/>
              </a:lnSpc>
              <a:spcBef>
                <a:spcPts val="0"/>
              </a:spcBef>
              <a:spcAft>
                <a:spcPts val="0"/>
              </a:spcAft>
              <a:defRPr sz="1350" b="0">
                <a:solidFill>
                  <a:srgbClr val="101114"/>
                </a:solidFill>
                <a:latin typeface="DejaVu Sans"/>
              </a:defRPr>
            </a:pPr>
            <a:r>
              <a:t>хүүхдийн хомсдол</a:t>
            </a:r>
          </a:p>
        </p:txBody>
      </p:sp>
      <p:sp>
        <p:nvSpPr>
          <p:cNvPr id="12" name="Rectangle 11"/>
          <p:cNvSpPr/>
          <p:nvPr/>
        </p:nvSpPr>
        <p:spPr>
          <a:xfrm>
            <a:off x="4276725" y="2886075"/>
            <a:ext cx="3571875" cy="27146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8175" y="3000375"/>
            <a:ext cx="3238500" cy="619125"/>
          </a:xfrm>
          <a:prstGeom prst="rect">
            <a:avLst/>
          </a:prstGeom>
          <a:noFill/>
        </p:spPr>
        <p:txBody>
          <a:bodyPr wrap="none" lIns="0" tIns="0" rIns="0" bIns="0">
            <a:spAutoFit/>
          </a:bodyPr>
          <a:lstStyle/>
          <a:p>
            <a:pPr>
              <a:lnSpc>
                <a:spcPts val="4849"/>
              </a:lnSpc>
              <a:spcBef>
                <a:spcPts val="0"/>
              </a:spcBef>
              <a:spcAft>
                <a:spcPts val="0"/>
              </a:spcAft>
              <a:defRPr sz="3975" b="1">
                <a:solidFill>
                  <a:srgbClr val="101114"/>
                </a:solidFill>
                <a:latin typeface="Open Sans Condensed"/>
              </a:defRPr>
            </a:pPr>
            <a:r>
              <a:t>CEDAW</a:t>
            </a:r>
          </a:p>
        </p:txBody>
      </p:sp>
      <p:sp>
        <p:nvSpPr>
          <p:cNvPr id="14" name="TextBox 13"/>
          <p:cNvSpPr txBox="1"/>
          <p:nvPr/>
        </p:nvSpPr>
        <p:spPr>
          <a:xfrm>
            <a:off x="4467225" y="3676649"/>
            <a:ext cx="3190875" cy="247649"/>
          </a:xfrm>
          <a:prstGeom prst="rect">
            <a:avLst/>
          </a:prstGeom>
          <a:noFill/>
        </p:spPr>
        <p:txBody>
          <a:bodyPr wrap="none" lIns="0" tIns="0" rIns="0" bIns="0">
            <a:spAutoFit/>
          </a:bodyPr>
          <a:lstStyle/>
          <a:p>
            <a:pPr>
              <a:lnSpc>
                <a:spcPts val="1464"/>
              </a:lnSpc>
              <a:spcBef>
                <a:spcPts val="0"/>
              </a:spcBef>
              <a:spcAft>
                <a:spcPts val="0"/>
              </a:spcAft>
              <a:defRPr sz="1200" b="0">
                <a:solidFill>
                  <a:srgbClr val="164BFF"/>
                </a:solidFill>
                <a:latin typeface="DejaVu Sans Mono"/>
              </a:defRPr>
            </a:pPr>
            <a:r>
              <a:t>1979.12.18</a:t>
            </a:r>
          </a:p>
        </p:txBody>
      </p:sp>
      <p:sp>
        <p:nvSpPr>
          <p:cNvPr id="15" name="TextBox 14"/>
          <p:cNvSpPr txBox="1"/>
          <p:nvPr/>
        </p:nvSpPr>
        <p:spPr>
          <a:xfrm>
            <a:off x="4467225" y="4048124"/>
            <a:ext cx="3190875" cy="800100"/>
          </a:xfrm>
          <a:prstGeom prst="rect">
            <a:avLst/>
          </a:prstGeom>
          <a:noFill/>
        </p:spPr>
        <p:txBody>
          <a:bodyPr wrap="none" lIns="0" tIns="0" rIns="0" bIns="0">
            <a:spAutoFit/>
          </a:bodyPr>
          <a:lstStyle/>
          <a:p>
            <a:pPr>
              <a:lnSpc>
                <a:spcPts val="1829"/>
              </a:lnSpc>
              <a:spcBef>
                <a:spcPts val="0"/>
              </a:spcBef>
              <a:spcAft>
                <a:spcPts val="0"/>
              </a:spcAft>
              <a:defRPr sz="1500" b="1">
                <a:solidFill>
                  <a:srgbClr val="101114"/>
                </a:solidFill>
                <a:latin typeface="DejaVu Sans"/>
              </a:defRPr>
            </a:pPr>
            <a:r>
              <a:t>11 — хөдөлмөр; 12 — эрүүл</a:t>
            </a:r>
          </a:p>
          <a:p>
            <a:pPr>
              <a:lnSpc>
                <a:spcPts val="1829"/>
              </a:lnSpc>
              <a:spcBef>
                <a:spcPts val="0"/>
              </a:spcBef>
              <a:spcAft>
                <a:spcPts val="0"/>
              </a:spcAft>
              <a:defRPr sz="1500" b="1">
                <a:solidFill>
                  <a:srgbClr val="101114"/>
                </a:solidFill>
                <a:latin typeface="DejaVu Sans"/>
              </a:defRPr>
            </a:pPr>
            <a:r>
              <a:t>мэнд; 14 — хөдөөгийн</a:t>
            </a:r>
          </a:p>
          <a:p>
            <a:pPr>
              <a:lnSpc>
                <a:spcPts val="1829"/>
              </a:lnSpc>
              <a:spcBef>
                <a:spcPts val="0"/>
              </a:spcBef>
              <a:spcAft>
                <a:spcPts val="0"/>
              </a:spcAft>
              <a:defRPr sz="1500" b="1">
                <a:solidFill>
                  <a:srgbClr val="101114"/>
                </a:solidFill>
                <a:latin typeface="DejaVu Sans"/>
              </a:defRPr>
            </a:pPr>
            <a:r>
              <a:t>эмэгтэйчүүд</a:t>
            </a:r>
          </a:p>
        </p:txBody>
      </p:sp>
      <p:sp>
        <p:nvSpPr>
          <p:cNvPr id="16" name="TextBox 15"/>
          <p:cNvSpPr txBox="1"/>
          <p:nvPr/>
        </p:nvSpPr>
        <p:spPr>
          <a:xfrm>
            <a:off x="4467225" y="4962525"/>
            <a:ext cx="3190875"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101114"/>
                </a:solidFill>
                <a:latin typeface="DejaVu Sans"/>
              </a:defRPr>
            </a:pPr>
            <a:r>
              <a:t>Асаргааны ачаалал, ажлын ба</a:t>
            </a:r>
          </a:p>
          <a:p>
            <a:pPr>
              <a:lnSpc>
                <a:spcPts val="1647"/>
              </a:lnSpc>
              <a:spcBef>
                <a:spcPts val="0"/>
              </a:spcBef>
              <a:spcAft>
                <a:spcPts val="0"/>
              </a:spcAft>
              <a:defRPr sz="1350" b="0">
                <a:solidFill>
                  <a:srgbClr val="101114"/>
                </a:solidFill>
                <a:latin typeface="DejaVu Sans"/>
              </a:defRPr>
            </a:pPr>
            <a:r>
              <a:t>үйлчилгээний тэгш бус байдал</a:t>
            </a:r>
          </a:p>
        </p:txBody>
      </p:sp>
      <p:sp>
        <p:nvSpPr>
          <p:cNvPr id="17" name="Rectangle 16"/>
          <p:cNvSpPr/>
          <p:nvPr/>
        </p:nvSpPr>
        <p:spPr>
          <a:xfrm>
            <a:off x="8096249" y="2886075"/>
            <a:ext cx="3571875" cy="2714625"/>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7699" y="3000375"/>
            <a:ext cx="3238500" cy="619125"/>
          </a:xfrm>
          <a:prstGeom prst="rect">
            <a:avLst/>
          </a:prstGeom>
          <a:noFill/>
        </p:spPr>
        <p:txBody>
          <a:bodyPr wrap="none" lIns="0" tIns="0" rIns="0" bIns="0">
            <a:spAutoFit/>
          </a:bodyPr>
          <a:lstStyle/>
          <a:p>
            <a:pPr>
              <a:lnSpc>
                <a:spcPts val="4849"/>
              </a:lnSpc>
              <a:spcBef>
                <a:spcPts val="0"/>
              </a:spcBef>
              <a:spcAft>
                <a:spcPts val="0"/>
              </a:spcAft>
              <a:defRPr sz="3975" b="1">
                <a:solidFill>
                  <a:srgbClr val="101114"/>
                </a:solidFill>
                <a:latin typeface="Open Sans Condensed"/>
              </a:defRPr>
            </a:pPr>
            <a:r>
              <a:t>CRPD</a:t>
            </a:r>
          </a:p>
        </p:txBody>
      </p:sp>
      <p:sp>
        <p:nvSpPr>
          <p:cNvPr id="19" name="TextBox 18"/>
          <p:cNvSpPr txBox="1"/>
          <p:nvPr/>
        </p:nvSpPr>
        <p:spPr>
          <a:xfrm>
            <a:off x="8286750" y="3676649"/>
            <a:ext cx="3190875" cy="247649"/>
          </a:xfrm>
          <a:prstGeom prst="rect">
            <a:avLst/>
          </a:prstGeom>
          <a:noFill/>
        </p:spPr>
        <p:txBody>
          <a:bodyPr wrap="none" lIns="0" tIns="0" rIns="0" bIns="0">
            <a:spAutoFit/>
          </a:bodyPr>
          <a:lstStyle/>
          <a:p>
            <a:pPr>
              <a:lnSpc>
                <a:spcPts val="1464"/>
              </a:lnSpc>
              <a:spcBef>
                <a:spcPts val="0"/>
              </a:spcBef>
              <a:spcAft>
                <a:spcPts val="0"/>
              </a:spcAft>
              <a:defRPr sz="1200" b="0">
                <a:solidFill>
                  <a:srgbClr val="164BFF"/>
                </a:solidFill>
                <a:latin typeface="DejaVu Sans Mono"/>
              </a:defRPr>
            </a:pPr>
            <a:r>
              <a:t>2006.12.13</a:t>
            </a:r>
          </a:p>
        </p:txBody>
      </p:sp>
      <p:sp>
        <p:nvSpPr>
          <p:cNvPr id="20" name="TextBox 19"/>
          <p:cNvSpPr txBox="1"/>
          <p:nvPr/>
        </p:nvSpPr>
        <p:spPr>
          <a:xfrm>
            <a:off x="8286750" y="4048124"/>
            <a:ext cx="3190875" cy="800100"/>
          </a:xfrm>
          <a:prstGeom prst="rect">
            <a:avLst/>
          </a:prstGeom>
          <a:noFill/>
        </p:spPr>
        <p:txBody>
          <a:bodyPr wrap="none" lIns="0" tIns="0" rIns="0" bIns="0">
            <a:spAutoFit/>
          </a:bodyPr>
          <a:lstStyle/>
          <a:p>
            <a:pPr>
              <a:lnSpc>
                <a:spcPts val="1829"/>
              </a:lnSpc>
              <a:spcBef>
                <a:spcPts val="0"/>
              </a:spcBef>
              <a:spcAft>
                <a:spcPts val="0"/>
              </a:spcAft>
              <a:defRPr sz="1500" b="1">
                <a:solidFill>
                  <a:srgbClr val="101114"/>
                </a:solidFill>
                <a:latin typeface="DejaVu Sans"/>
              </a:defRPr>
            </a:pPr>
            <a:r>
              <a:t>9 — хүртээмж; 24 —</a:t>
            </a:r>
          </a:p>
          <a:p>
            <a:pPr>
              <a:lnSpc>
                <a:spcPts val="1829"/>
              </a:lnSpc>
              <a:spcBef>
                <a:spcPts val="0"/>
              </a:spcBef>
              <a:spcAft>
                <a:spcPts val="0"/>
              </a:spcAft>
              <a:defRPr sz="1500" b="1">
                <a:solidFill>
                  <a:srgbClr val="101114"/>
                </a:solidFill>
                <a:latin typeface="DejaVu Sans"/>
              </a:defRPr>
            </a:pPr>
            <a:r>
              <a:t>боловсрол; 27 — ажил; 28 —</a:t>
            </a:r>
          </a:p>
          <a:p>
            <a:pPr>
              <a:lnSpc>
                <a:spcPts val="1829"/>
              </a:lnSpc>
              <a:spcBef>
                <a:spcPts val="0"/>
              </a:spcBef>
              <a:spcAft>
                <a:spcPts val="0"/>
              </a:spcAft>
              <a:defRPr sz="1500" b="1">
                <a:solidFill>
                  <a:srgbClr val="101114"/>
                </a:solidFill>
                <a:latin typeface="DejaVu Sans"/>
              </a:defRPr>
            </a:pPr>
            <a:r>
              <a:t>амьжиргаа, хамгаалал</a:t>
            </a:r>
          </a:p>
        </p:txBody>
      </p:sp>
      <p:sp>
        <p:nvSpPr>
          <p:cNvPr id="21" name="TextBox 20"/>
          <p:cNvSpPr txBox="1"/>
          <p:nvPr/>
        </p:nvSpPr>
        <p:spPr>
          <a:xfrm>
            <a:off x="8286750" y="4962525"/>
            <a:ext cx="3190875"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101114"/>
                </a:solidFill>
                <a:latin typeface="DejaVu Sans"/>
              </a:defRPr>
            </a:pPr>
            <a:r>
              <a:t>Биеийн орчин, мэдээлэл, ажилд</a:t>
            </a:r>
          </a:p>
          <a:p>
            <a:pPr>
              <a:lnSpc>
                <a:spcPts val="1647"/>
              </a:lnSpc>
              <a:spcBef>
                <a:spcPts val="0"/>
              </a:spcBef>
              <a:spcAft>
                <a:spcPts val="0"/>
              </a:spcAft>
              <a:defRPr sz="1350" b="0">
                <a:solidFill>
                  <a:srgbClr val="101114"/>
                </a:solidFill>
                <a:latin typeface="DejaVu Sans"/>
              </a:defRPr>
            </a:pPr>
            <a:r>
              <a:t>оролцох саад</a:t>
            </a:r>
          </a:p>
        </p:txBody>
      </p:sp>
      <p:sp>
        <p:nvSpPr>
          <p:cNvPr id="22" name="Rectangle 21"/>
          <p:cNvSpPr/>
          <p:nvPr/>
        </p:nvSpPr>
        <p:spPr>
          <a:xfrm>
            <a:off x="419100" y="5895975"/>
            <a:ext cx="11353800" cy="35242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Нэг хүнд хэд хэдэн саад давхцаж болно. Ижил үйлчилгээ бүх хүнд ижил үр дүн өгөхгүй.</a:t>
            </a:r>
          </a:p>
        </p:txBody>
      </p:sp>
      <p:cxnSp>
        <p:nvCxnSpPr>
          <p:cNvPr id="24" name="Connector 23"/>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CRC · CEDAW · CRPD</a:t>
            </a:r>
          </a:p>
        </p:txBody>
      </p:sp>
      <p:sp>
        <p:nvSpPr>
          <p:cNvPr id="26" name="TextBox 25"/>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15—30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04 / ХӨДӨЛМӨР</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392"/>
              </a:lnSpc>
              <a:spcBef>
                <a:spcPts val="0"/>
              </a:spcBef>
              <a:spcAft>
                <a:spcPts val="0"/>
              </a:spcAft>
              <a:defRPr sz="3600" b="1">
                <a:solidFill>
                  <a:srgbClr val="101114"/>
                </a:solidFill>
                <a:latin typeface="Open Sans Condensed"/>
              </a:defRPr>
            </a:pPr>
            <a:r>
              <a:t>АЖИЛТАЙ ≠ ЯДУУРЛААС ХАМГААЛАГДСАН</a:t>
            </a:r>
          </a:p>
        </p:txBody>
      </p:sp>
      <p:sp>
        <p:nvSpPr>
          <p:cNvPr id="7" name="Rectangle 6"/>
          <p:cNvSpPr/>
          <p:nvPr/>
        </p:nvSpPr>
        <p:spPr>
          <a:xfrm>
            <a:off x="447675" y="4629150"/>
            <a:ext cx="619125" cy="8667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3000" y="4171950"/>
            <a:ext cx="619125" cy="13239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38324" y="3714750"/>
            <a:ext cx="619125" cy="17811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33650" y="3257550"/>
            <a:ext cx="619125" cy="22383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8975" y="2800350"/>
            <a:ext cx="619125" cy="26955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274695" y="2447925"/>
            <a:ext cx="228600" cy="228600"/>
          </a:xfrm>
          <a:prstGeom prst="ellipse">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83254" y="2767965"/>
            <a:ext cx="411479" cy="457200"/>
          </a:xfrm>
          <a:prstGeom prst="roundRect">
            <a:avLst>
              <a:gd name="adj" fmla="val 22222"/>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274695" y="3133725"/>
            <a:ext cx="0" cy="388620"/>
          </a:xfrm>
          <a:prstGeom prst="line">
            <a:avLst/>
          </a:prstGeom>
          <a:ln w="114300">
            <a:solidFill>
              <a:srgbClr val="10111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503295" y="3133725"/>
            <a:ext cx="0" cy="388620"/>
          </a:xfrm>
          <a:prstGeom prst="line">
            <a:avLst/>
          </a:prstGeom>
          <a:ln w="114300">
            <a:solidFill>
              <a:srgbClr val="10111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76250" y="2076450"/>
            <a:ext cx="3219450" cy="438150"/>
          </a:xfrm>
          <a:prstGeom prst="rect">
            <a:avLst/>
          </a:prstGeom>
          <a:noFill/>
        </p:spPr>
        <p:txBody>
          <a:bodyPr wrap="none" lIns="0" tIns="0" rIns="0" bIns="0">
            <a:spAutoFit/>
          </a:bodyPr>
          <a:lstStyle/>
          <a:p>
            <a:pPr>
              <a:lnSpc>
                <a:spcPts val="3202"/>
              </a:lnSpc>
              <a:spcBef>
                <a:spcPts val="0"/>
              </a:spcBef>
              <a:spcAft>
                <a:spcPts val="0"/>
              </a:spcAft>
              <a:defRPr sz="2625" b="1">
                <a:solidFill>
                  <a:srgbClr val="164BFF"/>
                </a:solidFill>
                <a:latin typeface="Open Sans Condensed"/>
              </a:defRPr>
            </a:pPr>
            <a:r>
              <a:t>ХӨДӨЛМӨР</a:t>
            </a:r>
          </a:p>
        </p:txBody>
      </p:sp>
      <p:cxnSp>
        <p:nvCxnSpPr>
          <p:cNvPr id="17" name="Connector 16"/>
          <p:cNvCxnSpPr/>
          <p:nvPr/>
        </p:nvCxnSpPr>
        <p:spPr>
          <a:xfrm>
            <a:off x="4752975" y="1981199"/>
            <a:ext cx="6896100"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752975" y="2124075"/>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01</a:t>
            </a:r>
          </a:p>
        </p:txBody>
      </p:sp>
      <p:sp>
        <p:nvSpPr>
          <p:cNvPr id="19" name="TextBox 18"/>
          <p:cNvSpPr txBox="1"/>
          <p:nvPr/>
        </p:nvSpPr>
        <p:spPr>
          <a:xfrm>
            <a:off x="5581650" y="2105025"/>
            <a:ext cx="606742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Эрхийн тулгуур</a:t>
            </a:r>
          </a:p>
        </p:txBody>
      </p:sp>
      <p:sp>
        <p:nvSpPr>
          <p:cNvPr id="20" name="TextBox 19"/>
          <p:cNvSpPr txBox="1"/>
          <p:nvPr/>
        </p:nvSpPr>
        <p:spPr>
          <a:xfrm>
            <a:off x="5581650" y="2486025"/>
            <a:ext cx="6067425" cy="695325"/>
          </a:xfrm>
          <a:prstGeom prst="rect">
            <a:avLst/>
          </a:prstGeom>
          <a:noFill/>
        </p:spPr>
        <p:txBody>
          <a:bodyPr wrap="none" lIns="0" tIns="0" rIns="0" bIns="0">
            <a:spAutoFit/>
          </a:bodyPr>
          <a:lstStyle/>
          <a:p>
            <a:pPr>
              <a:lnSpc>
                <a:spcPts val="1738"/>
              </a:lnSpc>
              <a:spcBef>
                <a:spcPts val="0"/>
              </a:spcBef>
              <a:spcAft>
                <a:spcPts val="0"/>
              </a:spcAft>
              <a:defRPr sz="1425" b="0">
                <a:solidFill>
                  <a:srgbClr val="101114"/>
                </a:solidFill>
                <a:latin typeface="DejaVu Sans"/>
              </a:defRPr>
            </a:pPr>
            <a:r>
              <a:t>Үндсэн хууль • 1992.01.13: 16.4.</a:t>
            </a:r>
          </a:p>
          <a:p>
            <a:pPr>
              <a:lnSpc>
                <a:spcPts val="1738"/>
              </a:lnSpc>
              <a:spcBef>
                <a:spcPts val="0"/>
              </a:spcBef>
              <a:spcAft>
                <a:spcPts val="0"/>
              </a:spcAft>
              <a:defRPr sz="1425" b="0">
                <a:solidFill>
                  <a:srgbClr val="101114"/>
                </a:solidFill>
                <a:latin typeface="DejaVu Sans"/>
              </a:defRPr>
            </a:pPr>
            <a:r>
              <a:t>Хөдөлмөрийн тухай хууль • 2021.07.02: 6 дугаар зүйл.</a:t>
            </a:r>
          </a:p>
          <a:p>
            <a:pPr>
              <a:lnSpc>
                <a:spcPts val="1738"/>
              </a:lnSpc>
              <a:spcBef>
                <a:spcPts val="0"/>
              </a:spcBef>
              <a:spcAft>
                <a:spcPts val="0"/>
              </a:spcAft>
              <a:defRPr sz="1425" b="0">
                <a:solidFill>
                  <a:srgbClr val="101114"/>
                </a:solidFill>
                <a:latin typeface="DejaVu Sans"/>
              </a:defRPr>
            </a:pPr>
            <a:r>
              <a:t>ICESCR • 1966.12.16: 6, 7 дугаар зүйл.</a:t>
            </a:r>
          </a:p>
        </p:txBody>
      </p:sp>
      <p:cxnSp>
        <p:nvCxnSpPr>
          <p:cNvPr id="21" name="Connector 20"/>
          <p:cNvCxnSpPr/>
          <p:nvPr/>
        </p:nvCxnSpPr>
        <p:spPr>
          <a:xfrm>
            <a:off x="4752975" y="3238500"/>
            <a:ext cx="6896100"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752975" y="3381375"/>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02</a:t>
            </a:r>
          </a:p>
        </p:txBody>
      </p:sp>
      <p:sp>
        <p:nvSpPr>
          <p:cNvPr id="23" name="TextBox 22"/>
          <p:cNvSpPr txBox="1"/>
          <p:nvPr/>
        </p:nvSpPr>
        <p:spPr>
          <a:xfrm>
            <a:off x="5581650" y="3362325"/>
            <a:ext cx="606742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Эрсдэлийн цэг</a:t>
            </a:r>
          </a:p>
        </p:txBody>
      </p:sp>
      <p:sp>
        <p:nvSpPr>
          <p:cNvPr id="24" name="TextBox 23"/>
          <p:cNvSpPr txBox="1"/>
          <p:nvPr/>
        </p:nvSpPr>
        <p:spPr>
          <a:xfrm>
            <a:off x="5581650" y="3743325"/>
            <a:ext cx="6067425" cy="695325"/>
          </a:xfrm>
          <a:prstGeom prst="rect">
            <a:avLst/>
          </a:prstGeom>
          <a:noFill/>
        </p:spPr>
        <p:txBody>
          <a:bodyPr wrap="none" lIns="0" tIns="0" rIns="0" bIns="0">
            <a:spAutoFit/>
          </a:bodyPr>
          <a:lstStyle/>
          <a:p>
            <a:pPr>
              <a:lnSpc>
                <a:spcPts val="1738"/>
              </a:lnSpc>
              <a:spcBef>
                <a:spcPts val="0"/>
              </a:spcBef>
              <a:spcAft>
                <a:spcPts val="0"/>
              </a:spcAft>
              <a:defRPr sz="1425" b="0">
                <a:solidFill>
                  <a:srgbClr val="101114"/>
                </a:solidFill>
                <a:latin typeface="DejaVu Sans"/>
              </a:defRPr>
            </a:pPr>
            <a:r>
              <a:t>Бага цалин, тогтворгүй цаг, албан бус ажил; хөдөлмөрийн</a:t>
            </a:r>
          </a:p>
          <a:p>
            <a:pPr>
              <a:lnSpc>
                <a:spcPts val="1738"/>
              </a:lnSpc>
              <a:spcBef>
                <a:spcPts val="0"/>
              </a:spcBef>
              <a:spcAft>
                <a:spcPts val="0"/>
              </a:spcAft>
              <a:defRPr sz="1425" b="0">
                <a:solidFill>
                  <a:srgbClr val="101114"/>
                </a:solidFill>
                <a:latin typeface="DejaVu Sans"/>
              </a:defRPr>
            </a:pPr>
            <a:r>
              <a:t>аюулгүй байдал; даатгалын хамрагдалтын тасалдал.</a:t>
            </a:r>
          </a:p>
        </p:txBody>
      </p:sp>
      <p:cxnSp>
        <p:nvCxnSpPr>
          <p:cNvPr id="25" name="Connector 24"/>
          <p:cNvCxnSpPr/>
          <p:nvPr/>
        </p:nvCxnSpPr>
        <p:spPr>
          <a:xfrm>
            <a:off x="4752975" y="4495800"/>
            <a:ext cx="6896100"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2975" y="4638675"/>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03</a:t>
            </a:r>
          </a:p>
        </p:txBody>
      </p:sp>
      <p:sp>
        <p:nvSpPr>
          <p:cNvPr id="27" name="TextBox 26"/>
          <p:cNvSpPr txBox="1"/>
          <p:nvPr/>
        </p:nvSpPr>
        <p:spPr>
          <a:xfrm>
            <a:off x="5581650" y="4619625"/>
            <a:ext cx="6067425"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Шалгах баримт</a:t>
            </a:r>
          </a:p>
        </p:txBody>
      </p:sp>
      <p:sp>
        <p:nvSpPr>
          <p:cNvPr id="28" name="TextBox 27"/>
          <p:cNvSpPr txBox="1"/>
          <p:nvPr/>
        </p:nvSpPr>
        <p:spPr>
          <a:xfrm>
            <a:off x="5581650" y="5000625"/>
            <a:ext cx="6067425" cy="695325"/>
          </a:xfrm>
          <a:prstGeom prst="rect">
            <a:avLst/>
          </a:prstGeom>
          <a:noFill/>
        </p:spPr>
        <p:txBody>
          <a:bodyPr wrap="none" lIns="0" tIns="0" rIns="0" bIns="0">
            <a:spAutoFit/>
          </a:bodyPr>
          <a:lstStyle/>
          <a:p>
            <a:pPr>
              <a:lnSpc>
                <a:spcPts val="1738"/>
              </a:lnSpc>
              <a:spcBef>
                <a:spcPts val="0"/>
              </a:spcBef>
              <a:spcAft>
                <a:spcPts val="0"/>
              </a:spcAft>
              <a:defRPr sz="1425" b="0">
                <a:solidFill>
                  <a:srgbClr val="101114"/>
                </a:solidFill>
                <a:latin typeface="DejaVu Sans"/>
              </a:defRPr>
            </a:pPr>
            <a:r>
              <a:t>Гэрээ, ажлын цагийн бүртгэл, цалин олголт, даатгалын</a:t>
            </a:r>
          </a:p>
          <a:p>
            <a:pPr>
              <a:lnSpc>
                <a:spcPts val="1738"/>
              </a:lnSpc>
              <a:spcBef>
                <a:spcPts val="0"/>
              </a:spcBef>
              <a:spcAft>
                <a:spcPts val="0"/>
              </a:spcAft>
              <a:defRPr sz="1425" b="0">
                <a:solidFill>
                  <a:srgbClr val="101114"/>
                </a:solidFill>
                <a:latin typeface="DejaVu Sans"/>
              </a:defRPr>
            </a:pPr>
            <a:r>
              <a:t>мэдээлэл. Хууль ёсны шаардлагыг ажилтанд ойлгомжтой</a:t>
            </a:r>
          </a:p>
          <a:p>
            <a:pPr>
              <a:lnSpc>
                <a:spcPts val="1738"/>
              </a:lnSpc>
              <a:spcBef>
                <a:spcPts val="0"/>
              </a:spcBef>
              <a:spcAft>
                <a:spcPts val="0"/>
              </a:spcAft>
              <a:defRPr sz="1425" b="0">
                <a:solidFill>
                  <a:srgbClr val="101114"/>
                </a:solidFill>
                <a:latin typeface="DejaVu Sans"/>
              </a:defRPr>
            </a:pPr>
            <a:r>
              <a:t>тайлбарлах.</a:t>
            </a:r>
          </a:p>
        </p:txBody>
      </p:sp>
      <p:sp>
        <p:nvSpPr>
          <p:cNvPr id="29" name="Rectangle 28"/>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Шийдэл: зохистой нөхцөл + хэрэгжих хяналт + ажилтны гомдол гаргах аюулгүй боломж.</a:t>
            </a:r>
          </a:p>
        </p:txBody>
      </p:sp>
      <p:cxnSp>
        <p:nvCxnSpPr>
          <p:cNvPr id="31" name="Connector 30"/>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ҮХ · ХТ · ICESCR</a:t>
            </a:r>
          </a:p>
        </p:txBody>
      </p:sp>
      <p:sp>
        <p:nvSpPr>
          <p:cNvPr id="33" name="TextBox 32"/>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16—30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04 / БОЛОВСРОЛ</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5947"/>
              </a:lnSpc>
              <a:spcBef>
                <a:spcPts val="0"/>
              </a:spcBef>
              <a:spcAft>
                <a:spcPts val="0"/>
              </a:spcAft>
              <a:defRPr sz="4875" b="1">
                <a:solidFill>
                  <a:srgbClr val="F7F6F1"/>
                </a:solidFill>
                <a:latin typeface="Open Sans Condensed"/>
              </a:defRPr>
            </a:pPr>
            <a:r>
              <a:t>ТӨЛБӨРГҮЙ СУРГУУЛЬ</a:t>
            </a:r>
          </a:p>
        </p:txBody>
      </p:sp>
      <p:sp>
        <p:nvSpPr>
          <p:cNvPr id="7" name="TextBox 6"/>
          <p:cNvSpPr txBox="1"/>
          <p:nvPr/>
        </p:nvSpPr>
        <p:spPr>
          <a:xfrm>
            <a:off x="476250" y="1666875"/>
            <a:ext cx="10982325" cy="1000125"/>
          </a:xfrm>
          <a:prstGeom prst="rect">
            <a:avLst/>
          </a:prstGeom>
          <a:noFill/>
        </p:spPr>
        <p:txBody>
          <a:bodyPr wrap="none" lIns="0" tIns="0" rIns="0" bIns="0">
            <a:spAutoFit/>
          </a:bodyPr>
          <a:lstStyle/>
          <a:p>
            <a:pPr>
              <a:lnSpc>
                <a:spcPts val="6588"/>
              </a:lnSpc>
              <a:spcBef>
                <a:spcPts val="0"/>
              </a:spcBef>
              <a:spcAft>
                <a:spcPts val="0"/>
              </a:spcAft>
              <a:defRPr sz="5400" b="1">
                <a:solidFill>
                  <a:srgbClr val="F5FF58"/>
                </a:solidFill>
                <a:latin typeface="Open Sans Condensed"/>
              </a:defRPr>
            </a:pPr>
            <a:r>
              <a:t>≠ ЗАРДАЛГҮЙ СУРАЛЦАХ</a:t>
            </a:r>
          </a:p>
        </p:txBody>
      </p:sp>
      <p:sp>
        <p:nvSpPr>
          <p:cNvPr id="8" name="Rectangle 7"/>
          <p:cNvSpPr/>
          <p:nvPr/>
        </p:nvSpPr>
        <p:spPr>
          <a:xfrm>
            <a:off x="476250" y="3057525"/>
            <a:ext cx="2667000" cy="6667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3209925"/>
            <a:ext cx="2400300" cy="428625"/>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ТЭЭВЭР</a:t>
            </a:r>
          </a:p>
        </p:txBody>
      </p:sp>
      <p:sp>
        <p:nvSpPr>
          <p:cNvPr id="10" name="Rectangle 9"/>
          <p:cNvSpPr/>
          <p:nvPr/>
        </p:nvSpPr>
        <p:spPr>
          <a:xfrm>
            <a:off x="3343275" y="3057525"/>
            <a:ext cx="2667000" cy="6667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6625" y="3209925"/>
            <a:ext cx="2400300" cy="428625"/>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ХЭРЭГСЭЛ</a:t>
            </a:r>
          </a:p>
        </p:txBody>
      </p:sp>
      <p:sp>
        <p:nvSpPr>
          <p:cNvPr id="12" name="Rectangle 11"/>
          <p:cNvSpPr/>
          <p:nvPr/>
        </p:nvSpPr>
        <p:spPr>
          <a:xfrm>
            <a:off x="6210300" y="3057525"/>
            <a:ext cx="2667000" cy="6667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3650" y="3209925"/>
            <a:ext cx="2400300" cy="428625"/>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ИНТЕРНЕТ</a:t>
            </a:r>
          </a:p>
        </p:txBody>
      </p:sp>
      <p:sp>
        <p:nvSpPr>
          <p:cNvPr id="14" name="Rectangle 13"/>
          <p:cNvSpPr/>
          <p:nvPr/>
        </p:nvSpPr>
        <p:spPr>
          <a:xfrm>
            <a:off x="9077325" y="3057525"/>
            <a:ext cx="2667000" cy="6667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0675" y="3209925"/>
            <a:ext cx="2400300" cy="428625"/>
          </a:xfrm>
          <a:prstGeom prst="rect">
            <a:avLst/>
          </a:prstGeom>
          <a:noFill/>
        </p:spPr>
        <p:txBody>
          <a:bodyPr wrap="none" lIns="0" tIns="0" rIns="0" bIns="0">
            <a:spAutoFit/>
          </a:bodyPr>
          <a:lstStyle/>
          <a:p>
            <a:pPr>
              <a:lnSpc>
                <a:spcPts val="2745"/>
              </a:lnSpc>
              <a:spcBef>
                <a:spcPts val="0"/>
              </a:spcBef>
              <a:spcAft>
                <a:spcPts val="0"/>
              </a:spcAft>
              <a:defRPr sz="2250" b="1">
                <a:solidFill>
                  <a:srgbClr val="F7F6F1"/>
                </a:solidFill>
                <a:latin typeface="Open Sans Condensed"/>
              </a:defRPr>
            </a:pPr>
            <a:r>
              <a:t>БАЙР</a:t>
            </a:r>
          </a:p>
        </p:txBody>
      </p:sp>
      <p:sp>
        <p:nvSpPr>
          <p:cNvPr id="16" name="TextBox 15"/>
          <p:cNvSpPr txBox="1"/>
          <p:nvPr/>
        </p:nvSpPr>
        <p:spPr>
          <a:xfrm>
            <a:off x="476250" y="4029075"/>
            <a:ext cx="3476625" cy="352425"/>
          </a:xfrm>
          <a:prstGeom prst="rect">
            <a:avLst/>
          </a:prstGeom>
          <a:noFill/>
        </p:spPr>
        <p:txBody>
          <a:bodyPr wrap="none" lIns="0" tIns="0" rIns="0" bIns="0">
            <a:spAutoFit/>
          </a:bodyPr>
          <a:lstStyle/>
          <a:p>
            <a:pPr>
              <a:lnSpc>
                <a:spcPts val="2104"/>
              </a:lnSpc>
              <a:spcBef>
                <a:spcPts val="0"/>
              </a:spcBef>
              <a:spcAft>
                <a:spcPts val="0"/>
              </a:spcAft>
              <a:defRPr sz="1725" b="1">
                <a:solidFill>
                  <a:srgbClr val="F5FF58"/>
                </a:solidFill>
                <a:latin typeface="DejaVu Sans"/>
              </a:defRPr>
            </a:pPr>
            <a:r>
              <a:t>Баталгаа</a:t>
            </a:r>
          </a:p>
        </p:txBody>
      </p:sp>
      <p:sp>
        <p:nvSpPr>
          <p:cNvPr id="17" name="TextBox 16"/>
          <p:cNvSpPr txBox="1"/>
          <p:nvPr/>
        </p:nvSpPr>
        <p:spPr>
          <a:xfrm>
            <a:off x="476250" y="4467225"/>
            <a:ext cx="3476625" cy="1190625"/>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Үндсэн хууль • 1992.01.13: 16.7.</a:t>
            </a:r>
          </a:p>
          <a:p>
            <a:pPr>
              <a:lnSpc>
                <a:spcPts val="1738"/>
              </a:lnSpc>
              <a:spcBef>
                <a:spcPts val="0"/>
              </a:spcBef>
              <a:spcAft>
                <a:spcPts val="0"/>
              </a:spcAft>
              <a:defRPr sz="1425" b="0">
                <a:solidFill>
                  <a:srgbClr val="F7F6F1"/>
                </a:solidFill>
                <a:latin typeface="DejaVu Sans"/>
              </a:defRPr>
            </a:pPr>
            <a:r>
              <a:t>Боловсролын ерөнхий хууль •</a:t>
            </a:r>
          </a:p>
          <a:p>
            <a:pPr>
              <a:lnSpc>
                <a:spcPts val="1738"/>
              </a:lnSpc>
              <a:spcBef>
                <a:spcPts val="0"/>
              </a:spcBef>
              <a:spcAft>
                <a:spcPts val="0"/>
              </a:spcAft>
              <a:defRPr sz="1425" b="0">
                <a:solidFill>
                  <a:srgbClr val="F7F6F1"/>
                </a:solidFill>
                <a:latin typeface="DejaVu Sans"/>
              </a:defRPr>
            </a:pPr>
            <a:r>
              <a:t>2023.07.07.</a:t>
            </a:r>
          </a:p>
          <a:p>
            <a:pPr>
              <a:lnSpc>
                <a:spcPts val="1738"/>
              </a:lnSpc>
              <a:spcBef>
                <a:spcPts val="0"/>
              </a:spcBef>
              <a:spcAft>
                <a:spcPts val="0"/>
              </a:spcAft>
              <a:defRPr sz="1425" b="0">
                <a:solidFill>
                  <a:srgbClr val="F7F6F1"/>
                </a:solidFill>
                <a:latin typeface="DejaVu Sans"/>
              </a:defRPr>
            </a:pPr>
            <a:r>
              <a:t>CRC • 1989.11.20: 28 дугаар зүйл.</a:t>
            </a:r>
          </a:p>
        </p:txBody>
      </p:sp>
      <p:sp>
        <p:nvSpPr>
          <p:cNvPr id="18" name="TextBox 17"/>
          <p:cNvSpPr txBox="1"/>
          <p:nvPr/>
        </p:nvSpPr>
        <p:spPr>
          <a:xfrm>
            <a:off x="4295775" y="4029075"/>
            <a:ext cx="3476625" cy="352425"/>
          </a:xfrm>
          <a:prstGeom prst="rect">
            <a:avLst/>
          </a:prstGeom>
          <a:noFill/>
        </p:spPr>
        <p:txBody>
          <a:bodyPr wrap="none" lIns="0" tIns="0" rIns="0" bIns="0">
            <a:spAutoFit/>
          </a:bodyPr>
          <a:lstStyle/>
          <a:p>
            <a:pPr>
              <a:lnSpc>
                <a:spcPts val="2104"/>
              </a:lnSpc>
              <a:spcBef>
                <a:spcPts val="0"/>
              </a:spcBef>
              <a:spcAft>
                <a:spcPts val="0"/>
              </a:spcAft>
              <a:defRPr sz="1725" b="1">
                <a:solidFill>
                  <a:srgbClr val="F5FF58"/>
                </a:solidFill>
                <a:latin typeface="DejaVu Sans"/>
              </a:defRPr>
            </a:pPr>
            <a:r>
              <a:t>Далд саад</a:t>
            </a:r>
          </a:p>
        </p:txBody>
      </p:sp>
      <p:sp>
        <p:nvSpPr>
          <p:cNvPr id="19" name="TextBox 18"/>
          <p:cNvSpPr txBox="1"/>
          <p:nvPr/>
        </p:nvSpPr>
        <p:spPr>
          <a:xfrm>
            <a:off x="4295775" y="4467225"/>
            <a:ext cx="3476625" cy="1190625"/>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Тээвэр, хэрэгсэл, дотуур байр,</a:t>
            </a:r>
          </a:p>
          <a:p>
            <a:pPr>
              <a:lnSpc>
                <a:spcPts val="1738"/>
              </a:lnSpc>
              <a:spcBef>
                <a:spcPts val="0"/>
              </a:spcBef>
              <a:spcAft>
                <a:spcPts val="0"/>
              </a:spcAft>
              <a:defRPr sz="1425" b="0">
                <a:solidFill>
                  <a:srgbClr val="F7F6F1"/>
                </a:solidFill>
                <a:latin typeface="DejaVu Sans"/>
              </a:defRPr>
            </a:pPr>
            <a:r>
              <a:t>интернет, төхөөрөмжийн зардал;</a:t>
            </a:r>
          </a:p>
          <a:p>
            <a:pPr>
              <a:lnSpc>
                <a:spcPts val="1738"/>
              </a:lnSpc>
              <a:spcBef>
                <a:spcPts val="0"/>
              </a:spcBef>
              <a:spcAft>
                <a:spcPts val="0"/>
              </a:spcAft>
              <a:defRPr sz="1425" b="0">
                <a:solidFill>
                  <a:srgbClr val="F7F6F1"/>
                </a:solidFill>
                <a:latin typeface="DejaVu Sans"/>
              </a:defRPr>
            </a:pPr>
            <a:r>
              <a:t>асаргаа, хөдөлмөрийн ачаалал.</a:t>
            </a:r>
          </a:p>
        </p:txBody>
      </p:sp>
      <p:sp>
        <p:nvSpPr>
          <p:cNvPr id="20" name="TextBox 19"/>
          <p:cNvSpPr txBox="1"/>
          <p:nvPr/>
        </p:nvSpPr>
        <p:spPr>
          <a:xfrm>
            <a:off x="8115300" y="4029075"/>
            <a:ext cx="3476625" cy="352425"/>
          </a:xfrm>
          <a:prstGeom prst="rect">
            <a:avLst/>
          </a:prstGeom>
          <a:noFill/>
        </p:spPr>
        <p:txBody>
          <a:bodyPr wrap="none" lIns="0" tIns="0" rIns="0" bIns="0">
            <a:spAutoFit/>
          </a:bodyPr>
          <a:lstStyle/>
          <a:p>
            <a:pPr>
              <a:lnSpc>
                <a:spcPts val="2104"/>
              </a:lnSpc>
              <a:spcBef>
                <a:spcPts val="0"/>
              </a:spcBef>
              <a:spcAft>
                <a:spcPts val="0"/>
              </a:spcAft>
              <a:defRPr sz="1725" b="1">
                <a:solidFill>
                  <a:srgbClr val="F5FF58"/>
                </a:solidFill>
                <a:latin typeface="DejaVu Sans"/>
              </a:defRPr>
            </a:pPr>
            <a:r>
              <a:t>Хэрэгжүүлэх арга</a:t>
            </a:r>
          </a:p>
        </p:txBody>
      </p:sp>
      <p:sp>
        <p:nvSpPr>
          <p:cNvPr id="21" name="TextBox 20"/>
          <p:cNvSpPr txBox="1"/>
          <p:nvPr/>
        </p:nvSpPr>
        <p:spPr>
          <a:xfrm>
            <a:off x="8115300" y="4467225"/>
            <a:ext cx="3476625" cy="1190625"/>
          </a:xfrm>
          <a:prstGeom prst="rect">
            <a:avLst/>
          </a:prstGeom>
          <a:noFill/>
        </p:spPr>
        <p:txBody>
          <a:bodyPr wrap="none" lIns="0" tIns="0" rIns="0" bIns="0">
            <a:spAutoFit/>
          </a:bodyPr>
          <a:lstStyle/>
          <a:p>
            <a:pPr>
              <a:lnSpc>
                <a:spcPts val="1738"/>
              </a:lnSpc>
              <a:spcBef>
                <a:spcPts val="0"/>
              </a:spcBef>
              <a:spcAft>
                <a:spcPts val="0"/>
              </a:spcAft>
              <a:defRPr sz="1425" b="0">
                <a:solidFill>
                  <a:srgbClr val="F7F6F1"/>
                </a:solidFill>
                <a:latin typeface="DejaVu Sans"/>
              </a:defRPr>
            </a:pPr>
            <a:r>
              <a:t>Сургуулиас завсардах эрсдэлийг</a:t>
            </a:r>
          </a:p>
          <a:p>
            <a:pPr>
              <a:lnSpc>
                <a:spcPts val="1738"/>
              </a:lnSpc>
              <a:spcBef>
                <a:spcPts val="0"/>
              </a:spcBef>
              <a:spcAft>
                <a:spcPts val="0"/>
              </a:spcAft>
              <a:defRPr sz="1425" b="0">
                <a:solidFill>
                  <a:srgbClr val="F7F6F1"/>
                </a:solidFill>
                <a:latin typeface="DejaVu Sans"/>
              </a:defRPr>
            </a:pPr>
            <a:r>
              <a:t>эрт илрүүлэх; хэрэгцээнд нийцсэн</a:t>
            </a:r>
          </a:p>
          <a:p>
            <a:pPr>
              <a:lnSpc>
                <a:spcPts val="1738"/>
              </a:lnSpc>
              <a:spcBef>
                <a:spcPts val="0"/>
              </a:spcBef>
              <a:spcAft>
                <a:spcPts val="0"/>
              </a:spcAft>
              <a:defRPr sz="1425" b="0">
                <a:solidFill>
                  <a:srgbClr val="F7F6F1"/>
                </a:solidFill>
                <a:latin typeface="DejaVu Sans"/>
              </a:defRPr>
            </a:pPr>
            <a:r>
              <a:t>дэмжлэг; хүртээмжтэй сургалтын</a:t>
            </a:r>
          </a:p>
          <a:p>
            <a:pPr>
              <a:lnSpc>
                <a:spcPts val="1738"/>
              </a:lnSpc>
              <a:spcBef>
                <a:spcPts val="0"/>
              </a:spcBef>
              <a:spcAft>
                <a:spcPts val="0"/>
              </a:spcAft>
              <a:defRPr sz="1425" b="0">
                <a:solidFill>
                  <a:srgbClr val="F7F6F1"/>
                </a:solidFill>
                <a:latin typeface="DejaVu Sans"/>
              </a:defRPr>
            </a:pPr>
            <a:r>
              <a:t>орчин.</a:t>
            </a:r>
          </a:p>
        </p:txBody>
      </p:sp>
      <p:sp>
        <p:nvSpPr>
          <p:cNvPr id="22" name="Rectangle 21"/>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Элсэлтээс гадна ирц, төгсөлт, сурлагын ахиц, гомдол шийдвэрлэлтийг хэмжинэ.</a:t>
            </a:r>
          </a:p>
        </p:txBody>
      </p:sp>
      <p:cxnSp>
        <p:nvCxnSpPr>
          <p:cNvPr id="24" name="Connector 23"/>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ҮХ · БЕХ · CRC</a:t>
            </a:r>
          </a:p>
        </p:txBody>
      </p:sp>
      <p:sp>
        <p:nvSpPr>
          <p:cNvPr id="26" name="TextBox 25"/>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17—30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04 / ЭРҮҮЛ МЭНД, ОРОН БАЙР</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666"/>
              </a:lnSpc>
              <a:spcBef>
                <a:spcPts val="0"/>
              </a:spcBef>
              <a:spcAft>
                <a:spcPts val="0"/>
              </a:spcAft>
              <a:defRPr sz="3825" b="1">
                <a:solidFill>
                  <a:srgbClr val="101114"/>
                </a:solidFill>
                <a:latin typeface="Open Sans Condensed"/>
              </a:defRPr>
            </a:pPr>
            <a:r>
              <a:t>ҮЙЛЧИЛГЭЭ БАЙГАА НЬ</a:t>
            </a:r>
          </a:p>
          <a:p>
            <a:pPr>
              <a:lnSpc>
                <a:spcPts val="4666"/>
              </a:lnSpc>
              <a:spcBef>
                <a:spcPts val="0"/>
              </a:spcBef>
              <a:spcAft>
                <a:spcPts val="0"/>
              </a:spcAft>
              <a:defRPr sz="3825" b="1">
                <a:solidFill>
                  <a:srgbClr val="101114"/>
                </a:solidFill>
                <a:latin typeface="Open Sans Condensed"/>
              </a:defRPr>
            </a:pPr>
            <a:r>
              <a:t>ХҮРТЭЭМЖТЭЙ ГЭСЭН ҮГ БИШ.</a:t>
            </a:r>
          </a:p>
        </p:txBody>
      </p:sp>
      <p:sp>
        <p:nvSpPr>
          <p:cNvPr id="7" name="Oval 6"/>
          <p:cNvSpPr/>
          <p:nvPr/>
        </p:nvSpPr>
        <p:spPr>
          <a:xfrm>
            <a:off x="466724" y="2809875"/>
            <a:ext cx="2752725" cy="2752725"/>
          </a:xfrm>
          <a:prstGeom prst="ellipse">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62100" y="3333750"/>
            <a:ext cx="514350" cy="1647825"/>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0125" y="3905249"/>
            <a:ext cx="1647825" cy="51435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150" y="5715000"/>
            <a:ext cx="2857500" cy="238125"/>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ЭРҮҮЛ МЭНД + АМЬДРАХ ОРЧИН</a:t>
            </a:r>
          </a:p>
        </p:txBody>
      </p:sp>
      <p:cxnSp>
        <p:nvCxnSpPr>
          <p:cNvPr id="11" name="Connector 10"/>
          <p:cNvCxnSpPr/>
          <p:nvPr/>
        </p:nvCxnSpPr>
        <p:spPr>
          <a:xfrm>
            <a:off x="3819524" y="2486025"/>
            <a:ext cx="7858126"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819524" y="262890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01</a:t>
            </a:r>
          </a:p>
        </p:txBody>
      </p:sp>
      <p:sp>
        <p:nvSpPr>
          <p:cNvPr id="13" name="TextBox 12"/>
          <p:cNvSpPr txBox="1"/>
          <p:nvPr/>
        </p:nvSpPr>
        <p:spPr>
          <a:xfrm>
            <a:off x="4648200" y="2609850"/>
            <a:ext cx="7029450"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Эрүүл мэнд</a:t>
            </a:r>
          </a:p>
        </p:txBody>
      </p:sp>
      <p:sp>
        <p:nvSpPr>
          <p:cNvPr id="14" name="TextBox 13"/>
          <p:cNvSpPr txBox="1"/>
          <p:nvPr/>
        </p:nvSpPr>
        <p:spPr>
          <a:xfrm>
            <a:off x="4648200" y="2990850"/>
            <a:ext cx="7029450" cy="495299"/>
          </a:xfrm>
          <a:prstGeom prst="rect">
            <a:avLst/>
          </a:prstGeom>
          <a:noFill/>
        </p:spPr>
        <p:txBody>
          <a:bodyPr wrap="none" lIns="0" tIns="0" rIns="0" bIns="0">
            <a:spAutoFit/>
          </a:bodyPr>
          <a:lstStyle/>
          <a:p>
            <a:pPr>
              <a:lnSpc>
                <a:spcPts val="1299"/>
              </a:lnSpc>
              <a:spcBef>
                <a:spcPts val="0"/>
              </a:spcBef>
              <a:spcAft>
                <a:spcPts val="0"/>
              </a:spcAft>
              <a:defRPr sz="1065" b="0">
                <a:solidFill>
                  <a:srgbClr val="101114"/>
                </a:solidFill>
                <a:latin typeface="DejaVu Sans"/>
              </a:defRPr>
            </a:pPr>
            <a:r>
              <a:t>Үндсэн хууль • 1992.01.13: 16.6.</a:t>
            </a:r>
          </a:p>
          <a:p>
            <a:pPr>
              <a:lnSpc>
                <a:spcPts val="1299"/>
              </a:lnSpc>
              <a:spcBef>
                <a:spcPts val="0"/>
              </a:spcBef>
              <a:spcAft>
                <a:spcPts val="0"/>
              </a:spcAft>
              <a:defRPr sz="1065" b="0">
                <a:solidFill>
                  <a:srgbClr val="101114"/>
                </a:solidFill>
                <a:latin typeface="DejaVu Sans"/>
              </a:defRPr>
            </a:pPr>
            <a:r>
              <a:t>ICESCR • 1966.12.16: 12 дугаар зүйл.</a:t>
            </a:r>
          </a:p>
          <a:p>
            <a:pPr>
              <a:lnSpc>
                <a:spcPts val="1299"/>
              </a:lnSpc>
              <a:spcBef>
                <a:spcPts val="0"/>
              </a:spcBef>
              <a:spcAft>
                <a:spcPts val="0"/>
              </a:spcAft>
              <a:defRPr sz="1065" b="0">
                <a:solidFill>
                  <a:srgbClr val="101114"/>
                </a:solidFill>
                <a:latin typeface="DejaVu Sans"/>
              </a:defRPr>
            </a:pPr>
            <a:r>
              <a:t>Тусламж авах зардал, зай, хугацааг хамтад нь үнэлнэ.</a:t>
            </a:r>
          </a:p>
        </p:txBody>
      </p:sp>
      <p:cxnSp>
        <p:nvCxnSpPr>
          <p:cNvPr id="15" name="Connector 14"/>
          <p:cNvCxnSpPr/>
          <p:nvPr/>
        </p:nvCxnSpPr>
        <p:spPr>
          <a:xfrm>
            <a:off x="3819524" y="3543300"/>
            <a:ext cx="7858126"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819524" y="3686175"/>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02</a:t>
            </a:r>
          </a:p>
        </p:txBody>
      </p:sp>
      <p:sp>
        <p:nvSpPr>
          <p:cNvPr id="17" name="TextBox 16"/>
          <p:cNvSpPr txBox="1"/>
          <p:nvPr/>
        </p:nvSpPr>
        <p:spPr>
          <a:xfrm>
            <a:off x="4648200" y="3667125"/>
            <a:ext cx="7029450"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Орчин, орон байр</a:t>
            </a:r>
          </a:p>
        </p:txBody>
      </p:sp>
      <p:sp>
        <p:nvSpPr>
          <p:cNvPr id="18" name="TextBox 17"/>
          <p:cNvSpPr txBox="1"/>
          <p:nvPr/>
        </p:nvSpPr>
        <p:spPr>
          <a:xfrm>
            <a:off x="4648200" y="4048124"/>
            <a:ext cx="7029450" cy="495299"/>
          </a:xfrm>
          <a:prstGeom prst="rect">
            <a:avLst/>
          </a:prstGeom>
          <a:noFill/>
        </p:spPr>
        <p:txBody>
          <a:bodyPr wrap="none" lIns="0" tIns="0" rIns="0" bIns="0">
            <a:spAutoFit/>
          </a:bodyPr>
          <a:lstStyle/>
          <a:p>
            <a:pPr>
              <a:lnSpc>
                <a:spcPts val="1299"/>
              </a:lnSpc>
              <a:spcBef>
                <a:spcPts val="0"/>
              </a:spcBef>
              <a:spcAft>
                <a:spcPts val="0"/>
              </a:spcAft>
              <a:defRPr sz="1065" b="0">
                <a:solidFill>
                  <a:srgbClr val="101114"/>
                </a:solidFill>
                <a:latin typeface="DejaVu Sans"/>
              </a:defRPr>
            </a:pPr>
            <a:r>
              <a:t>Үндсэн хууль: 16.2 — эрүүл, аюулгүй орчин.</a:t>
            </a:r>
          </a:p>
          <a:p>
            <a:pPr>
              <a:lnSpc>
                <a:spcPts val="1299"/>
              </a:lnSpc>
              <a:spcBef>
                <a:spcPts val="0"/>
              </a:spcBef>
              <a:spcAft>
                <a:spcPts val="0"/>
              </a:spcAft>
              <a:defRPr sz="1065" b="0">
                <a:solidFill>
                  <a:srgbClr val="101114"/>
                </a:solidFill>
                <a:latin typeface="DejaVu Sans"/>
              </a:defRPr>
            </a:pPr>
            <a:r>
              <a:t>ICESCR: 11 — зохистой амьжиргаа, орон байр.</a:t>
            </a:r>
          </a:p>
          <a:p>
            <a:pPr>
              <a:lnSpc>
                <a:spcPts val="1299"/>
              </a:lnSpc>
              <a:spcBef>
                <a:spcPts val="0"/>
              </a:spcBef>
              <a:spcAft>
                <a:spcPts val="0"/>
              </a:spcAft>
              <a:defRPr sz="1065" b="0">
                <a:solidFill>
                  <a:srgbClr val="101114"/>
                </a:solidFill>
                <a:latin typeface="DejaVu Sans"/>
              </a:defRPr>
            </a:pPr>
            <a:r>
              <a:t>Ус, дулаан, ариун цэвэр, аюулгүй байдлыг харна.</a:t>
            </a:r>
          </a:p>
        </p:txBody>
      </p:sp>
      <p:cxnSp>
        <p:nvCxnSpPr>
          <p:cNvPr id="19" name="Connector 18"/>
          <p:cNvCxnSpPr/>
          <p:nvPr/>
        </p:nvCxnSpPr>
        <p:spPr>
          <a:xfrm>
            <a:off x="3819524" y="4600575"/>
            <a:ext cx="7858126" cy="0"/>
          </a:xfrm>
          <a:prstGeom prst="line">
            <a:avLst/>
          </a:prstGeom>
          <a:ln w="9525">
            <a:solidFill>
              <a:srgbClr val="C8CCC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819524" y="4743450"/>
            <a:ext cx="666750" cy="476250"/>
          </a:xfrm>
          <a:prstGeom prst="rect">
            <a:avLst/>
          </a:prstGeom>
          <a:noFill/>
        </p:spPr>
        <p:txBody>
          <a:bodyPr wrap="none" lIns="0" tIns="0" rIns="0" bIns="0">
            <a:spAutoFit/>
          </a:bodyPr>
          <a:lstStyle/>
          <a:p>
            <a:pPr>
              <a:lnSpc>
                <a:spcPts val="2928"/>
              </a:lnSpc>
              <a:spcBef>
                <a:spcPts val="0"/>
              </a:spcBef>
              <a:spcAft>
                <a:spcPts val="0"/>
              </a:spcAft>
              <a:defRPr sz="2400" b="1">
                <a:solidFill>
                  <a:srgbClr val="164BFF"/>
                </a:solidFill>
                <a:latin typeface="Open Sans Condensed"/>
              </a:defRPr>
            </a:pPr>
            <a:r>
              <a:t>03</a:t>
            </a:r>
          </a:p>
        </p:txBody>
      </p:sp>
      <p:sp>
        <p:nvSpPr>
          <p:cNvPr id="21" name="TextBox 20"/>
          <p:cNvSpPr txBox="1"/>
          <p:nvPr/>
        </p:nvSpPr>
        <p:spPr>
          <a:xfrm>
            <a:off x="4648200" y="4724400"/>
            <a:ext cx="7029450" cy="333375"/>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Хүртээмж</a:t>
            </a:r>
          </a:p>
        </p:txBody>
      </p:sp>
      <p:sp>
        <p:nvSpPr>
          <p:cNvPr id="22" name="TextBox 21"/>
          <p:cNvSpPr txBox="1"/>
          <p:nvPr/>
        </p:nvSpPr>
        <p:spPr>
          <a:xfrm>
            <a:off x="4648200" y="5105400"/>
            <a:ext cx="7029450" cy="495299"/>
          </a:xfrm>
          <a:prstGeom prst="rect">
            <a:avLst/>
          </a:prstGeom>
          <a:noFill/>
        </p:spPr>
        <p:txBody>
          <a:bodyPr wrap="none" lIns="0" tIns="0" rIns="0" bIns="0">
            <a:spAutoFit/>
          </a:bodyPr>
          <a:lstStyle/>
          <a:p>
            <a:pPr>
              <a:lnSpc>
                <a:spcPts val="1592"/>
              </a:lnSpc>
              <a:spcBef>
                <a:spcPts val="0"/>
              </a:spcBef>
              <a:spcAft>
                <a:spcPts val="0"/>
              </a:spcAft>
              <a:defRPr sz="1305" b="0">
                <a:solidFill>
                  <a:srgbClr val="101114"/>
                </a:solidFill>
                <a:latin typeface="DejaVu Sans"/>
              </a:defRPr>
            </a:pPr>
            <a:r>
              <a:t>Үйлчилгээ байгаа эсэх → очиж чадах эсэх → төлж чадах эсэх → чанартай эсэх.</a:t>
            </a:r>
          </a:p>
          <a:p>
            <a:pPr>
              <a:lnSpc>
                <a:spcPts val="1592"/>
              </a:lnSpc>
              <a:spcBef>
                <a:spcPts val="0"/>
              </a:spcBef>
              <a:spcAft>
                <a:spcPts val="0"/>
              </a:spcAft>
              <a:defRPr sz="1305" b="0">
                <a:solidFill>
                  <a:srgbClr val="101114"/>
                </a:solidFill>
                <a:latin typeface="DejaVu Sans"/>
              </a:defRPr>
            </a:pPr>
            <a:r>
              <a:t>Бүртгэл, хөгжлийн бэрхшээл, тээврийн саадыг илрүүлнэ.</a:t>
            </a:r>
          </a:p>
        </p:txBody>
      </p:sp>
      <p:sp>
        <p:nvSpPr>
          <p:cNvPr id="23" name="Rectangle 22"/>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Эрхийг зөвхөн барилга, орны тоогоор биш бодит хэрэглэгчийн боломж, үр дүнгээр үнэлнэ.</a:t>
            </a:r>
          </a:p>
        </p:txBody>
      </p:sp>
      <p:cxnSp>
        <p:nvCxnSpPr>
          <p:cNvPr id="25" name="Connector 24"/>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ҮХ · ICESCR</a:t>
            </a:r>
          </a:p>
        </p:txBody>
      </p:sp>
      <p:sp>
        <p:nvSpPr>
          <p:cNvPr id="27" name="TextBox 26"/>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18—30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04 / НИЙГМИЙН ХАМГААЛАЛ</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758"/>
              </a:lnSpc>
              <a:spcBef>
                <a:spcPts val="0"/>
              </a:spcBef>
              <a:spcAft>
                <a:spcPts val="0"/>
              </a:spcAft>
              <a:defRPr sz="3900" b="1">
                <a:solidFill>
                  <a:srgbClr val="F7F6F1"/>
                </a:solidFill>
                <a:latin typeface="Open Sans Condensed"/>
              </a:defRPr>
            </a:pPr>
            <a:r>
              <a:t>ХАМГААЛАЛТ ХЭНД ХҮРЧ БАЙНА ВЭ?</a:t>
            </a:r>
          </a:p>
        </p:txBody>
      </p:sp>
      <p:sp>
        <p:nvSpPr>
          <p:cNvPr id="7" name="TextBox 6"/>
          <p:cNvSpPr txBox="1"/>
          <p:nvPr/>
        </p:nvSpPr>
        <p:spPr>
          <a:xfrm>
            <a:off x="457200" y="1924049"/>
            <a:ext cx="5276850" cy="295275"/>
          </a:xfrm>
          <a:prstGeom prst="rect">
            <a:avLst/>
          </a:prstGeom>
          <a:noFill/>
        </p:spPr>
        <p:txBody>
          <a:bodyPr wrap="none" lIns="0" tIns="0" rIns="0" bIns="0">
            <a:spAutoFit/>
          </a:bodyPr>
          <a:lstStyle/>
          <a:p>
            <a:pPr>
              <a:lnSpc>
                <a:spcPts val="1372"/>
              </a:lnSpc>
              <a:spcBef>
                <a:spcPts val="0"/>
              </a:spcBef>
              <a:spcAft>
                <a:spcPts val="0"/>
              </a:spcAft>
              <a:defRPr sz="1125" b="0">
                <a:solidFill>
                  <a:srgbClr val="A9AFBE"/>
                </a:solidFill>
                <a:latin typeface="DejaVu Sans Mono"/>
              </a:defRPr>
            </a:pPr>
            <a:r>
              <a:t>ХАЛАМЖИЙН СИСТЕМИЙН ХОЁР ЭРСДЭЛ</a:t>
            </a:r>
          </a:p>
        </p:txBody>
      </p:sp>
      <p:sp>
        <p:nvSpPr>
          <p:cNvPr id="8" name="Rectangle 7"/>
          <p:cNvSpPr/>
          <p:nvPr/>
        </p:nvSpPr>
        <p:spPr>
          <a:xfrm>
            <a:off x="447675" y="2447925"/>
            <a:ext cx="5276850" cy="13335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225" y="2619375"/>
            <a:ext cx="4848225" cy="409575"/>
          </a:xfrm>
          <a:prstGeom prst="rect">
            <a:avLst/>
          </a:prstGeom>
          <a:noFill/>
        </p:spPr>
        <p:txBody>
          <a:bodyPr wrap="none" lIns="0" tIns="0" rIns="0" bIns="0">
            <a:spAutoFit/>
          </a:bodyPr>
          <a:lstStyle/>
          <a:p>
            <a:pPr>
              <a:lnSpc>
                <a:spcPts val="2561"/>
              </a:lnSpc>
              <a:spcBef>
                <a:spcPts val="0"/>
              </a:spcBef>
              <a:spcAft>
                <a:spcPts val="0"/>
              </a:spcAft>
              <a:defRPr sz="2100" b="1">
                <a:solidFill>
                  <a:srgbClr val="F7F6F1"/>
                </a:solidFill>
                <a:latin typeface="Open Sans Condensed"/>
              </a:defRPr>
            </a:pPr>
            <a:r>
              <a:t>ШААРДЛАГА ХАНГАСАН → ҮЛДЭХ</a:t>
            </a:r>
          </a:p>
        </p:txBody>
      </p:sp>
      <p:sp>
        <p:nvSpPr>
          <p:cNvPr id="10" name="TextBox 9"/>
          <p:cNvSpPr txBox="1"/>
          <p:nvPr/>
        </p:nvSpPr>
        <p:spPr>
          <a:xfrm>
            <a:off x="657225" y="3171825"/>
            <a:ext cx="4819650" cy="361950"/>
          </a:xfrm>
          <a:prstGeom prst="rect">
            <a:avLst/>
          </a:prstGeom>
          <a:noFill/>
        </p:spPr>
        <p:txBody>
          <a:bodyPr wrap="none" lIns="0" tIns="0" rIns="0" bIns="0">
            <a:spAutoFit/>
          </a:bodyPr>
          <a:lstStyle/>
          <a:p>
            <a:pPr>
              <a:lnSpc>
                <a:spcPts val="2013"/>
              </a:lnSpc>
              <a:spcBef>
                <a:spcPts val="0"/>
              </a:spcBef>
              <a:spcAft>
                <a:spcPts val="0"/>
              </a:spcAft>
              <a:defRPr sz="1650" b="1">
                <a:solidFill>
                  <a:srgbClr val="F5FF58"/>
                </a:solidFill>
                <a:latin typeface="DejaVu Sans"/>
              </a:defRPr>
            </a:pPr>
            <a:r>
              <a:t>Хасагдлын алдаа</a:t>
            </a:r>
          </a:p>
        </p:txBody>
      </p:sp>
      <p:sp>
        <p:nvSpPr>
          <p:cNvPr id="11" name="Rectangle 10"/>
          <p:cNvSpPr/>
          <p:nvPr/>
        </p:nvSpPr>
        <p:spPr>
          <a:xfrm>
            <a:off x="447675" y="3933824"/>
            <a:ext cx="5276850" cy="1333500"/>
          </a:xfrm>
          <a:prstGeom prst="rect">
            <a:avLst/>
          </a:prstGeom>
          <a:solidFill>
            <a:srgbClr val="272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225" y="4105274"/>
            <a:ext cx="4848225" cy="409575"/>
          </a:xfrm>
          <a:prstGeom prst="rect">
            <a:avLst/>
          </a:prstGeom>
          <a:noFill/>
        </p:spPr>
        <p:txBody>
          <a:bodyPr wrap="none" lIns="0" tIns="0" rIns="0" bIns="0">
            <a:spAutoFit/>
          </a:bodyPr>
          <a:lstStyle/>
          <a:p>
            <a:pPr>
              <a:lnSpc>
                <a:spcPts val="2561"/>
              </a:lnSpc>
              <a:spcBef>
                <a:spcPts val="0"/>
              </a:spcBef>
              <a:spcAft>
                <a:spcPts val="0"/>
              </a:spcAft>
              <a:defRPr sz="2100" b="1">
                <a:solidFill>
                  <a:srgbClr val="F7F6F1"/>
                </a:solidFill>
                <a:latin typeface="Open Sans Condensed"/>
              </a:defRPr>
            </a:pPr>
            <a:r>
              <a:t>ШААРДЛАГА ХАНГААГҮЙ → ОРОХ</a:t>
            </a:r>
          </a:p>
        </p:txBody>
      </p:sp>
      <p:sp>
        <p:nvSpPr>
          <p:cNvPr id="13" name="TextBox 12"/>
          <p:cNvSpPr txBox="1"/>
          <p:nvPr/>
        </p:nvSpPr>
        <p:spPr>
          <a:xfrm>
            <a:off x="657225" y="4657725"/>
            <a:ext cx="4819650" cy="361950"/>
          </a:xfrm>
          <a:prstGeom prst="rect">
            <a:avLst/>
          </a:prstGeom>
          <a:noFill/>
        </p:spPr>
        <p:txBody>
          <a:bodyPr wrap="none" lIns="0" tIns="0" rIns="0" bIns="0">
            <a:spAutoFit/>
          </a:bodyPr>
          <a:lstStyle/>
          <a:p>
            <a:pPr>
              <a:lnSpc>
                <a:spcPts val="2013"/>
              </a:lnSpc>
              <a:spcBef>
                <a:spcPts val="0"/>
              </a:spcBef>
              <a:spcAft>
                <a:spcPts val="0"/>
              </a:spcAft>
              <a:defRPr sz="1650" b="1">
                <a:solidFill>
                  <a:srgbClr val="F5FF58"/>
                </a:solidFill>
                <a:latin typeface="DejaVu Sans"/>
              </a:defRPr>
            </a:pPr>
            <a:r>
              <a:t>Хамрагдлын алдаа</a:t>
            </a:r>
          </a:p>
        </p:txBody>
      </p:sp>
      <p:cxnSp>
        <p:nvCxnSpPr>
          <p:cNvPr id="14" name="Connector 13"/>
          <p:cNvCxnSpPr/>
          <p:nvPr/>
        </p:nvCxnSpPr>
        <p:spPr>
          <a:xfrm>
            <a:off x="6257925" y="2105025"/>
            <a:ext cx="5438775" cy="0"/>
          </a:xfrm>
          <a:prstGeom prst="line">
            <a:avLst/>
          </a:prstGeom>
          <a:ln w="9525">
            <a:solidFill>
              <a:srgbClr val="555B6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57925" y="2276475"/>
            <a:ext cx="5362575"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F5FF58"/>
                </a:solidFill>
                <a:latin typeface="DejaVu Sans"/>
              </a:defRPr>
            </a:pPr>
            <a:r>
              <a:t>Хуулийн үндэс</a:t>
            </a:r>
          </a:p>
        </p:txBody>
      </p:sp>
      <p:sp>
        <p:nvSpPr>
          <p:cNvPr id="16" name="TextBox 15"/>
          <p:cNvSpPr txBox="1"/>
          <p:nvPr/>
        </p:nvSpPr>
        <p:spPr>
          <a:xfrm>
            <a:off x="6257925" y="2762250"/>
            <a:ext cx="5334000" cy="1152525"/>
          </a:xfrm>
          <a:prstGeom prst="rect">
            <a:avLst/>
          </a:prstGeom>
          <a:noFill/>
        </p:spPr>
        <p:txBody>
          <a:bodyPr wrap="none" lIns="0" tIns="0" rIns="0" bIns="0">
            <a:spAutoFit/>
          </a:bodyPr>
          <a:lstStyle/>
          <a:p>
            <a:pPr>
              <a:lnSpc>
                <a:spcPts val="2013"/>
              </a:lnSpc>
              <a:spcBef>
                <a:spcPts val="0"/>
              </a:spcBef>
              <a:spcAft>
                <a:spcPts val="0"/>
              </a:spcAft>
              <a:defRPr sz="1650" b="0">
                <a:solidFill>
                  <a:srgbClr val="F7F6F1"/>
                </a:solidFill>
                <a:latin typeface="DejaVu Sans"/>
              </a:defRPr>
            </a:pPr>
            <a:r>
              <a:t>Үндсэн хууль • 1992.01.13: 16.5.</a:t>
            </a:r>
          </a:p>
          <a:p>
            <a:pPr>
              <a:lnSpc>
                <a:spcPts val="2013"/>
              </a:lnSpc>
              <a:spcBef>
                <a:spcPts val="0"/>
              </a:spcBef>
              <a:spcAft>
                <a:spcPts val="0"/>
              </a:spcAft>
              <a:defRPr sz="1650" b="0">
                <a:solidFill>
                  <a:srgbClr val="F7F6F1"/>
                </a:solidFill>
                <a:latin typeface="DejaVu Sans"/>
              </a:defRPr>
            </a:pPr>
            <a:r>
              <a:t>Нийгмийн халамжийн тухай хууль •</a:t>
            </a:r>
          </a:p>
          <a:p>
            <a:pPr>
              <a:lnSpc>
                <a:spcPts val="2013"/>
              </a:lnSpc>
              <a:spcBef>
                <a:spcPts val="0"/>
              </a:spcBef>
              <a:spcAft>
                <a:spcPts val="0"/>
              </a:spcAft>
              <a:defRPr sz="1650" b="0">
                <a:solidFill>
                  <a:srgbClr val="F7F6F1"/>
                </a:solidFill>
                <a:latin typeface="DejaVu Sans"/>
              </a:defRPr>
            </a:pPr>
            <a:r>
              <a:t>2012.01.19.</a:t>
            </a:r>
          </a:p>
          <a:p>
            <a:pPr>
              <a:lnSpc>
                <a:spcPts val="2013"/>
              </a:lnSpc>
              <a:spcBef>
                <a:spcPts val="0"/>
              </a:spcBef>
              <a:spcAft>
                <a:spcPts val="0"/>
              </a:spcAft>
              <a:defRPr sz="1650" b="0">
                <a:solidFill>
                  <a:srgbClr val="F7F6F1"/>
                </a:solidFill>
                <a:latin typeface="DejaVu Sans"/>
              </a:defRPr>
            </a:pPr>
            <a:r>
              <a:t>ICESCR • 1966.12.16: 9 дүгээр зүйл.</a:t>
            </a:r>
          </a:p>
        </p:txBody>
      </p:sp>
      <p:cxnSp>
        <p:nvCxnSpPr>
          <p:cNvPr id="17" name="Connector 16"/>
          <p:cNvCxnSpPr/>
          <p:nvPr/>
        </p:nvCxnSpPr>
        <p:spPr>
          <a:xfrm>
            <a:off x="6257925" y="3914775"/>
            <a:ext cx="5438775" cy="0"/>
          </a:xfrm>
          <a:prstGeom prst="line">
            <a:avLst/>
          </a:prstGeom>
          <a:ln w="9525">
            <a:solidFill>
              <a:srgbClr val="555B6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57925" y="4086225"/>
            <a:ext cx="5362575" cy="371475"/>
          </a:xfrm>
          <a:prstGeom prst="rect">
            <a:avLst/>
          </a:prstGeom>
          <a:noFill/>
        </p:spPr>
        <p:txBody>
          <a:bodyPr wrap="none" lIns="0" tIns="0" rIns="0" bIns="0">
            <a:spAutoFit/>
          </a:bodyPr>
          <a:lstStyle/>
          <a:p>
            <a:pPr>
              <a:lnSpc>
                <a:spcPts val="2287"/>
              </a:lnSpc>
              <a:spcBef>
                <a:spcPts val="0"/>
              </a:spcBef>
              <a:spcAft>
                <a:spcPts val="0"/>
              </a:spcAft>
              <a:defRPr sz="1875" b="1">
                <a:solidFill>
                  <a:srgbClr val="F5FF58"/>
                </a:solidFill>
                <a:latin typeface="DejaVu Sans"/>
              </a:defRPr>
            </a:pPr>
            <a:r>
              <a:t>Сайн ажиллагаа</a:t>
            </a:r>
          </a:p>
        </p:txBody>
      </p:sp>
      <p:sp>
        <p:nvSpPr>
          <p:cNvPr id="19" name="TextBox 18"/>
          <p:cNvSpPr txBox="1"/>
          <p:nvPr/>
        </p:nvSpPr>
        <p:spPr>
          <a:xfrm>
            <a:off x="6257925" y="4572000"/>
            <a:ext cx="5334000" cy="1152525"/>
          </a:xfrm>
          <a:prstGeom prst="rect">
            <a:avLst/>
          </a:prstGeom>
          <a:noFill/>
        </p:spPr>
        <p:txBody>
          <a:bodyPr wrap="none" lIns="0" tIns="0" rIns="0" bIns="0">
            <a:spAutoFit/>
          </a:bodyPr>
          <a:lstStyle/>
          <a:p>
            <a:pPr>
              <a:lnSpc>
                <a:spcPts val="2013"/>
              </a:lnSpc>
              <a:spcBef>
                <a:spcPts val="0"/>
              </a:spcBef>
              <a:spcAft>
                <a:spcPts val="0"/>
              </a:spcAft>
              <a:defRPr sz="1650" b="0">
                <a:solidFill>
                  <a:srgbClr val="F7F6F1"/>
                </a:solidFill>
                <a:latin typeface="DejaVu Sans"/>
              </a:defRPr>
            </a:pPr>
            <a:r>
              <a:t>Ойлгомжтой шалгуур; мэдээллээ засуулах</a:t>
            </a:r>
          </a:p>
          <a:p>
            <a:pPr>
              <a:lnSpc>
                <a:spcPts val="2013"/>
              </a:lnSpc>
              <a:spcBef>
                <a:spcPts val="0"/>
              </a:spcBef>
              <a:spcAft>
                <a:spcPts val="0"/>
              </a:spcAft>
              <a:defRPr sz="1650" b="0">
                <a:solidFill>
                  <a:srgbClr val="F7F6F1"/>
                </a:solidFill>
                <a:latin typeface="DejaVu Sans"/>
              </a:defRPr>
            </a:pPr>
            <a:r>
              <a:t>боломж; үндэслэл бүхий шийдвэр; гомдол</a:t>
            </a:r>
          </a:p>
          <a:p>
            <a:pPr>
              <a:lnSpc>
                <a:spcPts val="2013"/>
              </a:lnSpc>
              <a:spcBef>
                <a:spcPts val="0"/>
              </a:spcBef>
              <a:spcAft>
                <a:spcPts val="0"/>
              </a:spcAft>
              <a:defRPr sz="1650" b="0">
                <a:solidFill>
                  <a:srgbClr val="F7F6F1"/>
                </a:solidFill>
                <a:latin typeface="DejaVu Sans"/>
              </a:defRPr>
            </a:pPr>
            <a:r>
              <a:t>гаргах хүртээмжтэй суваг.</a:t>
            </a:r>
          </a:p>
        </p:txBody>
      </p:sp>
      <p:sp>
        <p:nvSpPr>
          <p:cNvPr id="20" name="Rectangle 19"/>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Зорилтот дэмжлэгийн үр ашгийг хүний нэр төр, хувийн мэдээллийн хамгаалалттай хамт үнэлнэ.</a:t>
            </a:r>
          </a:p>
        </p:txBody>
      </p:sp>
      <p:cxnSp>
        <p:nvCxnSpPr>
          <p:cNvPr id="22" name="Connector 21"/>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ҮХ · НХ · ICESCR</a:t>
            </a:r>
          </a:p>
        </p:txBody>
      </p:sp>
      <p:sp>
        <p:nvSpPr>
          <p:cNvPr id="24" name="TextBox 23"/>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19—30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ousin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4953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0050" y="285750"/>
            <a:ext cx="1298916" cy="25717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4350" y="333375"/>
            <a:ext cx="1070316"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101114"/>
                </a:solidFill>
                <a:latin typeface="DejaVu Sans Mono"/>
              </a:defRPr>
            </a:pPr>
            <a:r>
              <a:t>БОДИТ КЕЙС / 01</a:t>
            </a:r>
          </a:p>
        </p:txBody>
      </p:sp>
      <p:sp>
        <p:nvSpPr>
          <p:cNvPr id="6" name="TextBox 5"/>
          <p:cNvSpPr txBox="1"/>
          <p:nvPr/>
        </p:nvSpPr>
        <p:spPr>
          <a:xfrm>
            <a:off x="400050" y="838200"/>
            <a:ext cx="4267200" cy="1171575"/>
          </a:xfrm>
          <a:prstGeom prst="rect">
            <a:avLst/>
          </a:prstGeom>
          <a:noFill/>
        </p:spPr>
        <p:txBody>
          <a:bodyPr wrap="none" lIns="0" tIns="0" rIns="0" bIns="0">
            <a:spAutoFit/>
          </a:bodyPr>
          <a:lstStyle/>
          <a:p>
            <a:pPr>
              <a:lnSpc>
                <a:spcPts val="4593"/>
              </a:lnSpc>
              <a:spcBef>
                <a:spcPts val="0"/>
              </a:spcBef>
              <a:spcAft>
                <a:spcPts val="0"/>
              </a:spcAft>
              <a:defRPr sz="3765" b="1">
                <a:solidFill>
                  <a:srgbClr val="F7F6F1"/>
                </a:solidFill>
                <a:latin typeface="Open Sans Condensed"/>
              </a:defRPr>
            </a:pPr>
            <a:r>
              <a:t>ОРОН БАЙРНЫ</a:t>
            </a:r>
          </a:p>
          <a:p>
            <a:pPr>
              <a:lnSpc>
                <a:spcPts val="4593"/>
              </a:lnSpc>
              <a:spcBef>
                <a:spcPts val="0"/>
              </a:spcBef>
              <a:spcAft>
                <a:spcPts val="0"/>
              </a:spcAft>
              <a:defRPr sz="3765" b="1">
                <a:solidFill>
                  <a:srgbClr val="F7F6F1"/>
                </a:solidFill>
                <a:latin typeface="Open Sans Condensed"/>
              </a:defRPr>
            </a:pPr>
            <a:r>
              <a:t>ЭРХ</a:t>
            </a:r>
          </a:p>
        </p:txBody>
      </p:sp>
      <p:sp>
        <p:nvSpPr>
          <p:cNvPr id="7" name="TextBox 6"/>
          <p:cNvSpPr txBox="1"/>
          <p:nvPr/>
        </p:nvSpPr>
        <p:spPr>
          <a:xfrm>
            <a:off x="409575" y="2181225"/>
            <a:ext cx="41719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A9AFBE"/>
                </a:solidFill>
                <a:latin typeface="DejaVu Sans Mono"/>
              </a:defRPr>
            </a:pPr>
            <a:r>
              <a:t>ӨМНӨД АФРИК</a:t>
            </a:r>
          </a:p>
        </p:txBody>
      </p:sp>
      <p:sp>
        <p:nvSpPr>
          <p:cNvPr id="8" name="TextBox 7"/>
          <p:cNvSpPr txBox="1"/>
          <p:nvPr/>
        </p:nvSpPr>
        <p:spPr>
          <a:xfrm>
            <a:off x="409575" y="2676525"/>
            <a:ext cx="4171950" cy="752475"/>
          </a:xfrm>
          <a:prstGeom prst="rect">
            <a:avLst/>
          </a:prstGeom>
          <a:noFill/>
        </p:spPr>
        <p:txBody>
          <a:bodyPr wrap="none" lIns="0" tIns="0" rIns="0" bIns="0">
            <a:spAutoFit/>
          </a:bodyPr>
          <a:lstStyle/>
          <a:p>
            <a:pPr>
              <a:lnSpc>
                <a:spcPts val="4392"/>
              </a:lnSpc>
              <a:spcBef>
                <a:spcPts val="0"/>
              </a:spcBef>
              <a:spcAft>
                <a:spcPts val="0"/>
              </a:spcAft>
              <a:defRPr sz="3600" b="1">
                <a:solidFill>
                  <a:srgbClr val="F5FF58"/>
                </a:solidFill>
                <a:latin typeface="Open Sans Condensed"/>
              </a:defRPr>
            </a:pPr>
            <a:r>
              <a:t>2000.10.04</a:t>
            </a:r>
          </a:p>
        </p:txBody>
      </p:sp>
      <p:sp>
        <p:nvSpPr>
          <p:cNvPr id="9" name="TextBox 8"/>
          <p:cNvSpPr txBox="1"/>
          <p:nvPr/>
        </p:nvSpPr>
        <p:spPr>
          <a:xfrm>
            <a:off x="409575" y="3486150"/>
            <a:ext cx="4143375" cy="1381125"/>
          </a:xfrm>
          <a:prstGeom prst="rect">
            <a:avLst/>
          </a:prstGeom>
          <a:noFill/>
        </p:spPr>
        <p:txBody>
          <a:bodyPr wrap="none" lIns="0" tIns="0" rIns="0" bIns="0">
            <a:spAutoFit/>
          </a:bodyPr>
          <a:lstStyle/>
          <a:p>
            <a:pPr>
              <a:lnSpc>
                <a:spcPts val="1921"/>
              </a:lnSpc>
              <a:spcBef>
                <a:spcPts val="0"/>
              </a:spcBef>
              <a:spcAft>
                <a:spcPts val="0"/>
              </a:spcAft>
              <a:defRPr sz="1575" b="0">
                <a:solidFill>
                  <a:srgbClr val="F7F6F1"/>
                </a:solidFill>
                <a:latin typeface="DejaVu Sans"/>
              </a:defRPr>
            </a:pPr>
            <a:r>
              <a:t>Орон байргүй, хүнд нөхцөлд амьдарч</a:t>
            </a:r>
          </a:p>
          <a:p>
            <a:pPr>
              <a:lnSpc>
                <a:spcPts val="1921"/>
              </a:lnSpc>
              <a:spcBef>
                <a:spcPts val="0"/>
              </a:spcBef>
              <a:spcAft>
                <a:spcPts val="0"/>
              </a:spcAft>
              <a:defRPr sz="1575" b="0">
                <a:solidFill>
                  <a:srgbClr val="F7F6F1"/>
                </a:solidFill>
                <a:latin typeface="DejaVu Sans"/>
              </a:defRPr>
            </a:pPr>
            <a:r>
              <a:t>байсан иргэд төрийн орон сууцны</a:t>
            </a:r>
          </a:p>
          <a:p>
            <a:pPr>
              <a:lnSpc>
                <a:spcPts val="1921"/>
              </a:lnSpc>
              <a:spcBef>
                <a:spcPts val="0"/>
              </a:spcBef>
              <a:spcAft>
                <a:spcPts val="0"/>
              </a:spcAft>
              <a:defRPr sz="1575" b="0">
                <a:solidFill>
                  <a:srgbClr val="F7F6F1"/>
                </a:solidFill>
                <a:latin typeface="DejaVu Sans"/>
              </a:defRPr>
            </a:pPr>
            <a:r>
              <a:t>хөтөлбөр яаралтай хэрэгцээг нь</a:t>
            </a:r>
          </a:p>
          <a:p>
            <a:pPr>
              <a:lnSpc>
                <a:spcPts val="1921"/>
              </a:lnSpc>
              <a:spcBef>
                <a:spcPts val="0"/>
              </a:spcBef>
              <a:spcAft>
                <a:spcPts val="0"/>
              </a:spcAft>
              <a:defRPr sz="1575" b="0">
                <a:solidFill>
                  <a:srgbClr val="F7F6F1"/>
                </a:solidFill>
                <a:latin typeface="DejaVu Sans"/>
              </a:defRPr>
            </a:pPr>
            <a:r>
              <a:t>хангахгүй байгааг шүүхэд маргасан.</a:t>
            </a:r>
          </a:p>
        </p:txBody>
      </p:sp>
      <p:sp>
        <p:nvSpPr>
          <p:cNvPr id="10" name="TextBox 9"/>
          <p:cNvSpPr txBox="1"/>
          <p:nvPr/>
        </p:nvSpPr>
        <p:spPr>
          <a:xfrm>
            <a:off x="409575" y="5114925"/>
            <a:ext cx="4133849" cy="638175"/>
          </a:xfrm>
          <a:prstGeom prst="rect">
            <a:avLst/>
          </a:prstGeom>
          <a:noFill/>
        </p:spPr>
        <p:txBody>
          <a:bodyPr wrap="none" lIns="0" tIns="0" rIns="0" bIns="0">
            <a:spAutoFit/>
          </a:bodyPr>
          <a:lstStyle/>
          <a:p>
            <a:pPr>
              <a:lnSpc>
                <a:spcPts val="1647"/>
              </a:lnSpc>
              <a:spcBef>
                <a:spcPts val="0"/>
              </a:spcBef>
              <a:spcAft>
                <a:spcPts val="0"/>
              </a:spcAft>
              <a:defRPr sz="1350" b="0">
                <a:solidFill>
                  <a:srgbClr val="A9AFBE"/>
                </a:solidFill>
                <a:latin typeface="DejaVu Sans Mono"/>
              </a:defRPr>
            </a:pPr>
            <a:r>
              <a:t>Grootboom • [2000] ZACC 19</a:t>
            </a:r>
          </a:p>
        </p:txBody>
      </p:sp>
      <p:sp>
        <p:nvSpPr>
          <p:cNvPr id="11" name="Rectangle 10"/>
          <p:cNvSpPr/>
          <p:nvPr/>
        </p:nvSpPr>
        <p:spPr>
          <a:xfrm>
            <a:off x="5238750" y="4124325"/>
            <a:ext cx="6515100" cy="1857375"/>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8300" y="4276725"/>
            <a:ext cx="6096000" cy="295275"/>
          </a:xfrm>
          <a:prstGeom prst="rect">
            <a:avLst/>
          </a:prstGeom>
          <a:noFill/>
        </p:spPr>
        <p:txBody>
          <a:bodyPr wrap="none" lIns="0" tIns="0" rIns="0" bIns="0">
            <a:spAutoFit/>
          </a:bodyPr>
          <a:lstStyle/>
          <a:p>
            <a:pPr>
              <a:lnSpc>
                <a:spcPts val="1829"/>
              </a:lnSpc>
              <a:spcBef>
                <a:spcPts val="0"/>
              </a:spcBef>
              <a:spcAft>
                <a:spcPts val="0"/>
              </a:spcAft>
              <a:defRPr sz="1500" b="1">
                <a:solidFill>
                  <a:srgbClr val="164BFF"/>
                </a:solidFill>
                <a:latin typeface="DejaVu Sans"/>
              </a:defRPr>
            </a:pPr>
            <a:r>
              <a:t>ШҮҮХИЙН ШИЙДВЭР</a:t>
            </a:r>
          </a:p>
        </p:txBody>
      </p:sp>
      <p:sp>
        <p:nvSpPr>
          <p:cNvPr id="13" name="TextBox 12"/>
          <p:cNvSpPr txBox="1"/>
          <p:nvPr/>
        </p:nvSpPr>
        <p:spPr>
          <a:xfrm>
            <a:off x="5448300" y="4705350"/>
            <a:ext cx="6096000" cy="1133475"/>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Өмнөд Африкийн Үндсэн хууль • 1996.12.10 (гарын үсэг</a:t>
            </a:r>
          </a:p>
          <a:p>
            <a:pPr>
              <a:lnSpc>
                <a:spcPts val="1829"/>
              </a:lnSpc>
              <a:spcBef>
                <a:spcPts val="0"/>
              </a:spcBef>
              <a:spcAft>
                <a:spcPts val="0"/>
              </a:spcAft>
              <a:defRPr sz="1500" b="0">
                <a:solidFill>
                  <a:srgbClr val="101114"/>
                </a:solidFill>
                <a:latin typeface="DejaVu Sans"/>
              </a:defRPr>
            </a:pPr>
            <a:r>
              <a:t>зурсан); 26 дугаар зүйл. Шүүх бодлого нь онцгой</a:t>
            </a:r>
          </a:p>
          <a:p>
            <a:pPr>
              <a:lnSpc>
                <a:spcPts val="1829"/>
              </a:lnSpc>
              <a:spcBef>
                <a:spcPts val="0"/>
              </a:spcBef>
              <a:spcAft>
                <a:spcPts val="0"/>
              </a:spcAft>
              <a:defRPr sz="1500" b="0">
                <a:solidFill>
                  <a:srgbClr val="101114"/>
                </a:solidFill>
                <a:latin typeface="DejaVu Sans"/>
              </a:defRPr>
            </a:pPr>
            <a:r>
              <a:t>гачигдалтай хүмүүсийн яаралтай хэрэгцээг бодитой тусгах</a:t>
            </a:r>
          </a:p>
          <a:p>
            <a:pPr>
              <a:lnSpc>
                <a:spcPts val="1829"/>
              </a:lnSpc>
              <a:spcBef>
                <a:spcPts val="0"/>
              </a:spcBef>
              <a:spcAft>
                <a:spcPts val="0"/>
              </a:spcAft>
              <a:defRPr sz="1500" b="0">
                <a:solidFill>
                  <a:srgbClr val="101114"/>
                </a:solidFill>
                <a:latin typeface="DejaVu Sans"/>
              </a:defRPr>
            </a:pPr>
            <a:r>
              <a:t>ёстой гэж үзсэн.</a:t>
            </a:r>
          </a:p>
        </p:txBody>
      </p:sp>
      <p:sp>
        <p:nvSpPr>
          <p:cNvPr id="14" name="Rectangle 13"/>
          <p:cNvSpPr/>
          <p:nvPr/>
        </p:nvSpPr>
        <p:spPr>
          <a:xfrm>
            <a:off x="5238750" y="6134100"/>
            <a:ext cx="6515100" cy="495299"/>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81625" y="6229350"/>
            <a:ext cx="6219825" cy="323850"/>
          </a:xfrm>
          <a:prstGeom prst="rect">
            <a:avLst/>
          </a:prstGeom>
          <a:noFill/>
        </p:spPr>
        <p:txBody>
          <a:bodyPr wrap="none" lIns="0" tIns="0" rIns="0" bIns="0">
            <a:spAutoFit/>
          </a:bodyPr>
          <a:lstStyle/>
          <a:p>
            <a:pPr>
              <a:lnSpc>
                <a:spcPts val="1464"/>
              </a:lnSpc>
              <a:spcBef>
                <a:spcPts val="0"/>
              </a:spcBef>
              <a:spcAft>
                <a:spcPts val="0"/>
              </a:spcAft>
              <a:defRPr sz="1200" b="1">
                <a:solidFill>
                  <a:srgbClr val="101114"/>
                </a:solidFill>
                <a:latin typeface="DejaVu Sans"/>
              </a:defRPr>
            </a:pPr>
            <a:r>
              <a:t>СУРГАМЖ / Бодлого хамгийн гачигдалтай хүнийг орхих ёсгүй.</a:t>
            </a:r>
          </a:p>
        </p:txBody>
      </p:sp>
      <p:sp>
        <p:nvSpPr>
          <p:cNvPr id="16" name="TextBox 15"/>
          <p:cNvSpPr txBox="1"/>
          <p:nvPr/>
        </p:nvSpPr>
        <p:spPr>
          <a:xfrm>
            <a:off x="5343525" y="3867150"/>
            <a:ext cx="619125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F7F6F1"/>
                </a:solidFill>
                <a:latin typeface="DejaVu Sans Mono"/>
              </a:defRPr>
            </a:pPr>
            <a:r>
              <a:t>КОНЦЕПЦ КОЛЛАЖ / AI — ХЭРГИЙН БОДИТ ГЭРЭЛ ЗУРАГ БИШ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lth.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4953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0050" y="285750"/>
            <a:ext cx="1298916" cy="25717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4350" y="333375"/>
            <a:ext cx="1070316"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101114"/>
                </a:solidFill>
                <a:latin typeface="DejaVu Sans Mono"/>
              </a:defRPr>
            </a:pPr>
            <a:r>
              <a:t>БОДИТ КЕЙС / 02</a:t>
            </a:r>
          </a:p>
        </p:txBody>
      </p:sp>
      <p:sp>
        <p:nvSpPr>
          <p:cNvPr id="6" name="TextBox 5"/>
          <p:cNvSpPr txBox="1"/>
          <p:nvPr/>
        </p:nvSpPr>
        <p:spPr>
          <a:xfrm>
            <a:off x="400050" y="838200"/>
            <a:ext cx="4267200" cy="1171575"/>
          </a:xfrm>
          <a:prstGeom prst="rect">
            <a:avLst/>
          </a:prstGeom>
          <a:noFill/>
        </p:spPr>
        <p:txBody>
          <a:bodyPr wrap="none" lIns="0" tIns="0" rIns="0" bIns="0">
            <a:spAutoFit/>
          </a:bodyPr>
          <a:lstStyle/>
          <a:p>
            <a:pPr>
              <a:lnSpc>
                <a:spcPts val="4593"/>
              </a:lnSpc>
              <a:spcBef>
                <a:spcPts val="0"/>
              </a:spcBef>
              <a:spcAft>
                <a:spcPts val="0"/>
              </a:spcAft>
              <a:defRPr sz="3765" b="1">
                <a:solidFill>
                  <a:srgbClr val="F7F6F1"/>
                </a:solidFill>
                <a:latin typeface="Open Sans Condensed"/>
              </a:defRPr>
            </a:pPr>
            <a:r>
              <a:t>ЭМЧИЛГЭЭНД</a:t>
            </a:r>
          </a:p>
          <a:p>
            <a:pPr>
              <a:lnSpc>
                <a:spcPts val="4593"/>
              </a:lnSpc>
              <a:spcBef>
                <a:spcPts val="0"/>
              </a:spcBef>
              <a:spcAft>
                <a:spcPts val="0"/>
              </a:spcAft>
              <a:defRPr sz="3765" b="1">
                <a:solidFill>
                  <a:srgbClr val="F7F6F1"/>
                </a:solidFill>
                <a:latin typeface="Open Sans Condensed"/>
              </a:defRPr>
            </a:pPr>
            <a:r>
              <a:t>ХҮРЭХ ЭРХ</a:t>
            </a:r>
          </a:p>
        </p:txBody>
      </p:sp>
      <p:sp>
        <p:nvSpPr>
          <p:cNvPr id="7" name="TextBox 6"/>
          <p:cNvSpPr txBox="1"/>
          <p:nvPr/>
        </p:nvSpPr>
        <p:spPr>
          <a:xfrm>
            <a:off x="409575" y="2181225"/>
            <a:ext cx="4171950" cy="323850"/>
          </a:xfrm>
          <a:prstGeom prst="rect">
            <a:avLst/>
          </a:prstGeom>
          <a:noFill/>
        </p:spPr>
        <p:txBody>
          <a:bodyPr wrap="none" lIns="0" tIns="0" rIns="0" bIns="0">
            <a:spAutoFit/>
          </a:bodyPr>
          <a:lstStyle/>
          <a:p>
            <a:pPr>
              <a:lnSpc>
                <a:spcPts val="1464"/>
              </a:lnSpc>
              <a:spcBef>
                <a:spcPts val="0"/>
              </a:spcBef>
              <a:spcAft>
                <a:spcPts val="0"/>
              </a:spcAft>
              <a:defRPr sz="1200" b="0">
                <a:solidFill>
                  <a:srgbClr val="A9AFBE"/>
                </a:solidFill>
                <a:latin typeface="DejaVu Sans Mono"/>
              </a:defRPr>
            </a:pPr>
            <a:r>
              <a:t>ӨМНӨД АФРИК</a:t>
            </a:r>
          </a:p>
        </p:txBody>
      </p:sp>
      <p:sp>
        <p:nvSpPr>
          <p:cNvPr id="8" name="TextBox 7"/>
          <p:cNvSpPr txBox="1"/>
          <p:nvPr/>
        </p:nvSpPr>
        <p:spPr>
          <a:xfrm>
            <a:off x="409575" y="2676525"/>
            <a:ext cx="4171950" cy="752475"/>
          </a:xfrm>
          <a:prstGeom prst="rect">
            <a:avLst/>
          </a:prstGeom>
          <a:noFill/>
        </p:spPr>
        <p:txBody>
          <a:bodyPr wrap="none" lIns="0" tIns="0" rIns="0" bIns="0">
            <a:spAutoFit/>
          </a:bodyPr>
          <a:lstStyle/>
          <a:p>
            <a:pPr>
              <a:lnSpc>
                <a:spcPts val="4392"/>
              </a:lnSpc>
              <a:spcBef>
                <a:spcPts val="0"/>
              </a:spcBef>
              <a:spcAft>
                <a:spcPts val="0"/>
              </a:spcAft>
              <a:defRPr sz="3600" b="1">
                <a:solidFill>
                  <a:srgbClr val="F5FF58"/>
                </a:solidFill>
                <a:latin typeface="Open Sans Condensed"/>
              </a:defRPr>
            </a:pPr>
            <a:r>
              <a:t>2002.07.05</a:t>
            </a:r>
          </a:p>
        </p:txBody>
      </p:sp>
      <p:sp>
        <p:nvSpPr>
          <p:cNvPr id="9" name="TextBox 8"/>
          <p:cNvSpPr txBox="1"/>
          <p:nvPr/>
        </p:nvSpPr>
        <p:spPr>
          <a:xfrm>
            <a:off x="409575" y="3486150"/>
            <a:ext cx="4143375" cy="1381125"/>
          </a:xfrm>
          <a:prstGeom prst="rect">
            <a:avLst/>
          </a:prstGeom>
          <a:noFill/>
        </p:spPr>
        <p:txBody>
          <a:bodyPr wrap="none" lIns="0" tIns="0" rIns="0" bIns="0">
            <a:spAutoFit/>
          </a:bodyPr>
          <a:lstStyle/>
          <a:p>
            <a:pPr>
              <a:lnSpc>
                <a:spcPts val="1921"/>
              </a:lnSpc>
              <a:spcBef>
                <a:spcPts val="0"/>
              </a:spcBef>
              <a:spcAft>
                <a:spcPts val="0"/>
              </a:spcAft>
              <a:defRPr sz="1575" b="0">
                <a:solidFill>
                  <a:srgbClr val="F7F6F1"/>
                </a:solidFill>
                <a:latin typeface="DejaVu Sans"/>
              </a:defRPr>
            </a:pPr>
            <a:r>
              <a:t>Невирапин эмийг улсын эрүүл</a:t>
            </a:r>
          </a:p>
          <a:p>
            <a:pPr>
              <a:lnSpc>
                <a:spcPts val="1921"/>
              </a:lnSpc>
              <a:spcBef>
                <a:spcPts val="0"/>
              </a:spcBef>
              <a:spcAft>
                <a:spcPts val="0"/>
              </a:spcAft>
              <a:defRPr sz="1575" b="0">
                <a:solidFill>
                  <a:srgbClr val="F7F6F1"/>
                </a:solidFill>
                <a:latin typeface="DejaVu Sans"/>
              </a:defRPr>
            </a:pPr>
            <a:r>
              <a:t>мэндийн салбарт зөвхөн сонгосон</a:t>
            </a:r>
          </a:p>
          <a:p>
            <a:pPr>
              <a:lnSpc>
                <a:spcPts val="1921"/>
              </a:lnSpc>
              <a:spcBef>
                <a:spcPts val="0"/>
              </a:spcBef>
              <a:spcAft>
                <a:spcPts val="0"/>
              </a:spcAft>
              <a:defRPr sz="1575" b="0">
                <a:solidFill>
                  <a:srgbClr val="F7F6F1"/>
                </a:solidFill>
                <a:latin typeface="DejaVu Sans"/>
              </a:defRPr>
            </a:pPr>
            <a:r>
              <a:t>туршилтын цэгүүдээр хязгаарласан</a:t>
            </a:r>
          </a:p>
          <a:p>
            <a:pPr>
              <a:lnSpc>
                <a:spcPts val="1921"/>
              </a:lnSpc>
              <a:spcBef>
                <a:spcPts val="0"/>
              </a:spcBef>
              <a:spcAft>
                <a:spcPts val="0"/>
              </a:spcAft>
              <a:defRPr sz="1575" b="0">
                <a:solidFill>
                  <a:srgbClr val="F7F6F1"/>
                </a:solidFill>
                <a:latin typeface="DejaVu Sans"/>
              </a:defRPr>
            </a:pPr>
            <a:r>
              <a:t>бодлого нь бусад эмнэлгийн эх,</a:t>
            </a:r>
          </a:p>
          <a:p>
            <a:pPr>
              <a:lnSpc>
                <a:spcPts val="1921"/>
              </a:lnSpc>
              <a:spcBef>
                <a:spcPts val="0"/>
              </a:spcBef>
              <a:spcAft>
                <a:spcPts val="0"/>
              </a:spcAft>
              <a:defRPr sz="1575" b="0">
                <a:solidFill>
                  <a:srgbClr val="F7F6F1"/>
                </a:solidFill>
                <a:latin typeface="DejaVu Sans"/>
              </a:defRPr>
            </a:pPr>
            <a:r>
              <a:t>хүүхдийн хүртээмжийг хааж байв.</a:t>
            </a:r>
          </a:p>
        </p:txBody>
      </p:sp>
      <p:sp>
        <p:nvSpPr>
          <p:cNvPr id="10" name="TextBox 9"/>
          <p:cNvSpPr txBox="1"/>
          <p:nvPr/>
        </p:nvSpPr>
        <p:spPr>
          <a:xfrm>
            <a:off x="409575" y="5114925"/>
            <a:ext cx="4133849" cy="638175"/>
          </a:xfrm>
          <a:prstGeom prst="rect">
            <a:avLst/>
          </a:prstGeom>
          <a:noFill/>
        </p:spPr>
        <p:txBody>
          <a:bodyPr wrap="none" lIns="0" tIns="0" rIns="0" bIns="0">
            <a:spAutoFit/>
          </a:bodyPr>
          <a:lstStyle/>
          <a:p>
            <a:pPr>
              <a:lnSpc>
                <a:spcPts val="1647"/>
              </a:lnSpc>
              <a:spcBef>
                <a:spcPts val="0"/>
              </a:spcBef>
              <a:spcAft>
                <a:spcPts val="0"/>
              </a:spcAft>
              <a:defRPr sz="1350" b="0">
                <a:solidFill>
                  <a:srgbClr val="A9AFBE"/>
                </a:solidFill>
                <a:latin typeface="DejaVu Sans Mono"/>
              </a:defRPr>
            </a:pPr>
            <a:r>
              <a:t>Treatment Action Campaign • [2002] ZACC</a:t>
            </a:r>
          </a:p>
          <a:p>
            <a:pPr>
              <a:lnSpc>
                <a:spcPts val="1647"/>
              </a:lnSpc>
              <a:spcBef>
                <a:spcPts val="0"/>
              </a:spcBef>
              <a:spcAft>
                <a:spcPts val="0"/>
              </a:spcAft>
              <a:defRPr sz="1350" b="0">
                <a:solidFill>
                  <a:srgbClr val="A9AFBE"/>
                </a:solidFill>
                <a:latin typeface="DejaVu Sans Mono"/>
              </a:defRPr>
            </a:pPr>
            <a:r>
              <a:t>15</a:t>
            </a:r>
          </a:p>
        </p:txBody>
      </p:sp>
      <p:sp>
        <p:nvSpPr>
          <p:cNvPr id="11" name="Rectangle 10"/>
          <p:cNvSpPr/>
          <p:nvPr/>
        </p:nvSpPr>
        <p:spPr>
          <a:xfrm>
            <a:off x="5238750" y="4124325"/>
            <a:ext cx="6515100" cy="1857375"/>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8300" y="4276725"/>
            <a:ext cx="6096000" cy="295275"/>
          </a:xfrm>
          <a:prstGeom prst="rect">
            <a:avLst/>
          </a:prstGeom>
          <a:noFill/>
        </p:spPr>
        <p:txBody>
          <a:bodyPr wrap="none" lIns="0" tIns="0" rIns="0" bIns="0">
            <a:spAutoFit/>
          </a:bodyPr>
          <a:lstStyle/>
          <a:p>
            <a:pPr>
              <a:lnSpc>
                <a:spcPts val="1829"/>
              </a:lnSpc>
              <a:spcBef>
                <a:spcPts val="0"/>
              </a:spcBef>
              <a:spcAft>
                <a:spcPts val="0"/>
              </a:spcAft>
              <a:defRPr sz="1500" b="1">
                <a:solidFill>
                  <a:srgbClr val="164BFF"/>
                </a:solidFill>
                <a:latin typeface="DejaVu Sans"/>
              </a:defRPr>
            </a:pPr>
            <a:r>
              <a:t>ШҮҮХИЙН ШИЙДВЭР</a:t>
            </a:r>
          </a:p>
        </p:txBody>
      </p:sp>
      <p:sp>
        <p:nvSpPr>
          <p:cNvPr id="13" name="TextBox 12"/>
          <p:cNvSpPr txBox="1"/>
          <p:nvPr/>
        </p:nvSpPr>
        <p:spPr>
          <a:xfrm>
            <a:off x="5448300" y="4705350"/>
            <a:ext cx="6096000" cy="1133475"/>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Өмнөд Африкийн Үндсэн хууль • 1996.12.10 (гарын үсэг</a:t>
            </a:r>
          </a:p>
          <a:p>
            <a:pPr>
              <a:lnSpc>
                <a:spcPts val="1829"/>
              </a:lnSpc>
              <a:spcBef>
                <a:spcPts val="0"/>
              </a:spcBef>
              <a:spcAft>
                <a:spcPts val="0"/>
              </a:spcAft>
              <a:defRPr sz="1500" b="0">
                <a:solidFill>
                  <a:srgbClr val="101114"/>
                </a:solidFill>
                <a:latin typeface="DejaVu Sans"/>
              </a:defRPr>
            </a:pPr>
            <a:r>
              <a:t>зурсан); 27 дугаар зүйл. Шүүх эмнэлгийн шаардлага</a:t>
            </a:r>
          </a:p>
          <a:p>
            <a:pPr>
              <a:lnSpc>
                <a:spcPts val="1829"/>
              </a:lnSpc>
              <a:spcBef>
                <a:spcPts val="0"/>
              </a:spcBef>
              <a:spcAft>
                <a:spcPts val="0"/>
              </a:spcAft>
              <a:defRPr sz="1500" b="0">
                <a:solidFill>
                  <a:srgbClr val="101114"/>
                </a:solidFill>
                <a:latin typeface="DejaVu Sans"/>
              </a:defRPr>
            </a:pPr>
            <a:r>
              <a:t>хангасан газруудад хэрэглэхэд саад болсон хязгаарлалтыг</a:t>
            </a:r>
          </a:p>
          <a:p>
            <a:pPr>
              <a:lnSpc>
                <a:spcPts val="1829"/>
              </a:lnSpc>
              <a:spcBef>
                <a:spcPts val="0"/>
              </a:spcBef>
              <a:spcAft>
                <a:spcPts val="0"/>
              </a:spcAft>
              <a:defRPr sz="1500" b="0">
                <a:solidFill>
                  <a:srgbClr val="101114"/>
                </a:solidFill>
                <a:latin typeface="DejaVu Sans"/>
              </a:defRPr>
            </a:pPr>
            <a:r>
              <a:t>арилгахыг даалгасан.</a:t>
            </a:r>
          </a:p>
        </p:txBody>
      </p:sp>
      <p:sp>
        <p:nvSpPr>
          <p:cNvPr id="14" name="Rectangle 13"/>
          <p:cNvSpPr/>
          <p:nvPr/>
        </p:nvSpPr>
        <p:spPr>
          <a:xfrm>
            <a:off x="5238750" y="6134100"/>
            <a:ext cx="6515100" cy="495299"/>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81625" y="6229350"/>
            <a:ext cx="6219825" cy="323850"/>
          </a:xfrm>
          <a:prstGeom prst="rect">
            <a:avLst/>
          </a:prstGeom>
          <a:noFill/>
        </p:spPr>
        <p:txBody>
          <a:bodyPr wrap="none" lIns="0" tIns="0" rIns="0" bIns="0">
            <a:spAutoFit/>
          </a:bodyPr>
          <a:lstStyle/>
          <a:p>
            <a:pPr>
              <a:lnSpc>
                <a:spcPts val="1464"/>
              </a:lnSpc>
              <a:spcBef>
                <a:spcPts val="0"/>
              </a:spcBef>
              <a:spcAft>
                <a:spcPts val="0"/>
              </a:spcAft>
              <a:defRPr sz="1200" b="1">
                <a:solidFill>
                  <a:srgbClr val="101114"/>
                </a:solidFill>
                <a:latin typeface="DejaVu Sans"/>
              </a:defRPr>
            </a:pPr>
            <a:r>
              <a:t>СУРГАМЖ / Үйлчилгээний хязгаарлалт үндэслэлтэй байх ёстой.</a:t>
            </a:r>
          </a:p>
        </p:txBody>
      </p:sp>
      <p:sp>
        <p:nvSpPr>
          <p:cNvPr id="16" name="TextBox 15"/>
          <p:cNvSpPr txBox="1"/>
          <p:nvPr/>
        </p:nvSpPr>
        <p:spPr>
          <a:xfrm>
            <a:off x="5343525" y="3867150"/>
            <a:ext cx="619125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F7F6F1"/>
                </a:solidFill>
                <a:latin typeface="DejaVu Sans Mono"/>
              </a:defRPr>
            </a:pPr>
            <a:r>
              <a:t>КОНЦЕПЦ КОЛЛАЖ / AI — ХЭРГИЙН БОДИТ ГЭРЭЛ ЗУРАГ БИШ</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05 / БОДИТ КЕЙС 03</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849"/>
              </a:lnSpc>
              <a:spcBef>
                <a:spcPts val="0"/>
              </a:spcBef>
              <a:spcAft>
                <a:spcPts val="0"/>
              </a:spcAft>
              <a:defRPr sz="3975" b="1">
                <a:solidFill>
                  <a:srgbClr val="101114"/>
                </a:solidFill>
                <a:latin typeface="Open Sans Condensed"/>
              </a:defRPr>
            </a:pPr>
            <a:r>
              <a:t>АМЬЖИРГААНЫ ДООД БАТАЛГАА</a:t>
            </a:r>
          </a:p>
        </p:txBody>
      </p:sp>
      <p:sp>
        <p:nvSpPr>
          <p:cNvPr id="7" name="Rectangle 6"/>
          <p:cNvSpPr/>
          <p:nvPr/>
        </p:nvSpPr>
        <p:spPr>
          <a:xfrm>
            <a:off x="438150" y="2114550"/>
            <a:ext cx="4048124" cy="35814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125" y="2228850"/>
            <a:ext cx="3657600" cy="1362075"/>
          </a:xfrm>
          <a:prstGeom prst="rect">
            <a:avLst/>
          </a:prstGeom>
          <a:noFill/>
        </p:spPr>
        <p:txBody>
          <a:bodyPr wrap="none" lIns="0" tIns="0" rIns="0" bIns="0">
            <a:spAutoFit/>
          </a:bodyPr>
          <a:lstStyle/>
          <a:p>
            <a:pPr>
              <a:lnSpc>
                <a:spcPts val="10065"/>
              </a:lnSpc>
              <a:spcBef>
                <a:spcPts val="0"/>
              </a:spcBef>
              <a:spcAft>
                <a:spcPts val="0"/>
              </a:spcAft>
              <a:defRPr sz="8250" b="1">
                <a:solidFill>
                  <a:srgbClr val="F5FF58"/>
                </a:solidFill>
                <a:latin typeface="Open Sans Condensed"/>
              </a:defRPr>
            </a:pPr>
            <a:r>
              <a:t>2010</a:t>
            </a:r>
          </a:p>
        </p:txBody>
      </p:sp>
      <p:sp>
        <p:nvSpPr>
          <p:cNvPr id="9" name="TextBox 8"/>
          <p:cNvSpPr txBox="1"/>
          <p:nvPr/>
        </p:nvSpPr>
        <p:spPr>
          <a:xfrm>
            <a:off x="657225" y="3848099"/>
            <a:ext cx="3438525" cy="609600"/>
          </a:xfrm>
          <a:prstGeom prst="rect">
            <a:avLst/>
          </a:prstGeom>
          <a:noFill/>
        </p:spPr>
        <p:txBody>
          <a:bodyPr wrap="none" lIns="0" tIns="0" rIns="0" bIns="0">
            <a:spAutoFit/>
          </a:bodyPr>
          <a:lstStyle/>
          <a:p>
            <a:pPr>
              <a:lnSpc>
                <a:spcPts val="2104"/>
              </a:lnSpc>
              <a:spcBef>
                <a:spcPts val="0"/>
              </a:spcBef>
              <a:spcAft>
                <a:spcPts val="0"/>
              </a:spcAft>
              <a:defRPr sz="1725" b="0">
                <a:solidFill>
                  <a:srgbClr val="F7F6F1"/>
                </a:solidFill>
                <a:latin typeface="DejaVu Sans Mono"/>
              </a:defRPr>
            </a:pPr>
            <a:r>
              <a:t>ГЕРМАН / BVerfG</a:t>
            </a:r>
          </a:p>
          <a:p>
            <a:pPr>
              <a:lnSpc>
                <a:spcPts val="2104"/>
              </a:lnSpc>
              <a:spcBef>
                <a:spcPts val="0"/>
              </a:spcBef>
              <a:spcAft>
                <a:spcPts val="0"/>
              </a:spcAft>
              <a:defRPr sz="1725" b="0">
                <a:solidFill>
                  <a:srgbClr val="F7F6F1"/>
                </a:solidFill>
                <a:latin typeface="DejaVu Sans Mono"/>
              </a:defRPr>
            </a:pPr>
            <a:r>
              <a:t>02 САРЫН 09</a:t>
            </a:r>
          </a:p>
        </p:txBody>
      </p:sp>
      <p:sp>
        <p:nvSpPr>
          <p:cNvPr id="10" name="Rectangle 9"/>
          <p:cNvSpPr/>
          <p:nvPr/>
        </p:nvSpPr>
        <p:spPr>
          <a:xfrm>
            <a:off x="771525" y="4781550"/>
            <a:ext cx="371475" cy="62865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09725" y="4781550"/>
            <a:ext cx="371475" cy="62865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47925" y="4781550"/>
            <a:ext cx="371475" cy="62865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86125" y="4781550"/>
            <a:ext cx="371475" cy="62865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66750" y="4371975"/>
            <a:ext cx="3343275" cy="323850"/>
          </a:xfrm>
          <a:custGeom>
            <a:avLst/>
            <a:gdLst/>
            <a:ahLst/>
            <a:cxnLst/>
            <a:rect l="l" t="t" r="r" b="b"/>
            <a:pathLst>
              <a:path w="351" h="34">
                <a:moveTo>
                  <a:pt x="0" y="34"/>
                </a:moveTo>
                <a:lnTo>
                  <a:pt x="351" y="34"/>
                </a:lnTo>
                <a:lnTo>
                  <a:pt x="175" y="0"/>
                </a:lnTo>
                <a:close/>
              </a:path>
            </a:pathLst>
          </a:cu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6750" y="5476875"/>
            <a:ext cx="3343275" cy="66675"/>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914900" y="2085975"/>
            <a:ext cx="68008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943475" y="2200275"/>
            <a:ext cx="6743700" cy="285750"/>
          </a:xfrm>
          <a:prstGeom prst="rect">
            <a:avLst/>
          </a:prstGeom>
          <a:noFill/>
        </p:spPr>
        <p:txBody>
          <a:bodyPr wrap="none" lIns="0" tIns="0" rIns="0" bIns="0">
            <a:spAutoFit/>
          </a:bodyPr>
          <a:lstStyle/>
          <a:p>
            <a:pPr>
              <a:lnSpc>
                <a:spcPts val="1555"/>
              </a:lnSpc>
              <a:spcBef>
                <a:spcPts val="0"/>
              </a:spcBef>
              <a:spcAft>
                <a:spcPts val="0"/>
              </a:spcAft>
              <a:defRPr sz="1275" b="1">
                <a:solidFill>
                  <a:srgbClr val="164BFF"/>
                </a:solidFill>
                <a:latin typeface="DejaVu Sans"/>
              </a:defRPr>
            </a:pPr>
            <a:r>
              <a:t>МАРГААН</a:t>
            </a:r>
          </a:p>
        </p:txBody>
      </p:sp>
      <p:sp>
        <p:nvSpPr>
          <p:cNvPr id="18" name="TextBox 17"/>
          <p:cNvSpPr txBox="1"/>
          <p:nvPr/>
        </p:nvSpPr>
        <p:spPr>
          <a:xfrm>
            <a:off x="4943475" y="2590800"/>
            <a:ext cx="6743700" cy="685800"/>
          </a:xfrm>
          <a:prstGeom prst="rect">
            <a:avLst/>
          </a:prstGeom>
          <a:noFill/>
        </p:spPr>
        <p:txBody>
          <a:bodyPr wrap="none" lIns="0" tIns="0" rIns="0" bIns="0">
            <a:spAutoFit/>
          </a:bodyPr>
          <a:lstStyle/>
          <a:p>
            <a:pPr>
              <a:lnSpc>
                <a:spcPts val="1793"/>
              </a:lnSpc>
              <a:spcBef>
                <a:spcPts val="0"/>
              </a:spcBef>
              <a:spcAft>
                <a:spcPts val="0"/>
              </a:spcAft>
              <a:defRPr sz="1470" b="0">
                <a:solidFill>
                  <a:srgbClr val="101114"/>
                </a:solidFill>
                <a:latin typeface="DejaVu Sans"/>
              </a:defRPr>
            </a:pPr>
            <a:r>
              <a:t>Hartz IV тогтолцооны зарим суурь тэтгэмж, ялангуяа хүүхдийн</a:t>
            </a:r>
          </a:p>
          <a:p>
            <a:pPr>
              <a:lnSpc>
                <a:spcPts val="1793"/>
              </a:lnSpc>
              <a:spcBef>
                <a:spcPts val="0"/>
              </a:spcBef>
              <a:spcAft>
                <a:spcPts val="0"/>
              </a:spcAft>
              <a:defRPr sz="1470" b="0">
                <a:solidFill>
                  <a:srgbClr val="101114"/>
                </a:solidFill>
                <a:latin typeface="DejaVu Sans"/>
              </a:defRPr>
            </a:pPr>
            <a:r>
              <a:t>хэрэгцээний тооцоолол нь ил тод, бодит үндэслэлтэй эсэх талаар</a:t>
            </a:r>
          </a:p>
          <a:p>
            <a:pPr>
              <a:lnSpc>
                <a:spcPts val="1793"/>
              </a:lnSpc>
              <a:spcBef>
                <a:spcPts val="0"/>
              </a:spcBef>
              <a:spcAft>
                <a:spcPts val="0"/>
              </a:spcAft>
              <a:defRPr sz="1470" b="0">
                <a:solidFill>
                  <a:srgbClr val="101114"/>
                </a:solidFill>
                <a:latin typeface="DejaVu Sans"/>
              </a:defRPr>
            </a:pPr>
            <a:r>
              <a:t>маргасан.</a:t>
            </a:r>
          </a:p>
        </p:txBody>
      </p:sp>
      <p:cxnSp>
        <p:nvCxnSpPr>
          <p:cNvPr id="19" name="Connector 18"/>
          <p:cNvCxnSpPr/>
          <p:nvPr/>
        </p:nvCxnSpPr>
        <p:spPr>
          <a:xfrm>
            <a:off x="4914900" y="3314700"/>
            <a:ext cx="68008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43475" y="3429000"/>
            <a:ext cx="6743700" cy="285750"/>
          </a:xfrm>
          <a:prstGeom prst="rect">
            <a:avLst/>
          </a:prstGeom>
          <a:noFill/>
        </p:spPr>
        <p:txBody>
          <a:bodyPr wrap="none" lIns="0" tIns="0" rIns="0" bIns="0">
            <a:spAutoFit/>
          </a:bodyPr>
          <a:lstStyle/>
          <a:p>
            <a:pPr>
              <a:lnSpc>
                <a:spcPts val="1555"/>
              </a:lnSpc>
              <a:spcBef>
                <a:spcPts val="0"/>
              </a:spcBef>
              <a:spcAft>
                <a:spcPts val="0"/>
              </a:spcAft>
              <a:defRPr sz="1275" b="1">
                <a:solidFill>
                  <a:srgbClr val="164BFF"/>
                </a:solidFill>
                <a:latin typeface="DejaVu Sans"/>
              </a:defRPr>
            </a:pPr>
            <a:r>
              <a:t>ЭРХ ЗҮЙН ҮНДЭС</a:t>
            </a:r>
          </a:p>
        </p:txBody>
      </p:sp>
      <p:sp>
        <p:nvSpPr>
          <p:cNvPr id="21" name="TextBox 20"/>
          <p:cNvSpPr txBox="1"/>
          <p:nvPr/>
        </p:nvSpPr>
        <p:spPr>
          <a:xfrm>
            <a:off x="4943475" y="3819524"/>
            <a:ext cx="6743700" cy="685800"/>
          </a:xfrm>
          <a:prstGeom prst="rect">
            <a:avLst/>
          </a:prstGeom>
          <a:noFill/>
        </p:spPr>
        <p:txBody>
          <a:bodyPr wrap="none" lIns="0" tIns="0" rIns="0" bIns="0">
            <a:spAutoFit/>
          </a:bodyPr>
          <a:lstStyle/>
          <a:p>
            <a:pPr>
              <a:lnSpc>
                <a:spcPts val="1793"/>
              </a:lnSpc>
              <a:spcBef>
                <a:spcPts val="0"/>
              </a:spcBef>
              <a:spcAft>
                <a:spcPts val="0"/>
              </a:spcAft>
              <a:defRPr sz="1470" b="0">
                <a:solidFill>
                  <a:srgbClr val="101114"/>
                </a:solidFill>
                <a:latin typeface="DejaVu Sans"/>
              </a:defRPr>
            </a:pPr>
            <a:r>
              <a:t>Германы Үндсэн хууль • 1949.05.23; 1(1) ба 20(1). Хүний нэр төр ба</a:t>
            </a:r>
          </a:p>
          <a:p>
            <a:pPr>
              <a:lnSpc>
                <a:spcPts val="1793"/>
              </a:lnSpc>
              <a:spcBef>
                <a:spcPts val="0"/>
              </a:spcBef>
              <a:spcAft>
                <a:spcPts val="0"/>
              </a:spcAft>
              <a:defRPr sz="1470" b="0">
                <a:solidFill>
                  <a:srgbClr val="101114"/>
                </a:solidFill>
                <a:latin typeface="DejaVu Sans"/>
              </a:defRPr>
            </a:pPr>
            <a:r>
              <a:t>нийгмийн төрийн зарчмаас амьжиргааны наад захын баталгааг</a:t>
            </a:r>
          </a:p>
          <a:p>
            <a:pPr>
              <a:lnSpc>
                <a:spcPts val="1793"/>
              </a:lnSpc>
              <a:spcBef>
                <a:spcPts val="0"/>
              </a:spcBef>
              <a:spcAft>
                <a:spcPts val="0"/>
              </a:spcAft>
              <a:defRPr sz="1470" b="0">
                <a:solidFill>
                  <a:srgbClr val="101114"/>
                </a:solidFill>
                <a:latin typeface="DejaVu Sans"/>
              </a:defRPr>
            </a:pPr>
            <a:r>
              <a:t>тайлбарласан.</a:t>
            </a:r>
          </a:p>
        </p:txBody>
      </p:sp>
      <p:cxnSp>
        <p:nvCxnSpPr>
          <p:cNvPr id="22" name="Connector 21"/>
          <p:cNvCxnSpPr/>
          <p:nvPr/>
        </p:nvCxnSpPr>
        <p:spPr>
          <a:xfrm>
            <a:off x="4914900" y="4543425"/>
            <a:ext cx="68008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943475" y="4657725"/>
            <a:ext cx="6743700" cy="285750"/>
          </a:xfrm>
          <a:prstGeom prst="rect">
            <a:avLst/>
          </a:prstGeom>
          <a:noFill/>
        </p:spPr>
        <p:txBody>
          <a:bodyPr wrap="none" lIns="0" tIns="0" rIns="0" bIns="0">
            <a:spAutoFit/>
          </a:bodyPr>
          <a:lstStyle/>
          <a:p>
            <a:pPr>
              <a:lnSpc>
                <a:spcPts val="1555"/>
              </a:lnSpc>
              <a:spcBef>
                <a:spcPts val="0"/>
              </a:spcBef>
              <a:spcAft>
                <a:spcPts val="0"/>
              </a:spcAft>
              <a:defRPr sz="1275" b="1">
                <a:solidFill>
                  <a:srgbClr val="164BFF"/>
                </a:solidFill>
                <a:latin typeface="DejaVu Sans"/>
              </a:defRPr>
            </a:pPr>
            <a:r>
              <a:t>МОНГОЛД АВАХ САНАА</a:t>
            </a:r>
          </a:p>
        </p:txBody>
      </p:sp>
      <p:sp>
        <p:nvSpPr>
          <p:cNvPr id="24" name="TextBox 23"/>
          <p:cNvSpPr txBox="1"/>
          <p:nvPr/>
        </p:nvSpPr>
        <p:spPr>
          <a:xfrm>
            <a:off x="4943475" y="5048250"/>
            <a:ext cx="6743700" cy="685800"/>
          </a:xfrm>
          <a:prstGeom prst="rect">
            <a:avLst/>
          </a:prstGeom>
          <a:noFill/>
        </p:spPr>
        <p:txBody>
          <a:bodyPr wrap="none" lIns="0" tIns="0" rIns="0" bIns="0">
            <a:spAutoFit/>
          </a:bodyPr>
          <a:lstStyle/>
          <a:p>
            <a:pPr>
              <a:lnSpc>
                <a:spcPts val="1793"/>
              </a:lnSpc>
              <a:spcBef>
                <a:spcPts val="0"/>
              </a:spcBef>
              <a:spcAft>
                <a:spcPts val="0"/>
              </a:spcAft>
              <a:defRPr sz="1470" b="0">
                <a:solidFill>
                  <a:srgbClr val="101114"/>
                </a:solidFill>
                <a:latin typeface="DejaVu Sans"/>
              </a:defRPr>
            </a:pPr>
            <a:r>
              <a:t>Монголд авах санаа: тэтгэмжийн хэмжээг зөвхөн улс төрийн</a:t>
            </a:r>
          </a:p>
          <a:p>
            <a:pPr>
              <a:lnSpc>
                <a:spcPts val="1793"/>
              </a:lnSpc>
              <a:spcBef>
                <a:spcPts val="0"/>
              </a:spcBef>
              <a:spcAft>
                <a:spcPts val="0"/>
              </a:spcAft>
              <a:defRPr sz="1470" b="0">
                <a:solidFill>
                  <a:srgbClr val="101114"/>
                </a:solidFill>
                <a:latin typeface="DejaVu Sans"/>
              </a:defRPr>
            </a:pPr>
            <a:r>
              <a:t>сонголтоор бус бодит хэрэгцээ, ойлгомжтой аргачлал, тогтмол</a:t>
            </a:r>
          </a:p>
          <a:p>
            <a:pPr>
              <a:lnSpc>
                <a:spcPts val="1793"/>
              </a:lnSpc>
              <a:spcBef>
                <a:spcPts val="0"/>
              </a:spcBef>
              <a:spcAft>
                <a:spcPts val="0"/>
              </a:spcAft>
              <a:defRPr sz="1470" b="0">
                <a:solidFill>
                  <a:srgbClr val="101114"/>
                </a:solidFill>
                <a:latin typeface="DejaVu Sans"/>
              </a:defRPr>
            </a:pPr>
            <a:r>
              <a:t>шинэчлэлээр үндэслэх.</a:t>
            </a:r>
          </a:p>
        </p:txBody>
      </p:sp>
      <p:sp>
        <p:nvSpPr>
          <p:cNvPr id="25" name="Rectangle 24"/>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Шүүх нэг “зөв” мөнгөн дүн тогтоохоос илүү тооцооллын арга, үндэслэл, баталгааг шаардсан.</a:t>
            </a:r>
          </a:p>
        </p:txBody>
      </p:sp>
      <p:cxnSp>
        <p:nvCxnSpPr>
          <p:cNvPr id="27" name="Connector 26"/>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GER</a:t>
            </a:r>
          </a:p>
        </p:txBody>
      </p:sp>
      <p:sp>
        <p:nvSpPr>
          <p:cNvPr id="29" name="TextBox 28"/>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22—30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06 / УЛС ОРНУУДЫН ХАРЬЦУУЛАЛТ</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5032"/>
              </a:lnSpc>
              <a:spcBef>
                <a:spcPts val="0"/>
              </a:spcBef>
              <a:spcAft>
                <a:spcPts val="0"/>
              </a:spcAft>
              <a:defRPr sz="4125" b="1">
                <a:solidFill>
                  <a:srgbClr val="F7F6F1"/>
                </a:solidFill>
                <a:latin typeface="Open Sans Condensed"/>
              </a:defRPr>
            </a:pPr>
            <a:r>
              <a:t>ИЖИЛ ЗОРИЛГО. ӨӨР ХЭРЭГСЭЛ.</a:t>
            </a:r>
          </a:p>
        </p:txBody>
      </p:sp>
      <p:sp>
        <p:nvSpPr>
          <p:cNvPr id="7" name="TextBox 6"/>
          <p:cNvSpPr txBox="1"/>
          <p:nvPr/>
        </p:nvSpPr>
        <p:spPr>
          <a:xfrm>
            <a:off x="466724" y="1847850"/>
            <a:ext cx="3495675" cy="314325"/>
          </a:xfrm>
          <a:prstGeom prst="rect">
            <a:avLst/>
          </a:prstGeom>
          <a:noFill/>
        </p:spPr>
        <p:txBody>
          <a:bodyPr wrap="none" lIns="0" tIns="0" rIns="0" bIns="0">
            <a:spAutoFit/>
          </a:bodyPr>
          <a:lstStyle/>
          <a:p>
            <a:pPr>
              <a:lnSpc>
                <a:spcPts val="1372"/>
              </a:lnSpc>
              <a:spcBef>
                <a:spcPts val="0"/>
              </a:spcBef>
              <a:spcAft>
                <a:spcPts val="0"/>
              </a:spcAft>
              <a:defRPr sz="1125" b="0">
                <a:solidFill>
                  <a:srgbClr val="A9AFBE"/>
                </a:solidFill>
                <a:latin typeface="DejaVu Sans Mono"/>
              </a:defRPr>
            </a:pPr>
            <a:r>
              <a:t>УЛС • ЖИШЭЭ</a:t>
            </a:r>
          </a:p>
        </p:txBody>
      </p:sp>
      <p:sp>
        <p:nvSpPr>
          <p:cNvPr id="8" name="TextBox 7"/>
          <p:cNvSpPr txBox="1"/>
          <p:nvPr/>
        </p:nvSpPr>
        <p:spPr>
          <a:xfrm>
            <a:off x="4086225" y="1847850"/>
            <a:ext cx="3438525" cy="314325"/>
          </a:xfrm>
          <a:prstGeom prst="rect">
            <a:avLst/>
          </a:prstGeom>
          <a:noFill/>
        </p:spPr>
        <p:txBody>
          <a:bodyPr wrap="none" lIns="0" tIns="0" rIns="0" bIns="0">
            <a:spAutoFit/>
          </a:bodyPr>
          <a:lstStyle/>
          <a:p>
            <a:pPr>
              <a:lnSpc>
                <a:spcPts val="1372"/>
              </a:lnSpc>
              <a:spcBef>
                <a:spcPts val="0"/>
              </a:spcBef>
              <a:spcAft>
                <a:spcPts val="0"/>
              </a:spcAft>
              <a:defRPr sz="1125" b="0">
                <a:solidFill>
                  <a:srgbClr val="A9AFBE"/>
                </a:solidFill>
                <a:latin typeface="DejaVu Sans Mono"/>
              </a:defRPr>
            </a:pPr>
            <a:r>
              <a:t>ХАМГААЛАЛТЫН ХЭРЭГСЭЛ</a:t>
            </a:r>
          </a:p>
        </p:txBody>
      </p:sp>
      <p:sp>
        <p:nvSpPr>
          <p:cNvPr id="9" name="TextBox 8"/>
          <p:cNvSpPr txBox="1"/>
          <p:nvPr/>
        </p:nvSpPr>
        <p:spPr>
          <a:xfrm>
            <a:off x="7667624" y="1847850"/>
            <a:ext cx="4048124" cy="314325"/>
          </a:xfrm>
          <a:prstGeom prst="rect">
            <a:avLst/>
          </a:prstGeom>
          <a:noFill/>
        </p:spPr>
        <p:txBody>
          <a:bodyPr wrap="none" lIns="0" tIns="0" rIns="0" bIns="0">
            <a:spAutoFit/>
          </a:bodyPr>
          <a:lstStyle/>
          <a:p>
            <a:pPr>
              <a:lnSpc>
                <a:spcPts val="1372"/>
              </a:lnSpc>
              <a:spcBef>
                <a:spcPts val="0"/>
              </a:spcBef>
              <a:spcAft>
                <a:spcPts val="0"/>
              </a:spcAft>
              <a:defRPr sz="1125" b="0">
                <a:solidFill>
                  <a:srgbClr val="A9AFBE"/>
                </a:solidFill>
                <a:latin typeface="DejaVu Sans Mono"/>
              </a:defRPr>
            </a:pPr>
            <a:r>
              <a:t>ДАВУУ ТАЛ / АНХААРАХ ЗҮЙЛ</a:t>
            </a:r>
          </a:p>
        </p:txBody>
      </p:sp>
      <p:sp>
        <p:nvSpPr>
          <p:cNvPr id="10" name="Rectangle 9"/>
          <p:cNvSpPr/>
          <p:nvPr/>
        </p:nvSpPr>
        <p:spPr>
          <a:xfrm>
            <a:off x="428625" y="2276475"/>
            <a:ext cx="11334750" cy="6572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2925" y="2390775"/>
            <a:ext cx="3295650" cy="504825"/>
          </a:xfrm>
          <a:prstGeom prst="rect">
            <a:avLst/>
          </a:prstGeom>
          <a:noFill/>
        </p:spPr>
        <p:txBody>
          <a:bodyPr wrap="none" lIns="0" tIns="0" rIns="0" bIns="0">
            <a:spAutoFit/>
          </a:bodyPr>
          <a:lstStyle/>
          <a:p>
            <a:pPr>
              <a:lnSpc>
                <a:spcPts val="1647"/>
              </a:lnSpc>
              <a:spcBef>
                <a:spcPts val="0"/>
              </a:spcBef>
              <a:spcAft>
                <a:spcPts val="0"/>
              </a:spcAft>
              <a:defRPr sz="1350" b="1">
                <a:solidFill>
                  <a:srgbClr val="101114"/>
                </a:solidFill>
                <a:latin typeface="DejaVu Sans"/>
              </a:defRPr>
            </a:pPr>
            <a:r>
              <a:t>Монгол • Үндсэн хууль</a:t>
            </a:r>
          </a:p>
          <a:p>
            <a:pPr>
              <a:lnSpc>
                <a:spcPts val="1647"/>
              </a:lnSpc>
              <a:spcBef>
                <a:spcPts val="0"/>
              </a:spcBef>
              <a:spcAft>
                <a:spcPts val="0"/>
              </a:spcAft>
              <a:defRPr sz="1350" b="1">
                <a:solidFill>
                  <a:srgbClr val="101114"/>
                </a:solidFill>
                <a:latin typeface="DejaVu Sans"/>
              </a:defRPr>
            </a:pPr>
            <a:r>
              <a:t>1992.01.13</a:t>
            </a:r>
          </a:p>
        </p:txBody>
      </p:sp>
      <p:sp>
        <p:nvSpPr>
          <p:cNvPr id="12" name="TextBox 11"/>
          <p:cNvSpPr txBox="1"/>
          <p:nvPr/>
        </p:nvSpPr>
        <p:spPr>
          <a:xfrm>
            <a:off x="4162424" y="2390775"/>
            <a:ext cx="3238500"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101114"/>
                </a:solidFill>
                <a:latin typeface="DejaVu Sans"/>
              </a:defRPr>
            </a:pPr>
            <a:r>
              <a:t>Үндсэн эрх + хуульд заасан</a:t>
            </a:r>
          </a:p>
          <a:p>
            <a:pPr>
              <a:lnSpc>
                <a:spcPts val="1647"/>
              </a:lnSpc>
              <a:spcBef>
                <a:spcPts val="0"/>
              </a:spcBef>
              <a:spcAft>
                <a:spcPts val="0"/>
              </a:spcAft>
              <a:defRPr sz="1350" b="0">
                <a:solidFill>
                  <a:srgbClr val="101114"/>
                </a:solidFill>
                <a:latin typeface="DejaVu Sans"/>
              </a:defRPr>
            </a:pPr>
            <a:r>
              <a:t>халамж, үйлчилгээ</a:t>
            </a:r>
          </a:p>
        </p:txBody>
      </p:sp>
      <p:sp>
        <p:nvSpPr>
          <p:cNvPr id="13" name="TextBox 12"/>
          <p:cNvSpPr txBox="1"/>
          <p:nvPr/>
        </p:nvSpPr>
        <p:spPr>
          <a:xfrm>
            <a:off x="7743825" y="2390775"/>
            <a:ext cx="3848099"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101114"/>
                </a:solidFill>
                <a:latin typeface="DejaVu Sans"/>
              </a:defRPr>
            </a:pPr>
            <a:r>
              <a:t>Шалгуур ба бодит хүртээмжийг</a:t>
            </a:r>
          </a:p>
          <a:p>
            <a:pPr>
              <a:lnSpc>
                <a:spcPts val="1647"/>
              </a:lnSpc>
              <a:spcBef>
                <a:spcPts val="0"/>
              </a:spcBef>
              <a:spcAft>
                <a:spcPts val="0"/>
              </a:spcAft>
              <a:defRPr sz="1350" b="0">
                <a:solidFill>
                  <a:srgbClr val="101114"/>
                </a:solidFill>
                <a:latin typeface="DejaVu Sans"/>
              </a:defRPr>
            </a:pPr>
            <a:r>
              <a:t>уялдуулах</a:t>
            </a:r>
          </a:p>
        </p:txBody>
      </p:sp>
      <p:cxnSp>
        <p:nvCxnSpPr>
          <p:cNvPr id="14" name="Connector 13"/>
          <p:cNvCxnSpPr/>
          <p:nvPr/>
        </p:nvCxnSpPr>
        <p:spPr>
          <a:xfrm>
            <a:off x="457200" y="2933700"/>
            <a:ext cx="11277600" cy="0"/>
          </a:xfrm>
          <a:prstGeom prst="line">
            <a:avLst/>
          </a:prstGeom>
          <a:ln w="9525">
            <a:solidFill>
              <a:srgbClr val="3B404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2925" y="3048000"/>
            <a:ext cx="3295650" cy="504825"/>
          </a:xfrm>
          <a:prstGeom prst="rect">
            <a:avLst/>
          </a:prstGeom>
          <a:noFill/>
        </p:spPr>
        <p:txBody>
          <a:bodyPr wrap="none" lIns="0" tIns="0" rIns="0" bIns="0">
            <a:spAutoFit/>
          </a:bodyPr>
          <a:lstStyle/>
          <a:p>
            <a:pPr>
              <a:lnSpc>
                <a:spcPts val="1647"/>
              </a:lnSpc>
              <a:spcBef>
                <a:spcPts val="0"/>
              </a:spcBef>
              <a:spcAft>
                <a:spcPts val="0"/>
              </a:spcAft>
              <a:defRPr sz="1350" b="1">
                <a:solidFill>
                  <a:srgbClr val="F7F6F1"/>
                </a:solidFill>
                <a:latin typeface="DejaVu Sans"/>
              </a:defRPr>
            </a:pPr>
            <a:r>
              <a:t>Өмнөд Африк • 1996.12.10</a:t>
            </a:r>
          </a:p>
          <a:p>
            <a:pPr>
              <a:lnSpc>
                <a:spcPts val="1647"/>
              </a:lnSpc>
              <a:spcBef>
                <a:spcPts val="0"/>
              </a:spcBef>
              <a:spcAft>
                <a:spcPts val="0"/>
              </a:spcAft>
              <a:defRPr sz="1350" b="1">
                <a:solidFill>
                  <a:srgbClr val="F7F6F1"/>
                </a:solidFill>
                <a:latin typeface="DejaVu Sans"/>
              </a:defRPr>
            </a:pPr>
            <a:r>
              <a:t>(гарын үсэг зурсан)</a:t>
            </a:r>
          </a:p>
        </p:txBody>
      </p:sp>
      <p:sp>
        <p:nvSpPr>
          <p:cNvPr id="16" name="TextBox 15"/>
          <p:cNvSpPr txBox="1"/>
          <p:nvPr/>
        </p:nvSpPr>
        <p:spPr>
          <a:xfrm>
            <a:off x="4162424" y="3048000"/>
            <a:ext cx="3238500"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Нийгмийн эрхийн хэрэгжилтэд</a:t>
            </a:r>
          </a:p>
          <a:p>
            <a:pPr>
              <a:lnSpc>
                <a:spcPts val="1647"/>
              </a:lnSpc>
              <a:spcBef>
                <a:spcPts val="0"/>
              </a:spcBef>
              <a:spcAft>
                <a:spcPts val="0"/>
              </a:spcAft>
              <a:defRPr sz="1350" b="0">
                <a:solidFill>
                  <a:srgbClr val="F7F6F1"/>
                </a:solidFill>
                <a:latin typeface="DejaVu Sans"/>
              </a:defRPr>
            </a:pPr>
            <a:r>
              <a:t>шүүхийн хяналт</a:t>
            </a:r>
          </a:p>
        </p:txBody>
      </p:sp>
      <p:sp>
        <p:nvSpPr>
          <p:cNvPr id="17" name="TextBox 16"/>
          <p:cNvSpPr txBox="1"/>
          <p:nvPr/>
        </p:nvSpPr>
        <p:spPr>
          <a:xfrm>
            <a:off x="7743825" y="3048000"/>
            <a:ext cx="3848099"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Бодлого гачигдалтай хүмүүсийг орхисон</a:t>
            </a:r>
          </a:p>
          <a:p>
            <a:pPr>
              <a:lnSpc>
                <a:spcPts val="1647"/>
              </a:lnSpc>
              <a:spcBef>
                <a:spcPts val="0"/>
              </a:spcBef>
              <a:spcAft>
                <a:spcPts val="0"/>
              </a:spcAft>
              <a:defRPr sz="1350" b="0">
                <a:solidFill>
                  <a:srgbClr val="F7F6F1"/>
                </a:solidFill>
                <a:latin typeface="DejaVu Sans"/>
              </a:defRPr>
            </a:pPr>
            <a:r>
              <a:t>эсэх</a:t>
            </a:r>
          </a:p>
        </p:txBody>
      </p:sp>
      <p:cxnSp>
        <p:nvCxnSpPr>
          <p:cNvPr id="18" name="Connector 17"/>
          <p:cNvCxnSpPr/>
          <p:nvPr/>
        </p:nvCxnSpPr>
        <p:spPr>
          <a:xfrm>
            <a:off x="457200" y="3590925"/>
            <a:ext cx="11277600" cy="0"/>
          </a:xfrm>
          <a:prstGeom prst="line">
            <a:avLst/>
          </a:prstGeom>
          <a:ln w="9525">
            <a:solidFill>
              <a:srgbClr val="3B404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2925" y="3705224"/>
            <a:ext cx="3295650" cy="504825"/>
          </a:xfrm>
          <a:prstGeom prst="rect">
            <a:avLst/>
          </a:prstGeom>
          <a:noFill/>
        </p:spPr>
        <p:txBody>
          <a:bodyPr wrap="none" lIns="0" tIns="0" rIns="0" bIns="0">
            <a:spAutoFit/>
          </a:bodyPr>
          <a:lstStyle/>
          <a:p>
            <a:pPr>
              <a:lnSpc>
                <a:spcPts val="1647"/>
              </a:lnSpc>
              <a:spcBef>
                <a:spcPts val="0"/>
              </a:spcBef>
              <a:spcAft>
                <a:spcPts val="0"/>
              </a:spcAft>
              <a:defRPr sz="1350" b="1">
                <a:solidFill>
                  <a:srgbClr val="F7F6F1"/>
                </a:solidFill>
                <a:latin typeface="DejaVu Sans"/>
              </a:defRPr>
            </a:pPr>
            <a:r>
              <a:t>Герман • 1949.05.23</a:t>
            </a:r>
          </a:p>
        </p:txBody>
      </p:sp>
      <p:sp>
        <p:nvSpPr>
          <p:cNvPr id="20" name="TextBox 19"/>
          <p:cNvSpPr txBox="1"/>
          <p:nvPr/>
        </p:nvSpPr>
        <p:spPr>
          <a:xfrm>
            <a:off x="4162424" y="3705224"/>
            <a:ext cx="3238500"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Нэр төрд нийцэх амьжиргааны</a:t>
            </a:r>
          </a:p>
          <a:p>
            <a:pPr>
              <a:lnSpc>
                <a:spcPts val="1647"/>
              </a:lnSpc>
              <a:spcBef>
                <a:spcPts val="0"/>
              </a:spcBef>
              <a:spcAft>
                <a:spcPts val="0"/>
              </a:spcAft>
              <a:defRPr sz="1350" b="0">
                <a:solidFill>
                  <a:srgbClr val="F7F6F1"/>
                </a:solidFill>
                <a:latin typeface="DejaVu Sans"/>
              </a:defRPr>
            </a:pPr>
            <a:r>
              <a:t>доод баталгаа</a:t>
            </a:r>
          </a:p>
        </p:txBody>
      </p:sp>
      <p:sp>
        <p:nvSpPr>
          <p:cNvPr id="21" name="TextBox 20"/>
          <p:cNvSpPr txBox="1"/>
          <p:nvPr/>
        </p:nvSpPr>
        <p:spPr>
          <a:xfrm>
            <a:off x="7743825" y="3705224"/>
            <a:ext cx="3848099"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Тэтгэмжийн тооцоолол үндэслэлтэй байх</a:t>
            </a:r>
          </a:p>
        </p:txBody>
      </p:sp>
      <p:cxnSp>
        <p:nvCxnSpPr>
          <p:cNvPr id="22" name="Connector 21"/>
          <p:cNvCxnSpPr/>
          <p:nvPr/>
        </p:nvCxnSpPr>
        <p:spPr>
          <a:xfrm>
            <a:off x="457200" y="4248150"/>
            <a:ext cx="11277600" cy="0"/>
          </a:xfrm>
          <a:prstGeom prst="line">
            <a:avLst/>
          </a:prstGeom>
          <a:ln w="9525">
            <a:solidFill>
              <a:srgbClr val="3B404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2925" y="4362450"/>
            <a:ext cx="3295650" cy="504825"/>
          </a:xfrm>
          <a:prstGeom prst="rect">
            <a:avLst/>
          </a:prstGeom>
          <a:noFill/>
        </p:spPr>
        <p:txBody>
          <a:bodyPr wrap="none" lIns="0" tIns="0" rIns="0" bIns="0">
            <a:spAutoFit/>
          </a:bodyPr>
          <a:lstStyle/>
          <a:p>
            <a:pPr>
              <a:lnSpc>
                <a:spcPts val="1647"/>
              </a:lnSpc>
              <a:spcBef>
                <a:spcPts val="0"/>
              </a:spcBef>
              <a:spcAft>
                <a:spcPts val="0"/>
              </a:spcAft>
              <a:defRPr sz="1350" b="1">
                <a:solidFill>
                  <a:srgbClr val="F7F6F1"/>
                </a:solidFill>
                <a:latin typeface="DejaVu Sans"/>
              </a:defRPr>
            </a:pPr>
            <a:r>
              <a:t>Финланд • 2017–2018 туршилт</a:t>
            </a:r>
          </a:p>
        </p:txBody>
      </p:sp>
      <p:sp>
        <p:nvSpPr>
          <p:cNvPr id="24" name="TextBox 23"/>
          <p:cNvSpPr txBox="1"/>
          <p:nvPr/>
        </p:nvSpPr>
        <p:spPr>
          <a:xfrm>
            <a:off x="4162424" y="4362450"/>
            <a:ext cx="3238500"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Нөхцөл багатай тогтмол мөнгөн</a:t>
            </a:r>
          </a:p>
          <a:p>
            <a:pPr>
              <a:lnSpc>
                <a:spcPts val="1647"/>
              </a:lnSpc>
              <a:spcBef>
                <a:spcPts val="0"/>
              </a:spcBef>
              <a:spcAft>
                <a:spcPts val="0"/>
              </a:spcAft>
              <a:defRPr sz="1350" b="0">
                <a:solidFill>
                  <a:srgbClr val="F7F6F1"/>
                </a:solidFill>
                <a:latin typeface="DejaVu Sans"/>
              </a:defRPr>
            </a:pPr>
            <a:r>
              <a:t>дэмжлэг</a:t>
            </a:r>
          </a:p>
        </p:txBody>
      </p:sp>
      <p:sp>
        <p:nvSpPr>
          <p:cNvPr id="25" name="TextBox 24"/>
          <p:cNvSpPr txBox="1"/>
          <p:nvPr/>
        </p:nvSpPr>
        <p:spPr>
          <a:xfrm>
            <a:off x="7743825" y="4362450"/>
            <a:ext cx="3848099"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Туршилтын үр дүнг бүх хүн амд шууд</a:t>
            </a:r>
          </a:p>
          <a:p>
            <a:pPr>
              <a:lnSpc>
                <a:spcPts val="1647"/>
              </a:lnSpc>
              <a:spcBef>
                <a:spcPts val="0"/>
              </a:spcBef>
              <a:spcAft>
                <a:spcPts val="0"/>
              </a:spcAft>
              <a:defRPr sz="1350" b="0">
                <a:solidFill>
                  <a:srgbClr val="F7F6F1"/>
                </a:solidFill>
                <a:latin typeface="DejaVu Sans"/>
              </a:defRPr>
            </a:pPr>
            <a:r>
              <a:t>дүгнэхгүй</a:t>
            </a:r>
          </a:p>
        </p:txBody>
      </p:sp>
      <p:cxnSp>
        <p:nvCxnSpPr>
          <p:cNvPr id="26" name="Connector 25"/>
          <p:cNvCxnSpPr/>
          <p:nvPr/>
        </p:nvCxnSpPr>
        <p:spPr>
          <a:xfrm>
            <a:off x="457200" y="4905375"/>
            <a:ext cx="11277600" cy="0"/>
          </a:xfrm>
          <a:prstGeom prst="line">
            <a:avLst/>
          </a:prstGeom>
          <a:ln w="9525">
            <a:solidFill>
              <a:srgbClr val="3B404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2925" y="5019675"/>
            <a:ext cx="3295650" cy="504825"/>
          </a:xfrm>
          <a:prstGeom prst="rect">
            <a:avLst/>
          </a:prstGeom>
          <a:noFill/>
        </p:spPr>
        <p:txBody>
          <a:bodyPr wrap="none" lIns="0" tIns="0" rIns="0" bIns="0">
            <a:spAutoFit/>
          </a:bodyPr>
          <a:lstStyle/>
          <a:p>
            <a:pPr>
              <a:lnSpc>
                <a:spcPts val="1647"/>
              </a:lnSpc>
              <a:spcBef>
                <a:spcPts val="0"/>
              </a:spcBef>
              <a:spcAft>
                <a:spcPts val="0"/>
              </a:spcAft>
              <a:defRPr sz="1350" b="1">
                <a:solidFill>
                  <a:srgbClr val="F7F6F1"/>
                </a:solidFill>
                <a:latin typeface="DejaVu Sans"/>
              </a:defRPr>
            </a:pPr>
            <a:r>
              <a:t>Бразил • хууль 2023.06.19</a:t>
            </a:r>
          </a:p>
        </p:txBody>
      </p:sp>
      <p:sp>
        <p:nvSpPr>
          <p:cNvPr id="28" name="TextBox 27"/>
          <p:cNvSpPr txBox="1"/>
          <p:nvPr/>
        </p:nvSpPr>
        <p:spPr>
          <a:xfrm>
            <a:off x="4162424" y="5019675"/>
            <a:ext cx="3238500"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Bolsa Família: зорилтот орлогын</a:t>
            </a:r>
          </a:p>
          <a:p>
            <a:pPr>
              <a:lnSpc>
                <a:spcPts val="1647"/>
              </a:lnSpc>
              <a:spcBef>
                <a:spcPts val="0"/>
              </a:spcBef>
              <a:spcAft>
                <a:spcPts val="0"/>
              </a:spcAft>
              <a:defRPr sz="1350" b="0">
                <a:solidFill>
                  <a:srgbClr val="F7F6F1"/>
                </a:solidFill>
                <a:latin typeface="DejaVu Sans"/>
              </a:defRPr>
            </a:pPr>
            <a:r>
              <a:t>дэмжлэг</a:t>
            </a:r>
          </a:p>
        </p:txBody>
      </p:sp>
      <p:sp>
        <p:nvSpPr>
          <p:cNvPr id="29" name="TextBox 28"/>
          <p:cNvSpPr txBox="1"/>
          <p:nvPr/>
        </p:nvSpPr>
        <p:spPr>
          <a:xfrm>
            <a:off x="7743825" y="5019675"/>
            <a:ext cx="3848099" cy="504825"/>
          </a:xfrm>
          <a:prstGeom prst="rect">
            <a:avLst/>
          </a:prstGeom>
          <a:noFill/>
        </p:spPr>
        <p:txBody>
          <a:bodyPr wrap="none" lIns="0" tIns="0" rIns="0" bIns="0">
            <a:spAutoFit/>
          </a:bodyPr>
          <a:lstStyle/>
          <a:p>
            <a:pPr>
              <a:lnSpc>
                <a:spcPts val="1647"/>
              </a:lnSpc>
              <a:spcBef>
                <a:spcPts val="0"/>
              </a:spcBef>
              <a:spcAft>
                <a:spcPts val="0"/>
              </a:spcAft>
              <a:defRPr sz="1350" b="0">
                <a:solidFill>
                  <a:srgbClr val="F7F6F1"/>
                </a:solidFill>
                <a:latin typeface="DejaVu Sans"/>
              </a:defRPr>
            </a:pPr>
            <a:r>
              <a:t>Боловсрол, эрүүл мэндийн үйлчилгээтэй</a:t>
            </a:r>
          </a:p>
          <a:p>
            <a:pPr>
              <a:lnSpc>
                <a:spcPts val="1647"/>
              </a:lnSpc>
              <a:spcBef>
                <a:spcPts val="0"/>
              </a:spcBef>
              <a:spcAft>
                <a:spcPts val="0"/>
              </a:spcAft>
              <a:defRPr sz="1350" b="0">
                <a:solidFill>
                  <a:srgbClr val="F7F6F1"/>
                </a:solidFill>
                <a:latin typeface="DejaVu Sans"/>
              </a:defRPr>
            </a:pPr>
            <a:r>
              <a:t>холбох</a:t>
            </a:r>
          </a:p>
        </p:txBody>
      </p:sp>
      <p:sp>
        <p:nvSpPr>
          <p:cNvPr id="30" name="Rectangle 29"/>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Энэ хүснэгт бол бодлогын харьцуулалт; улсын “хүний эрхийн чансаа” биш.</a:t>
            </a:r>
          </a:p>
        </p:txBody>
      </p:sp>
      <p:cxnSp>
        <p:nvCxnSpPr>
          <p:cNvPr id="32" name="Connector 31"/>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ҮХ · GROOT · GER · FIN · BRA</a:t>
            </a:r>
          </a:p>
        </p:txBody>
      </p:sp>
      <p:sp>
        <p:nvSpPr>
          <p:cNvPr id="34" name="TextBox 33"/>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23—30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06 / ФИНЛАНДЫН ТУРШИЛТ</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483"/>
              </a:lnSpc>
              <a:spcBef>
                <a:spcPts val="0"/>
              </a:spcBef>
              <a:spcAft>
                <a:spcPts val="0"/>
              </a:spcAft>
              <a:defRPr sz="3675" b="1">
                <a:solidFill>
                  <a:srgbClr val="101114"/>
                </a:solidFill>
                <a:latin typeface="Open Sans Condensed"/>
              </a:defRPr>
            </a:pPr>
            <a:r>
              <a:t>ФИНЛАНД / ОРЛОГЫН БАТАЛГААНЫ ТУРШИЛТ</a:t>
            </a:r>
          </a:p>
        </p:txBody>
      </p:sp>
      <p:sp>
        <p:nvSpPr>
          <p:cNvPr id="7" name="Rectangle 6"/>
          <p:cNvSpPr/>
          <p:nvPr/>
        </p:nvSpPr>
        <p:spPr>
          <a:xfrm>
            <a:off x="457200" y="1743075"/>
            <a:ext cx="3019276" cy="2571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 y="1790700"/>
            <a:ext cx="2790676"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2017–2018 / ҮР ДҮНГ 2020 ОНД ТАЙЛАГНАСАН</a:t>
            </a:r>
          </a:p>
        </p:txBody>
      </p:sp>
      <p:sp>
        <p:nvSpPr>
          <p:cNvPr id="9" name="TextBox 8"/>
          <p:cNvSpPr txBox="1"/>
          <p:nvPr/>
        </p:nvSpPr>
        <p:spPr>
          <a:xfrm>
            <a:off x="409575" y="2390775"/>
            <a:ext cx="5334000" cy="1276350"/>
          </a:xfrm>
          <a:prstGeom prst="rect">
            <a:avLst/>
          </a:prstGeom>
          <a:noFill/>
        </p:spPr>
        <p:txBody>
          <a:bodyPr wrap="none" lIns="0" tIns="0" rIns="0" bIns="0">
            <a:spAutoFit/>
          </a:bodyPr>
          <a:lstStyle/>
          <a:p>
            <a:pPr>
              <a:lnSpc>
                <a:spcPts val="10028"/>
              </a:lnSpc>
              <a:spcBef>
                <a:spcPts val="0"/>
              </a:spcBef>
              <a:spcAft>
                <a:spcPts val="0"/>
              </a:spcAft>
              <a:defRPr sz="8219" b="1">
                <a:solidFill>
                  <a:srgbClr val="164BFF"/>
                </a:solidFill>
                <a:latin typeface="Open Sans Condensed"/>
              </a:defRPr>
            </a:pPr>
            <a:r>
              <a:t>2,000</a:t>
            </a:r>
          </a:p>
        </p:txBody>
      </p:sp>
      <p:sp>
        <p:nvSpPr>
          <p:cNvPr id="10" name="TextBox 9"/>
          <p:cNvSpPr txBox="1"/>
          <p:nvPr/>
        </p:nvSpPr>
        <p:spPr>
          <a:xfrm>
            <a:off x="504825" y="3714750"/>
            <a:ext cx="4886325" cy="381000"/>
          </a:xfrm>
          <a:prstGeom prst="rect">
            <a:avLst/>
          </a:prstGeom>
          <a:noFill/>
        </p:spPr>
        <p:txBody>
          <a:bodyPr wrap="none" lIns="0" tIns="0" rIns="0" bIns="0">
            <a:spAutoFit/>
          </a:bodyPr>
          <a:lstStyle/>
          <a:p>
            <a:pPr>
              <a:lnSpc>
                <a:spcPts val="2104"/>
              </a:lnSpc>
              <a:spcBef>
                <a:spcPts val="0"/>
              </a:spcBef>
              <a:spcAft>
                <a:spcPts val="0"/>
              </a:spcAft>
              <a:defRPr sz="1725" b="1">
                <a:solidFill>
                  <a:srgbClr val="101114"/>
                </a:solidFill>
                <a:latin typeface="DejaVu Sans"/>
              </a:defRPr>
            </a:pPr>
            <a:r>
              <a:t>АЖИЛГҮЙ ОРОЛЦОГЧ</a:t>
            </a:r>
          </a:p>
        </p:txBody>
      </p:sp>
      <p:cxnSp>
        <p:nvCxnSpPr>
          <p:cNvPr id="11" name="Connector 10"/>
          <p:cNvCxnSpPr/>
          <p:nvPr/>
        </p:nvCxnSpPr>
        <p:spPr>
          <a:xfrm>
            <a:off x="5962650" y="2352675"/>
            <a:ext cx="0" cy="184785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34150" y="2390775"/>
            <a:ext cx="5191125" cy="1276350"/>
          </a:xfrm>
          <a:prstGeom prst="rect">
            <a:avLst/>
          </a:prstGeom>
          <a:noFill/>
        </p:spPr>
        <p:txBody>
          <a:bodyPr wrap="none" lIns="0" tIns="0" rIns="0" bIns="0">
            <a:spAutoFit/>
          </a:bodyPr>
          <a:lstStyle/>
          <a:p>
            <a:pPr>
              <a:lnSpc>
                <a:spcPts val="10028"/>
              </a:lnSpc>
              <a:spcBef>
                <a:spcPts val="0"/>
              </a:spcBef>
              <a:spcAft>
                <a:spcPts val="0"/>
              </a:spcAft>
              <a:defRPr sz="8219" b="1">
                <a:solidFill>
                  <a:srgbClr val="101114"/>
                </a:solidFill>
                <a:latin typeface="Open Sans Condensed"/>
              </a:defRPr>
            </a:pPr>
            <a:r>
              <a:t>€560</a:t>
            </a:r>
          </a:p>
        </p:txBody>
      </p:sp>
      <p:sp>
        <p:nvSpPr>
          <p:cNvPr id="13" name="TextBox 12"/>
          <p:cNvSpPr txBox="1"/>
          <p:nvPr/>
        </p:nvSpPr>
        <p:spPr>
          <a:xfrm>
            <a:off x="6629400" y="3714750"/>
            <a:ext cx="4886325" cy="381000"/>
          </a:xfrm>
          <a:prstGeom prst="rect">
            <a:avLst/>
          </a:prstGeom>
          <a:noFill/>
        </p:spPr>
        <p:txBody>
          <a:bodyPr wrap="none" lIns="0" tIns="0" rIns="0" bIns="0">
            <a:spAutoFit/>
          </a:bodyPr>
          <a:lstStyle/>
          <a:p>
            <a:pPr>
              <a:lnSpc>
                <a:spcPts val="2104"/>
              </a:lnSpc>
              <a:spcBef>
                <a:spcPts val="0"/>
              </a:spcBef>
              <a:spcAft>
                <a:spcPts val="0"/>
              </a:spcAft>
              <a:defRPr sz="1725" b="1">
                <a:solidFill>
                  <a:srgbClr val="164BFF"/>
                </a:solidFill>
                <a:latin typeface="DejaVu Sans"/>
              </a:defRPr>
            </a:pPr>
            <a:r>
              <a:t>САР БҮР / НЭГ ХҮНД</a:t>
            </a:r>
          </a:p>
        </p:txBody>
      </p:sp>
      <p:sp>
        <p:nvSpPr>
          <p:cNvPr id="14" name="TextBox 13"/>
          <p:cNvSpPr txBox="1"/>
          <p:nvPr/>
        </p:nvSpPr>
        <p:spPr>
          <a:xfrm>
            <a:off x="476250" y="4514850"/>
            <a:ext cx="5353050" cy="295275"/>
          </a:xfrm>
          <a:prstGeom prst="rect">
            <a:avLst/>
          </a:prstGeom>
          <a:noFill/>
        </p:spPr>
        <p:txBody>
          <a:bodyPr wrap="none" lIns="0" tIns="0" rIns="0" bIns="0">
            <a:spAutoFit/>
          </a:bodyPr>
          <a:lstStyle/>
          <a:p>
            <a:pPr>
              <a:lnSpc>
                <a:spcPts val="2013"/>
              </a:lnSpc>
              <a:spcBef>
                <a:spcPts val="0"/>
              </a:spcBef>
              <a:spcAft>
                <a:spcPts val="0"/>
              </a:spcAft>
              <a:defRPr sz="1650" b="1">
                <a:solidFill>
                  <a:srgbClr val="164BFF"/>
                </a:solidFill>
                <a:latin typeface="DejaVu Sans"/>
              </a:defRPr>
            </a:pPr>
            <a:r>
              <a:t>Юуг ажигласан бэ?</a:t>
            </a:r>
          </a:p>
        </p:txBody>
      </p:sp>
      <p:sp>
        <p:nvSpPr>
          <p:cNvPr id="15" name="TextBox 14"/>
          <p:cNvSpPr txBox="1"/>
          <p:nvPr/>
        </p:nvSpPr>
        <p:spPr>
          <a:xfrm>
            <a:off x="476250" y="4914900"/>
            <a:ext cx="5362575" cy="866775"/>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Kela-ийн 2020 оны тайланд амьдралын сэтгэл</a:t>
            </a:r>
          </a:p>
          <a:p>
            <a:pPr>
              <a:lnSpc>
                <a:spcPts val="1829"/>
              </a:lnSpc>
              <a:spcBef>
                <a:spcPts val="0"/>
              </a:spcBef>
              <a:spcAft>
                <a:spcPts val="0"/>
              </a:spcAft>
              <a:defRPr sz="1500" b="0">
                <a:solidFill>
                  <a:srgbClr val="101114"/>
                </a:solidFill>
                <a:latin typeface="DejaVu Sans"/>
              </a:defRPr>
            </a:pPr>
            <a:r>
              <a:t>ханамж, эдийн засгийн аюулгүй байдлын үнэлгээ</a:t>
            </a:r>
          </a:p>
          <a:p>
            <a:pPr>
              <a:lnSpc>
                <a:spcPts val="1829"/>
              </a:lnSpc>
              <a:spcBef>
                <a:spcPts val="0"/>
              </a:spcBef>
              <a:spcAft>
                <a:spcPts val="0"/>
              </a:spcAft>
              <a:defRPr sz="1500" b="0">
                <a:solidFill>
                  <a:srgbClr val="101114"/>
                </a:solidFill>
                <a:latin typeface="DejaVu Sans"/>
              </a:defRPr>
            </a:pPr>
            <a:r>
              <a:t>илүү сайн байсныг мэдээлсэн.</a:t>
            </a:r>
          </a:p>
        </p:txBody>
      </p:sp>
      <p:sp>
        <p:nvSpPr>
          <p:cNvPr id="16" name="TextBox 15"/>
          <p:cNvSpPr txBox="1"/>
          <p:nvPr/>
        </p:nvSpPr>
        <p:spPr>
          <a:xfrm>
            <a:off x="6219825" y="4514850"/>
            <a:ext cx="5353050" cy="295275"/>
          </a:xfrm>
          <a:prstGeom prst="rect">
            <a:avLst/>
          </a:prstGeom>
          <a:noFill/>
        </p:spPr>
        <p:txBody>
          <a:bodyPr wrap="none" lIns="0" tIns="0" rIns="0" bIns="0">
            <a:spAutoFit/>
          </a:bodyPr>
          <a:lstStyle/>
          <a:p>
            <a:pPr>
              <a:lnSpc>
                <a:spcPts val="2013"/>
              </a:lnSpc>
              <a:spcBef>
                <a:spcPts val="0"/>
              </a:spcBef>
              <a:spcAft>
                <a:spcPts val="0"/>
              </a:spcAft>
              <a:defRPr sz="1650" b="1">
                <a:solidFill>
                  <a:srgbClr val="164BFF"/>
                </a:solidFill>
                <a:latin typeface="DejaVu Sans"/>
              </a:defRPr>
            </a:pPr>
            <a:r>
              <a:t>Хязгаарлалт</a:t>
            </a:r>
          </a:p>
        </p:txBody>
      </p:sp>
      <p:sp>
        <p:nvSpPr>
          <p:cNvPr id="17" name="TextBox 16"/>
          <p:cNvSpPr txBox="1"/>
          <p:nvPr/>
        </p:nvSpPr>
        <p:spPr>
          <a:xfrm>
            <a:off x="6219825" y="4914900"/>
            <a:ext cx="5362575" cy="866775"/>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Ажил эрхлэлтийн нөлөө хязгаарлагдмал; хоёр дахь</a:t>
            </a:r>
          </a:p>
          <a:p>
            <a:pPr>
              <a:lnSpc>
                <a:spcPts val="1829"/>
              </a:lnSpc>
              <a:spcBef>
                <a:spcPts val="0"/>
              </a:spcBef>
              <a:spcAft>
                <a:spcPts val="0"/>
              </a:spcAft>
              <a:defRPr sz="1500" b="0">
                <a:solidFill>
                  <a:srgbClr val="101114"/>
                </a:solidFill>
                <a:latin typeface="DejaVu Sans"/>
              </a:defRPr>
            </a:pPr>
            <a:r>
              <a:t>жилд бусад бодлогын өөрчлөлт нөлөөлсөн.</a:t>
            </a:r>
          </a:p>
          <a:p>
            <a:pPr>
              <a:lnSpc>
                <a:spcPts val="1829"/>
              </a:lnSpc>
              <a:spcBef>
                <a:spcPts val="0"/>
              </a:spcBef>
              <a:spcAft>
                <a:spcPts val="0"/>
              </a:spcAft>
              <a:defRPr sz="1500" b="0">
                <a:solidFill>
                  <a:srgbClr val="101114"/>
                </a:solidFill>
                <a:latin typeface="DejaVu Sans"/>
              </a:defRPr>
            </a:pPr>
            <a:r>
              <a:t>Судалгааны хариу өгөх ялгааг ч харгалзана.</a:t>
            </a:r>
          </a:p>
        </p:txBody>
      </p:sp>
      <p:sp>
        <p:nvSpPr>
          <p:cNvPr id="18" name="Rectangle 17"/>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Сургамж: мөнгөн дэмжлэгийн нөлөөг зөвхөн ажилд орсон тоогоор биш хүний амьдралын чанараар үнэлнэ.</a:t>
            </a:r>
          </a:p>
        </p:txBody>
      </p:sp>
      <p:cxnSp>
        <p:nvCxnSpPr>
          <p:cNvPr id="20" name="Connector 19"/>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FIN</a:t>
            </a:r>
          </a:p>
        </p:txBody>
      </p:sp>
      <p:sp>
        <p:nvSpPr>
          <p:cNvPr id="22" name="TextBox 21"/>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24—30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06 / БРАЗИЛЫН ЖИШЭЭ</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6083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5581"/>
              </a:lnSpc>
              <a:spcBef>
                <a:spcPts val="0"/>
              </a:spcBef>
              <a:spcAft>
                <a:spcPts val="0"/>
              </a:spcAft>
              <a:defRPr sz="4575" b="1">
                <a:solidFill>
                  <a:srgbClr val="F7F6F1"/>
                </a:solidFill>
                <a:latin typeface="Open Sans Condensed"/>
              </a:defRPr>
            </a:pPr>
            <a:r>
              <a:t>БРАЗИЛ / BOLSA FAMÍLIA</a:t>
            </a:r>
          </a:p>
        </p:txBody>
      </p:sp>
      <p:sp>
        <p:nvSpPr>
          <p:cNvPr id="7" name="TextBox 6"/>
          <p:cNvSpPr txBox="1"/>
          <p:nvPr/>
        </p:nvSpPr>
        <p:spPr>
          <a:xfrm>
            <a:off x="485775" y="1676400"/>
            <a:ext cx="11020425" cy="381000"/>
          </a:xfrm>
          <a:prstGeom prst="rect">
            <a:avLst/>
          </a:prstGeom>
          <a:noFill/>
        </p:spPr>
        <p:txBody>
          <a:bodyPr wrap="none" lIns="0" tIns="0" rIns="0" bIns="0">
            <a:spAutoFit/>
          </a:bodyPr>
          <a:lstStyle/>
          <a:p>
            <a:pPr>
              <a:lnSpc>
                <a:spcPts val="2013"/>
              </a:lnSpc>
              <a:spcBef>
                <a:spcPts val="0"/>
              </a:spcBef>
              <a:spcAft>
                <a:spcPts val="0"/>
              </a:spcAft>
              <a:defRPr sz="1650" b="1">
                <a:solidFill>
                  <a:srgbClr val="F5FF58"/>
                </a:solidFill>
                <a:latin typeface="DejaVu Sans"/>
              </a:defRPr>
            </a:pPr>
            <a:r>
              <a:t>МӨНГӨН ДЭМЖЛЭГ + БОЛОВСРОЛ + ЭРҮҮЛ МЭНД</a:t>
            </a:r>
          </a:p>
        </p:txBody>
      </p:sp>
      <p:sp>
        <p:nvSpPr>
          <p:cNvPr id="8" name="Rectangle 7"/>
          <p:cNvSpPr/>
          <p:nvPr/>
        </p:nvSpPr>
        <p:spPr>
          <a:xfrm>
            <a:off x="476250" y="2505075"/>
            <a:ext cx="3562350" cy="2952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0075" y="2552700"/>
            <a:ext cx="3314700" cy="2000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01 / Эрх зүйн огноо</a:t>
            </a:r>
          </a:p>
        </p:txBody>
      </p:sp>
      <p:sp>
        <p:nvSpPr>
          <p:cNvPr id="10" name="TextBox 9"/>
          <p:cNvSpPr txBox="1"/>
          <p:nvPr/>
        </p:nvSpPr>
        <p:spPr>
          <a:xfrm>
            <a:off x="476250" y="3067050"/>
            <a:ext cx="3457575" cy="2066924"/>
          </a:xfrm>
          <a:prstGeom prst="rect">
            <a:avLst/>
          </a:prstGeom>
          <a:noFill/>
        </p:spPr>
        <p:txBody>
          <a:bodyPr wrap="none" lIns="0" tIns="0" rIns="0" bIns="0">
            <a:spAutoFit/>
          </a:bodyPr>
          <a:lstStyle/>
          <a:p>
            <a:pPr>
              <a:lnSpc>
                <a:spcPts val="2379"/>
              </a:lnSpc>
              <a:spcBef>
                <a:spcPts val="0"/>
              </a:spcBef>
              <a:spcAft>
                <a:spcPts val="0"/>
              </a:spcAft>
              <a:defRPr sz="1950" b="0">
                <a:solidFill>
                  <a:srgbClr val="F7F6F1"/>
                </a:solidFill>
                <a:latin typeface="DejaVu Sans"/>
              </a:defRPr>
            </a:pPr>
            <a:r>
              <a:t>Анхны хөтөлбөрийн</a:t>
            </a:r>
          </a:p>
          <a:p>
            <a:pPr>
              <a:lnSpc>
                <a:spcPts val="2379"/>
              </a:lnSpc>
              <a:spcBef>
                <a:spcPts val="0"/>
              </a:spcBef>
              <a:spcAft>
                <a:spcPts val="0"/>
              </a:spcAft>
              <a:defRPr sz="1950" b="0">
                <a:solidFill>
                  <a:srgbClr val="F7F6F1"/>
                </a:solidFill>
                <a:latin typeface="DejaVu Sans"/>
              </a:defRPr>
            </a:pPr>
            <a:r>
              <a:t>хууль: №10.836 •</a:t>
            </a:r>
          </a:p>
          <a:p>
            <a:pPr>
              <a:lnSpc>
                <a:spcPts val="2379"/>
              </a:lnSpc>
              <a:spcBef>
                <a:spcPts val="0"/>
              </a:spcBef>
              <a:spcAft>
                <a:spcPts val="0"/>
              </a:spcAft>
              <a:defRPr sz="1950" b="0">
                <a:solidFill>
                  <a:srgbClr val="F7F6F1"/>
                </a:solidFill>
                <a:latin typeface="DejaVu Sans"/>
              </a:defRPr>
            </a:pPr>
            <a:r>
              <a:t>2004.01.09.</a:t>
            </a:r>
          </a:p>
          <a:p>
            <a:pPr>
              <a:lnSpc>
                <a:spcPts val="2379"/>
              </a:lnSpc>
              <a:spcBef>
                <a:spcPts val="0"/>
              </a:spcBef>
              <a:spcAft>
                <a:spcPts val="0"/>
              </a:spcAft>
              <a:defRPr sz="1950" b="0">
                <a:solidFill>
                  <a:srgbClr val="F7F6F1"/>
                </a:solidFill>
                <a:latin typeface="DejaVu Sans"/>
              </a:defRPr>
            </a:pPr>
            <a:r>
              <a:t>Шинэ хууль: №14.601 •</a:t>
            </a:r>
          </a:p>
          <a:p>
            <a:pPr>
              <a:lnSpc>
                <a:spcPts val="2379"/>
              </a:lnSpc>
              <a:spcBef>
                <a:spcPts val="0"/>
              </a:spcBef>
              <a:spcAft>
                <a:spcPts val="0"/>
              </a:spcAft>
              <a:defRPr sz="1950" b="0">
                <a:solidFill>
                  <a:srgbClr val="F7F6F1"/>
                </a:solidFill>
                <a:latin typeface="DejaVu Sans"/>
              </a:defRPr>
            </a:pPr>
            <a:r>
              <a:t>2023.06.19.</a:t>
            </a:r>
          </a:p>
        </p:txBody>
      </p:sp>
      <p:cxnSp>
        <p:nvCxnSpPr>
          <p:cNvPr id="11" name="Connector 10"/>
          <p:cNvCxnSpPr/>
          <p:nvPr/>
        </p:nvCxnSpPr>
        <p:spPr>
          <a:xfrm flipV="1">
            <a:off x="3609975" y="5267325"/>
            <a:ext cx="228600" cy="228600"/>
          </a:xfrm>
          <a:prstGeom prst="line">
            <a:avLst/>
          </a:prstGeom>
          <a:ln w="28575">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689985" y="5267325"/>
            <a:ext cx="148590" cy="0"/>
          </a:xfrm>
          <a:prstGeom prst="line">
            <a:avLst/>
          </a:prstGeom>
          <a:ln w="28575">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38575" y="5267325"/>
            <a:ext cx="0" cy="148590"/>
          </a:xfrm>
          <a:prstGeom prst="line">
            <a:avLst/>
          </a:prstGeom>
          <a:ln w="28575">
            <a:solidFill>
              <a:srgbClr val="F5FF5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295775" y="2505075"/>
            <a:ext cx="3562350" cy="2952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9600" y="2552700"/>
            <a:ext cx="3314700" cy="2000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02 / Бодлогын механизм</a:t>
            </a:r>
          </a:p>
        </p:txBody>
      </p:sp>
      <p:sp>
        <p:nvSpPr>
          <p:cNvPr id="16" name="TextBox 15"/>
          <p:cNvSpPr txBox="1"/>
          <p:nvPr/>
        </p:nvSpPr>
        <p:spPr>
          <a:xfrm>
            <a:off x="4295775" y="3067050"/>
            <a:ext cx="3457575" cy="2066924"/>
          </a:xfrm>
          <a:prstGeom prst="rect">
            <a:avLst/>
          </a:prstGeom>
          <a:noFill/>
        </p:spPr>
        <p:txBody>
          <a:bodyPr wrap="none" lIns="0" tIns="0" rIns="0" bIns="0">
            <a:spAutoFit/>
          </a:bodyPr>
          <a:lstStyle/>
          <a:p>
            <a:pPr>
              <a:lnSpc>
                <a:spcPts val="2379"/>
              </a:lnSpc>
              <a:spcBef>
                <a:spcPts val="0"/>
              </a:spcBef>
              <a:spcAft>
                <a:spcPts val="0"/>
              </a:spcAft>
              <a:defRPr sz="1950" b="0">
                <a:solidFill>
                  <a:srgbClr val="F7F6F1"/>
                </a:solidFill>
                <a:latin typeface="DejaVu Sans"/>
              </a:defRPr>
            </a:pPr>
            <a:r>
              <a:t>Бага орлоготой өрхөд</a:t>
            </a:r>
          </a:p>
          <a:p>
            <a:pPr>
              <a:lnSpc>
                <a:spcPts val="2379"/>
              </a:lnSpc>
              <a:spcBef>
                <a:spcPts val="0"/>
              </a:spcBef>
              <a:spcAft>
                <a:spcPts val="0"/>
              </a:spcAft>
              <a:defRPr sz="1950" b="0">
                <a:solidFill>
                  <a:srgbClr val="F7F6F1"/>
                </a:solidFill>
                <a:latin typeface="DejaVu Sans"/>
              </a:defRPr>
            </a:pPr>
            <a:r>
              <a:t>мөнгөн дэмжлэг олгож,</a:t>
            </a:r>
          </a:p>
          <a:p>
            <a:pPr>
              <a:lnSpc>
                <a:spcPts val="2379"/>
              </a:lnSpc>
              <a:spcBef>
                <a:spcPts val="0"/>
              </a:spcBef>
              <a:spcAft>
                <a:spcPts val="0"/>
              </a:spcAft>
              <a:defRPr sz="1950" b="0">
                <a:solidFill>
                  <a:srgbClr val="F7F6F1"/>
                </a:solidFill>
                <a:latin typeface="DejaVu Sans"/>
              </a:defRPr>
            </a:pPr>
            <a:r>
              <a:t>хүүхдийн боловсрол,</a:t>
            </a:r>
          </a:p>
          <a:p>
            <a:pPr>
              <a:lnSpc>
                <a:spcPts val="2379"/>
              </a:lnSpc>
              <a:spcBef>
                <a:spcPts val="0"/>
              </a:spcBef>
              <a:spcAft>
                <a:spcPts val="0"/>
              </a:spcAft>
              <a:defRPr sz="1950" b="0">
                <a:solidFill>
                  <a:srgbClr val="F7F6F1"/>
                </a:solidFill>
                <a:latin typeface="DejaVu Sans"/>
              </a:defRPr>
            </a:pPr>
            <a:r>
              <a:t>эрүүл мэндийн хяналттай</a:t>
            </a:r>
          </a:p>
          <a:p>
            <a:pPr>
              <a:lnSpc>
                <a:spcPts val="2379"/>
              </a:lnSpc>
              <a:spcBef>
                <a:spcPts val="0"/>
              </a:spcBef>
              <a:spcAft>
                <a:spcPts val="0"/>
              </a:spcAft>
              <a:defRPr sz="1950" b="0">
                <a:solidFill>
                  <a:srgbClr val="F7F6F1"/>
                </a:solidFill>
                <a:latin typeface="DejaVu Sans"/>
              </a:defRPr>
            </a:pPr>
            <a:r>
              <a:t>холбоотой нөхцөлүүдийг</a:t>
            </a:r>
          </a:p>
          <a:p>
            <a:pPr>
              <a:lnSpc>
                <a:spcPts val="2379"/>
              </a:lnSpc>
              <a:spcBef>
                <a:spcPts val="0"/>
              </a:spcBef>
              <a:spcAft>
                <a:spcPts val="0"/>
              </a:spcAft>
              <a:defRPr sz="1950" b="0">
                <a:solidFill>
                  <a:srgbClr val="F7F6F1"/>
                </a:solidFill>
                <a:latin typeface="DejaVu Sans"/>
              </a:defRPr>
            </a:pPr>
            <a:r>
              <a:t>ашигладаг.</a:t>
            </a:r>
          </a:p>
        </p:txBody>
      </p:sp>
      <p:cxnSp>
        <p:nvCxnSpPr>
          <p:cNvPr id="17" name="Connector 16"/>
          <p:cNvCxnSpPr/>
          <p:nvPr/>
        </p:nvCxnSpPr>
        <p:spPr>
          <a:xfrm flipV="1">
            <a:off x="7429500" y="5267325"/>
            <a:ext cx="228600" cy="228600"/>
          </a:xfrm>
          <a:prstGeom prst="line">
            <a:avLst/>
          </a:prstGeom>
          <a:ln w="28575">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09510" y="5267325"/>
            <a:ext cx="148590" cy="0"/>
          </a:xfrm>
          <a:prstGeom prst="line">
            <a:avLst/>
          </a:prstGeom>
          <a:ln w="28575">
            <a:solidFill>
              <a:srgbClr val="F5FF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658100" y="5267325"/>
            <a:ext cx="0" cy="148590"/>
          </a:xfrm>
          <a:prstGeom prst="line">
            <a:avLst/>
          </a:prstGeom>
          <a:ln w="28575">
            <a:solidFill>
              <a:srgbClr val="F5FF5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115300" y="2505075"/>
            <a:ext cx="3562350" cy="29527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9124" y="2552700"/>
            <a:ext cx="3314700" cy="200025"/>
          </a:xfrm>
          <a:prstGeom prst="rect">
            <a:avLst/>
          </a:prstGeom>
          <a:noFill/>
        </p:spPr>
        <p:txBody>
          <a:bodyPr wrap="none" lIns="0" tIns="0" rIns="0" bIns="0">
            <a:spAutoFit/>
          </a:bodyPr>
          <a:lstStyle/>
          <a:p>
            <a:pPr>
              <a:lnSpc>
                <a:spcPts val="1189"/>
              </a:lnSpc>
              <a:spcBef>
                <a:spcPts val="0"/>
              </a:spcBef>
              <a:spcAft>
                <a:spcPts val="0"/>
              </a:spcAft>
              <a:defRPr sz="975" b="0">
                <a:solidFill>
                  <a:srgbClr val="F7F6F1"/>
                </a:solidFill>
                <a:latin typeface="DejaVu Sans Mono"/>
              </a:defRPr>
            </a:pPr>
            <a:r>
              <a:t>03 / Эрхийн шүүлтүүр</a:t>
            </a:r>
          </a:p>
        </p:txBody>
      </p:sp>
      <p:sp>
        <p:nvSpPr>
          <p:cNvPr id="22" name="TextBox 21"/>
          <p:cNvSpPr txBox="1"/>
          <p:nvPr/>
        </p:nvSpPr>
        <p:spPr>
          <a:xfrm>
            <a:off x="8115300" y="3067050"/>
            <a:ext cx="3457575" cy="2066924"/>
          </a:xfrm>
          <a:prstGeom prst="rect">
            <a:avLst/>
          </a:prstGeom>
          <a:noFill/>
        </p:spPr>
        <p:txBody>
          <a:bodyPr wrap="none" lIns="0" tIns="0" rIns="0" bIns="0">
            <a:spAutoFit/>
          </a:bodyPr>
          <a:lstStyle/>
          <a:p>
            <a:pPr>
              <a:lnSpc>
                <a:spcPts val="2305"/>
              </a:lnSpc>
              <a:spcBef>
                <a:spcPts val="0"/>
              </a:spcBef>
              <a:spcAft>
                <a:spcPts val="0"/>
              </a:spcAft>
              <a:defRPr sz="1890" b="0">
                <a:solidFill>
                  <a:srgbClr val="F7F6F1"/>
                </a:solidFill>
                <a:latin typeface="DejaVu Sans"/>
              </a:defRPr>
            </a:pPr>
            <a:r>
              <a:t>Сургууль, эмнэлэг нь</a:t>
            </a:r>
          </a:p>
          <a:p>
            <a:pPr>
              <a:lnSpc>
                <a:spcPts val="2305"/>
              </a:lnSpc>
              <a:spcBef>
                <a:spcPts val="0"/>
              </a:spcBef>
              <a:spcAft>
                <a:spcPts val="0"/>
              </a:spcAft>
              <a:defRPr sz="1890" b="0">
                <a:solidFill>
                  <a:srgbClr val="F7F6F1"/>
                </a:solidFill>
                <a:latin typeface="DejaVu Sans"/>
              </a:defRPr>
            </a:pPr>
            <a:r>
              <a:t>өөрөө хүртээмжгүй бол</a:t>
            </a:r>
          </a:p>
          <a:p>
            <a:pPr>
              <a:lnSpc>
                <a:spcPts val="2305"/>
              </a:lnSpc>
              <a:spcBef>
                <a:spcPts val="0"/>
              </a:spcBef>
              <a:spcAft>
                <a:spcPts val="0"/>
              </a:spcAft>
              <a:defRPr sz="1890" b="0">
                <a:solidFill>
                  <a:srgbClr val="F7F6F1"/>
                </a:solidFill>
                <a:latin typeface="DejaVu Sans"/>
              </a:defRPr>
            </a:pPr>
            <a:r>
              <a:t>өрхийг дангаар буруутгаж</a:t>
            </a:r>
          </a:p>
          <a:p>
            <a:pPr>
              <a:lnSpc>
                <a:spcPts val="2305"/>
              </a:lnSpc>
              <a:spcBef>
                <a:spcPts val="0"/>
              </a:spcBef>
              <a:spcAft>
                <a:spcPts val="0"/>
              </a:spcAft>
              <a:defRPr sz="1890" b="0">
                <a:solidFill>
                  <a:srgbClr val="F7F6F1"/>
                </a:solidFill>
                <a:latin typeface="DejaVu Sans"/>
              </a:defRPr>
            </a:pPr>
            <a:r>
              <a:t>болохгүй. Бүртгэл</a:t>
            </a:r>
          </a:p>
          <a:p>
            <a:pPr>
              <a:lnSpc>
                <a:spcPts val="2305"/>
              </a:lnSpc>
              <a:spcBef>
                <a:spcPts val="0"/>
              </a:spcBef>
              <a:spcAft>
                <a:spcPts val="0"/>
              </a:spcAft>
              <a:defRPr sz="1890" b="0">
                <a:solidFill>
                  <a:srgbClr val="F7F6F1"/>
                </a:solidFill>
                <a:latin typeface="DejaVu Sans"/>
              </a:defRPr>
            </a:pPr>
            <a:r>
              <a:t>шинэчлэх, тайлбар авах,</a:t>
            </a:r>
          </a:p>
          <a:p>
            <a:pPr>
              <a:lnSpc>
                <a:spcPts val="2305"/>
              </a:lnSpc>
              <a:spcBef>
                <a:spcPts val="0"/>
              </a:spcBef>
              <a:spcAft>
                <a:spcPts val="0"/>
              </a:spcAft>
              <a:defRPr sz="1890" b="0">
                <a:solidFill>
                  <a:srgbClr val="F7F6F1"/>
                </a:solidFill>
                <a:latin typeface="DejaVu Sans"/>
              </a:defRPr>
            </a:pPr>
            <a:r>
              <a:t>гомдол гаргах боломж</a:t>
            </a:r>
          </a:p>
          <a:p>
            <a:pPr>
              <a:lnSpc>
                <a:spcPts val="2305"/>
              </a:lnSpc>
              <a:spcBef>
                <a:spcPts val="0"/>
              </a:spcBef>
              <a:spcAft>
                <a:spcPts val="0"/>
              </a:spcAft>
              <a:defRPr sz="1890" b="0">
                <a:solidFill>
                  <a:srgbClr val="F7F6F1"/>
                </a:solidFill>
                <a:latin typeface="DejaVu Sans"/>
              </a:defRPr>
            </a:pPr>
            <a:r>
              <a:t>чухал.</a:t>
            </a:r>
          </a:p>
        </p:txBody>
      </p:sp>
      <p:sp>
        <p:nvSpPr>
          <p:cNvPr id="23" name="Rectangle 22"/>
          <p:cNvSpPr/>
          <p:nvPr/>
        </p:nvSpPr>
        <p:spPr>
          <a:xfrm>
            <a:off x="419100" y="5895975"/>
            <a:ext cx="11353800" cy="352425"/>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Монголд авах санаа: тэтгэмжийг үйлчилгээтэй холбохдоо тухайн үйлчилгээ бодитоор хүрдэг эсэхийг шалгана.</a:t>
            </a:r>
          </a:p>
        </p:txBody>
      </p:sp>
      <p:cxnSp>
        <p:nvCxnSpPr>
          <p:cNvPr id="25" name="Connector 24"/>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BRA</a:t>
            </a:r>
          </a:p>
        </p:txBody>
      </p:sp>
      <p:sp>
        <p:nvSpPr>
          <p:cNvPr id="27" name="TextBox 26"/>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25—30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07 / МОНГОЛД ХЭРЭГЖҮҮЛЭХ САНАЛ</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5215"/>
              </a:lnSpc>
              <a:spcBef>
                <a:spcPts val="0"/>
              </a:spcBef>
              <a:spcAft>
                <a:spcPts val="0"/>
              </a:spcAft>
              <a:defRPr sz="4275" b="1">
                <a:solidFill>
                  <a:srgbClr val="101114"/>
                </a:solidFill>
                <a:latin typeface="Open Sans Condensed"/>
              </a:defRPr>
            </a:pPr>
            <a:r>
              <a:t>МОНГОЛД / 5 БОДИТ АЛХАМ</a:t>
            </a:r>
          </a:p>
        </p:txBody>
      </p:sp>
      <p:sp>
        <p:nvSpPr>
          <p:cNvPr id="7" name="Rectangle 6"/>
          <p:cNvSpPr/>
          <p:nvPr/>
        </p:nvSpPr>
        <p:spPr>
          <a:xfrm>
            <a:off x="447675" y="2066924"/>
            <a:ext cx="600075"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2450" y="2143125"/>
            <a:ext cx="419100" cy="447675"/>
          </a:xfrm>
          <a:prstGeom prst="rect">
            <a:avLst/>
          </a:prstGeom>
          <a:noFill/>
        </p:spPr>
        <p:txBody>
          <a:bodyPr wrap="none" lIns="0" tIns="0" rIns="0" bIns="0">
            <a:spAutoFit/>
          </a:bodyPr>
          <a:lstStyle/>
          <a:p>
            <a:pPr>
              <a:lnSpc>
                <a:spcPts val="2745"/>
              </a:lnSpc>
              <a:spcBef>
                <a:spcPts val="0"/>
              </a:spcBef>
              <a:spcAft>
                <a:spcPts val="0"/>
              </a:spcAft>
              <a:defRPr sz="2250" b="1">
                <a:solidFill>
                  <a:srgbClr val="F5FF58"/>
                </a:solidFill>
                <a:latin typeface="Open Sans Condensed"/>
              </a:defRPr>
            </a:pPr>
            <a:r>
              <a:t>01</a:t>
            </a:r>
          </a:p>
        </p:txBody>
      </p:sp>
      <p:sp>
        <p:nvSpPr>
          <p:cNvPr id="9" name="TextBox 8"/>
          <p:cNvSpPr txBox="1"/>
          <p:nvPr/>
        </p:nvSpPr>
        <p:spPr>
          <a:xfrm>
            <a:off x="1266825" y="2095499"/>
            <a:ext cx="2924175" cy="552450"/>
          </a:xfrm>
          <a:prstGeom prst="rect">
            <a:avLst/>
          </a:prstGeom>
          <a:noFill/>
        </p:spPr>
        <p:txBody>
          <a:bodyPr wrap="none" lIns="0" tIns="0" rIns="0" bIns="0">
            <a:spAutoFit/>
          </a:bodyPr>
          <a:lstStyle/>
          <a:p>
            <a:pPr>
              <a:lnSpc>
                <a:spcPts val="2287"/>
              </a:lnSpc>
              <a:spcBef>
                <a:spcPts val="0"/>
              </a:spcBef>
              <a:spcAft>
                <a:spcPts val="0"/>
              </a:spcAft>
              <a:defRPr sz="1875" b="1">
                <a:solidFill>
                  <a:srgbClr val="101114"/>
                </a:solidFill>
                <a:latin typeface="Open Sans Condensed"/>
              </a:defRPr>
            </a:pPr>
            <a:r>
              <a:t>Нэг цэгийн хүртээмж</a:t>
            </a:r>
          </a:p>
        </p:txBody>
      </p:sp>
      <p:sp>
        <p:nvSpPr>
          <p:cNvPr id="10" name="TextBox 9"/>
          <p:cNvSpPr txBox="1"/>
          <p:nvPr/>
        </p:nvSpPr>
        <p:spPr>
          <a:xfrm>
            <a:off x="4448175" y="2114550"/>
            <a:ext cx="3705224" cy="523874"/>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Халамж, бүртгэл, хууль зүйн</a:t>
            </a:r>
          </a:p>
          <a:p>
            <a:pPr>
              <a:lnSpc>
                <a:spcPts val="1829"/>
              </a:lnSpc>
              <a:spcBef>
                <a:spcPts val="0"/>
              </a:spcBef>
              <a:spcAft>
                <a:spcPts val="0"/>
              </a:spcAft>
              <a:defRPr sz="1500" b="0">
                <a:solidFill>
                  <a:srgbClr val="101114"/>
                </a:solidFill>
                <a:latin typeface="DejaVu Sans"/>
              </a:defRPr>
            </a:pPr>
            <a:r>
              <a:t>мэдээллийг холбох</a:t>
            </a:r>
          </a:p>
        </p:txBody>
      </p:sp>
      <p:sp>
        <p:nvSpPr>
          <p:cNvPr id="11" name="TextBox 10"/>
          <p:cNvSpPr txBox="1"/>
          <p:nvPr/>
        </p:nvSpPr>
        <p:spPr>
          <a:xfrm>
            <a:off x="8553450" y="2114550"/>
            <a:ext cx="3105150" cy="523874"/>
          </a:xfrm>
          <a:prstGeom prst="rect">
            <a:avLst/>
          </a:prstGeom>
          <a:noFill/>
        </p:spPr>
        <p:txBody>
          <a:bodyPr wrap="none" lIns="0" tIns="0" rIns="0" bIns="0">
            <a:spAutoFit/>
          </a:bodyPr>
          <a:lstStyle/>
          <a:p>
            <a:pPr>
              <a:lnSpc>
                <a:spcPts val="1647"/>
              </a:lnSpc>
              <a:spcBef>
                <a:spcPts val="0"/>
              </a:spcBef>
              <a:spcAft>
                <a:spcPts val="0"/>
              </a:spcAft>
              <a:defRPr sz="1350" b="1">
                <a:solidFill>
                  <a:srgbClr val="164BFF"/>
                </a:solidFill>
                <a:latin typeface="DejaVu Sans"/>
              </a:defRPr>
            </a:pPr>
            <a:r>
              <a:t>Хүсэлт шийдвэрлэх хугацаа;</a:t>
            </a:r>
          </a:p>
          <a:p>
            <a:pPr>
              <a:lnSpc>
                <a:spcPts val="1647"/>
              </a:lnSpc>
              <a:spcBef>
                <a:spcPts val="0"/>
              </a:spcBef>
              <a:spcAft>
                <a:spcPts val="0"/>
              </a:spcAft>
              <a:defRPr sz="1350" b="1">
                <a:solidFill>
                  <a:srgbClr val="164BFF"/>
                </a:solidFill>
                <a:latin typeface="DejaVu Sans"/>
              </a:defRPr>
            </a:pPr>
            <a:r>
              <a:t>давтан очилт</a:t>
            </a:r>
          </a:p>
        </p:txBody>
      </p:sp>
      <p:cxnSp>
        <p:nvCxnSpPr>
          <p:cNvPr id="12" name="Connector 11"/>
          <p:cNvCxnSpPr/>
          <p:nvPr/>
        </p:nvCxnSpPr>
        <p:spPr>
          <a:xfrm>
            <a:off x="1257300" y="2705100"/>
            <a:ext cx="104584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47675" y="2781300"/>
            <a:ext cx="600075"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2450" y="2857500"/>
            <a:ext cx="419100" cy="447675"/>
          </a:xfrm>
          <a:prstGeom prst="rect">
            <a:avLst/>
          </a:prstGeom>
          <a:noFill/>
        </p:spPr>
        <p:txBody>
          <a:bodyPr wrap="none" lIns="0" tIns="0" rIns="0" bIns="0">
            <a:spAutoFit/>
          </a:bodyPr>
          <a:lstStyle/>
          <a:p>
            <a:pPr>
              <a:lnSpc>
                <a:spcPts val="2745"/>
              </a:lnSpc>
              <a:spcBef>
                <a:spcPts val="0"/>
              </a:spcBef>
              <a:spcAft>
                <a:spcPts val="0"/>
              </a:spcAft>
              <a:defRPr sz="2250" b="1">
                <a:solidFill>
                  <a:srgbClr val="F5FF58"/>
                </a:solidFill>
                <a:latin typeface="Open Sans Condensed"/>
              </a:defRPr>
            </a:pPr>
            <a:r>
              <a:t>02</a:t>
            </a:r>
          </a:p>
        </p:txBody>
      </p:sp>
      <p:sp>
        <p:nvSpPr>
          <p:cNvPr id="15" name="TextBox 14"/>
          <p:cNvSpPr txBox="1"/>
          <p:nvPr/>
        </p:nvSpPr>
        <p:spPr>
          <a:xfrm>
            <a:off x="1266825" y="2809875"/>
            <a:ext cx="2924175" cy="552450"/>
          </a:xfrm>
          <a:prstGeom prst="rect">
            <a:avLst/>
          </a:prstGeom>
          <a:noFill/>
        </p:spPr>
        <p:txBody>
          <a:bodyPr wrap="none" lIns="0" tIns="0" rIns="0" bIns="0">
            <a:spAutoFit/>
          </a:bodyPr>
          <a:lstStyle/>
          <a:p>
            <a:pPr>
              <a:lnSpc>
                <a:spcPts val="2287"/>
              </a:lnSpc>
              <a:spcBef>
                <a:spcPts val="0"/>
              </a:spcBef>
              <a:spcAft>
                <a:spcPts val="0"/>
              </a:spcAft>
              <a:defRPr sz="1875" b="1">
                <a:solidFill>
                  <a:srgbClr val="101114"/>
                </a:solidFill>
                <a:latin typeface="Open Sans Condensed"/>
              </a:defRPr>
            </a:pPr>
            <a:r>
              <a:t>Гомдлын бодит механизм</a:t>
            </a:r>
          </a:p>
        </p:txBody>
      </p:sp>
      <p:sp>
        <p:nvSpPr>
          <p:cNvPr id="16" name="TextBox 15"/>
          <p:cNvSpPr txBox="1"/>
          <p:nvPr/>
        </p:nvSpPr>
        <p:spPr>
          <a:xfrm>
            <a:off x="4448175" y="2828925"/>
            <a:ext cx="3705224" cy="523874"/>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Шийдвэрийн үндэслэл, хянуулах</a:t>
            </a:r>
          </a:p>
          <a:p>
            <a:pPr>
              <a:lnSpc>
                <a:spcPts val="1829"/>
              </a:lnSpc>
              <a:spcBef>
                <a:spcPts val="0"/>
              </a:spcBef>
              <a:spcAft>
                <a:spcPts val="0"/>
              </a:spcAft>
              <a:defRPr sz="1500" b="0">
                <a:solidFill>
                  <a:srgbClr val="101114"/>
                </a:solidFill>
                <a:latin typeface="DejaVu Sans"/>
              </a:defRPr>
            </a:pPr>
            <a:r>
              <a:t>сувгийг мэдээлэх</a:t>
            </a:r>
          </a:p>
        </p:txBody>
      </p:sp>
      <p:sp>
        <p:nvSpPr>
          <p:cNvPr id="17" name="TextBox 16"/>
          <p:cNvSpPr txBox="1"/>
          <p:nvPr/>
        </p:nvSpPr>
        <p:spPr>
          <a:xfrm>
            <a:off x="8553450" y="2828925"/>
            <a:ext cx="3105150" cy="523874"/>
          </a:xfrm>
          <a:prstGeom prst="rect">
            <a:avLst/>
          </a:prstGeom>
          <a:noFill/>
        </p:spPr>
        <p:txBody>
          <a:bodyPr wrap="none" lIns="0" tIns="0" rIns="0" bIns="0">
            <a:spAutoFit/>
          </a:bodyPr>
          <a:lstStyle/>
          <a:p>
            <a:pPr>
              <a:lnSpc>
                <a:spcPts val="1647"/>
              </a:lnSpc>
              <a:spcBef>
                <a:spcPts val="0"/>
              </a:spcBef>
              <a:spcAft>
                <a:spcPts val="0"/>
              </a:spcAft>
              <a:defRPr sz="1350" b="1">
                <a:solidFill>
                  <a:srgbClr val="164BFF"/>
                </a:solidFill>
                <a:latin typeface="DejaVu Sans"/>
              </a:defRPr>
            </a:pPr>
            <a:r>
              <a:t>Хугацаандаа шийдсэн</a:t>
            </a:r>
          </a:p>
          <a:p>
            <a:pPr>
              <a:lnSpc>
                <a:spcPts val="1647"/>
              </a:lnSpc>
              <a:spcBef>
                <a:spcPts val="0"/>
              </a:spcBef>
              <a:spcAft>
                <a:spcPts val="0"/>
              </a:spcAft>
              <a:defRPr sz="1350" b="1">
                <a:solidFill>
                  <a:srgbClr val="164BFF"/>
                </a:solidFill>
                <a:latin typeface="DejaVu Sans"/>
              </a:defRPr>
            </a:pPr>
            <a:r>
              <a:t>гомдлын хувь</a:t>
            </a:r>
          </a:p>
        </p:txBody>
      </p:sp>
      <p:cxnSp>
        <p:nvCxnSpPr>
          <p:cNvPr id="18" name="Connector 17"/>
          <p:cNvCxnSpPr/>
          <p:nvPr/>
        </p:nvCxnSpPr>
        <p:spPr>
          <a:xfrm>
            <a:off x="1257300" y="3419475"/>
            <a:ext cx="104584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47675" y="3495675"/>
            <a:ext cx="600075"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2450" y="3571875"/>
            <a:ext cx="419100" cy="447675"/>
          </a:xfrm>
          <a:prstGeom prst="rect">
            <a:avLst/>
          </a:prstGeom>
          <a:noFill/>
        </p:spPr>
        <p:txBody>
          <a:bodyPr wrap="none" lIns="0" tIns="0" rIns="0" bIns="0">
            <a:spAutoFit/>
          </a:bodyPr>
          <a:lstStyle/>
          <a:p>
            <a:pPr>
              <a:lnSpc>
                <a:spcPts val="2745"/>
              </a:lnSpc>
              <a:spcBef>
                <a:spcPts val="0"/>
              </a:spcBef>
              <a:spcAft>
                <a:spcPts val="0"/>
              </a:spcAft>
              <a:defRPr sz="2250" b="1">
                <a:solidFill>
                  <a:srgbClr val="F5FF58"/>
                </a:solidFill>
                <a:latin typeface="Open Sans Condensed"/>
              </a:defRPr>
            </a:pPr>
            <a:r>
              <a:t>03</a:t>
            </a:r>
          </a:p>
        </p:txBody>
      </p:sp>
      <p:sp>
        <p:nvSpPr>
          <p:cNvPr id="21" name="TextBox 20"/>
          <p:cNvSpPr txBox="1"/>
          <p:nvPr/>
        </p:nvSpPr>
        <p:spPr>
          <a:xfrm>
            <a:off x="1266825" y="3524250"/>
            <a:ext cx="2924175" cy="552450"/>
          </a:xfrm>
          <a:prstGeom prst="rect">
            <a:avLst/>
          </a:prstGeom>
          <a:noFill/>
        </p:spPr>
        <p:txBody>
          <a:bodyPr wrap="none" lIns="0" tIns="0" rIns="0" bIns="0">
            <a:spAutoFit/>
          </a:bodyPr>
          <a:lstStyle/>
          <a:p>
            <a:pPr>
              <a:lnSpc>
                <a:spcPts val="2141"/>
              </a:lnSpc>
              <a:spcBef>
                <a:spcPts val="0"/>
              </a:spcBef>
              <a:spcAft>
                <a:spcPts val="0"/>
              </a:spcAft>
              <a:defRPr sz="1755" b="1">
                <a:solidFill>
                  <a:srgbClr val="101114"/>
                </a:solidFill>
                <a:latin typeface="Open Sans Condensed"/>
              </a:defRPr>
            </a:pPr>
            <a:r>
              <a:t>Суурь үйлчилгээний саад</a:t>
            </a:r>
          </a:p>
          <a:p>
            <a:pPr>
              <a:lnSpc>
                <a:spcPts val="2141"/>
              </a:lnSpc>
              <a:spcBef>
                <a:spcPts val="0"/>
              </a:spcBef>
              <a:spcAft>
                <a:spcPts val="0"/>
              </a:spcAft>
              <a:defRPr sz="1755" b="1">
                <a:solidFill>
                  <a:srgbClr val="101114"/>
                </a:solidFill>
                <a:latin typeface="Open Sans Condensed"/>
              </a:defRPr>
            </a:pPr>
            <a:r>
              <a:t>бууруулах</a:t>
            </a:r>
          </a:p>
        </p:txBody>
      </p:sp>
      <p:sp>
        <p:nvSpPr>
          <p:cNvPr id="22" name="TextBox 21"/>
          <p:cNvSpPr txBox="1"/>
          <p:nvPr/>
        </p:nvSpPr>
        <p:spPr>
          <a:xfrm>
            <a:off x="4448175" y="3543300"/>
            <a:ext cx="3705224" cy="523874"/>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Тээвэр, хүртээмж, сургалтын далд</a:t>
            </a:r>
          </a:p>
          <a:p>
            <a:pPr>
              <a:lnSpc>
                <a:spcPts val="1829"/>
              </a:lnSpc>
              <a:spcBef>
                <a:spcPts val="0"/>
              </a:spcBef>
              <a:spcAft>
                <a:spcPts val="0"/>
              </a:spcAft>
              <a:defRPr sz="1500" b="0">
                <a:solidFill>
                  <a:srgbClr val="101114"/>
                </a:solidFill>
                <a:latin typeface="DejaVu Sans"/>
              </a:defRPr>
            </a:pPr>
            <a:r>
              <a:t>зардлын дэмжлэг</a:t>
            </a:r>
          </a:p>
        </p:txBody>
      </p:sp>
      <p:sp>
        <p:nvSpPr>
          <p:cNvPr id="23" name="TextBox 22"/>
          <p:cNvSpPr txBox="1"/>
          <p:nvPr/>
        </p:nvSpPr>
        <p:spPr>
          <a:xfrm>
            <a:off x="8553450" y="3543300"/>
            <a:ext cx="3105150" cy="523874"/>
          </a:xfrm>
          <a:prstGeom prst="rect">
            <a:avLst/>
          </a:prstGeom>
          <a:noFill/>
        </p:spPr>
        <p:txBody>
          <a:bodyPr wrap="none" lIns="0" tIns="0" rIns="0" bIns="0">
            <a:spAutoFit/>
          </a:bodyPr>
          <a:lstStyle/>
          <a:p>
            <a:pPr>
              <a:lnSpc>
                <a:spcPts val="1647"/>
              </a:lnSpc>
              <a:spcBef>
                <a:spcPts val="0"/>
              </a:spcBef>
              <a:spcAft>
                <a:spcPts val="0"/>
              </a:spcAft>
              <a:defRPr sz="1350" b="1">
                <a:solidFill>
                  <a:srgbClr val="164BFF"/>
                </a:solidFill>
                <a:latin typeface="DejaVu Sans"/>
              </a:defRPr>
            </a:pPr>
            <a:r>
              <a:t>Хичээлийн ирц; үйлчилгээ</a:t>
            </a:r>
          </a:p>
          <a:p>
            <a:pPr>
              <a:lnSpc>
                <a:spcPts val="1647"/>
              </a:lnSpc>
              <a:spcBef>
                <a:spcPts val="0"/>
              </a:spcBef>
              <a:spcAft>
                <a:spcPts val="0"/>
              </a:spcAft>
              <a:defRPr sz="1350" b="1">
                <a:solidFill>
                  <a:srgbClr val="164BFF"/>
                </a:solidFill>
                <a:latin typeface="DejaVu Sans"/>
              </a:defRPr>
            </a:pPr>
            <a:r>
              <a:t>тасалдсан тохиолдол</a:t>
            </a:r>
          </a:p>
        </p:txBody>
      </p:sp>
      <p:cxnSp>
        <p:nvCxnSpPr>
          <p:cNvPr id="24" name="Connector 23"/>
          <p:cNvCxnSpPr/>
          <p:nvPr/>
        </p:nvCxnSpPr>
        <p:spPr>
          <a:xfrm>
            <a:off x="1257300" y="4133849"/>
            <a:ext cx="104584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47675" y="4210050"/>
            <a:ext cx="600075" cy="590550"/>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2450" y="4286250"/>
            <a:ext cx="419100" cy="447675"/>
          </a:xfrm>
          <a:prstGeom prst="rect">
            <a:avLst/>
          </a:prstGeom>
          <a:noFill/>
        </p:spPr>
        <p:txBody>
          <a:bodyPr wrap="none" lIns="0" tIns="0" rIns="0" bIns="0">
            <a:spAutoFit/>
          </a:bodyPr>
          <a:lstStyle/>
          <a:p>
            <a:pPr>
              <a:lnSpc>
                <a:spcPts val="2745"/>
              </a:lnSpc>
              <a:spcBef>
                <a:spcPts val="0"/>
              </a:spcBef>
              <a:spcAft>
                <a:spcPts val="0"/>
              </a:spcAft>
              <a:defRPr sz="2250" b="1">
                <a:solidFill>
                  <a:srgbClr val="F5FF58"/>
                </a:solidFill>
                <a:latin typeface="Open Sans Condensed"/>
              </a:defRPr>
            </a:pPr>
            <a:r>
              <a:t>04</a:t>
            </a:r>
          </a:p>
        </p:txBody>
      </p:sp>
      <p:sp>
        <p:nvSpPr>
          <p:cNvPr id="27" name="TextBox 26"/>
          <p:cNvSpPr txBox="1"/>
          <p:nvPr/>
        </p:nvSpPr>
        <p:spPr>
          <a:xfrm>
            <a:off x="1266825" y="4238625"/>
            <a:ext cx="2924175" cy="552450"/>
          </a:xfrm>
          <a:prstGeom prst="rect">
            <a:avLst/>
          </a:prstGeom>
          <a:noFill/>
        </p:spPr>
        <p:txBody>
          <a:bodyPr wrap="none" lIns="0" tIns="0" rIns="0" bIns="0">
            <a:spAutoFit/>
          </a:bodyPr>
          <a:lstStyle/>
          <a:p>
            <a:pPr>
              <a:lnSpc>
                <a:spcPts val="2287"/>
              </a:lnSpc>
              <a:spcBef>
                <a:spcPts val="0"/>
              </a:spcBef>
              <a:spcAft>
                <a:spcPts val="0"/>
              </a:spcAft>
              <a:defRPr sz="1875" b="1">
                <a:solidFill>
                  <a:srgbClr val="101114"/>
                </a:solidFill>
                <a:latin typeface="Open Sans Condensed"/>
              </a:defRPr>
            </a:pPr>
            <a:r>
              <a:t>Орлогын хамгаалал</a:t>
            </a:r>
          </a:p>
        </p:txBody>
      </p:sp>
      <p:sp>
        <p:nvSpPr>
          <p:cNvPr id="28" name="TextBox 27"/>
          <p:cNvSpPr txBox="1"/>
          <p:nvPr/>
        </p:nvSpPr>
        <p:spPr>
          <a:xfrm>
            <a:off x="4448175" y="4257675"/>
            <a:ext cx="3705224" cy="523874"/>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Эрсдэлд тохирсон дэмжлэг,</a:t>
            </a:r>
          </a:p>
          <a:p>
            <a:pPr>
              <a:lnSpc>
                <a:spcPts val="1829"/>
              </a:lnSpc>
              <a:spcBef>
                <a:spcPts val="0"/>
              </a:spcBef>
              <a:spcAft>
                <a:spcPts val="0"/>
              </a:spcAft>
              <a:defRPr sz="1500" b="0">
                <a:solidFill>
                  <a:srgbClr val="101114"/>
                </a:solidFill>
                <a:latin typeface="DejaVu Sans"/>
              </a:defRPr>
            </a:pPr>
            <a:r>
              <a:t>хөдөлмөрийн зуучлал</a:t>
            </a:r>
          </a:p>
        </p:txBody>
      </p:sp>
      <p:sp>
        <p:nvSpPr>
          <p:cNvPr id="29" name="TextBox 28"/>
          <p:cNvSpPr txBox="1"/>
          <p:nvPr/>
        </p:nvSpPr>
        <p:spPr>
          <a:xfrm>
            <a:off x="8553450" y="4257675"/>
            <a:ext cx="3105150" cy="523874"/>
          </a:xfrm>
          <a:prstGeom prst="rect">
            <a:avLst/>
          </a:prstGeom>
          <a:noFill/>
        </p:spPr>
        <p:txBody>
          <a:bodyPr wrap="none" lIns="0" tIns="0" rIns="0" bIns="0">
            <a:spAutoFit/>
          </a:bodyPr>
          <a:lstStyle/>
          <a:p>
            <a:pPr>
              <a:lnSpc>
                <a:spcPts val="1647"/>
              </a:lnSpc>
              <a:spcBef>
                <a:spcPts val="0"/>
              </a:spcBef>
              <a:spcAft>
                <a:spcPts val="0"/>
              </a:spcAft>
              <a:defRPr sz="1350" b="1">
                <a:solidFill>
                  <a:srgbClr val="164BFF"/>
                </a:solidFill>
                <a:latin typeface="DejaVu Sans"/>
              </a:defRPr>
            </a:pPr>
            <a:r>
              <a:t>Хамрагдалт; эрх бүхий өрхийн</a:t>
            </a:r>
          </a:p>
          <a:p>
            <a:pPr>
              <a:lnSpc>
                <a:spcPts val="1647"/>
              </a:lnSpc>
              <a:spcBef>
                <a:spcPts val="0"/>
              </a:spcBef>
              <a:spcAft>
                <a:spcPts val="0"/>
              </a:spcAft>
              <a:defRPr sz="1350" b="1">
                <a:solidFill>
                  <a:srgbClr val="164BFF"/>
                </a:solidFill>
                <a:latin typeface="DejaVu Sans"/>
              </a:defRPr>
            </a:pPr>
            <a:r>
              <a:t>хасагдлын алдаа</a:t>
            </a:r>
          </a:p>
        </p:txBody>
      </p:sp>
      <p:cxnSp>
        <p:nvCxnSpPr>
          <p:cNvPr id="30" name="Connector 29"/>
          <p:cNvCxnSpPr/>
          <p:nvPr/>
        </p:nvCxnSpPr>
        <p:spPr>
          <a:xfrm>
            <a:off x="1257300" y="4848225"/>
            <a:ext cx="104584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47675" y="4924425"/>
            <a:ext cx="600075" cy="59055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2450" y="5000625"/>
            <a:ext cx="419100" cy="447675"/>
          </a:xfrm>
          <a:prstGeom prst="rect">
            <a:avLst/>
          </a:prstGeom>
          <a:noFill/>
        </p:spPr>
        <p:txBody>
          <a:bodyPr wrap="none" lIns="0" tIns="0" rIns="0" bIns="0">
            <a:spAutoFit/>
          </a:bodyPr>
          <a:lstStyle/>
          <a:p>
            <a:pPr>
              <a:lnSpc>
                <a:spcPts val="2745"/>
              </a:lnSpc>
              <a:spcBef>
                <a:spcPts val="0"/>
              </a:spcBef>
              <a:spcAft>
                <a:spcPts val="0"/>
              </a:spcAft>
              <a:defRPr sz="2250" b="1">
                <a:solidFill>
                  <a:srgbClr val="F5FF58"/>
                </a:solidFill>
                <a:latin typeface="Open Sans Condensed"/>
              </a:defRPr>
            </a:pPr>
            <a:r>
              <a:t>05</a:t>
            </a:r>
          </a:p>
        </p:txBody>
      </p:sp>
      <p:sp>
        <p:nvSpPr>
          <p:cNvPr id="33" name="TextBox 32"/>
          <p:cNvSpPr txBox="1"/>
          <p:nvPr/>
        </p:nvSpPr>
        <p:spPr>
          <a:xfrm>
            <a:off x="1266825" y="4953000"/>
            <a:ext cx="2924175" cy="552450"/>
          </a:xfrm>
          <a:prstGeom prst="rect">
            <a:avLst/>
          </a:prstGeom>
          <a:noFill/>
        </p:spPr>
        <p:txBody>
          <a:bodyPr wrap="none" lIns="0" tIns="0" rIns="0" bIns="0">
            <a:spAutoFit/>
          </a:bodyPr>
          <a:lstStyle/>
          <a:p>
            <a:pPr>
              <a:lnSpc>
                <a:spcPts val="2287"/>
              </a:lnSpc>
              <a:spcBef>
                <a:spcPts val="0"/>
              </a:spcBef>
              <a:spcAft>
                <a:spcPts val="0"/>
              </a:spcAft>
              <a:defRPr sz="1875" b="1">
                <a:solidFill>
                  <a:srgbClr val="101114"/>
                </a:solidFill>
                <a:latin typeface="Open Sans Condensed"/>
              </a:defRPr>
            </a:pPr>
            <a:r>
              <a:t>Төсвийн үндэслэл, оролцоо</a:t>
            </a:r>
          </a:p>
        </p:txBody>
      </p:sp>
      <p:sp>
        <p:nvSpPr>
          <p:cNvPr id="34" name="TextBox 33"/>
          <p:cNvSpPr txBox="1"/>
          <p:nvPr/>
        </p:nvSpPr>
        <p:spPr>
          <a:xfrm>
            <a:off x="4448175" y="4972050"/>
            <a:ext cx="3705224" cy="523874"/>
          </a:xfrm>
          <a:prstGeom prst="rect">
            <a:avLst/>
          </a:prstGeom>
          <a:noFill/>
        </p:spPr>
        <p:txBody>
          <a:bodyPr wrap="none" lIns="0" tIns="0" rIns="0" bIns="0">
            <a:spAutoFit/>
          </a:bodyPr>
          <a:lstStyle/>
          <a:p>
            <a:pPr>
              <a:lnSpc>
                <a:spcPts val="1829"/>
              </a:lnSpc>
              <a:spcBef>
                <a:spcPts val="0"/>
              </a:spcBef>
              <a:spcAft>
                <a:spcPts val="0"/>
              </a:spcAft>
              <a:defRPr sz="1500" b="0">
                <a:solidFill>
                  <a:srgbClr val="101114"/>
                </a:solidFill>
                <a:latin typeface="DejaVu Sans"/>
              </a:defRPr>
            </a:pPr>
            <a:r>
              <a:t>Хэрэгцээнд тулгуурласан тооцоо,</a:t>
            </a:r>
          </a:p>
          <a:p>
            <a:pPr>
              <a:lnSpc>
                <a:spcPts val="1829"/>
              </a:lnSpc>
              <a:spcBef>
                <a:spcPts val="0"/>
              </a:spcBef>
              <a:spcAft>
                <a:spcPts val="0"/>
              </a:spcAft>
              <a:defRPr sz="1500" b="0">
                <a:solidFill>
                  <a:srgbClr val="101114"/>
                </a:solidFill>
                <a:latin typeface="DejaVu Sans"/>
              </a:defRPr>
            </a:pPr>
            <a:r>
              <a:t>иргэдийн санал</a:t>
            </a:r>
          </a:p>
        </p:txBody>
      </p:sp>
      <p:sp>
        <p:nvSpPr>
          <p:cNvPr id="35" name="TextBox 34"/>
          <p:cNvSpPr txBox="1"/>
          <p:nvPr/>
        </p:nvSpPr>
        <p:spPr>
          <a:xfrm>
            <a:off x="8553450" y="4972050"/>
            <a:ext cx="3105150" cy="523874"/>
          </a:xfrm>
          <a:prstGeom prst="rect">
            <a:avLst/>
          </a:prstGeom>
          <a:noFill/>
        </p:spPr>
        <p:txBody>
          <a:bodyPr wrap="none" lIns="0" tIns="0" rIns="0" bIns="0">
            <a:spAutoFit/>
          </a:bodyPr>
          <a:lstStyle/>
          <a:p>
            <a:pPr>
              <a:lnSpc>
                <a:spcPts val="1647"/>
              </a:lnSpc>
              <a:spcBef>
                <a:spcPts val="0"/>
              </a:spcBef>
              <a:spcAft>
                <a:spcPts val="0"/>
              </a:spcAft>
              <a:defRPr sz="1350" b="1">
                <a:solidFill>
                  <a:srgbClr val="164BFF"/>
                </a:solidFill>
                <a:latin typeface="DejaVu Sans"/>
              </a:defRPr>
            </a:pPr>
            <a:r>
              <a:t>Нийтэлсэн аргачлал;</a:t>
            </a:r>
          </a:p>
          <a:p>
            <a:pPr>
              <a:lnSpc>
                <a:spcPts val="1647"/>
              </a:lnSpc>
              <a:spcBef>
                <a:spcPts val="0"/>
              </a:spcBef>
              <a:spcAft>
                <a:spcPts val="0"/>
              </a:spcAft>
              <a:defRPr sz="1350" b="1">
                <a:solidFill>
                  <a:srgbClr val="164BFF"/>
                </a:solidFill>
                <a:latin typeface="DejaVu Sans"/>
              </a:defRPr>
            </a:pPr>
            <a:r>
              <a:t>хэрэгжилтийн тайлан</a:t>
            </a:r>
          </a:p>
        </p:txBody>
      </p:sp>
      <p:cxnSp>
        <p:nvCxnSpPr>
          <p:cNvPr id="36" name="Connector 35"/>
          <p:cNvCxnSpPr/>
          <p:nvPr/>
        </p:nvCxnSpPr>
        <p:spPr>
          <a:xfrm>
            <a:off x="1257300" y="5562600"/>
            <a:ext cx="1045845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Эдгээр нь илтгэлийн бодлогын санал; одоо хүчин төгөлдөр хуульд бүгд заасан гэсэн үг биш.</a:t>
            </a:r>
          </a:p>
        </p:txBody>
      </p:sp>
      <p:cxnSp>
        <p:nvCxnSpPr>
          <p:cNvPr id="39" name="Connector 38"/>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ЭХ / ҮХ · ICESCR · SDG</a:t>
            </a:r>
          </a:p>
        </p:txBody>
      </p:sp>
      <p:sp>
        <p:nvSpPr>
          <p:cNvPr id="41" name="TextBox 40"/>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26—30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07 / ЭРХЭЭ ХАМГААЛАХ</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5764"/>
              </a:lnSpc>
              <a:spcBef>
                <a:spcPts val="0"/>
              </a:spcBef>
              <a:spcAft>
                <a:spcPts val="0"/>
              </a:spcAft>
              <a:defRPr sz="4725" b="1">
                <a:solidFill>
                  <a:srgbClr val="F7F6F1"/>
                </a:solidFill>
                <a:latin typeface="Open Sans Condensed"/>
              </a:defRPr>
            </a:pPr>
            <a:r>
              <a:t>ЭРХЭЭ ХАМГААЛАХ ЗАМ</a:t>
            </a:r>
          </a:p>
        </p:txBody>
      </p:sp>
      <p:cxnSp>
        <p:nvCxnSpPr>
          <p:cNvPr id="7" name="Connector 6"/>
          <p:cNvCxnSpPr/>
          <p:nvPr/>
        </p:nvCxnSpPr>
        <p:spPr>
          <a:xfrm>
            <a:off x="1076325" y="3009900"/>
            <a:ext cx="9953625" cy="0"/>
          </a:xfrm>
          <a:prstGeom prst="line">
            <a:avLst/>
          </a:prstGeom>
          <a:ln w="85725">
            <a:solidFill>
              <a:srgbClr val="164BFF"/>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95325" y="2676525"/>
            <a:ext cx="666750" cy="6667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5325" y="2762250"/>
            <a:ext cx="666750" cy="457200"/>
          </a:xfrm>
          <a:prstGeom prst="rect">
            <a:avLst/>
          </a:prstGeom>
          <a:noFill/>
        </p:spPr>
        <p:txBody>
          <a:bodyPr wrap="none" lIns="0" tIns="0" rIns="0" bIns="0">
            <a:spAutoFit/>
          </a:bodyPr>
          <a:lstStyle/>
          <a:p>
            <a:pPr algn="ctr">
              <a:lnSpc>
                <a:spcPts val="2745"/>
              </a:lnSpc>
              <a:spcBef>
                <a:spcPts val="0"/>
              </a:spcBef>
              <a:spcAft>
                <a:spcPts val="0"/>
              </a:spcAft>
              <a:defRPr sz="2250" b="1">
                <a:solidFill>
                  <a:srgbClr val="101114"/>
                </a:solidFill>
                <a:latin typeface="Open Sans Condensed"/>
              </a:defRPr>
            </a:pPr>
            <a:r>
              <a:t>01</a:t>
            </a:r>
          </a:p>
        </p:txBody>
      </p:sp>
      <p:sp>
        <p:nvSpPr>
          <p:cNvPr id="10" name="TextBox 9"/>
          <p:cNvSpPr txBox="1"/>
          <p:nvPr/>
        </p:nvSpPr>
        <p:spPr>
          <a:xfrm>
            <a:off x="466724" y="3752850"/>
            <a:ext cx="2581275" cy="733425"/>
          </a:xfrm>
          <a:prstGeom prst="rect">
            <a:avLst/>
          </a:prstGeom>
          <a:noFill/>
        </p:spPr>
        <p:txBody>
          <a:bodyPr wrap="none" lIns="0" tIns="0" rIns="0" bIns="0">
            <a:spAutoFit/>
          </a:bodyPr>
          <a:lstStyle/>
          <a:p>
            <a:pPr>
              <a:lnSpc>
                <a:spcPts val="2928"/>
              </a:lnSpc>
              <a:spcBef>
                <a:spcPts val="0"/>
              </a:spcBef>
              <a:spcAft>
                <a:spcPts val="0"/>
              </a:spcAft>
              <a:defRPr sz="2400" b="1">
                <a:solidFill>
                  <a:srgbClr val="F7F6F1"/>
                </a:solidFill>
                <a:latin typeface="Open Sans Condensed"/>
              </a:defRPr>
            </a:pPr>
            <a:r>
              <a:t>Баримтжуулах</a:t>
            </a:r>
          </a:p>
        </p:txBody>
      </p:sp>
      <p:sp>
        <p:nvSpPr>
          <p:cNvPr id="11" name="TextBox 10"/>
          <p:cNvSpPr txBox="1"/>
          <p:nvPr/>
        </p:nvSpPr>
        <p:spPr>
          <a:xfrm>
            <a:off x="466724" y="4705350"/>
            <a:ext cx="2562225" cy="895350"/>
          </a:xfrm>
          <a:prstGeom prst="rect">
            <a:avLst/>
          </a:prstGeom>
          <a:noFill/>
        </p:spPr>
        <p:txBody>
          <a:bodyPr wrap="none" lIns="0" tIns="0" rIns="0" bIns="0">
            <a:spAutoFit/>
          </a:bodyPr>
          <a:lstStyle/>
          <a:p>
            <a:pPr>
              <a:lnSpc>
                <a:spcPts val="2104"/>
              </a:lnSpc>
              <a:spcBef>
                <a:spcPts val="0"/>
              </a:spcBef>
              <a:spcAft>
                <a:spcPts val="0"/>
              </a:spcAft>
              <a:defRPr sz="1725" b="0">
                <a:solidFill>
                  <a:srgbClr val="A9AFBE"/>
                </a:solidFill>
                <a:latin typeface="DejaVu Sans"/>
              </a:defRPr>
            </a:pPr>
            <a:r>
              <a:t>Хүсэлт, хариу, огноо</a:t>
            </a:r>
          </a:p>
          <a:p>
            <a:pPr>
              <a:lnSpc>
                <a:spcPts val="2104"/>
              </a:lnSpc>
              <a:spcBef>
                <a:spcPts val="0"/>
              </a:spcBef>
              <a:spcAft>
                <a:spcPts val="0"/>
              </a:spcAft>
              <a:defRPr sz="1725" b="0">
                <a:solidFill>
                  <a:srgbClr val="A9AFBE"/>
                </a:solidFill>
                <a:latin typeface="DejaVu Sans"/>
              </a:defRPr>
            </a:pPr>
            <a:r>
              <a:t>Төлбөр, холбогдох</a:t>
            </a:r>
          </a:p>
          <a:p>
            <a:pPr>
              <a:lnSpc>
                <a:spcPts val="2104"/>
              </a:lnSpc>
              <a:spcBef>
                <a:spcPts val="0"/>
              </a:spcBef>
              <a:spcAft>
                <a:spcPts val="0"/>
              </a:spcAft>
              <a:defRPr sz="1725" b="0">
                <a:solidFill>
                  <a:srgbClr val="A9AFBE"/>
                </a:solidFill>
                <a:latin typeface="DejaVu Sans"/>
              </a:defRPr>
            </a:pPr>
            <a:r>
              <a:t>баримт</a:t>
            </a:r>
          </a:p>
        </p:txBody>
      </p:sp>
      <p:sp>
        <p:nvSpPr>
          <p:cNvPr id="12" name="Oval 11"/>
          <p:cNvSpPr/>
          <p:nvPr/>
        </p:nvSpPr>
        <p:spPr>
          <a:xfrm>
            <a:off x="3552825" y="2676525"/>
            <a:ext cx="666750" cy="6667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2825" y="2762250"/>
            <a:ext cx="666750" cy="457200"/>
          </a:xfrm>
          <a:prstGeom prst="rect">
            <a:avLst/>
          </a:prstGeom>
          <a:noFill/>
        </p:spPr>
        <p:txBody>
          <a:bodyPr wrap="none" lIns="0" tIns="0" rIns="0" bIns="0">
            <a:spAutoFit/>
          </a:bodyPr>
          <a:lstStyle/>
          <a:p>
            <a:pPr algn="ctr">
              <a:lnSpc>
                <a:spcPts val="2745"/>
              </a:lnSpc>
              <a:spcBef>
                <a:spcPts val="0"/>
              </a:spcBef>
              <a:spcAft>
                <a:spcPts val="0"/>
              </a:spcAft>
              <a:defRPr sz="2250" b="1">
                <a:solidFill>
                  <a:srgbClr val="101114"/>
                </a:solidFill>
                <a:latin typeface="Open Sans Condensed"/>
              </a:defRPr>
            </a:pPr>
            <a:r>
              <a:t>02</a:t>
            </a:r>
          </a:p>
        </p:txBody>
      </p:sp>
      <p:sp>
        <p:nvSpPr>
          <p:cNvPr id="14" name="TextBox 13"/>
          <p:cNvSpPr txBox="1"/>
          <p:nvPr/>
        </p:nvSpPr>
        <p:spPr>
          <a:xfrm>
            <a:off x="3324225" y="3752850"/>
            <a:ext cx="2581275" cy="733425"/>
          </a:xfrm>
          <a:prstGeom prst="rect">
            <a:avLst/>
          </a:prstGeom>
          <a:noFill/>
        </p:spPr>
        <p:txBody>
          <a:bodyPr wrap="none" lIns="0" tIns="0" rIns="0" bIns="0">
            <a:spAutoFit/>
          </a:bodyPr>
          <a:lstStyle/>
          <a:p>
            <a:pPr>
              <a:lnSpc>
                <a:spcPts val="2928"/>
              </a:lnSpc>
              <a:spcBef>
                <a:spcPts val="0"/>
              </a:spcBef>
              <a:spcAft>
                <a:spcPts val="0"/>
              </a:spcAft>
              <a:defRPr sz="2400" b="1">
                <a:solidFill>
                  <a:srgbClr val="F7F6F1"/>
                </a:solidFill>
                <a:latin typeface="Open Sans Condensed"/>
              </a:defRPr>
            </a:pPr>
            <a:r>
              <a:t>Үндэслэл авах</a:t>
            </a:r>
          </a:p>
        </p:txBody>
      </p:sp>
      <p:sp>
        <p:nvSpPr>
          <p:cNvPr id="15" name="TextBox 14"/>
          <p:cNvSpPr txBox="1"/>
          <p:nvPr/>
        </p:nvSpPr>
        <p:spPr>
          <a:xfrm>
            <a:off x="3324225" y="4705350"/>
            <a:ext cx="2562225" cy="895350"/>
          </a:xfrm>
          <a:prstGeom prst="rect">
            <a:avLst/>
          </a:prstGeom>
          <a:noFill/>
        </p:spPr>
        <p:txBody>
          <a:bodyPr wrap="none" lIns="0" tIns="0" rIns="0" bIns="0">
            <a:spAutoFit/>
          </a:bodyPr>
          <a:lstStyle/>
          <a:p>
            <a:pPr>
              <a:lnSpc>
                <a:spcPts val="2104"/>
              </a:lnSpc>
              <a:spcBef>
                <a:spcPts val="0"/>
              </a:spcBef>
              <a:spcAft>
                <a:spcPts val="0"/>
              </a:spcAft>
              <a:defRPr sz="1725" b="0">
                <a:solidFill>
                  <a:srgbClr val="A9AFBE"/>
                </a:solidFill>
                <a:latin typeface="DejaVu Sans"/>
              </a:defRPr>
            </a:pPr>
            <a:r>
              <a:t>Татгалзсан шалтгаан</a:t>
            </a:r>
          </a:p>
          <a:p>
            <a:pPr>
              <a:lnSpc>
                <a:spcPts val="2104"/>
              </a:lnSpc>
              <a:spcBef>
                <a:spcPts val="0"/>
              </a:spcBef>
              <a:spcAft>
                <a:spcPts val="0"/>
              </a:spcAft>
              <a:defRPr sz="1725" b="0">
                <a:solidFill>
                  <a:srgbClr val="A9AFBE"/>
                </a:solidFill>
                <a:latin typeface="DejaVu Sans"/>
              </a:defRPr>
            </a:pPr>
            <a:r>
              <a:t>Шалгуур, хууль зүйн</a:t>
            </a:r>
          </a:p>
          <a:p>
            <a:pPr>
              <a:lnSpc>
                <a:spcPts val="2104"/>
              </a:lnSpc>
              <a:spcBef>
                <a:spcPts val="0"/>
              </a:spcBef>
              <a:spcAft>
                <a:spcPts val="0"/>
              </a:spcAft>
              <a:defRPr sz="1725" b="0">
                <a:solidFill>
                  <a:srgbClr val="A9AFBE"/>
                </a:solidFill>
                <a:latin typeface="DejaVu Sans"/>
              </a:defRPr>
            </a:pPr>
            <a:r>
              <a:t>үндэс</a:t>
            </a:r>
          </a:p>
        </p:txBody>
      </p:sp>
      <p:sp>
        <p:nvSpPr>
          <p:cNvPr id="16" name="Oval 15"/>
          <p:cNvSpPr/>
          <p:nvPr/>
        </p:nvSpPr>
        <p:spPr>
          <a:xfrm>
            <a:off x="6410325" y="2676525"/>
            <a:ext cx="666750" cy="6667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0325" y="2762250"/>
            <a:ext cx="666750" cy="457200"/>
          </a:xfrm>
          <a:prstGeom prst="rect">
            <a:avLst/>
          </a:prstGeom>
          <a:noFill/>
        </p:spPr>
        <p:txBody>
          <a:bodyPr wrap="none" lIns="0" tIns="0" rIns="0" bIns="0">
            <a:spAutoFit/>
          </a:bodyPr>
          <a:lstStyle/>
          <a:p>
            <a:pPr algn="ctr">
              <a:lnSpc>
                <a:spcPts val="2745"/>
              </a:lnSpc>
              <a:spcBef>
                <a:spcPts val="0"/>
              </a:spcBef>
              <a:spcAft>
                <a:spcPts val="0"/>
              </a:spcAft>
              <a:defRPr sz="2250" b="1">
                <a:solidFill>
                  <a:srgbClr val="101114"/>
                </a:solidFill>
                <a:latin typeface="Open Sans Condensed"/>
              </a:defRPr>
            </a:pPr>
            <a:r>
              <a:t>03</a:t>
            </a:r>
          </a:p>
        </p:txBody>
      </p:sp>
      <p:sp>
        <p:nvSpPr>
          <p:cNvPr id="18" name="TextBox 17"/>
          <p:cNvSpPr txBox="1"/>
          <p:nvPr/>
        </p:nvSpPr>
        <p:spPr>
          <a:xfrm>
            <a:off x="6181725" y="3752850"/>
            <a:ext cx="2581275" cy="733425"/>
          </a:xfrm>
          <a:prstGeom prst="rect">
            <a:avLst/>
          </a:prstGeom>
          <a:noFill/>
        </p:spPr>
        <p:txBody>
          <a:bodyPr wrap="none" lIns="0" tIns="0" rIns="0" bIns="0">
            <a:spAutoFit/>
          </a:bodyPr>
          <a:lstStyle/>
          <a:p>
            <a:pPr>
              <a:lnSpc>
                <a:spcPts val="2928"/>
              </a:lnSpc>
              <a:spcBef>
                <a:spcPts val="0"/>
              </a:spcBef>
              <a:spcAft>
                <a:spcPts val="0"/>
              </a:spcAft>
              <a:defRPr sz="2400" b="1">
                <a:solidFill>
                  <a:srgbClr val="F7F6F1"/>
                </a:solidFill>
                <a:latin typeface="Open Sans Condensed"/>
              </a:defRPr>
            </a:pPr>
            <a:r>
              <a:t>Хянуулах</a:t>
            </a:r>
          </a:p>
        </p:txBody>
      </p:sp>
      <p:sp>
        <p:nvSpPr>
          <p:cNvPr id="19" name="TextBox 18"/>
          <p:cNvSpPr txBox="1"/>
          <p:nvPr/>
        </p:nvSpPr>
        <p:spPr>
          <a:xfrm>
            <a:off x="6181725" y="4705350"/>
            <a:ext cx="2562225" cy="895350"/>
          </a:xfrm>
          <a:prstGeom prst="rect">
            <a:avLst/>
          </a:prstGeom>
          <a:noFill/>
        </p:spPr>
        <p:txBody>
          <a:bodyPr wrap="none" lIns="0" tIns="0" rIns="0" bIns="0">
            <a:spAutoFit/>
          </a:bodyPr>
          <a:lstStyle/>
          <a:p>
            <a:pPr>
              <a:lnSpc>
                <a:spcPts val="1994"/>
              </a:lnSpc>
              <a:spcBef>
                <a:spcPts val="0"/>
              </a:spcBef>
              <a:spcAft>
                <a:spcPts val="0"/>
              </a:spcAft>
              <a:defRPr sz="1635" b="0">
                <a:solidFill>
                  <a:srgbClr val="A9AFBE"/>
                </a:solidFill>
                <a:latin typeface="DejaVu Sans"/>
              </a:defRPr>
            </a:pPr>
            <a:r>
              <a:t>Эрх бүхий байгууллага</a:t>
            </a:r>
          </a:p>
          <a:p>
            <a:pPr>
              <a:lnSpc>
                <a:spcPts val="1994"/>
              </a:lnSpc>
              <a:spcBef>
                <a:spcPts val="0"/>
              </a:spcBef>
              <a:spcAft>
                <a:spcPts val="0"/>
              </a:spcAft>
              <a:defRPr sz="1635" b="0">
                <a:solidFill>
                  <a:srgbClr val="A9AFBE"/>
                </a:solidFill>
                <a:latin typeface="DejaVu Sans"/>
              </a:defRPr>
            </a:pPr>
            <a:r>
              <a:t>ХЭҮК, хууль зүйн</a:t>
            </a:r>
          </a:p>
          <a:p>
            <a:pPr>
              <a:lnSpc>
                <a:spcPts val="1994"/>
              </a:lnSpc>
              <a:spcBef>
                <a:spcPts val="0"/>
              </a:spcBef>
              <a:spcAft>
                <a:spcPts val="0"/>
              </a:spcAft>
              <a:defRPr sz="1635" b="0">
                <a:solidFill>
                  <a:srgbClr val="A9AFBE"/>
                </a:solidFill>
                <a:latin typeface="DejaVu Sans"/>
              </a:defRPr>
            </a:pPr>
            <a:r>
              <a:t>зөвлөгөө</a:t>
            </a:r>
          </a:p>
        </p:txBody>
      </p:sp>
      <p:sp>
        <p:nvSpPr>
          <p:cNvPr id="20" name="Oval 19"/>
          <p:cNvSpPr/>
          <p:nvPr/>
        </p:nvSpPr>
        <p:spPr>
          <a:xfrm>
            <a:off x="9267825" y="2676525"/>
            <a:ext cx="666750" cy="666750"/>
          </a:xfrm>
          <a:prstGeom prst="ellipse">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67825" y="2762250"/>
            <a:ext cx="666750" cy="457200"/>
          </a:xfrm>
          <a:prstGeom prst="rect">
            <a:avLst/>
          </a:prstGeom>
          <a:noFill/>
        </p:spPr>
        <p:txBody>
          <a:bodyPr wrap="none" lIns="0" tIns="0" rIns="0" bIns="0">
            <a:spAutoFit/>
          </a:bodyPr>
          <a:lstStyle/>
          <a:p>
            <a:pPr algn="ctr">
              <a:lnSpc>
                <a:spcPts val="2745"/>
              </a:lnSpc>
              <a:spcBef>
                <a:spcPts val="0"/>
              </a:spcBef>
              <a:spcAft>
                <a:spcPts val="0"/>
              </a:spcAft>
              <a:defRPr sz="2250" b="1">
                <a:solidFill>
                  <a:srgbClr val="101114"/>
                </a:solidFill>
                <a:latin typeface="Open Sans Condensed"/>
              </a:defRPr>
            </a:pPr>
            <a:r>
              <a:t>04</a:t>
            </a:r>
          </a:p>
        </p:txBody>
      </p:sp>
      <p:sp>
        <p:nvSpPr>
          <p:cNvPr id="22" name="TextBox 21"/>
          <p:cNvSpPr txBox="1"/>
          <p:nvPr/>
        </p:nvSpPr>
        <p:spPr>
          <a:xfrm>
            <a:off x="9039225" y="3752850"/>
            <a:ext cx="2581275" cy="733425"/>
          </a:xfrm>
          <a:prstGeom prst="rect">
            <a:avLst/>
          </a:prstGeom>
          <a:noFill/>
        </p:spPr>
        <p:txBody>
          <a:bodyPr wrap="none" lIns="0" tIns="0" rIns="0" bIns="0">
            <a:spAutoFit/>
          </a:bodyPr>
          <a:lstStyle/>
          <a:p>
            <a:pPr>
              <a:lnSpc>
                <a:spcPts val="2928"/>
              </a:lnSpc>
              <a:spcBef>
                <a:spcPts val="0"/>
              </a:spcBef>
              <a:spcAft>
                <a:spcPts val="0"/>
              </a:spcAft>
              <a:defRPr sz="2400" b="1">
                <a:solidFill>
                  <a:srgbClr val="F7F6F1"/>
                </a:solidFill>
                <a:latin typeface="Open Sans Condensed"/>
              </a:defRPr>
            </a:pPr>
            <a:r>
              <a:t>Шүүхээр хамгаалах</a:t>
            </a:r>
          </a:p>
        </p:txBody>
      </p:sp>
      <p:sp>
        <p:nvSpPr>
          <p:cNvPr id="23" name="TextBox 22"/>
          <p:cNvSpPr txBox="1"/>
          <p:nvPr/>
        </p:nvSpPr>
        <p:spPr>
          <a:xfrm>
            <a:off x="9039225" y="4705350"/>
            <a:ext cx="2562225" cy="895350"/>
          </a:xfrm>
          <a:prstGeom prst="rect">
            <a:avLst/>
          </a:prstGeom>
          <a:noFill/>
        </p:spPr>
        <p:txBody>
          <a:bodyPr wrap="none" lIns="0" tIns="0" rIns="0" bIns="0">
            <a:spAutoFit/>
          </a:bodyPr>
          <a:lstStyle/>
          <a:p>
            <a:pPr>
              <a:lnSpc>
                <a:spcPts val="1775"/>
              </a:lnSpc>
              <a:spcBef>
                <a:spcPts val="0"/>
              </a:spcBef>
              <a:spcAft>
                <a:spcPts val="0"/>
              </a:spcAft>
              <a:defRPr sz="1455" b="0">
                <a:solidFill>
                  <a:srgbClr val="A9AFBE"/>
                </a:solidFill>
                <a:latin typeface="DejaVu Sans"/>
              </a:defRPr>
            </a:pPr>
            <a:r>
              <a:t>Маргааны харьяаллыг</a:t>
            </a:r>
          </a:p>
          <a:p>
            <a:pPr>
              <a:lnSpc>
                <a:spcPts val="1775"/>
              </a:lnSpc>
              <a:spcBef>
                <a:spcPts val="0"/>
              </a:spcBef>
              <a:spcAft>
                <a:spcPts val="0"/>
              </a:spcAft>
              <a:defRPr sz="1455" b="0">
                <a:solidFill>
                  <a:srgbClr val="A9AFBE"/>
                </a:solidFill>
                <a:latin typeface="DejaVu Sans"/>
              </a:defRPr>
            </a:pPr>
            <a:r>
              <a:t>тогтоох</a:t>
            </a:r>
          </a:p>
          <a:p>
            <a:pPr>
              <a:lnSpc>
                <a:spcPts val="1775"/>
              </a:lnSpc>
              <a:spcBef>
                <a:spcPts val="0"/>
              </a:spcBef>
              <a:spcAft>
                <a:spcPts val="0"/>
              </a:spcAft>
              <a:defRPr sz="1455" b="0">
                <a:solidFill>
                  <a:srgbClr val="A9AFBE"/>
                </a:solidFill>
                <a:latin typeface="DejaVu Sans"/>
              </a:defRPr>
            </a:pPr>
            <a:r>
              <a:t>Хугацаа, журмыг нягтлах</a:t>
            </a:r>
          </a:p>
        </p:txBody>
      </p:sp>
      <p:sp>
        <p:nvSpPr>
          <p:cNvPr id="24" name="Rectangle 23"/>
          <p:cNvSpPr/>
          <p:nvPr/>
        </p:nvSpPr>
        <p:spPr>
          <a:xfrm>
            <a:off x="476250" y="1943100"/>
            <a:ext cx="3019276" cy="25717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0550" y="1990725"/>
            <a:ext cx="2790676"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F7F6F1"/>
                </a:solidFill>
                <a:latin typeface="DejaVu Sans Mono"/>
              </a:defRPr>
            </a:pPr>
            <a:r>
              <a:t>ҮНДСЭН ХУУЛЬ / 1992.01.13 / 16.12, 16.14</a:t>
            </a:r>
          </a:p>
        </p:txBody>
      </p:sp>
      <p:sp>
        <p:nvSpPr>
          <p:cNvPr id="26" name="Rectangle 25"/>
          <p:cNvSpPr/>
          <p:nvPr/>
        </p:nvSpPr>
        <p:spPr>
          <a:xfrm>
            <a:off x="419100" y="5895975"/>
            <a:ext cx="11353800" cy="352425"/>
          </a:xfrm>
          <a:prstGeom prst="rect">
            <a:avLst/>
          </a:prstGeom>
          <a:solidFill>
            <a:srgbClr val="16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F7F6F1"/>
                </a:solidFill>
                <a:latin typeface="DejaVu Sans"/>
              </a:defRPr>
            </a:pPr>
            <a:r>
              <a:t>Үндсэн хууль • 1992.01.13: 16.12, 16.14. Гомдлын төрөл бүрийн журам, хугацаа өөр.</a:t>
            </a:r>
          </a:p>
        </p:txBody>
      </p:sp>
      <p:cxnSp>
        <p:nvCxnSpPr>
          <p:cNvPr id="28" name="Connector 27"/>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ЭХ / ҮХ</a:t>
            </a:r>
          </a:p>
        </p:txBody>
      </p:sp>
      <p:sp>
        <p:nvSpPr>
          <p:cNvPr id="30" name="TextBox 29"/>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27—30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61722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47675" y="342900"/>
            <a:ext cx="1230101" cy="25717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1975" y="390525"/>
            <a:ext cx="1001501" cy="190500"/>
          </a:xfrm>
          <a:prstGeom prst="rect">
            <a:avLst/>
          </a:prstGeom>
          <a:noFill/>
        </p:spPr>
        <p:txBody>
          <a:bodyPr wrap="none" lIns="0" tIns="0" rIns="0" bIns="0">
            <a:spAutoFit/>
          </a:bodyPr>
          <a:lstStyle/>
          <a:p>
            <a:pPr>
              <a:lnSpc>
                <a:spcPts val="1098"/>
              </a:lnSpc>
              <a:spcBef>
                <a:spcPts val="0"/>
              </a:spcBef>
              <a:spcAft>
                <a:spcPts val="0"/>
              </a:spcAft>
              <a:defRPr sz="900" b="0">
                <a:solidFill>
                  <a:srgbClr val="101114"/>
                </a:solidFill>
                <a:latin typeface="DejaVu Sans Mono"/>
              </a:defRPr>
            </a:pPr>
            <a:r>
              <a:t>ДҮГНЭЛТ / МУИС</a:t>
            </a:r>
          </a:p>
        </p:txBody>
      </p:sp>
      <p:sp>
        <p:nvSpPr>
          <p:cNvPr id="6" name="TextBox 5"/>
          <p:cNvSpPr txBox="1"/>
          <p:nvPr/>
        </p:nvSpPr>
        <p:spPr>
          <a:xfrm>
            <a:off x="428625" y="981075"/>
            <a:ext cx="5438775" cy="1933575"/>
          </a:xfrm>
          <a:prstGeom prst="rect">
            <a:avLst/>
          </a:prstGeom>
          <a:noFill/>
        </p:spPr>
        <p:txBody>
          <a:bodyPr wrap="none" lIns="0" tIns="0" rIns="0" bIns="0">
            <a:spAutoFit/>
          </a:bodyPr>
          <a:lstStyle/>
          <a:p>
            <a:pPr>
              <a:lnSpc>
                <a:spcPts val="5069"/>
              </a:lnSpc>
              <a:spcBef>
                <a:spcPts val="0"/>
              </a:spcBef>
              <a:spcAft>
                <a:spcPts val="0"/>
              </a:spcAft>
              <a:defRPr sz="4155" b="1">
                <a:solidFill>
                  <a:srgbClr val="F7F6F1"/>
                </a:solidFill>
                <a:latin typeface="Open Sans Condensed"/>
              </a:defRPr>
            </a:pPr>
            <a:r>
              <a:t>НЭР ТӨРТЭЙ</a:t>
            </a:r>
          </a:p>
          <a:p>
            <a:pPr>
              <a:lnSpc>
                <a:spcPts val="5069"/>
              </a:lnSpc>
              <a:spcBef>
                <a:spcPts val="0"/>
              </a:spcBef>
              <a:spcAft>
                <a:spcPts val="0"/>
              </a:spcAft>
              <a:defRPr sz="4155" b="1">
                <a:solidFill>
                  <a:srgbClr val="F7F6F1"/>
                </a:solidFill>
                <a:latin typeface="Open Sans Condensed"/>
              </a:defRPr>
            </a:pPr>
            <a:r>
              <a:t>АМЬДРАЛ БОЛ</a:t>
            </a:r>
          </a:p>
          <a:p>
            <a:pPr>
              <a:lnSpc>
                <a:spcPts val="5069"/>
              </a:lnSpc>
              <a:spcBef>
                <a:spcPts val="0"/>
              </a:spcBef>
              <a:spcAft>
                <a:spcPts val="0"/>
              </a:spcAft>
              <a:defRPr sz="4155" b="1">
                <a:solidFill>
                  <a:srgbClr val="F7F6F1"/>
                </a:solidFill>
                <a:latin typeface="Open Sans Condensed"/>
              </a:defRPr>
            </a:pPr>
            <a:r>
              <a:t>ГОЛ ШАЛГУУР.</a:t>
            </a:r>
          </a:p>
        </p:txBody>
      </p:sp>
      <p:cxnSp>
        <p:nvCxnSpPr>
          <p:cNvPr id="7" name="Connector 6"/>
          <p:cNvCxnSpPr/>
          <p:nvPr/>
        </p:nvCxnSpPr>
        <p:spPr>
          <a:xfrm>
            <a:off x="457200" y="3209925"/>
            <a:ext cx="5238750" cy="0"/>
          </a:xfrm>
          <a:prstGeom prst="line">
            <a:avLst/>
          </a:prstGeom>
          <a:ln w="9525">
            <a:solidFill>
              <a:srgbClr val="42485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3352800"/>
            <a:ext cx="542925" cy="542925"/>
          </a:xfrm>
          <a:prstGeom prst="rect">
            <a:avLst/>
          </a:prstGeom>
          <a:noFill/>
        </p:spPr>
        <p:txBody>
          <a:bodyPr wrap="none" lIns="0" tIns="0" rIns="0" bIns="0">
            <a:spAutoFit/>
          </a:bodyPr>
          <a:lstStyle/>
          <a:p>
            <a:pPr>
              <a:lnSpc>
                <a:spcPts val="3385"/>
              </a:lnSpc>
              <a:spcBef>
                <a:spcPts val="0"/>
              </a:spcBef>
              <a:spcAft>
                <a:spcPts val="0"/>
              </a:spcAft>
              <a:defRPr sz="2775" b="1">
                <a:solidFill>
                  <a:srgbClr val="F5FF58"/>
                </a:solidFill>
                <a:latin typeface="Open Sans Condensed"/>
              </a:defRPr>
            </a:pPr>
            <a:r>
              <a:t>01</a:t>
            </a:r>
          </a:p>
        </p:txBody>
      </p:sp>
      <p:sp>
        <p:nvSpPr>
          <p:cNvPr id="9" name="TextBox 8"/>
          <p:cNvSpPr txBox="1"/>
          <p:nvPr/>
        </p:nvSpPr>
        <p:spPr>
          <a:xfrm>
            <a:off x="1123950" y="3333750"/>
            <a:ext cx="4572000" cy="285750"/>
          </a:xfrm>
          <a:prstGeom prst="rect">
            <a:avLst/>
          </a:prstGeom>
          <a:noFill/>
        </p:spPr>
        <p:txBody>
          <a:bodyPr wrap="none" lIns="0" tIns="0" rIns="0" bIns="0">
            <a:spAutoFit/>
          </a:bodyPr>
          <a:lstStyle/>
          <a:p>
            <a:pPr>
              <a:lnSpc>
                <a:spcPts val="2013"/>
              </a:lnSpc>
              <a:spcBef>
                <a:spcPts val="0"/>
              </a:spcBef>
              <a:spcAft>
                <a:spcPts val="0"/>
              </a:spcAft>
              <a:defRPr sz="1650" b="1">
                <a:solidFill>
                  <a:srgbClr val="F7F6F1"/>
                </a:solidFill>
                <a:latin typeface="DejaVu Sans"/>
              </a:defRPr>
            </a:pPr>
            <a:r>
              <a:t>Эрх тэгш</a:t>
            </a:r>
          </a:p>
        </p:txBody>
      </p:sp>
      <p:sp>
        <p:nvSpPr>
          <p:cNvPr id="10" name="TextBox 9"/>
          <p:cNvSpPr txBox="1"/>
          <p:nvPr/>
        </p:nvSpPr>
        <p:spPr>
          <a:xfrm>
            <a:off x="1123950" y="3676649"/>
            <a:ext cx="4572000" cy="419100"/>
          </a:xfrm>
          <a:prstGeom prst="rect">
            <a:avLst/>
          </a:prstGeom>
          <a:noFill/>
        </p:spPr>
        <p:txBody>
          <a:bodyPr wrap="none" lIns="0" tIns="0" rIns="0" bIns="0">
            <a:spAutoFit/>
          </a:bodyPr>
          <a:lstStyle/>
          <a:p>
            <a:pPr>
              <a:lnSpc>
                <a:spcPts val="1409"/>
              </a:lnSpc>
              <a:spcBef>
                <a:spcPts val="0"/>
              </a:spcBef>
              <a:spcAft>
                <a:spcPts val="0"/>
              </a:spcAft>
              <a:defRPr sz="1155" b="0">
                <a:solidFill>
                  <a:srgbClr val="F7F6F1"/>
                </a:solidFill>
                <a:latin typeface="DejaVu Sans"/>
              </a:defRPr>
            </a:pPr>
            <a:r>
              <a:t>Орлого бага байх нь хүний эрх, нэр төрийг бууруулахгүй.</a:t>
            </a:r>
          </a:p>
          <a:p>
            <a:pPr>
              <a:lnSpc>
                <a:spcPts val="1409"/>
              </a:lnSpc>
              <a:spcBef>
                <a:spcPts val="0"/>
              </a:spcBef>
              <a:spcAft>
                <a:spcPts val="0"/>
              </a:spcAft>
              <a:defRPr sz="1155" b="0">
                <a:solidFill>
                  <a:srgbClr val="F7F6F1"/>
                </a:solidFill>
                <a:latin typeface="DejaVu Sans"/>
              </a:defRPr>
            </a:pPr>
            <a:r>
              <a:t>Ялгаварлалгүй байдал бол суурь шаардлага.</a:t>
            </a:r>
          </a:p>
        </p:txBody>
      </p:sp>
      <p:cxnSp>
        <p:nvCxnSpPr>
          <p:cNvPr id="11" name="Connector 10"/>
          <p:cNvCxnSpPr/>
          <p:nvPr/>
        </p:nvCxnSpPr>
        <p:spPr>
          <a:xfrm>
            <a:off x="457200" y="4133849"/>
            <a:ext cx="5238750" cy="0"/>
          </a:xfrm>
          <a:prstGeom prst="line">
            <a:avLst/>
          </a:prstGeom>
          <a:ln w="9525">
            <a:solidFill>
              <a:srgbClr val="42485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7200" y="4276725"/>
            <a:ext cx="542925" cy="542925"/>
          </a:xfrm>
          <a:prstGeom prst="rect">
            <a:avLst/>
          </a:prstGeom>
          <a:noFill/>
        </p:spPr>
        <p:txBody>
          <a:bodyPr wrap="none" lIns="0" tIns="0" rIns="0" bIns="0">
            <a:spAutoFit/>
          </a:bodyPr>
          <a:lstStyle/>
          <a:p>
            <a:pPr>
              <a:lnSpc>
                <a:spcPts val="3385"/>
              </a:lnSpc>
              <a:spcBef>
                <a:spcPts val="0"/>
              </a:spcBef>
              <a:spcAft>
                <a:spcPts val="0"/>
              </a:spcAft>
              <a:defRPr sz="2775" b="1">
                <a:solidFill>
                  <a:srgbClr val="F5FF58"/>
                </a:solidFill>
                <a:latin typeface="Open Sans Condensed"/>
              </a:defRPr>
            </a:pPr>
            <a:r>
              <a:t>02</a:t>
            </a:r>
          </a:p>
        </p:txBody>
      </p:sp>
      <p:sp>
        <p:nvSpPr>
          <p:cNvPr id="13" name="TextBox 12"/>
          <p:cNvSpPr txBox="1"/>
          <p:nvPr/>
        </p:nvSpPr>
        <p:spPr>
          <a:xfrm>
            <a:off x="1123950" y="4257675"/>
            <a:ext cx="4572000" cy="285750"/>
          </a:xfrm>
          <a:prstGeom prst="rect">
            <a:avLst/>
          </a:prstGeom>
          <a:noFill/>
        </p:spPr>
        <p:txBody>
          <a:bodyPr wrap="none" lIns="0" tIns="0" rIns="0" bIns="0">
            <a:spAutoFit/>
          </a:bodyPr>
          <a:lstStyle/>
          <a:p>
            <a:pPr>
              <a:lnSpc>
                <a:spcPts val="2013"/>
              </a:lnSpc>
              <a:spcBef>
                <a:spcPts val="0"/>
              </a:spcBef>
              <a:spcAft>
                <a:spcPts val="0"/>
              </a:spcAft>
              <a:defRPr sz="1650" b="1">
                <a:solidFill>
                  <a:srgbClr val="F7F6F1"/>
                </a:solidFill>
                <a:latin typeface="DejaVu Sans"/>
              </a:defRPr>
            </a:pPr>
            <a:r>
              <a:t>Бодит хүртээмж</a:t>
            </a:r>
          </a:p>
        </p:txBody>
      </p:sp>
      <p:sp>
        <p:nvSpPr>
          <p:cNvPr id="14" name="TextBox 13"/>
          <p:cNvSpPr txBox="1"/>
          <p:nvPr/>
        </p:nvSpPr>
        <p:spPr>
          <a:xfrm>
            <a:off x="1123950" y="4600575"/>
            <a:ext cx="4572000" cy="419100"/>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Хуулийн заалт нь төсөв, үйлчилгээ, мэдээлэл, орчны</a:t>
            </a:r>
          </a:p>
          <a:p>
            <a:pPr>
              <a:lnSpc>
                <a:spcPts val="1555"/>
              </a:lnSpc>
              <a:spcBef>
                <a:spcPts val="0"/>
              </a:spcBef>
              <a:spcAft>
                <a:spcPts val="0"/>
              </a:spcAft>
              <a:defRPr sz="1275" b="0">
                <a:solidFill>
                  <a:srgbClr val="F7F6F1"/>
                </a:solidFill>
                <a:latin typeface="DejaVu Sans"/>
              </a:defRPr>
            </a:pPr>
            <a:r>
              <a:t>хүртээмжээр дамжин бодит боломж болно.</a:t>
            </a:r>
          </a:p>
        </p:txBody>
      </p:sp>
      <p:cxnSp>
        <p:nvCxnSpPr>
          <p:cNvPr id="15" name="Connector 14"/>
          <p:cNvCxnSpPr/>
          <p:nvPr/>
        </p:nvCxnSpPr>
        <p:spPr>
          <a:xfrm>
            <a:off x="457200" y="5057775"/>
            <a:ext cx="5238750" cy="0"/>
          </a:xfrm>
          <a:prstGeom prst="line">
            <a:avLst/>
          </a:prstGeom>
          <a:ln w="9525">
            <a:solidFill>
              <a:srgbClr val="4248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5200650"/>
            <a:ext cx="542925" cy="542925"/>
          </a:xfrm>
          <a:prstGeom prst="rect">
            <a:avLst/>
          </a:prstGeom>
          <a:noFill/>
        </p:spPr>
        <p:txBody>
          <a:bodyPr wrap="none" lIns="0" tIns="0" rIns="0" bIns="0">
            <a:spAutoFit/>
          </a:bodyPr>
          <a:lstStyle/>
          <a:p>
            <a:pPr>
              <a:lnSpc>
                <a:spcPts val="3385"/>
              </a:lnSpc>
              <a:spcBef>
                <a:spcPts val="0"/>
              </a:spcBef>
              <a:spcAft>
                <a:spcPts val="0"/>
              </a:spcAft>
              <a:defRPr sz="2775" b="1">
                <a:solidFill>
                  <a:srgbClr val="F5FF58"/>
                </a:solidFill>
                <a:latin typeface="Open Sans Condensed"/>
              </a:defRPr>
            </a:pPr>
            <a:r>
              <a:t>03</a:t>
            </a:r>
          </a:p>
        </p:txBody>
      </p:sp>
      <p:sp>
        <p:nvSpPr>
          <p:cNvPr id="17" name="TextBox 16"/>
          <p:cNvSpPr txBox="1"/>
          <p:nvPr/>
        </p:nvSpPr>
        <p:spPr>
          <a:xfrm>
            <a:off x="1123950" y="5181600"/>
            <a:ext cx="4572000" cy="285750"/>
          </a:xfrm>
          <a:prstGeom prst="rect">
            <a:avLst/>
          </a:prstGeom>
          <a:noFill/>
        </p:spPr>
        <p:txBody>
          <a:bodyPr wrap="none" lIns="0" tIns="0" rIns="0" bIns="0">
            <a:spAutoFit/>
          </a:bodyPr>
          <a:lstStyle/>
          <a:p>
            <a:pPr>
              <a:lnSpc>
                <a:spcPts val="2013"/>
              </a:lnSpc>
              <a:spcBef>
                <a:spcPts val="0"/>
              </a:spcBef>
              <a:spcAft>
                <a:spcPts val="0"/>
              </a:spcAft>
              <a:defRPr sz="1650" b="1">
                <a:solidFill>
                  <a:srgbClr val="F7F6F1"/>
                </a:solidFill>
                <a:latin typeface="DejaVu Sans"/>
              </a:defRPr>
            </a:pPr>
            <a:r>
              <a:t>Хариуцлага</a:t>
            </a:r>
          </a:p>
        </p:txBody>
      </p:sp>
      <p:sp>
        <p:nvSpPr>
          <p:cNvPr id="18" name="TextBox 17"/>
          <p:cNvSpPr txBox="1"/>
          <p:nvPr/>
        </p:nvSpPr>
        <p:spPr>
          <a:xfrm>
            <a:off x="1123950" y="5524500"/>
            <a:ext cx="4572000" cy="419100"/>
          </a:xfrm>
          <a:prstGeom prst="rect">
            <a:avLst/>
          </a:prstGeom>
          <a:noFill/>
        </p:spPr>
        <p:txBody>
          <a:bodyPr wrap="none" lIns="0" tIns="0" rIns="0" bIns="0">
            <a:spAutoFit/>
          </a:bodyPr>
          <a:lstStyle/>
          <a:p>
            <a:pPr>
              <a:lnSpc>
                <a:spcPts val="1555"/>
              </a:lnSpc>
              <a:spcBef>
                <a:spcPts val="0"/>
              </a:spcBef>
              <a:spcAft>
                <a:spcPts val="0"/>
              </a:spcAft>
              <a:defRPr sz="1275" b="0">
                <a:solidFill>
                  <a:srgbClr val="F7F6F1"/>
                </a:solidFill>
                <a:latin typeface="DejaVu Sans"/>
              </a:defRPr>
            </a:pPr>
            <a:r>
              <a:t>Тооцоолол ил тод, шийдвэр үндэслэлтэй, гомдол</a:t>
            </a:r>
          </a:p>
          <a:p>
            <a:pPr>
              <a:lnSpc>
                <a:spcPts val="1555"/>
              </a:lnSpc>
              <a:spcBef>
                <a:spcPts val="0"/>
              </a:spcBef>
              <a:spcAft>
                <a:spcPts val="0"/>
              </a:spcAft>
              <a:defRPr sz="1275" b="0">
                <a:solidFill>
                  <a:srgbClr val="F7F6F1"/>
                </a:solidFill>
                <a:latin typeface="DejaVu Sans"/>
              </a:defRPr>
            </a:pPr>
            <a:r>
              <a:t>хянуулах боломжтой үед хамгаалалт үр дүнтэй.</a:t>
            </a:r>
          </a:p>
        </p:txBody>
      </p:sp>
      <p:sp>
        <p:nvSpPr>
          <p:cNvPr id="19" name="TextBox 18"/>
          <p:cNvSpPr txBox="1"/>
          <p:nvPr/>
        </p:nvSpPr>
        <p:spPr>
          <a:xfrm>
            <a:off x="6581775" y="5810250"/>
            <a:ext cx="5143500" cy="619125"/>
          </a:xfrm>
          <a:prstGeom prst="rect">
            <a:avLst/>
          </a:prstGeom>
          <a:noFill/>
        </p:spPr>
        <p:txBody>
          <a:bodyPr wrap="none" lIns="0" tIns="0" rIns="0" bIns="0">
            <a:spAutoFit/>
          </a:bodyPr>
          <a:lstStyle/>
          <a:p>
            <a:pPr>
              <a:lnSpc>
                <a:spcPts val="2433"/>
              </a:lnSpc>
              <a:spcBef>
                <a:spcPts val="0"/>
              </a:spcBef>
              <a:spcAft>
                <a:spcPts val="0"/>
              </a:spcAft>
              <a:defRPr sz="1995" b="1">
                <a:solidFill>
                  <a:srgbClr val="F5FF58"/>
                </a:solidFill>
                <a:latin typeface="Open Sans Condensed"/>
              </a:defRPr>
            </a:pPr>
            <a:r>
              <a:t>ЭРХ ТЭГШ.</a:t>
            </a:r>
          </a:p>
          <a:p>
            <a:pPr>
              <a:lnSpc>
                <a:spcPts val="2433"/>
              </a:lnSpc>
              <a:spcBef>
                <a:spcPts val="0"/>
              </a:spcBef>
              <a:spcAft>
                <a:spcPts val="0"/>
              </a:spcAft>
              <a:defRPr sz="1995" b="1">
                <a:solidFill>
                  <a:srgbClr val="F5FF58"/>
                </a:solidFill>
                <a:latin typeface="Open Sans Condensed"/>
              </a:defRPr>
            </a:pPr>
            <a:r>
              <a:t>БОЛОМЖ ХҮРТЭЭМЖТЭЙ.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164BFF"/>
                </a:solidFill>
                <a:latin typeface="DejaVu Sans Mono"/>
              </a:defRPr>
            </a:pPr>
            <a:r>
              <a:t>09 / ЭХ СУРВАЛЖ • 1/2</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101114"/>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758"/>
              </a:lnSpc>
              <a:spcBef>
                <a:spcPts val="0"/>
              </a:spcBef>
              <a:spcAft>
                <a:spcPts val="0"/>
              </a:spcAft>
              <a:defRPr sz="3900" b="1">
                <a:solidFill>
                  <a:srgbClr val="101114"/>
                </a:solidFill>
                <a:latin typeface="Open Sans Condensed"/>
              </a:defRPr>
            </a:pPr>
            <a:r>
              <a:t>ЭХ СУРВАЛЖ / ХУУЛЬ, КОНВЕНЦ</a:t>
            </a:r>
          </a:p>
        </p:txBody>
      </p:sp>
      <p:sp>
        <p:nvSpPr>
          <p:cNvPr id="7" name="TextBox 6"/>
          <p:cNvSpPr txBox="1"/>
          <p:nvPr/>
        </p:nvSpPr>
        <p:spPr>
          <a:xfrm>
            <a:off x="457200" y="19716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ҮХ</a:t>
            </a:r>
          </a:p>
        </p:txBody>
      </p:sp>
      <p:sp>
        <p:nvSpPr>
          <p:cNvPr id="8" name="TextBox 7"/>
          <p:cNvSpPr txBox="1"/>
          <p:nvPr/>
        </p:nvSpPr>
        <p:spPr>
          <a:xfrm>
            <a:off x="1352550" y="19716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Монгол Улсын Үндсэн хууль — 1992.01.13</a:t>
            </a:r>
          </a:p>
        </p:txBody>
      </p:sp>
      <p:cxnSp>
        <p:nvCxnSpPr>
          <p:cNvPr id="9" name="Connector 8"/>
          <p:cNvCxnSpPr/>
          <p:nvPr/>
        </p:nvCxnSpPr>
        <p:spPr>
          <a:xfrm>
            <a:off x="457200" y="25146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0" name="Rectangle 9">
            <a:hlinkClick r:id="rId2"/>
          </p:cNvPr>
          <p:cNvSpPr/>
          <p:nvPr/>
        </p:nvSpPr>
        <p:spPr>
          <a:xfrm>
            <a:off x="457200" y="19716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5812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ХТ</a:t>
            </a:r>
          </a:p>
        </p:txBody>
      </p:sp>
      <p:sp>
        <p:nvSpPr>
          <p:cNvPr id="12" name="TextBox 11"/>
          <p:cNvSpPr txBox="1"/>
          <p:nvPr/>
        </p:nvSpPr>
        <p:spPr>
          <a:xfrm>
            <a:off x="1352550" y="25812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Хөдөлмөрийн тухай хууль /шинэчилсэн найруулга/ —</a:t>
            </a:r>
          </a:p>
          <a:p>
            <a:pPr>
              <a:lnSpc>
                <a:spcPts val="1464"/>
              </a:lnSpc>
              <a:spcBef>
                <a:spcPts val="0"/>
              </a:spcBef>
              <a:spcAft>
                <a:spcPts val="0"/>
              </a:spcAft>
              <a:defRPr sz="1200" b="0">
                <a:solidFill>
                  <a:srgbClr val="101114"/>
                </a:solidFill>
                <a:latin typeface="DejaVu Sans"/>
              </a:defRPr>
            </a:pPr>
            <a:r>
              <a:t>2021.07.02</a:t>
            </a:r>
          </a:p>
        </p:txBody>
      </p:sp>
      <p:cxnSp>
        <p:nvCxnSpPr>
          <p:cNvPr id="13" name="Connector 12"/>
          <p:cNvCxnSpPr/>
          <p:nvPr/>
        </p:nvCxnSpPr>
        <p:spPr>
          <a:xfrm>
            <a:off x="457200" y="31242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4" name="Rectangle 13">
            <a:hlinkClick r:id="rId3"/>
          </p:cNvPr>
          <p:cNvSpPr/>
          <p:nvPr/>
        </p:nvSpPr>
        <p:spPr>
          <a:xfrm>
            <a:off x="457200" y="25812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1908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НХ</a:t>
            </a:r>
          </a:p>
        </p:txBody>
      </p:sp>
      <p:sp>
        <p:nvSpPr>
          <p:cNvPr id="16" name="TextBox 15"/>
          <p:cNvSpPr txBox="1"/>
          <p:nvPr/>
        </p:nvSpPr>
        <p:spPr>
          <a:xfrm>
            <a:off x="1352550" y="31908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Нийгмийн халамжийн тухай хууль /шинэчилсэн</a:t>
            </a:r>
          </a:p>
          <a:p>
            <a:pPr>
              <a:lnSpc>
                <a:spcPts val="1464"/>
              </a:lnSpc>
              <a:spcBef>
                <a:spcPts val="0"/>
              </a:spcBef>
              <a:spcAft>
                <a:spcPts val="0"/>
              </a:spcAft>
              <a:defRPr sz="1200" b="0">
                <a:solidFill>
                  <a:srgbClr val="101114"/>
                </a:solidFill>
                <a:latin typeface="DejaVu Sans"/>
              </a:defRPr>
            </a:pPr>
            <a:r>
              <a:t>найруулга/ — 2012.01.19</a:t>
            </a:r>
          </a:p>
        </p:txBody>
      </p:sp>
      <p:cxnSp>
        <p:nvCxnSpPr>
          <p:cNvPr id="17" name="Connector 16"/>
          <p:cNvCxnSpPr/>
          <p:nvPr/>
        </p:nvCxnSpPr>
        <p:spPr>
          <a:xfrm>
            <a:off x="457200" y="3733799"/>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18" name="Rectangle 17">
            <a:hlinkClick r:id="rId3"/>
          </p:cNvPr>
          <p:cNvSpPr/>
          <p:nvPr/>
        </p:nvSpPr>
        <p:spPr>
          <a:xfrm>
            <a:off x="457200" y="31908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004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БЕХ</a:t>
            </a:r>
          </a:p>
        </p:txBody>
      </p:sp>
      <p:sp>
        <p:nvSpPr>
          <p:cNvPr id="20" name="TextBox 19"/>
          <p:cNvSpPr txBox="1"/>
          <p:nvPr/>
        </p:nvSpPr>
        <p:spPr>
          <a:xfrm>
            <a:off x="1352550" y="38004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Боловсролын ерөнхий хууль /шинэчилсэн найруулга/ —</a:t>
            </a:r>
          </a:p>
          <a:p>
            <a:pPr>
              <a:lnSpc>
                <a:spcPts val="1464"/>
              </a:lnSpc>
              <a:spcBef>
                <a:spcPts val="0"/>
              </a:spcBef>
              <a:spcAft>
                <a:spcPts val="0"/>
              </a:spcAft>
              <a:defRPr sz="1200" b="0">
                <a:solidFill>
                  <a:srgbClr val="101114"/>
                </a:solidFill>
                <a:latin typeface="DejaVu Sans"/>
              </a:defRPr>
            </a:pPr>
            <a:r>
              <a:t>2023.07.07</a:t>
            </a:r>
          </a:p>
        </p:txBody>
      </p:sp>
      <p:cxnSp>
        <p:nvCxnSpPr>
          <p:cNvPr id="21" name="Connector 20"/>
          <p:cNvCxnSpPr/>
          <p:nvPr/>
        </p:nvCxnSpPr>
        <p:spPr>
          <a:xfrm>
            <a:off x="457200" y="43434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2" name="Rectangle 21">
            <a:hlinkClick r:id="rId3"/>
          </p:cNvPr>
          <p:cNvSpPr/>
          <p:nvPr/>
        </p:nvSpPr>
        <p:spPr>
          <a:xfrm>
            <a:off x="457200" y="38004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4100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ХБХ</a:t>
            </a:r>
          </a:p>
        </p:txBody>
      </p:sp>
      <p:sp>
        <p:nvSpPr>
          <p:cNvPr id="24" name="TextBox 23"/>
          <p:cNvSpPr txBox="1"/>
          <p:nvPr/>
        </p:nvSpPr>
        <p:spPr>
          <a:xfrm>
            <a:off x="1352550" y="44100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Хөгжлийн бэрхшээлтэй хүний эрхийн тухай хууль —</a:t>
            </a:r>
          </a:p>
          <a:p>
            <a:pPr>
              <a:lnSpc>
                <a:spcPts val="1464"/>
              </a:lnSpc>
              <a:spcBef>
                <a:spcPts val="0"/>
              </a:spcBef>
              <a:spcAft>
                <a:spcPts val="0"/>
              </a:spcAft>
              <a:defRPr sz="1200" b="0">
                <a:solidFill>
                  <a:srgbClr val="101114"/>
                </a:solidFill>
                <a:latin typeface="DejaVu Sans"/>
              </a:defRPr>
            </a:pPr>
            <a:r>
              <a:t>2016.02.05</a:t>
            </a:r>
          </a:p>
        </p:txBody>
      </p:sp>
      <p:cxnSp>
        <p:nvCxnSpPr>
          <p:cNvPr id="25" name="Connector 24"/>
          <p:cNvCxnSpPr/>
          <p:nvPr/>
        </p:nvCxnSpPr>
        <p:spPr>
          <a:xfrm>
            <a:off x="457200" y="49530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26" name="Rectangle 25">
            <a:hlinkClick r:id="rId3"/>
          </p:cNvPr>
          <p:cNvSpPr/>
          <p:nvPr/>
        </p:nvSpPr>
        <p:spPr>
          <a:xfrm>
            <a:off x="457200" y="44100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0196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UDHR</a:t>
            </a:r>
          </a:p>
        </p:txBody>
      </p:sp>
      <p:sp>
        <p:nvSpPr>
          <p:cNvPr id="28" name="TextBox 27"/>
          <p:cNvSpPr txBox="1"/>
          <p:nvPr/>
        </p:nvSpPr>
        <p:spPr>
          <a:xfrm>
            <a:off x="1352550" y="50196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Хүний эрхийн түгээмэл тунхаглал — 1948.12.10</a:t>
            </a:r>
          </a:p>
        </p:txBody>
      </p:sp>
      <p:cxnSp>
        <p:nvCxnSpPr>
          <p:cNvPr id="29" name="Connector 28"/>
          <p:cNvCxnSpPr/>
          <p:nvPr/>
        </p:nvCxnSpPr>
        <p:spPr>
          <a:xfrm>
            <a:off x="457200" y="55626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0" name="Rectangle 29">
            <a:hlinkClick r:id="rId4"/>
          </p:cNvPr>
          <p:cNvSpPr/>
          <p:nvPr/>
        </p:nvSpPr>
        <p:spPr>
          <a:xfrm>
            <a:off x="457200" y="50196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1250" y="19716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ICESCR</a:t>
            </a:r>
          </a:p>
        </p:txBody>
      </p:sp>
      <p:sp>
        <p:nvSpPr>
          <p:cNvPr id="32" name="TextBox 31"/>
          <p:cNvSpPr txBox="1"/>
          <p:nvPr/>
        </p:nvSpPr>
        <p:spPr>
          <a:xfrm>
            <a:off x="7086600" y="19716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Эдийн засаг, нийгэм, соёлын эрхийн тухай олон улсын</a:t>
            </a:r>
          </a:p>
          <a:p>
            <a:pPr>
              <a:lnSpc>
                <a:spcPts val="1464"/>
              </a:lnSpc>
              <a:spcBef>
                <a:spcPts val="0"/>
              </a:spcBef>
              <a:spcAft>
                <a:spcPts val="0"/>
              </a:spcAft>
              <a:defRPr sz="1200" b="0">
                <a:solidFill>
                  <a:srgbClr val="101114"/>
                </a:solidFill>
                <a:latin typeface="DejaVu Sans"/>
              </a:defRPr>
            </a:pPr>
            <a:r>
              <a:t>пакт — 1966.12.16; хүчин төгөлдөр: 1976.01.03</a:t>
            </a:r>
          </a:p>
        </p:txBody>
      </p:sp>
      <p:cxnSp>
        <p:nvCxnSpPr>
          <p:cNvPr id="33" name="Connector 32"/>
          <p:cNvCxnSpPr/>
          <p:nvPr/>
        </p:nvCxnSpPr>
        <p:spPr>
          <a:xfrm>
            <a:off x="6191250" y="25146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4" name="Rectangle 33">
            <a:hlinkClick r:id="rId5"/>
          </p:cNvPr>
          <p:cNvSpPr/>
          <p:nvPr/>
        </p:nvSpPr>
        <p:spPr>
          <a:xfrm>
            <a:off x="6191250" y="19716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1250" y="25812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ICCPR</a:t>
            </a:r>
          </a:p>
        </p:txBody>
      </p:sp>
      <p:sp>
        <p:nvSpPr>
          <p:cNvPr id="36" name="TextBox 35"/>
          <p:cNvSpPr txBox="1"/>
          <p:nvPr/>
        </p:nvSpPr>
        <p:spPr>
          <a:xfrm>
            <a:off x="7086600" y="25812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Иргэний болон улс төрийн эрхийн тухай олон улсын пакт</a:t>
            </a:r>
          </a:p>
          <a:p>
            <a:pPr>
              <a:lnSpc>
                <a:spcPts val="1464"/>
              </a:lnSpc>
              <a:spcBef>
                <a:spcPts val="0"/>
              </a:spcBef>
              <a:spcAft>
                <a:spcPts val="0"/>
              </a:spcAft>
              <a:defRPr sz="1200" b="0">
                <a:solidFill>
                  <a:srgbClr val="101114"/>
                </a:solidFill>
                <a:latin typeface="DejaVu Sans"/>
              </a:defRPr>
            </a:pPr>
            <a:r>
              <a:t>— 1966.12.16; хүчин төгөлдөр: 1976.03.23</a:t>
            </a:r>
          </a:p>
        </p:txBody>
      </p:sp>
      <p:cxnSp>
        <p:nvCxnSpPr>
          <p:cNvPr id="37" name="Connector 36"/>
          <p:cNvCxnSpPr/>
          <p:nvPr/>
        </p:nvCxnSpPr>
        <p:spPr>
          <a:xfrm>
            <a:off x="6191250" y="31242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38" name="Rectangle 37">
            <a:hlinkClick r:id="rId6"/>
          </p:cNvPr>
          <p:cNvSpPr/>
          <p:nvPr/>
        </p:nvSpPr>
        <p:spPr>
          <a:xfrm>
            <a:off x="6191250" y="25812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91250" y="31908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CRC</a:t>
            </a:r>
          </a:p>
        </p:txBody>
      </p:sp>
      <p:sp>
        <p:nvSpPr>
          <p:cNvPr id="40" name="TextBox 39"/>
          <p:cNvSpPr txBox="1"/>
          <p:nvPr/>
        </p:nvSpPr>
        <p:spPr>
          <a:xfrm>
            <a:off x="7086600" y="31908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Хүүхдийн эрхийн тухай конвенц — 1989.11.20; хүчин</a:t>
            </a:r>
          </a:p>
          <a:p>
            <a:pPr>
              <a:lnSpc>
                <a:spcPts val="1464"/>
              </a:lnSpc>
              <a:spcBef>
                <a:spcPts val="0"/>
              </a:spcBef>
              <a:spcAft>
                <a:spcPts val="0"/>
              </a:spcAft>
              <a:defRPr sz="1200" b="0">
                <a:solidFill>
                  <a:srgbClr val="101114"/>
                </a:solidFill>
                <a:latin typeface="DejaVu Sans"/>
              </a:defRPr>
            </a:pPr>
            <a:r>
              <a:t>төгөлдөр: 1990.09.02</a:t>
            </a:r>
          </a:p>
        </p:txBody>
      </p:sp>
      <p:cxnSp>
        <p:nvCxnSpPr>
          <p:cNvPr id="41" name="Connector 40"/>
          <p:cNvCxnSpPr/>
          <p:nvPr/>
        </p:nvCxnSpPr>
        <p:spPr>
          <a:xfrm>
            <a:off x="6191250" y="3733799"/>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42" name="Rectangle 41">
            <a:hlinkClick r:id="rId7"/>
          </p:cNvPr>
          <p:cNvSpPr/>
          <p:nvPr/>
        </p:nvSpPr>
        <p:spPr>
          <a:xfrm>
            <a:off x="6191250" y="31908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91250" y="38004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CEDAW</a:t>
            </a:r>
          </a:p>
        </p:txBody>
      </p:sp>
      <p:sp>
        <p:nvSpPr>
          <p:cNvPr id="44" name="TextBox 43"/>
          <p:cNvSpPr txBox="1"/>
          <p:nvPr/>
        </p:nvSpPr>
        <p:spPr>
          <a:xfrm>
            <a:off x="7086600" y="38004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Эмэгтэйчүүдийг алагчлах бүх хэлбэрийг устгах тухай</a:t>
            </a:r>
          </a:p>
          <a:p>
            <a:pPr>
              <a:lnSpc>
                <a:spcPts val="1464"/>
              </a:lnSpc>
              <a:spcBef>
                <a:spcPts val="0"/>
              </a:spcBef>
              <a:spcAft>
                <a:spcPts val="0"/>
              </a:spcAft>
              <a:defRPr sz="1200" b="0">
                <a:solidFill>
                  <a:srgbClr val="101114"/>
                </a:solidFill>
                <a:latin typeface="DejaVu Sans"/>
              </a:defRPr>
            </a:pPr>
            <a:r>
              <a:t>конвенц — 1979.12.18; хүчин төгөлдөр: 1981.09.03</a:t>
            </a:r>
          </a:p>
        </p:txBody>
      </p:sp>
      <p:cxnSp>
        <p:nvCxnSpPr>
          <p:cNvPr id="45" name="Connector 44"/>
          <p:cNvCxnSpPr/>
          <p:nvPr/>
        </p:nvCxnSpPr>
        <p:spPr>
          <a:xfrm>
            <a:off x="6191250" y="43434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46" name="Rectangle 45">
            <a:hlinkClick r:id="rId8"/>
          </p:cNvPr>
          <p:cNvSpPr/>
          <p:nvPr/>
        </p:nvSpPr>
        <p:spPr>
          <a:xfrm>
            <a:off x="6191250" y="38004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1250" y="44100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164BFF"/>
                </a:solidFill>
                <a:latin typeface="DejaVu Sans Mono"/>
              </a:defRPr>
            </a:pPr>
            <a:r>
              <a:t>CRPD</a:t>
            </a:r>
          </a:p>
        </p:txBody>
      </p:sp>
      <p:sp>
        <p:nvSpPr>
          <p:cNvPr id="48" name="TextBox 47"/>
          <p:cNvSpPr txBox="1"/>
          <p:nvPr/>
        </p:nvSpPr>
        <p:spPr>
          <a:xfrm>
            <a:off x="7086600" y="44100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101114"/>
                </a:solidFill>
                <a:latin typeface="DejaVu Sans"/>
              </a:defRPr>
            </a:pPr>
            <a:r>
              <a:t>Хөгжлийн бэрхшээлтэй хүмүүсийн эрхийн тухай конвенц</a:t>
            </a:r>
          </a:p>
          <a:p>
            <a:pPr>
              <a:lnSpc>
                <a:spcPts val="1464"/>
              </a:lnSpc>
              <a:spcBef>
                <a:spcPts val="0"/>
              </a:spcBef>
              <a:spcAft>
                <a:spcPts val="0"/>
              </a:spcAft>
              <a:defRPr sz="1200" b="0">
                <a:solidFill>
                  <a:srgbClr val="101114"/>
                </a:solidFill>
                <a:latin typeface="DejaVu Sans"/>
              </a:defRPr>
            </a:pPr>
            <a:r>
              <a:t>— 2006.12.13; хүчин төгөлдөр: 2008.05.03</a:t>
            </a:r>
          </a:p>
        </p:txBody>
      </p:sp>
      <p:cxnSp>
        <p:nvCxnSpPr>
          <p:cNvPr id="49" name="Connector 48"/>
          <p:cNvCxnSpPr/>
          <p:nvPr/>
        </p:nvCxnSpPr>
        <p:spPr>
          <a:xfrm>
            <a:off x="6191250" y="4953000"/>
            <a:ext cx="5486400" cy="0"/>
          </a:xfrm>
          <a:prstGeom prst="line">
            <a:avLst/>
          </a:prstGeom>
          <a:ln w="9525">
            <a:solidFill>
              <a:srgbClr val="C9CBC8"/>
            </a:solidFill>
          </a:ln>
        </p:spPr>
        <p:style>
          <a:lnRef idx="2">
            <a:schemeClr val="accent1"/>
          </a:lnRef>
          <a:fillRef idx="0">
            <a:schemeClr val="accent1"/>
          </a:fillRef>
          <a:effectRef idx="1">
            <a:schemeClr val="accent1"/>
          </a:effectRef>
          <a:fontRef idx="minor">
            <a:schemeClr val="tx1"/>
          </a:fontRef>
        </p:style>
      </p:cxnSp>
      <p:sp>
        <p:nvSpPr>
          <p:cNvPr id="50" name="Rectangle 49">
            <a:hlinkClick r:id="rId9"/>
          </p:cNvPr>
          <p:cNvSpPr/>
          <p:nvPr/>
        </p:nvSpPr>
        <p:spPr>
          <a:xfrm>
            <a:off x="6191250" y="44100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Албан ёсны эх: legalinfo.mn • ohchr.org. Слайдын тайлбар хэсэгт холбогдох эх сурвалжийн холбоос бий.</a:t>
            </a:r>
          </a:p>
        </p:txBody>
      </p:sp>
      <p:cxnSp>
        <p:nvCxnSpPr>
          <p:cNvPr id="53" name="Connector 52"/>
          <p:cNvCxnSpPr/>
          <p:nvPr/>
        </p:nvCxnSpPr>
        <p:spPr>
          <a:xfrm>
            <a:off x="419100" y="6381750"/>
            <a:ext cx="11353800" cy="0"/>
          </a:xfrm>
          <a:prstGeom prst="line">
            <a:avLst/>
          </a:prstGeom>
          <a:ln w="9525">
            <a:solidFill>
              <a:srgbClr val="CACBC6"/>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666B75"/>
                </a:solidFill>
                <a:latin typeface="DejaVu Sans Mono"/>
              </a:defRPr>
            </a:pPr>
            <a:r>
              <a:t>АЛБАН ЁСНЫ ЭХИЙГ НЭЭХ / НЭР ДЭЭР ДАРНА УУ • ДЭЛГЭРЭНГҮЙ ХОЛБООС: ИЛТГЭГЧИЙН ТАЙЛБАР</a:t>
            </a:r>
          </a:p>
        </p:txBody>
      </p:sp>
      <p:sp>
        <p:nvSpPr>
          <p:cNvPr id="55" name="TextBox 54"/>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666B75"/>
                </a:solidFill>
                <a:latin typeface="DejaVu Sans Mono"/>
              </a:defRPr>
            </a:pPr>
            <a:r>
              <a:t>29—30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 y="238125"/>
            <a:ext cx="8858250" cy="209550"/>
          </a:xfrm>
          <a:prstGeom prst="rect">
            <a:avLst/>
          </a:prstGeom>
          <a:noFill/>
        </p:spPr>
        <p:txBody>
          <a:bodyPr wrap="none" lIns="0" tIns="0" rIns="0" bIns="0">
            <a:spAutoFit/>
          </a:bodyPr>
          <a:lstStyle/>
          <a:p>
            <a:pPr>
              <a:lnSpc>
                <a:spcPts val="1098"/>
              </a:lnSpc>
              <a:spcBef>
                <a:spcPts val="0"/>
              </a:spcBef>
              <a:spcAft>
                <a:spcPts val="0"/>
              </a:spcAft>
              <a:defRPr sz="900" b="0">
                <a:solidFill>
                  <a:srgbClr val="A9AFBE"/>
                </a:solidFill>
                <a:latin typeface="DejaVu Sans Mono"/>
              </a:defRPr>
            </a:pPr>
            <a:r>
              <a:t>09 / ЭХ СУРВАЛЖ • 2/2</a:t>
            </a:r>
          </a:p>
        </p:txBody>
      </p:sp>
      <p:sp>
        <p:nvSpPr>
          <p:cNvPr id="4" name="TextBox 3"/>
          <p:cNvSpPr txBox="1"/>
          <p:nvPr/>
        </p:nvSpPr>
        <p:spPr>
          <a:xfrm>
            <a:off x="10801350" y="238125"/>
            <a:ext cx="962024" cy="209550"/>
          </a:xfrm>
          <a:prstGeom prst="rect">
            <a:avLst/>
          </a:prstGeom>
          <a:noFill/>
        </p:spPr>
        <p:txBody>
          <a:bodyPr wrap="none" lIns="0" tIns="0" rIns="0" bIns="0">
            <a:spAutoFit/>
          </a:bodyPr>
          <a:lstStyle/>
          <a:p>
            <a:pPr algn="r">
              <a:lnSpc>
                <a:spcPts val="1006"/>
              </a:lnSpc>
              <a:spcBef>
                <a:spcPts val="0"/>
              </a:spcBef>
              <a:spcAft>
                <a:spcPts val="0"/>
              </a:spcAft>
              <a:defRPr sz="825" b="0">
                <a:solidFill>
                  <a:srgbClr val="F7F6F1"/>
                </a:solidFill>
                <a:latin typeface="DejaVu Sans Mono"/>
              </a:defRPr>
            </a:pPr>
            <a:r>
              <a:t>МУИС / 2026</a:t>
            </a:r>
          </a:p>
        </p:txBody>
      </p:sp>
      <p:cxnSp>
        <p:nvCxnSpPr>
          <p:cNvPr id="5" name="Connector 4"/>
          <p:cNvCxnSpPr/>
          <p:nvPr/>
        </p:nvCxnSpPr>
        <p:spPr>
          <a:xfrm>
            <a:off x="419100" y="5905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9100" y="790575"/>
            <a:ext cx="11220450" cy="1190625"/>
          </a:xfrm>
          <a:prstGeom prst="rect">
            <a:avLst/>
          </a:prstGeom>
          <a:noFill/>
        </p:spPr>
        <p:txBody>
          <a:bodyPr wrap="none" lIns="0" tIns="0" rIns="0" bIns="0">
            <a:spAutoFit/>
          </a:bodyPr>
          <a:lstStyle/>
          <a:p>
            <a:pPr>
              <a:lnSpc>
                <a:spcPts val="4758"/>
              </a:lnSpc>
              <a:spcBef>
                <a:spcPts val="0"/>
              </a:spcBef>
              <a:spcAft>
                <a:spcPts val="0"/>
              </a:spcAft>
              <a:defRPr sz="3900" b="1">
                <a:solidFill>
                  <a:srgbClr val="F7F6F1"/>
                </a:solidFill>
                <a:latin typeface="Open Sans Condensed"/>
              </a:defRPr>
            </a:pPr>
            <a:r>
              <a:t>ЭХ СУРВАЛЖ / КЕЙС, СУДАЛГАА</a:t>
            </a:r>
          </a:p>
        </p:txBody>
      </p:sp>
      <p:sp>
        <p:nvSpPr>
          <p:cNvPr id="7" name="TextBox 6"/>
          <p:cNvSpPr txBox="1"/>
          <p:nvPr/>
        </p:nvSpPr>
        <p:spPr>
          <a:xfrm>
            <a:off x="457200" y="19716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POV</a:t>
            </a:r>
          </a:p>
        </p:txBody>
      </p:sp>
      <p:sp>
        <p:nvSpPr>
          <p:cNvPr id="8" name="TextBox 7"/>
          <p:cNvSpPr txBox="1"/>
          <p:nvPr/>
        </p:nvSpPr>
        <p:spPr>
          <a:xfrm>
            <a:off x="1352550" y="19716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ҮСХ, Дэлхийн банк: Mongolia Poverty Update 2022, 2024</a:t>
            </a:r>
          </a:p>
          <a:p>
            <a:pPr>
              <a:lnSpc>
                <a:spcPts val="1464"/>
              </a:lnSpc>
              <a:spcBef>
                <a:spcPts val="0"/>
              </a:spcBef>
              <a:spcAft>
                <a:spcPts val="0"/>
              </a:spcAft>
              <a:defRPr sz="1200" b="0">
                <a:solidFill>
                  <a:srgbClr val="F7F6F1"/>
                </a:solidFill>
                <a:latin typeface="DejaVu Sans"/>
              </a:defRPr>
            </a:pPr>
            <a:r>
              <a:t>онд нийтэлсэн; үндэсний ядуурлын түвшин</a:t>
            </a:r>
          </a:p>
        </p:txBody>
      </p:sp>
      <p:cxnSp>
        <p:nvCxnSpPr>
          <p:cNvPr id="9" name="Connector 8"/>
          <p:cNvCxnSpPr/>
          <p:nvPr/>
        </p:nvCxnSpPr>
        <p:spPr>
          <a:xfrm>
            <a:off x="457200" y="2514600"/>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10" name="Rectangle 9">
            <a:hlinkClick r:id="rId2"/>
          </p:cNvPr>
          <p:cNvSpPr/>
          <p:nvPr/>
        </p:nvSpPr>
        <p:spPr>
          <a:xfrm>
            <a:off x="457200" y="19716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75272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GROOT</a:t>
            </a:r>
          </a:p>
        </p:txBody>
      </p:sp>
      <p:sp>
        <p:nvSpPr>
          <p:cNvPr id="12" name="TextBox 11"/>
          <p:cNvSpPr txBox="1"/>
          <p:nvPr/>
        </p:nvSpPr>
        <p:spPr>
          <a:xfrm>
            <a:off x="1352550" y="275272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Government of the Republic of South Africa v Grootboom</a:t>
            </a:r>
          </a:p>
          <a:p>
            <a:pPr>
              <a:lnSpc>
                <a:spcPts val="1464"/>
              </a:lnSpc>
              <a:spcBef>
                <a:spcPts val="0"/>
              </a:spcBef>
              <a:spcAft>
                <a:spcPts val="0"/>
              </a:spcAft>
              <a:defRPr sz="1200" b="0">
                <a:solidFill>
                  <a:srgbClr val="F7F6F1"/>
                </a:solidFill>
                <a:latin typeface="DejaVu Sans"/>
              </a:defRPr>
            </a:pPr>
            <a:r>
              <a:t>[2000] ZACC 19 — 2000.10.04</a:t>
            </a:r>
          </a:p>
        </p:txBody>
      </p:sp>
      <p:cxnSp>
        <p:nvCxnSpPr>
          <p:cNvPr id="13" name="Connector 12"/>
          <p:cNvCxnSpPr/>
          <p:nvPr/>
        </p:nvCxnSpPr>
        <p:spPr>
          <a:xfrm>
            <a:off x="457200" y="3295650"/>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14" name="Rectangle 13">
            <a:hlinkClick r:id="rId3"/>
          </p:cNvPr>
          <p:cNvSpPr/>
          <p:nvPr/>
        </p:nvSpPr>
        <p:spPr>
          <a:xfrm>
            <a:off x="457200" y="275272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5337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TAC</a:t>
            </a:r>
          </a:p>
        </p:txBody>
      </p:sp>
      <p:sp>
        <p:nvSpPr>
          <p:cNvPr id="16" name="TextBox 15"/>
          <p:cNvSpPr txBox="1"/>
          <p:nvPr/>
        </p:nvSpPr>
        <p:spPr>
          <a:xfrm>
            <a:off x="1352550" y="35337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Minister of Health v Treatment Action Campaign (No 2)</a:t>
            </a:r>
          </a:p>
          <a:p>
            <a:pPr>
              <a:lnSpc>
                <a:spcPts val="1464"/>
              </a:lnSpc>
              <a:spcBef>
                <a:spcPts val="0"/>
              </a:spcBef>
              <a:spcAft>
                <a:spcPts val="0"/>
              </a:spcAft>
              <a:defRPr sz="1200" b="0">
                <a:solidFill>
                  <a:srgbClr val="F7F6F1"/>
                </a:solidFill>
                <a:latin typeface="DejaVu Sans"/>
              </a:defRPr>
            </a:pPr>
            <a:r>
              <a:t>[2002] ZACC 15 — 2002.07.05</a:t>
            </a:r>
          </a:p>
        </p:txBody>
      </p:sp>
      <p:cxnSp>
        <p:nvCxnSpPr>
          <p:cNvPr id="17" name="Connector 16"/>
          <p:cNvCxnSpPr/>
          <p:nvPr/>
        </p:nvCxnSpPr>
        <p:spPr>
          <a:xfrm>
            <a:off x="457200" y="4076699"/>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18" name="Rectangle 17">
            <a:hlinkClick r:id="rId4"/>
          </p:cNvPr>
          <p:cNvSpPr/>
          <p:nvPr/>
        </p:nvSpPr>
        <p:spPr>
          <a:xfrm>
            <a:off x="457200" y="35337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31482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GER</a:t>
            </a:r>
          </a:p>
        </p:txBody>
      </p:sp>
      <p:sp>
        <p:nvSpPr>
          <p:cNvPr id="20" name="TextBox 19"/>
          <p:cNvSpPr txBox="1"/>
          <p:nvPr/>
        </p:nvSpPr>
        <p:spPr>
          <a:xfrm>
            <a:off x="1352550" y="431482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BVerfG, 1 BvL 1/09, 1 BvL 3/09, 1 BvL 4/09 — 2010.02.09,</a:t>
            </a:r>
          </a:p>
          <a:p>
            <a:pPr>
              <a:lnSpc>
                <a:spcPts val="1464"/>
              </a:lnSpc>
              <a:spcBef>
                <a:spcPts val="0"/>
              </a:spcBef>
              <a:spcAft>
                <a:spcPts val="0"/>
              </a:spcAft>
              <a:defRPr sz="1200" b="0">
                <a:solidFill>
                  <a:srgbClr val="F7F6F1"/>
                </a:solidFill>
                <a:latin typeface="DejaVu Sans"/>
              </a:defRPr>
            </a:pPr>
            <a:r>
              <a:t>амьжиргааны доод баталгаа</a:t>
            </a:r>
          </a:p>
        </p:txBody>
      </p:sp>
      <p:cxnSp>
        <p:nvCxnSpPr>
          <p:cNvPr id="21" name="Connector 20"/>
          <p:cNvCxnSpPr/>
          <p:nvPr/>
        </p:nvCxnSpPr>
        <p:spPr>
          <a:xfrm>
            <a:off x="457200" y="4857750"/>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22" name="Rectangle 21">
            <a:hlinkClick r:id="rId5"/>
          </p:cNvPr>
          <p:cNvSpPr/>
          <p:nvPr/>
        </p:nvSpPr>
        <p:spPr>
          <a:xfrm>
            <a:off x="457200" y="431482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1250" y="19716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FIN</a:t>
            </a:r>
          </a:p>
        </p:txBody>
      </p:sp>
      <p:sp>
        <p:nvSpPr>
          <p:cNvPr id="24" name="TextBox 23"/>
          <p:cNvSpPr txBox="1"/>
          <p:nvPr/>
        </p:nvSpPr>
        <p:spPr>
          <a:xfrm>
            <a:off x="7086600" y="19716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Kela: Финландын суурь орлогын туршилт, 2017–2018;</a:t>
            </a:r>
          </a:p>
          <a:p>
            <a:pPr>
              <a:lnSpc>
                <a:spcPts val="1464"/>
              </a:lnSpc>
              <a:spcBef>
                <a:spcPts val="0"/>
              </a:spcBef>
              <a:spcAft>
                <a:spcPts val="0"/>
              </a:spcAft>
              <a:defRPr sz="1200" b="0">
                <a:solidFill>
                  <a:srgbClr val="F7F6F1"/>
                </a:solidFill>
                <a:latin typeface="DejaVu Sans"/>
              </a:defRPr>
            </a:pPr>
            <a:r>
              <a:t>эцсийн үр дүн 2020</a:t>
            </a:r>
          </a:p>
        </p:txBody>
      </p:sp>
      <p:cxnSp>
        <p:nvCxnSpPr>
          <p:cNvPr id="25" name="Connector 24"/>
          <p:cNvCxnSpPr/>
          <p:nvPr/>
        </p:nvCxnSpPr>
        <p:spPr>
          <a:xfrm>
            <a:off x="6191250" y="2514600"/>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26" name="Rectangle 25">
            <a:hlinkClick r:id="rId6"/>
          </p:cNvPr>
          <p:cNvSpPr/>
          <p:nvPr/>
        </p:nvSpPr>
        <p:spPr>
          <a:xfrm>
            <a:off x="6191250" y="19716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1250" y="275272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BRA</a:t>
            </a:r>
          </a:p>
        </p:txBody>
      </p:sp>
      <p:sp>
        <p:nvSpPr>
          <p:cNvPr id="28" name="TextBox 27"/>
          <p:cNvSpPr txBox="1"/>
          <p:nvPr/>
        </p:nvSpPr>
        <p:spPr>
          <a:xfrm>
            <a:off x="7086600" y="275272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Бразил: Lei nº 10.836 — 2004.01.09; Lei nº 14.601 —</a:t>
            </a:r>
          </a:p>
          <a:p>
            <a:pPr>
              <a:lnSpc>
                <a:spcPts val="1464"/>
              </a:lnSpc>
              <a:spcBef>
                <a:spcPts val="0"/>
              </a:spcBef>
              <a:spcAft>
                <a:spcPts val="0"/>
              </a:spcAft>
              <a:defRPr sz="1200" b="0">
                <a:solidFill>
                  <a:srgbClr val="F7F6F1"/>
                </a:solidFill>
                <a:latin typeface="DejaVu Sans"/>
              </a:defRPr>
            </a:pPr>
            <a:r>
              <a:t>2023.06.19</a:t>
            </a:r>
          </a:p>
        </p:txBody>
      </p:sp>
      <p:cxnSp>
        <p:nvCxnSpPr>
          <p:cNvPr id="29" name="Connector 28"/>
          <p:cNvCxnSpPr/>
          <p:nvPr/>
        </p:nvCxnSpPr>
        <p:spPr>
          <a:xfrm>
            <a:off x="6191250" y="3295650"/>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30" name="Rectangle 29">
            <a:hlinkClick r:id="rId7"/>
          </p:cNvPr>
          <p:cNvSpPr/>
          <p:nvPr/>
        </p:nvSpPr>
        <p:spPr>
          <a:xfrm>
            <a:off x="6191250" y="275272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1250" y="353377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GC3</a:t>
            </a:r>
          </a:p>
        </p:txBody>
      </p:sp>
      <p:sp>
        <p:nvSpPr>
          <p:cNvPr id="32" name="TextBox 31"/>
          <p:cNvSpPr txBox="1"/>
          <p:nvPr/>
        </p:nvSpPr>
        <p:spPr>
          <a:xfrm>
            <a:off x="7086600" y="353377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CESCR, Ерөнхий тайлбар №3 — 1990.12.14; улсын үүрэг,</a:t>
            </a:r>
          </a:p>
          <a:p>
            <a:pPr>
              <a:lnSpc>
                <a:spcPts val="1464"/>
              </a:lnSpc>
              <a:spcBef>
                <a:spcPts val="0"/>
              </a:spcBef>
              <a:spcAft>
                <a:spcPts val="0"/>
              </a:spcAft>
              <a:defRPr sz="1200" b="0">
                <a:solidFill>
                  <a:srgbClr val="F7F6F1"/>
                </a:solidFill>
                <a:latin typeface="DejaVu Sans"/>
              </a:defRPr>
            </a:pPr>
            <a:r>
              <a:t>доод цөм шаардлага</a:t>
            </a:r>
          </a:p>
        </p:txBody>
      </p:sp>
      <p:cxnSp>
        <p:nvCxnSpPr>
          <p:cNvPr id="33" name="Connector 32"/>
          <p:cNvCxnSpPr/>
          <p:nvPr/>
        </p:nvCxnSpPr>
        <p:spPr>
          <a:xfrm>
            <a:off x="6191250" y="4076699"/>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34" name="Rectangle 33">
            <a:hlinkClick r:id="rId8"/>
          </p:cNvPr>
          <p:cNvSpPr/>
          <p:nvPr/>
        </p:nvSpPr>
        <p:spPr>
          <a:xfrm>
            <a:off x="6191250" y="353377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1250" y="4314825"/>
            <a:ext cx="790575" cy="295275"/>
          </a:xfrm>
          <a:prstGeom prst="rect">
            <a:avLst/>
          </a:prstGeom>
          <a:noFill/>
        </p:spPr>
        <p:txBody>
          <a:bodyPr wrap="none" lIns="0" tIns="0" rIns="0" bIns="0">
            <a:spAutoFit/>
          </a:bodyPr>
          <a:lstStyle/>
          <a:p>
            <a:pPr>
              <a:lnSpc>
                <a:spcPts val="1280"/>
              </a:lnSpc>
              <a:spcBef>
                <a:spcPts val="0"/>
              </a:spcBef>
              <a:spcAft>
                <a:spcPts val="0"/>
              </a:spcAft>
              <a:defRPr sz="1050" b="0">
                <a:solidFill>
                  <a:srgbClr val="F5FF58"/>
                </a:solidFill>
                <a:latin typeface="DejaVu Sans Mono"/>
              </a:defRPr>
            </a:pPr>
            <a:r>
              <a:t>SDG</a:t>
            </a:r>
          </a:p>
        </p:txBody>
      </p:sp>
      <p:sp>
        <p:nvSpPr>
          <p:cNvPr id="36" name="TextBox 35"/>
          <p:cNvSpPr txBox="1"/>
          <p:nvPr/>
        </p:nvSpPr>
        <p:spPr>
          <a:xfrm>
            <a:off x="7086600" y="4314825"/>
            <a:ext cx="4695825" cy="552450"/>
          </a:xfrm>
          <a:prstGeom prst="rect">
            <a:avLst/>
          </a:prstGeom>
          <a:noFill/>
        </p:spPr>
        <p:txBody>
          <a:bodyPr wrap="none" lIns="0" tIns="0" rIns="0" bIns="0">
            <a:spAutoFit/>
          </a:bodyPr>
          <a:lstStyle/>
          <a:p>
            <a:pPr>
              <a:lnSpc>
                <a:spcPts val="1464"/>
              </a:lnSpc>
              <a:spcBef>
                <a:spcPts val="0"/>
              </a:spcBef>
              <a:spcAft>
                <a:spcPts val="0"/>
              </a:spcAft>
              <a:defRPr sz="1200" b="0">
                <a:solidFill>
                  <a:srgbClr val="F7F6F1"/>
                </a:solidFill>
                <a:latin typeface="DejaVu Sans"/>
              </a:defRPr>
            </a:pPr>
            <a:r>
              <a:t>НҮБ, A/RES/70/1 — 2015.09.25, Тогтвортой хөгжлийн</a:t>
            </a:r>
          </a:p>
          <a:p>
            <a:pPr>
              <a:lnSpc>
                <a:spcPts val="1464"/>
              </a:lnSpc>
              <a:spcBef>
                <a:spcPts val="0"/>
              </a:spcBef>
              <a:spcAft>
                <a:spcPts val="0"/>
              </a:spcAft>
              <a:defRPr sz="1200" b="0">
                <a:solidFill>
                  <a:srgbClr val="F7F6F1"/>
                </a:solidFill>
                <a:latin typeface="DejaVu Sans"/>
              </a:defRPr>
            </a:pPr>
            <a:r>
              <a:t>зорилго</a:t>
            </a:r>
          </a:p>
        </p:txBody>
      </p:sp>
      <p:cxnSp>
        <p:nvCxnSpPr>
          <p:cNvPr id="37" name="Connector 36"/>
          <p:cNvCxnSpPr/>
          <p:nvPr/>
        </p:nvCxnSpPr>
        <p:spPr>
          <a:xfrm>
            <a:off x="6191250" y="4857750"/>
            <a:ext cx="5486400" cy="0"/>
          </a:xfrm>
          <a:prstGeom prst="line">
            <a:avLst/>
          </a:prstGeom>
          <a:ln w="9525">
            <a:solidFill>
              <a:srgbClr val="3C424C"/>
            </a:solidFill>
          </a:ln>
        </p:spPr>
        <p:style>
          <a:lnRef idx="2">
            <a:schemeClr val="accent1"/>
          </a:lnRef>
          <a:fillRef idx="0">
            <a:schemeClr val="accent1"/>
          </a:fillRef>
          <a:effectRef idx="1">
            <a:schemeClr val="accent1"/>
          </a:effectRef>
          <a:fontRef idx="minor">
            <a:schemeClr val="tx1"/>
          </a:fontRef>
        </p:style>
      </p:cxnSp>
      <p:sp>
        <p:nvSpPr>
          <p:cNvPr id="38" name="Rectangle 37">
            <a:hlinkClick r:id="rId9"/>
          </p:cNvPr>
          <p:cNvSpPr/>
          <p:nvPr/>
        </p:nvSpPr>
        <p:spPr>
          <a:xfrm>
            <a:off x="6191250" y="4314825"/>
            <a:ext cx="5476875" cy="504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9100" y="5895975"/>
            <a:ext cx="11353800" cy="352425"/>
          </a:xfrm>
          <a:prstGeom prst="rect">
            <a:avLst/>
          </a:prstGeom>
          <a:solidFill>
            <a:srgbClr val="F5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2450" y="5972175"/>
            <a:ext cx="11087100" cy="228600"/>
          </a:xfrm>
          <a:prstGeom prst="rect">
            <a:avLst/>
          </a:prstGeom>
          <a:noFill/>
        </p:spPr>
        <p:txBody>
          <a:bodyPr wrap="none" lIns="0" tIns="0" rIns="0" bIns="0">
            <a:spAutoFit/>
          </a:bodyPr>
          <a:lstStyle/>
          <a:p>
            <a:pPr>
              <a:lnSpc>
                <a:spcPts val="1280"/>
              </a:lnSpc>
              <a:spcBef>
                <a:spcPts val="0"/>
              </a:spcBef>
              <a:spcAft>
                <a:spcPts val="0"/>
              </a:spcAft>
              <a:defRPr sz="1050" b="1">
                <a:solidFill>
                  <a:srgbClr val="101114"/>
                </a:solidFill>
                <a:latin typeface="DejaVu Sans"/>
              </a:defRPr>
            </a:pPr>
            <a:r>
              <a:t>Хязгаарлалт: албан ёсны сайтуудад шууд нэвтрэхийг орчны сүлжээ хаасан; эхүүдийг онлайн дахин тулгаж баталгаажуулаагүй.</a:t>
            </a:r>
          </a:p>
        </p:txBody>
      </p:sp>
      <p:cxnSp>
        <p:nvCxnSpPr>
          <p:cNvPr id="41" name="Connector 40"/>
          <p:cNvCxnSpPr/>
          <p:nvPr/>
        </p:nvCxnSpPr>
        <p:spPr>
          <a:xfrm>
            <a:off x="419100" y="6381750"/>
            <a:ext cx="11353800" cy="0"/>
          </a:xfrm>
          <a:prstGeom prst="line">
            <a:avLst/>
          </a:prstGeom>
          <a:ln w="9525">
            <a:solidFill>
              <a:srgbClr val="272B34"/>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19100" y="6524625"/>
            <a:ext cx="10287000" cy="171450"/>
          </a:xfrm>
          <a:prstGeom prst="rect">
            <a:avLst/>
          </a:prstGeom>
          <a:noFill/>
        </p:spPr>
        <p:txBody>
          <a:bodyPr wrap="none" lIns="0" tIns="0" rIns="0" bIns="0">
            <a:spAutoFit/>
          </a:bodyPr>
          <a:lstStyle/>
          <a:p>
            <a:pPr>
              <a:lnSpc>
                <a:spcPts val="914"/>
              </a:lnSpc>
              <a:spcBef>
                <a:spcPts val="0"/>
              </a:spcBef>
              <a:spcAft>
                <a:spcPts val="0"/>
              </a:spcAft>
              <a:defRPr sz="750" b="0">
                <a:solidFill>
                  <a:srgbClr val="A9AFBE"/>
                </a:solidFill>
                <a:latin typeface="DejaVu Sans Mono"/>
              </a:defRPr>
            </a:pPr>
            <a:r>
              <a:t>АЛБАН ЁСНЫ ЭХИЙГ НЭЭХ / НЭР ДЭЭР ДАРНА УУ • ДЭЛГЭРЭНГҮЙ ХОЛБООС: ИЛТГЭГЧИЙН ТАЙЛБАР</a:t>
            </a:r>
          </a:p>
        </p:txBody>
      </p:sp>
      <p:sp>
        <p:nvSpPr>
          <p:cNvPr id="43" name="TextBox 42"/>
          <p:cNvSpPr txBox="1"/>
          <p:nvPr/>
        </p:nvSpPr>
        <p:spPr>
          <a:xfrm>
            <a:off x="11049000" y="6486525"/>
            <a:ext cx="723900" cy="219075"/>
          </a:xfrm>
          <a:prstGeom prst="rect">
            <a:avLst/>
          </a:prstGeom>
          <a:noFill/>
        </p:spPr>
        <p:txBody>
          <a:bodyPr wrap="none" lIns="0" tIns="0" rIns="0" bIns="0">
            <a:spAutoFit/>
          </a:bodyPr>
          <a:lstStyle/>
          <a:p>
            <a:pPr algn="r">
              <a:lnSpc>
                <a:spcPts val="1189"/>
              </a:lnSpc>
              <a:spcBef>
                <a:spcPts val="0"/>
              </a:spcBef>
              <a:spcAft>
                <a:spcPts val="0"/>
              </a:spcAft>
              <a:defRPr sz="975" b="0">
                <a:solidFill>
                  <a:srgbClr val="A9AFBE"/>
                </a:solidFill>
                <a:latin typeface="DejaVu Sans Mono"/>
              </a:defRPr>
            </a:pPr>
            <a:r>
              <a:t>30—30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Нийгмийн доод давхраа ба хүний эрх — Editorial Edition</dc:title>
  <dc:subject>МУИС • Багш: Б. Тамир • 30 слайд</dc:subject>
  <dc:creator>Б. Саранчимэг · Ш. Түвшинбаяр · Б. Энхзаяа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