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Илтгэлийн үндсэн санаа: нийгэм, эдийн засгийн байр суурь нь хүний нэр төр, эрхийн үнэ цэнийг бууруулах үндэслэл биш. “Доод давхраа” гэдэг нэр томьёог хүнийг үнэлсэн утгаар бус нийгмийн бүтцийн шинжилгээний утгаар хэрэглэнэ.</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Илтгэл гурван түвшнийг ялгана: эрх зүйн стандарт, бодит хүртээмж, хэрэгжүүлэх механизм. Статистик нь асуудлын хүрээг, шүүхийн шийдвэр нь эрхийн хэрэгжилтийг, улсын харьцуулалт нь бодлогын сонголтыг тайлбарлана.</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Бага орлоготой бүх хүн ижил нөхцөлтэй биш. Өрхийн хэмжээ, асаргааны ачаалал, газар зүйн байршил, хөгжлийн бэрхшээл зэрэг нь ижил орлоготой хүмүүсийн бодит боломжийг өөрчилдөг. UDHR-ийн 1, 2 дугаар зүйл нэр төр ба ялгаварлан гадуурхахгүй байх зарчмын суурь болно.</a:t>
            </a:r>
          </a:p>
          <a:p/>
          <a:p>
            <a:r>
              <a:t>ЭХ СУРВАЛЖ:</a:t>
            </a:r>
          </a:p>
          <a:p>
            <a:r>
              <a:t>[UDHR] Хүний эрхийн түгээмэл тунхаглал — 1948.12.10</a:t>
            </a:r>
          </a:p>
          <a:p>
            <a:r>
              <a:t>https://www.ohchr.org/en/human-rights/universal-declaration/translations/mongolian</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Үндэсний ядуурлын хувь, олон улсын ам.долларын босго, олон хэмжээст ядуурлын индекс нь өөр аргачлалтай. Эдгээрийг нэг графикт шууд ижил хэмжүүр мэт харьцуулж болохгүй. Өрхийн хэрэглээнд суурилсан ядуурал нь бэлэн мөнгөн орлоготой яг адил ойлголт биш.</a:t>
            </a:r>
          </a:p>
          <a:p/>
          <a:p>
            <a:r>
              <a:t>ЭХ СУРВАЛЖ:</a:t>
            </a:r>
          </a:p>
          <a:p>
            <a:r>
              <a:t>[POV] ҮСХ, Дэлхийн банк: Mongolia Poverty Update 2022, 2024 онд нийтэлсэн; үндэсний ядуурлын түвшин</a:t>
            </a:r>
          </a:p>
          <a:p>
            <a:r>
              <a:t>https://www.worldbank.org/en/country/mongolia/publication</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ҮСХ–Дэлхийн банкны үндэсний ядуурлын тооцоолол: 2016 онд 29.6%, 2018 онд 28.4%, 2020 онд 27.8%, 2022 онд 27.1%. 2016–2022 оны өөрчлөлт нь 2.5 нэгж хувь; “2.5 хувиар буурсан” гэж нэрлэхгүй. Эдгээр нь түүхэн тоон цуваа бөгөөд 2026 оны өнөөгийн ядуурлын түвшин гэж тайлбарлахгүй. Улс хоорондын харьцуулалт хийхэд ижил босго, ижил аргачлал шаардлагатай.</a:t>
            </a:r>
          </a:p>
          <a:p/>
          <a:p>
            <a:r>
              <a:t>ЭХ СУРВАЛЖ:</a:t>
            </a:r>
          </a:p>
          <a:p>
            <a:r>
              <a:t>[POV] ҮСХ, Дэлхийн банк: Mongolia Poverty Update 2022, 2024 онд нийтэлсэн; үндэсний ядуурлын түвшин</a:t>
            </a:r>
          </a:p>
          <a:p>
            <a:r>
              <a:t>https://www.worldbank.org/en/country/mongolia/publication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бол тайлбарлах загвар; тоон шалтгаант нөлөөг нотолсон график биш. Нэг удаагийн тэтгэмж өрхийн бүх асуудлыг шийдэхгүй. Үйлчилгээний төлбөрөөс гадна очих зардал, хүлээх хугацаа, асаргааны үүрэг зэрэг далд зардал эрхийн хүртээмжид нөлөөлнө.</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[CRC] Хүүхдийн эрхийн тухай конвенц — 1989.11.20; хүчин төгөлдөр: 1990.09.02</a:t>
            </a:r>
          </a:p>
          <a:p>
            <a:r>
              <a:t>https://www.ohchr.org/en/instruments-mechanisms/instruments/convention-rights-child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Хүний эрхийн хандлагын гол ялгаа нь үүрэг хүлээгч, хариуцлага, гомдол шийдвэрлэх механизмыг тодорхой болгодогт оршино. Эрх эдлэх нь бүх үйлчилгээг ямар ч нөхцөлгүй, үнэ төлбөргүй олгоно гэсэн үг биш; хууль ёсны, үндэслэлтэй, ялгаварлаагүй зохицуулалт шаардлагатай.</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хууль 1992 оны 1 дүгээр сарын 13-нд батлагдаж, 1992 оны 2 дугаар сарын 12-ноос хүчин төгөлдөр болсон. Батлагдсан огноо, хүчин төгөлдөр болсон огноо хоёрыг ялгана. 16.7-д төрөөс бүх нийтийн ерөнхий боловсролыг төлбөргүй олгох тухай, 16.6-д эмнэлгийн төлбөргүй тусламжийн болзол, журмыг хуулиар тогтоох тухай зохицуулдаг.</a:t>
            </a:r>
          </a:p>
          <a:p/>
          <a:p>
            <a:r>
              <a:t>ЭХ СУРВАЛЖ:</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Хөдөлмөрийн тухай хуулийн шинэчилсэн найруулга 2021.07.02-нд батлагдаж 2022.01.01-нээс мөрдөгдсөн. Нийгмийн халамжийн тусламж нь төрлөөсөө хамааран өөр өөр шалгууртай; ядуу хүн бүр бүх тэтгэмжийг автоматаар авахгүй. Хуулийн тодорхой заалтыг бодит хэрэгт хэрэглэхийн өмнө хүчин төгөлдөр нэгтгэсэн эхийг шалгах шаардлагатай.</a:t>
            </a:r>
          </a:p>
          <a:p/>
          <a:p>
            <a:r>
              <a:t>ЭХ СУРВАЛЖ:</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 олон улсын гэрээ, бодлогын зорилго нь эрх зүйн өөр шинжтэй. Монгол Улс тухайн гэрээгээр ямар үүрэг хүлээснийг тайлбарлахдаа нэгдэн орсон байдал, хүчин төгөлдөр үйлчлэл, тайлбар болон нэмэлт протоколын статусыг тусад нь шалгана. Энэ слайд нэгдэн орсон огноог мэдээлээгүй.</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Тунхаглалыг НҮБ-ын Ерөнхий Ассамблей 217 A (III) тогтоолоор баталсан. Энэ баримт бичгийн бүх заалтыг дангаар нь “шууд хэрэгжих олон улсын гэрээний хууль” гэж тайлбарлаж болохгүй. Хожмын гэрээ, үндэсний хууль, шүүхийн практикт үзүүлсэн нөлөөг нь тайлбарлана.</a:t>
            </a:r>
          </a:p>
          <a:p/>
          <a:p>
            <a:r>
              <a:t>ЭХ СУРВАЛЖ:</a:t>
            </a:r>
          </a:p>
          <a:p>
            <a:r>
              <a:t>[UDHR] Хүний эрхийн түгээмэл тунхаглал — 1948.12.10</a:t>
            </a:r>
          </a:p>
          <a:p>
            <a:r>
              <a:t>https://www.ohchr.org/en/human-rights/universal-declaration/translations/mongolian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ICESCR-ийн 2.1-д улс дангаараа болон олон улсын тусламж, хамтын ажиллагаагаар нөөц боломжоо дээд хэмжээгээр ашиглан арга хэмжээ авахыг заасан. CESCR-ийн Ерөнхий тайлбар №3 (1990.12.14) нь даруй авах арга хэмжээ болон эрхийн наад захын цөм үүргийг тайлбарладаг. Ерөнхий тайлбар нь пактын өөрийнх нь шинэ зүйл биш.</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ICCPR нь Иргэний болон улс төрийн эрхийн тухай олон улсын пактын товчлол. 14.3(d)-ийн үнэ төлбөргүй хууль зүйн туслалцааны нөхцөл нь эрүүгийн яллагдагчид хамаардаг; бүх иргэний болон захиргааны маргаанд автоматаар үнэ төлбөргүй өмгөөлөгч олгоно гэж тайлбарлаж болохгүй. 25 дугаар зүйлийн оролцооны эрх нь иргэдэд хамаарах тусгай зохицуулалт. 26 дугаар зүйл дэх тэгш хамгаалалт болон 2.3 дахь үр нөлөөтэй эрх сэргээх арга хэрэгсэл нь хүртээмжтэй хамгаалалтын үндэс болдог.</a:t>
            </a:r>
          </a:p>
          <a:p/>
          <a:p>
            <a:r>
              <a:t>ЭХ СУРВАЛЖ:</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Хүндэтгэх–хамгаалах–хангах нь хүний эрхийн үүргийг задлан тайлбарлах нийтлэг хүрээ. Пактын бүх үүрэг нэгэн зэрэг бүрэн үр дүнд хүрэх шаардлага гэсэн үг биш. Харин ялгаварлан гадуурхахгүй байх, бодитой зорилтот арга хэмжээ авах зэрэг үүргийг зөвхөн ирээдүйд хойшлуулж болохгүй.</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Ядуурал, хүйс, хөгжлийн бэрхшээл, оршин суугаа газар зэрэг хүчин зүйл давхцахад үйлчилгээний саад нэмэгдэж болно. Гэхдээ эдгээр бүлгийн бүх хүнийг автоматаар “ядуу” гэж ангилахгүй. Хэрэгцээний бодит үнэлгээ, хувийн сонголт, оролцоог хүндэтгэх нь чухал.</a:t>
            </a:r>
          </a:p>
          <a:p/>
          <a:p>
            <a:r>
              <a:t>ЭХ СУРВАЛЖ:</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слайдын эрсдэлийн жагсаалт нь Монгол дахь давтамжийг хэмжсэн статистик биш. Хөдөлмөрийн харилцаа байгаа эсэх, гэрээний төрөл, даатгалын үүргийг бодит баримтаар тогтооно. Хамгийн бага цалингийн хувьсах хэмжээг баталгаажаагүй тул энд дурдаагүй.</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Бага орлоготой хүүхэд бүр сургууль завсарддаг гэж ерөнхийлөхгүй. Шалгах асуулт нь орлогын ялгаанаас шалтгаалан ямар зардал суралцах боломжийг хязгаарлаж байгааг тогтоох юм. Боловсролын ерөнхий хуулийн хамгийн сүүлийн заалтыг хэрэглэхийн өмнө Legalinfo дахь нэгтгэсэн эхийг шалгана.</a:t>
            </a:r>
          </a:p>
          <a:p/>
          <a:p>
            <a:r>
              <a:t>ЭХ СУРВАЛЖ:</a:t>
            </a:r>
          </a:p>
          <a:p>
            <a:r>
              <a:t>[ҮХ] Монгол Улсын Үндсэн хууль — 1992.01.13</a:t>
            </a:r>
          </a:p>
          <a:p>
            <a:r>
              <a:t>https://legalinfo.mn/mn/detail/367</a:t>
            </a:r>
          </a:p>
          <a:p>
            <a:r>
              <a:t>[БЕХ] Боловсролын ерөнхий хууль /шинэчилсэн найруулга/ — 2023.07.07</a:t>
            </a:r>
          </a:p>
          <a:p>
            <a:r>
              <a:t>https://legalinfo.mn</a:t>
            </a:r>
          </a:p>
          <a:p>
            <a:r>
              <a:t>[CRC] Хүүхдийн эрхийн тухай конвенц — 1989.11.20; хүчин төгөлдөр: 1990.09.02</a:t>
            </a:r>
          </a:p>
          <a:p>
            <a:r>
              <a:t>https://www.ohchr.org/en/instruments-mechanisms/instruments/convention-rights-child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хуулийн 16.2-ыг тусдаа орон сууц үнэгүй авах эрх гэж тайлбарлахгүй. ICESCR-ийн 11 дүгээр зүйл дэх зохистой орон байр нь үйлчилгээ, аюулгүй байдал, амьдрах нөхцөлтэй холбоотой. Эмнэлгийн тусламжийн төлбөргүй хүрээ нь дотоодын хуулиар тогтоогдоно.</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Халамж ба нийгмийн даатгал нь санхүүжилт, шимтгэл, эрх үүсэх нөхцөлөөр ялгаатай. Тэтгэмжийн хэмжээ, эрх үүсэх нас, орлогын босго нь өөрчлөгдөж болох тул баталгаажаагүй дүн оруулаагүй. Жагсаалтад ил тод байдал гэдэг нь өрхийн эмзэг мэдээллийг олон нийтэд дэлгэнэ гэсэн үг биш.</a:t>
            </a:r>
          </a:p>
          <a:p/>
          <a:p>
            <a:r>
              <a:t>ЭХ СУРВАЛЖ:</a:t>
            </a:r>
          </a:p>
          <a:p>
            <a:r>
              <a:t>[ҮХ] Монгол Улсын Үндсэн хууль — 1992.01.13</a:t>
            </a:r>
          </a:p>
          <a:p>
            <a:r>
              <a:t>https://legalinfo.mn/mn/detail/367</a:t>
            </a:r>
          </a:p>
          <a:p>
            <a:r>
              <a:t>[НХ] Нийгмийн халамжийн тухай хууль /шинэчилсэн найруулга/ — 2012.01.19</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Хэргийн бүтэн нэр: Government of the Republic of South Africa and Others v Grootboom and Others. Үндсэн хуулийн шүүхийн шийдвэр: 2000.10.04. 26(2)-ын хүрээнд боломжит нөөцөд тулгуурласан үндэслэлтэй арга хэмжээ авах үүргийг тайлбарласан. Энэхүү шийдвэр Монголын шүүхэд шууд заавал дагах прецедент биш.</a:t>
            </a:r>
          </a:p>
          <a:p/>
          <a:p>
            <a:r>
              <a:t>ЭХ СУРВАЛЖ:</a:t>
            </a:r>
          </a:p>
          <a:p>
            <a:r>
              <a:t>[GROOT] Government of the Republic of South Africa v Grootboom [2000] ZACC 19 — 2000.10.04</a:t>
            </a:r>
          </a:p>
          <a:p>
            <a:r>
              <a:t>https://www.saflii.org/za/cases/ZACC/2000/19.html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Хэргийн нэр: Minister of Health and Others v Treatment Action Campaign and Others (No 2). 2002.07.05. Шийдвэрийг бүх эмийг хүн бүрд үнэ төлбөргүй олгох тухай ерөнхий шийдвэр гэж тайлбарлахгүй. Гол асуудал нь эхээс хүүхдэд ХДХВ дамжихаас сэргийлэх эмийн хүртээмжид тавьсан тодорхой хязгаарлалт байв.</a:t>
            </a:r>
          </a:p>
          <a:p/>
          <a:p>
            <a:r>
              <a:t>ЭХ СУРВАЛЖ:</a:t>
            </a:r>
          </a:p>
          <a:p>
            <a:r>
              <a:t>[TAC] Minister of Health v Treatment Action Campaign (No 2) [2002] ZACC 15 — 2002.07.05</a:t>
            </a:r>
          </a:p>
          <a:p>
            <a:r>
              <a:t>https://www.saflii.org/za/cases/ZACC/2002/15.html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Германы Холбооны Үндсэн хуулийн шүүхийн 2010.02.09-ний шийдвэр, нэгтгэсэн хэргүүд: 1 BvL 1/09, 1 BvL 3/09, 1 BvL 4/09. Хамгаалалт нь бие махбодын амьжиргаанаас гадна нийгэм, соёл, улс төрийн амьдралд наад захын оролцоог хамарна. Германы үндэсний баталгааг Монголд шууд үйлчлэх хууль мэт хэрэглэхгүй.</a:t>
            </a:r>
          </a:p>
          <a:p/>
          <a:p>
            <a:r>
              <a:t>ЭХ СУРВАЛЖ:</a:t>
            </a:r>
          </a:p>
          <a:p>
            <a:r>
              <a:t>[GER] BVerfG, 1 BvL 1/09, 1 BvL 3/09, 1 BvL 4/09 — 2010.02.09, амьжиргааны доод баталгаа</a:t>
            </a:r>
          </a:p>
          <a:p>
            <a:r>
              <a:t>https://www.bundesverfassungsgericht.de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Улс орнуудын төсвийн чадавх, хүн ам, институц, хөдөлмөрийн зах зээл өөр. Иймээс нэг орны тэтгэмжийн хэмжээг ханшаар хөрвүүлээд шууд хуулбарлах нь хангалтгүй. Харьцуулах нэгж нь эрхийн баталгаа, хэрэгжүүлэх механизм, хамрагдалт, гомдол, үр дүн байх ёстой.</a:t>
            </a:r>
          </a:p>
          <a:p/>
          <a:p>
            <a:r>
              <a:t>ЭХ СУРВАЛЖ:</a:t>
            </a:r>
          </a:p>
          <a:p>
            <a:r>
              <a:t>[ҮХ] Монгол Улсын Үндсэн хууль — 1992.01.13</a:t>
            </a:r>
          </a:p>
          <a:p>
            <a:r>
              <a:t>https://legalinfo.mn/mn/detail/367</a:t>
            </a:r>
          </a:p>
          <a:p>
            <a:r>
              <a:t>[GROOT] Government of the Republic of South Africa v Grootboom [2000] ZACC 19 — 2000.10.04</a:t>
            </a:r>
          </a:p>
          <a:p>
            <a:r>
              <a:t>https://www.saflii.org/za/cases/ZACC/2000/19.html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Финландын бүх хүн амд хэрэгжүүлсэн байнгын суурь орлого биш, сонгосон ажилгүй хүмүүсийг хамарсан туршилт. Сайн сайхан байдлын хэсэг нь асуумжийн хариунд тулгуурласан тул ажиглагдсан бүх ялгааг мөнгөний шалтгаант нөлөө гэж дүгнэхгүй. Ажил эрхлэлтийн хэмжээг нарийвчлан тайлбарлахад туршилтын жил, хяналтын бүлэг, бодлогын өөрчлөлтийг салгана.</a:t>
            </a:r>
          </a:p>
          <a:p/>
          <a:p>
            <a:r>
              <a:t>ЭХ СУРВАЛЖ:</a:t>
            </a:r>
          </a:p>
          <a:p>
            <a:r>
              <a:t>[FIN] Kela: Финландын суурь орлогын туршилт, 2017–2018; эцсийн үр дүн 2020</a:t>
            </a:r>
          </a:p>
          <a:p>
            <a:r>
              <a:t>https://www.kela.fi/basic-income-experiment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Bolsa Família нь бүх хүнд ижил мөнгө олгодог суурь орлого биш. Өрхийн бүрэлдэхүүн, орлого, хөтөлбөрийн тухайн үеийн журмаас хамаарах зохицуулалттай. Ядуурал буурсан хувь, өгөөжийн тоон дүнг баталгаажуулаагүй тул энэ слайдад шалтгаант үр дүнгийн тоо оруулаагүй.</a:t>
            </a:r>
          </a:p>
          <a:p/>
          <a:p>
            <a:r>
              <a:t>ЭХ СУРВАЛЖ:</a:t>
            </a:r>
          </a:p>
          <a:p>
            <a:r>
              <a:t>[BRA] Бразил: Lei nº 10.836 — 2004.01.09; Lei nº 14.601 — 2023.06.19</a:t>
            </a:r>
          </a:p>
          <a:p>
            <a:r>
              <a:t>https://www.planalto.gov.br/ccivil_03/_ato2023-2026/2023/lei/l14601.htm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Хэрэгжилтийн үзүүлэлт бүр тодорхой эх үүсвэр, суурь түвшин, хэмжих хугацаа, хариуцах байгууллагатай байх шаардлагатай. Эмзэг бүлгийн мэдээллийг орлого, хүйс, байршил, хөгжлийн бэрхшээлээр задалж болох ч нууцлал, жижиг бүлгийг таних эрсдэлийг тооцно. Тоон зорилтот хувь нь суурь мэдээлэлгүй тул зохиогоогүй.</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ерөнхий мэдээлэл, тодорхой хэргийн хууль зүйн зөвлөгөө биш. Бүх маргаан заавал эдгээр дөрвөн алхмыг нэг ижил дарааллаар туулна гэсэн үг биш. ХЭҮК-д хандах нь шүүхэд нэхэмжлэл гаргах хугацааг автоматаар зогсооно гэж үзэхгүй. Нууц мэдээллийг илгээхдээ хамгаалж, мэргэжлийн зөвлөгөөг эрт авах нь зүйтэй.</a:t>
            </a:r>
          </a:p>
          <a:p/>
          <a:p>
            <a:r>
              <a:t>ЭХ СУРВАЛЖ:</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Дүгнэлтийг гурван асуудалтай холбож хэлнэ: мөнгөний дэмжлэг, чанартай суурь үйлчилгээ, эрхээ хамгаалах механизм. Шүүхийн кейсүүд нь бодлого хэрэгжүүлж байгаа эсэхээс гадна хэнийг орхиж байгааг хянах шаардлагатайг харуулдаг.</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Огноонууд нь баримт бичгийн батлагдсан огноо. Хуулийн агуулгыг сургалтын зориулалтаар хураангуйлсан бөгөөд үгчилсэн эшлэл биш. Монголын хуулийн хамгийн сүүлийн нэмэлт, өөрчлөлт, тухайн хэрэгт хэрэглэх найруулгыг албан ёсны нэгтгэсэн эхээс дахин нягтална.</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Судалгааны тоо, кейсийн огноо, хэрэг дугаар нь нийтэд түгээмэл мэдээлэгдсэн баримтад тулгуурласан. Энэ орчинд эх сурвалжийн сайтуудад хандахад 403 хариу ирсэн тул сүүлийн хувилбарыг онлайн нягталсан гэж үзэхгүй. Ядуурлын график 2016–2022 оны түүхэн өгөгдөл; 2026 оны түвшин биш. Эндхүү эх сурвалжийн холбоосын зарим нь байгууллагын хайлт/нийтлэлийн нүүр хуудас тул баримт бичгийн гарчиг, огноо, хэрэг дугаараар хайна. Материалыг ашиглахын өмнө хууль, статистикийн анхдагч эхийг нягтлахыг зөвлөж байна.</a:t>
            </a:r>
          </a:p>
          <a:p/>
          <a:p>
            <a:r>
              <a:t>ЭХ СУРВАЛЖ:</a:t>
            </a:r>
          </a:p>
          <a:p>
            <a:r>
              <a:t>[POV] ҮСХ, Дэлхийн банк: Mongolia Poverty Update 2022, 2024 онд нийтэлсэн; үндэсний ядуурлын түвшин</a:t>
            </a:r>
          </a:p>
          <a:p>
            <a:r>
              <a:t>https://www.worldbank.org/en/country/mongolia/publication</a:t>
            </a:r>
          </a:p>
          <a:p>
            <a:r>
              <a:t>[GROOT] Government of the Republic of South Africa v Grootboom [2000] ZACC 19 — 2000.10.04</a:t>
            </a:r>
          </a:p>
          <a:p>
            <a:r>
              <a:t>https://www.saflii.org/za/cases/ZACC/2000/19.html</a:t>
            </a:r>
          </a:p>
          <a:p>
            <a:r>
              <a:t>[TAC] Minister of Health v Treatment Action Campaign (No 2) [2002] ZACC 15 — 2002.07.05</a:t>
            </a:r>
          </a:p>
          <a:p>
            <a:r>
              <a:t>https://www.saflii.org/za/cases/ZACC/2002/15.html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r>
              <a:t>[GC3] CESCR, Ерөнхий тайлбар №3 — 1990.12.14; улсын үүрэг, доод цөм шаардлага</a:t>
            </a:r>
          </a:p>
          <a:p>
            <a:r>
              <a:t>https://www.ohchr.org/en/documents/general-comments-and-recommendations/general-comment-no-3-nature-states-parties-obligations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egalinfo.mn/mn/detail/367" TargetMode="External"/><Relationship Id="rId3" Type="http://schemas.openxmlformats.org/officeDocument/2006/relationships/hyperlink" Target="https://legalinfo.mn" TargetMode="External"/><Relationship Id="rId4" Type="http://schemas.openxmlformats.org/officeDocument/2006/relationships/hyperlink" Target="https://www.ohchr.org/en/human-rights/universal-declaration/translations/mongolian" TargetMode="External"/><Relationship Id="rId5" Type="http://schemas.openxmlformats.org/officeDocument/2006/relationships/hyperlink" Target="https://www.ohchr.org/en/instruments-mechanisms/instruments/international-covenant-economic-social-and-cultural-rights" TargetMode="External"/><Relationship Id="rId6" Type="http://schemas.openxmlformats.org/officeDocument/2006/relationships/hyperlink" Target="https://www.ohchr.org/en/instruments-mechanisms/instruments/international-covenant-civil-and-political-rights" TargetMode="External"/><Relationship Id="rId7" Type="http://schemas.openxmlformats.org/officeDocument/2006/relationships/hyperlink" Target="https://www.ohchr.org/en/instruments-mechanisms/instruments/convention-rights-child" TargetMode="External"/><Relationship Id="rId8" Type="http://schemas.openxmlformats.org/officeDocument/2006/relationships/hyperlink" Target="https://www.ohchr.org/en/instruments-mechanisms/instruments/convention-elimination-all-forms-discrimination-against-women" TargetMode="External"/><Relationship Id="rId9" Type="http://schemas.openxmlformats.org/officeDocument/2006/relationships/hyperlink" Target="https://www.ohchr.org/en/instruments-mechanisms/instruments/convention-rights-persons-disabilities" TargetMode="Externa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worldbank.org/en/country/mongolia/publication" TargetMode="External"/><Relationship Id="rId3" Type="http://schemas.openxmlformats.org/officeDocument/2006/relationships/hyperlink" Target="https://www.saflii.org/za/cases/ZACC/2000/19.html" TargetMode="External"/><Relationship Id="rId4" Type="http://schemas.openxmlformats.org/officeDocument/2006/relationships/hyperlink" Target="https://www.saflii.org/za/cases/ZACC/2002/15.html" TargetMode="External"/><Relationship Id="rId5" Type="http://schemas.openxmlformats.org/officeDocument/2006/relationships/hyperlink" Target="https://www.bundesverfassungsgericht.de" TargetMode="External"/><Relationship Id="rId6" Type="http://schemas.openxmlformats.org/officeDocument/2006/relationships/hyperlink" Target="https://www.kela.fi/basic-income-experiment" TargetMode="External"/><Relationship Id="rId7" Type="http://schemas.openxmlformats.org/officeDocument/2006/relationships/hyperlink" Target="https://www.planalto.gov.br/ccivil_03/_ato2023-2026/2023/lei/l14601.htm" TargetMode="External"/><Relationship Id="rId8" Type="http://schemas.openxmlformats.org/officeDocument/2006/relationships/hyperlink" Target="https://www.ohchr.org/en/documents/general-comments-and-recommendations/general-comment-no-3-nature-states-parties-obligations" TargetMode="External"/><Relationship Id="rId9" Type="http://schemas.openxmlformats.org/officeDocument/2006/relationships/hyperlink" Target="https://sdgs.un.org/2030agenda" TargetMode="External"/><Relationship Id="rId10"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F5C842"/>
                </a:solidFill>
                <a:latin typeface="DejaVu Sans"/>
              </a:defRPr>
            </a:pPr>
            <a:r>
              <a:t>МУИС • ОЮУТНЫ ИЛТГЭЛ</a:t>
            </a:r>
          </a:p>
        </p:txBody>
      </p:sp>
      <p:sp>
        <p:nvSpPr>
          <p:cNvPr id="5" name="Rectangle 4"/>
          <p:cNvSpPr/>
          <p:nvPr/>
        </p:nvSpPr>
        <p:spPr>
          <a:xfrm>
            <a:off x="8229600" y="0"/>
            <a:ext cx="3962399"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97900" y="3962399"/>
            <a:ext cx="254000" cy="2006600"/>
          </a:xfrm>
          <a:prstGeom prst="rect">
            <a:avLst/>
          </a:prstGeom>
          <a:solidFill>
            <a:srgbClr val="337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29700" y="3530600"/>
            <a:ext cx="254000" cy="2438400"/>
          </a:xfrm>
          <a:prstGeom prst="rect">
            <a:avLst/>
          </a:prstGeom>
          <a:solidFill>
            <a:srgbClr val="337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61500" y="3098800"/>
            <a:ext cx="254000" cy="2870200"/>
          </a:xfrm>
          <a:prstGeom prst="rect">
            <a:avLst/>
          </a:prstGeom>
          <a:solidFill>
            <a:srgbClr val="337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893300" y="2667000"/>
            <a:ext cx="254000" cy="3302000"/>
          </a:xfrm>
          <a:prstGeom prst="rect">
            <a:avLst/>
          </a:prstGeom>
          <a:solidFill>
            <a:srgbClr val="337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325100" y="2235200"/>
            <a:ext cx="254000" cy="3733799"/>
          </a:xfrm>
          <a:prstGeom prst="rect">
            <a:avLst/>
          </a:prstGeom>
          <a:solidFill>
            <a:srgbClr val="337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756900" y="1803400"/>
            <a:ext cx="254000" cy="41656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8000" y="1308100"/>
            <a:ext cx="7429500" cy="1841500"/>
          </a:xfrm>
          <a:prstGeom prst="rect">
            <a:avLst/>
          </a:prstGeom>
          <a:noFill/>
        </p:spPr>
        <p:txBody>
          <a:bodyPr wrap="none" lIns="0" rIns="0" tIns="0" bIns="0">
            <a:spAutoFit/>
          </a:bodyPr>
          <a:lstStyle/>
          <a:p>
            <a:pPr>
              <a:lnSpc>
                <a:spcPts val="5092"/>
              </a:lnSpc>
              <a:spcBef>
                <a:spcPts val="0"/>
              </a:spcBef>
              <a:spcAft>
                <a:spcPts val="0"/>
              </a:spcAft>
              <a:defRPr sz="3800" b="1">
                <a:solidFill>
                  <a:srgbClr val="FFFFFF"/>
                </a:solidFill>
                <a:latin typeface="DejaVu Sans"/>
              </a:defRPr>
            </a:pPr>
            <a:r>
              <a:t>Нийгмийн доод давхраа</a:t>
            </a:r>
          </a:p>
          <a:p>
            <a:pPr>
              <a:lnSpc>
                <a:spcPts val="5092"/>
              </a:lnSpc>
              <a:spcBef>
                <a:spcPts val="0"/>
              </a:spcBef>
              <a:spcAft>
                <a:spcPts val="0"/>
              </a:spcAft>
              <a:defRPr sz="3800" b="1">
                <a:solidFill>
                  <a:srgbClr val="FFFFFF"/>
                </a:solidFill>
                <a:latin typeface="DejaVu Sans"/>
              </a:defRPr>
            </a:pPr>
            <a:r>
              <a:t>ба хүний эрх</a:t>
            </a:r>
          </a:p>
        </p:txBody>
      </p:sp>
      <p:sp>
        <p:nvSpPr>
          <p:cNvPr id="13" name="TextBox 12"/>
          <p:cNvSpPr txBox="1"/>
          <p:nvPr/>
        </p:nvSpPr>
        <p:spPr>
          <a:xfrm>
            <a:off x="533400" y="3365500"/>
            <a:ext cx="7112000" cy="660400"/>
          </a:xfrm>
          <a:prstGeom prst="rect">
            <a:avLst/>
          </a:prstGeom>
          <a:noFill/>
        </p:spPr>
        <p:txBody>
          <a:bodyPr wrap="none" lIns="0" rIns="0" tIns="0" bIns="0">
            <a:spAutoFit/>
          </a:bodyPr>
          <a:lstStyle/>
          <a:p>
            <a:pPr>
              <a:lnSpc>
                <a:spcPts val="2144"/>
              </a:lnSpc>
              <a:spcBef>
                <a:spcPts val="0"/>
              </a:spcBef>
              <a:spcAft>
                <a:spcPts val="0"/>
              </a:spcAft>
              <a:defRPr sz="1600" b="0">
                <a:solidFill>
                  <a:srgbClr val="B7C7E1"/>
                </a:solidFill>
                <a:latin typeface="DejaVu Sans"/>
              </a:defRPr>
            </a:pPr>
            <a:r>
              <a:t>Ядуурал • Тэгш боломж • Эрх зүйн хамгаалалт</a:t>
            </a:r>
          </a:p>
        </p:txBody>
      </p:sp>
      <p:sp>
        <p:nvSpPr>
          <p:cNvPr id="14" name="Rectangle 13"/>
          <p:cNvSpPr/>
          <p:nvPr/>
        </p:nvSpPr>
        <p:spPr>
          <a:xfrm>
            <a:off x="533400" y="4279900"/>
            <a:ext cx="622300" cy="50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3400" y="4597400"/>
            <a:ext cx="6731000" cy="1460500"/>
          </a:xfrm>
          <a:prstGeom prst="rect">
            <a:avLst/>
          </a:prstGeom>
          <a:noFill/>
        </p:spPr>
        <p:txBody>
          <a:bodyPr wrap="none" lIns="0" rIns="0" tIns="0" bIns="0">
            <a:spAutoFit/>
          </a:bodyPr>
          <a:lstStyle/>
          <a:p>
            <a:pPr>
              <a:lnSpc>
                <a:spcPts val="1876"/>
              </a:lnSpc>
              <a:spcBef>
                <a:spcPts val="0"/>
              </a:spcBef>
              <a:spcAft>
                <a:spcPts val="0"/>
              </a:spcAft>
              <a:defRPr sz="1400" b="0">
                <a:solidFill>
                  <a:srgbClr val="FFFFFF"/>
                </a:solidFill>
                <a:latin typeface="DejaVu Sans"/>
              </a:defRPr>
            </a:pPr>
            <a:r>
              <a:t>Оюутнууд: Б. Саранчимэг</a:t>
            </a:r>
          </a:p>
          <a:p>
            <a:pPr>
              <a:lnSpc>
                <a:spcPts val="1876"/>
              </a:lnSpc>
              <a:spcBef>
                <a:spcPts val="0"/>
              </a:spcBef>
              <a:spcAft>
                <a:spcPts val="0"/>
              </a:spcAft>
              <a:defRPr sz="1400" b="0">
                <a:solidFill>
                  <a:srgbClr val="FFFFFF"/>
                </a:solidFill>
                <a:latin typeface="DejaVu Sans"/>
              </a:defRPr>
            </a:pPr>
            <a:r>
              <a:t>Ш. Түвшинбаяр</a:t>
            </a:r>
          </a:p>
          <a:p>
            <a:pPr>
              <a:lnSpc>
                <a:spcPts val="1876"/>
              </a:lnSpc>
              <a:spcBef>
                <a:spcPts val="0"/>
              </a:spcBef>
              <a:spcAft>
                <a:spcPts val="0"/>
              </a:spcAft>
              <a:defRPr sz="1400" b="0">
                <a:solidFill>
                  <a:srgbClr val="FFFFFF"/>
                </a:solidFill>
                <a:latin typeface="DejaVu Sans"/>
              </a:defRPr>
            </a:pPr>
            <a:r>
              <a:t>Б. Энхзаяа</a:t>
            </a:r>
          </a:p>
          <a:p>
            <a:pPr>
              <a:lnSpc>
                <a:spcPts val="1876"/>
              </a:lnSpc>
              <a:spcBef>
                <a:spcPts val="0"/>
              </a:spcBef>
              <a:spcAft>
                <a:spcPts val="0"/>
              </a:spcAft>
              <a:defRPr sz="1400" b="0">
                <a:solidFill>
                  <a:srgbClr val="FFFFFF"/>
                </a:solidFill>
                <a:latin typeface="DejaVu Sans"/>
              </a:defRPr>
            </a:pPr>
          </a:p>
          <a:p>
            <a:pPr>
              <a:lnSpc>
                <a:spcPts val="1876"/>
              </a:lnSpc>
              <a:spcBef>
                <a:spcPts val="0"/>
              </a:spcBef>
              <a:spcAft>
                <a:spcPts val="0"/>
              </a:spcAft>
              <a:defRPr sz="1400" b="0">
                <a:solidFill>
                  <a:srgbClr val="FFFFFF"/>
                </a:solidFill>
                <a:latin typeface="DejaVu Sans"/>
              </a:defRPr>
            </a:pPr>
            <a:r>
              <a:t>Багш: Б. Тамир</a:t>
            </a:r>
          </a:p>
        </p:txBody>
      </p:sp>
      <p:sp>
        <p:nvSpPr>
          <p:cNvPr id="16" name="TextBox 15"/>
          <p:cNvSpPr txBox="1"/>
          <p:nvPr/>
        </p:nvSpPr>
        <p:spPr>
          <a:xfrm>
            <a:off x="8623300" y="762000"/>
            <a:ext cx="2984500" cy="762000"/>
          </a:xfrm>
          <a:prstGeom prst="rect">
            <a:avLst/>
          </a:prstGeom>
          <a:noFill/>
        </p:spPr>
        <p:txBody>
          <a:bodyPr wrap="none" lIns="0" rIns="0" tIns="0" bIns="0">
            <a:spAutoFit/>
          </a:bodyPr>
          <a:lstStyle/>
          <a:p>
            <a:pPr>
              <a:lnSpc>
                <a:spcPts val="2974"/>
              </a:lnSpc>
              <a:spcBef>
                <a:spcPts val="0"/>
              </a:spcBef>
              <a:spcAft>
                <a:spcPts val="0"/>
              </a:spcAft>
              <a:defRPr sz="2219" b="1">
                <a:solidFill>
                  <a:srgbClr val="FFFFFF"/>
                </a:solidFill>
                <a:latin typeface="DejaVu Sans"/>
              </a:defRPr>
            </a:pPr>
            <a:r>
              <a:t>ЭРХ ТЭГШ</a:t>
            </a:r>
          </a:p>
          <a:p>
            <a:pPr>
              <a:lnSpc>
                <a:spcPts val="2974"/>
              </a:lnSpc>
              <a:spcBef>
                <a:spcPts val="0"/>
              </a:spcBef>
              <a:spcAft>
                <a:spcPts val="0"/>
              </a:spcAft>
              <a:defRPr sz="2219" b="1">
                <a:solidFill>
                  <a:srgbClr val="FFFFFF"/>
                </a:solidFill>
                <a:latin typeface="DejaVu Sans"/>
              </a:defRPr>
            </a:pPr>
            <a:r>
              <a:t>БОЛОМЖ</a:t>
            </a:r>
          </a:p>
        </p:txBody>
      </p:sp>
      <p:sp>
        <p:nvSpPr>
          <p:cNvPr id="17" name="TextBox 16"/>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B7C7E1"/>
                </a:solidFill>
                <a:latin typeface="DejaVu Sans"/>
              </a:defRPr>
            </a:pPr>
            <a:r>
              <a:t>Эх: ҮХ • UDHR</a:t>
            </a:r>
          </a:p>
        </p:txBody>
      </p:sp>
      <p:sp>
        <p:nvSpPr>
          <p:cNvPr id="18" name="TextBox 17"/>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B7C7E1"/>
                </a:solidFill>
                <a:latin typeface="DejaVu Sans"/>
              </a:defRPr>
            </a:pPr>
            <a:r>
              <a:t>01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01 / АСУУДЛЫГ ТОДОРХОЙЛОХ</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Энэ илтгэл ямар асуултад хариулах вэ?</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01 Нөхцөл</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Ядуурал хүний эрхээ</a:t>
            </a:r>
          </a:p>
          <a:p>
            <a:pPr>
              <a:lnSpc>
                <a:spcPts val="2023"/>
              </a:lnSpc>
              <a:spcBef>
                <a:spcPts val="0"/>
              </a:spcBef>
              <a:spcAft>
                <a:spcPts val="0"/>
              </a:spcAft>
              <a:defRPr sz="1510" b="0">
                <a:solidFill>
                  <a:srgbClr val="16243B"/>
                </a:solidFill>
                <a:latin typeface="DejaVu Sans"/>
              </a:defRPr>
            </a:pPr>
            <a:r>
              <a:t>бодитоор эдлэх боломжийг</a:t>
            </a:r>
          </a:p>
          <a:p>
            <a:pPr>
              <a:lnSpc>
                <a:spcPts val="2023"/>
              </a:lnSpc>
              <a:spcBef>
                <a:spcPts val="0"/>
              </a:spcBef>
              <a:spcAft>
                <a:spcPts val="0"/>
              </a:spcAft>
              <a:defRPr sz="1510" b="0">
                <a:solidFill>
                  <a:srgbClr val="16243B"/>
                </a:solidFill>
                <a:latin typeface="DejaVu Sans"/>
              </a:defRPr>
            </a:pPr>
            <a:r>
              <a:t>хэрхэн хязгаарладаг вэ?</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02 Баталгаа</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Монголын хууль ба олон</a:t>
            </a:r>
          </a:p>
          <a:p>
            <a:pPr>
              <a:lnSpc>
                <a:spcPts val="2023"/>
              </a:lnSpc>
              <a:spcBef>
                <a:spcPts val="0"/>
              </a:spcBef>
              <a:spcAft>
                <a:spcPts val="0"/>
              </a:spcAft>
              <a:defRPr sz="1510" b="0">
                <a:solidFill>
                  <a:srgbClr val="16243B"/>
                </a:solidFill>
                <a:latin typeface="DejaVu Sans"/>
              </a:defRPr>
            </a:pPr>
            <a:r>
              <a:t>улсын баримт бичиг ямар</a:t>
            </a:r>
          </a:p>
          <a:p>
            <a:pPr>
              <a:lnSpc>
                <a:spcPts val="2023"/>
              </a:lnSpc>
              <a:spcBef>
                <a:spcPts val="0"/>
              </a:spcBef>
              <a:spcAft>
                <a:spcPts val="0"/>
              </a:spcAft>
              <a:defRPr sz="1510" b="0">
                <a:solidFill>
                  <a:srgbClr val="16243B"/>
                </a:solidFill>
                <a:latin typeface="DejaVu Sans"/>
              </a:defRPr>
            </a:pPr>
            <a:r>
              <a:t>хамгаалалт тогтоодог вэ?</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03 Шийдэл</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Шүүхийн кейс, бусад орны</a:t>
            </a:r>
          </a:p>
          <a:p>
            <a:pPr>
              <a:lnSpc>
                <a:spcPts val="2023"/>
              </a:lnSpc>
              <a:spcBef>
                <a:spcPts val="0"/>
              </a:spcBef>
              <a:spcAft>
                <a:spcPts val="0"/>
              </a:spcAft>
              <a:defRPr sz="1510" b="0">
                <a:solidFill>
                  <a:srgbClr val="16243B"/>
                </a:solidFill>
                <a:latin typeface="DejaVu Sans"/>
              </a:defRPr>
            </a:pPr>
            <a:r>
              <a:t>туршлагаас Монголд юу</a:t>
            </a:r>
          </a:p>
          <a:p>
            <a:pPr>
              <a:lnSpc>
                <a:spcPts val="2023"/>
              </a:lnSpc>
              <a:spcBef>
                <a:spcPts val="0"/>
              </a:spcBef>
              <a:spcAft>
                <a:spcPts val="0"/>
              </a:spcAft>
              <a:defRPr sz="1510" b="0">
                <a:solidFill>
                  <a:srgbClr val="16243B"/>
                </a:solidFill>
                <a:latin typeface="DejaVu Sans"/>
              </a:defRPr>
            </a:pPr>
            <a:r>
              <a:t>хэрэгжүүлж болох вэ?</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Гол байр суурь: халамжийн асуудлыг эрх, хүртээмж, хариуцлагатай холбож үзнэ.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 • ICESCR</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02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01 / НЭР ТОМЬЁО</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“Доод давхраа” гэдэг нь хүний үнэ цэнэ биш</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Эдийн засгийн байр</a:t>
            </a:r>
          </a:p>
          <a:p>
            <a:pPr>
              <a:lnSpc>
                <a:spcPts val="2412"/>
              </a:lnSpc>
              <a:spcBef>
                <a:spcPts val="0"/>
              </a:spcBef>
              <a:spcAft>
                <a:spcPts val="0"/>
              </a:spcAft>
              <a:defRPr sz="1800" b="1">
                <a:solidFill>
                  <a:srgbClr val="155EE8"/>
                </a:solidFill>
                <a:latin typeface="DejaVu Sans"/>
              </a:defRPr>
            </a:pPr>
            <a:r>
              <a:t>суурь</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Орлого, хөрөнгө, тогтвортой</a:t>
            </a:r>
          </a:p>
          <a:p>
            <a:pPr>
              <a:lnSpc>
                <a:spcPts val="2023"/>
              </a:lnSpc>
              <a:spcBef>
                <a:spcPts val="0"/>
              </a:spcBef>
              <a:spcAft>
                <a:spcPts val="0"/>
              </a:spcAft>
              <a:defRPr sz="1510" b="0">
                <a:solidFill>
                  <a:srgbClr val="16243B"/>
                </a:solidFill>
                <a:latin typeface="DejaVu Sans"/>
              </a:defRPr>
            </a:pPr>
            <a:r>
              <a:t>ажлын боломж бага; эдийн</a:t>
            </a:r>
          </a:p>
          <a:p>
            <a:pPr>
              <a:lnSpc>
                <a:spcPts val="2023"/>
              </a:lnSpc>
              <a:spcBef>
                <a:spcPts val="0"/>
              </a:spcBef>
              <a:spcAft>
                <a:spcPts val="0"/>
              </a:spcAft>
              <a:defRPr sz="1510" b="0">
                <a:solidFill>
                  <a:srgbClr val="16243B"/>
                </a:solidFill>
                <a:latin typeface="DejaVu Sans"/>
              </a:defRPr>
            </a:pPr>
            <a:r>
              <a:t>засгийн цочролд өртөх эрсдэл</a:t>
            </a:r>
          </a:p>
          <a:p>
            <a:pPr>
              <a:lnSpc>
                <a:spcPts val="2023"/>
              </a:lnSpc>
              <a:spcBef>
                <a:spcPts val="0"/>
              </a:spcBef>
              <a:spcAft>
                <a:spcPts val="0"/>
              </a:spcAft>
              <a:defRPr sz="1510" b="0">
                <a:solidFill>
                  <a:srgbClr val="16243B"/>
                </a:solidFill>
                <a:latin typeface="DejaVu Sans"/>
              </a:defRPr>
            </a:pPr>
            <a:r>
              <a:t>өндөр.</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Нийгмийн боломж</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Чанартай боловсрол, эрүүл</a:t>
            </a:r>
          </a:p>
          <a:p>
            <a:pPr>
              <a:lnSpc>
                <a:spcPts val="2023"/>
              </a:lnSpc>
              <a:spcBef>
                <a:spcPts val="0"/>
              </a:spcBef>
              <a:spcAft>
                <a:spcPts val="0"/>
              </a:spcAft>
              <a:defRPr sz="1510" b="0">
                <a:solidFill>
                  <a:srgbClr val="16243B"/>
                </a:solidFill>
                <a:latin typeface="DejaVu Sans"/>
              </a:defRPr>
            </a:pPr>
            <a:r>
              <a:t>мэнд, орон сууц, мэдээлэлд</a:t>
            </a:r>
          </a:p>
          <a:p>
            <a:pPr>
              <a:lnSpc>
                <a:spcPts val="2023"/>
              </a:lnSpc>
              <a:spcBef>
                <a:spcPts val="0"/>
              </a:spcBef>
              <a:spcAft>
                <a:spcPts val="0"/>
              </a:spcAft>
              <a:defRPr sz="1510" b="0">
                <a:solidFill>
                  <a:srgbClr val="16243B"/>
                </a:solidFill>
                <a:latin typeface="DejaVu Sans"/>
              </a:defRPr>
            </a:pPr>
            <a:r>
              <a:t>хүрэх боломж харилцан</a:t>
            </a:r>
          </a:p>
          <a:p>
            <a:pPr>
              <a:lnSpc>
                <a:spcPts val="2023"/>
              </a:lnSpc>
              <a:spcBef>
                <a:spcPts val="0"/>
              </a:spcBef>
              <a:spcAft>
                <a:spcPts val="0"/>
              </a:spcAft>
              <a:defRPr sz="1510" b="0">
                <a:solidFill>
                  <a:srgbClr val="16243B"/>
                </a:solidFill>
                <a:latin typeface="DejaVu Sans"/>
              </a:defRPr>
            </a:pPr>
            <a:r>
              <a:t>адилгүй.</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Эрхийн субъект</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Орлогоос үл хамааран хүн бүр</a:t>
            </a:r>
          </a:p>
          <a:p>
            <a:pPr>
              <a:lnSpc>
                <a:spcPts val="2023"/>
              </a:lnSpc>
              <a:spcBef>
                <a:spcPts val="0"/>
              </a:spcBef>
              <a:spcAft>
                <a:spcPts val="0"/>
              </a:spcAft>
              <a:defRPr sz="1510" b="0">
                <a:solidFill>
                  <a:srgbClr val="16243B"/>
                </a:solidFill>
                <a:latin typeface="DejaVu Sans"/>
              </a:defRPr>
            </a:pPr>
            <a:r>
              <a:t>ижил нэр төртэй, эрх эдлэгч.</a:t>
            </a:r>
          </a:p>
          <a:p>
            <a:pPr>
              <a:lnSpc>
                <a:spcPts val="2023"/>
              </a:lnSpc>
              <a:spcBef>
                <a:spcPts val="0"/>
              </a:spcBef>
              <a:spcAft>
                <a:spcPts val="0"/>
              </a:spcAft>
              <a:defRPr sz="1510" b="0">
                <a:solidFill>
                  <a:srgbClr val="16243B"/>
                </a:solidFill>
                <a:latin typeface="DejaVu Sans"/>
              </a:defRPr>
            </a:pPr>
            <a:r>
              <a:t>Ядуу хүнийг буруутгах нь</a:t>
            </a:r>
          </a:p>
          <a:p>
            <a:pPr>
              <a:lnSpc>
                <a:spcPts val="2023"/>
              </a:lnSpc>
              <a:spcBef>
                <a:spcPts val="0"/>
              </a:spcBef>
              <a:spcAft>
                <a:spcPts val="0"/>
              </a:spcAft>
              <a:defRPr sz="1510" b="0">
                <a:solidFill>
                  <a:srgbClr val="16243B"/>
                </a:solidFill>
                <a:latin typeface="DejaVu Sans"/>
              </a:defRPr>
            </a:pPr>
            <a:r>
              <a:t>бүтцийн шалтгааныг</a:t>
            </a:r>
          </a:p>
          <a:p>
            <a:pPr>
              <a:lnSpc>
                <a:spcPts val="2023"/>
              </a:lnSpc>
              <a:spcBef>
                <a:spcPts val="0"/>
              </a:spcBef>
              <a:spcAft>
                <a:spcPts val="0"/>
              </a:spcAft>
              <a:defRPr sz="1510" b="0">
                <a:solidFill>
                  <a:srgbClr val="16243B"/>
                </a:solidFill>
                <a:latin typeface="DejaVu Sans"/>
              </a:defRPr>
            </a:pPr>
            <a:r>
              <a:t>бүдгэрүүлдэг.</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Цаашид “бага орлоготой”, “ядууралд өртсөн”, “эмзэг нөхцөлтэй” гэсэн тодорхой үг хэрэглэнэ.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UDHR • ҮХ</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03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01 / ХЭМЖИЛТ</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Ядуурлыг орлогоор л хэмжиж болохгүй</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Мөнгөн ядуурал</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Хэрэглээ эсвэл орлого</a:t>
            </a:r>
          </a:p>
          <a:p>
            <a:pPr>
              <a:lnSpc>
                <a:spcPts val="2023"/>
              </a:lnSpc>
              <a:spcBef>
                <a:spcPts val="0"/>
              </a:spcBef>
              <a:spcAft>
                <a:spcPts val="0"/>
              </a:spcAft>
              <a:defRPr sz="1510" b="0">
                <a:solidFill>
                  <a:srgbClr val="16243B"/>
                </a:solidFill>
                <a:latin typeface="DejaVu Sans"/>
              </a:defRPr>
            </a:pPr>
            <a:r>
              <a:t>тогтоосон босгоос доогуур</a:t>
            </a:r>
          </a:p>
          <a:p>
            <a:pPr>
              <a:lnSpc>
                <a:spcPts val="2023"/>
              </a:lnSpc>
              <a:spcBef>
                <a:spcPts val="0"/>
              </a:spcBef>
              <a:spcAft>
                <a:spcPts val="0"/>
              </a:spcAft>
              <a:defRPr sz="1510" b="0">
                <a:solidFill>
                  <a:srgbClr val="16243B"/>
                </a:solidFill>
                <a:latin typeface="DejaVu Sans"/>
              </a:defRPr>
            </a:pPr>
            <a:r>
              <a:t>байх. Үндэсний босго нь</a:t>
            </a:r>
          </a:p>
          <a:p>
            <a:pPr>
              <a:lnSpc>
                <a:spcPts val="2023"/>
              </a:lnSpc>
              <a:spcBef>
                <a:spcPts val="0"/>
              </a:spcBef>
              <a:spcAft>
                <a:spcPts val="0"/>
              </a:spcAft>
              <a:defRPr sz="1510" b="0">
                <a:solidFill>
                  <a:srgbClr val="16243B"/>
                </a:solidFill>
                <a:latin typeface="DejaVu Sans"/>
              </a:defRPr>
            </a:pPr>
            <a:r>
              <a:t>тухайн улсын нөхцөлд</a:t>
            </a:r>
          </a:p>
          <a:p>
            <a:pPr>
              <a:lnSpc>
                <a:spcPts val="2023"/>
              </a:lnSpc>
              <a:spcBef>
                <a:spcPts val="0"/>
              </a:spcBef>
              <a:spcAft>
                <a:spcPts val="0"/>
              </a:spcAft>
              <a:defRPr sz="1510" b="0">
                <a:solidFill>
                  <a:srgbClr val="16243B"/>
                </a:solidFill>
                <a:latin typeface="DejaVu Sans"/>
              </a:defRPr>
            </a:pPr>
            <a:r>
              <a:t>тулгуурлана.</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Олон хэмжээст</a:t>
            </a:r>
          </a:p>
          <a:p>
            <a:pPr>
              <a:lnSpc>
                <a:spcPts val="2412"/>
              </a:lnSpc>
              <a:spcBef>
                <a:spcPts val="0"/>
              </a:spcBef>
              <a:spcAft>
                <a:spcPts val="0"/>
              </a:spcAft>
              <a:defRPr sz="1800" b="1">
                <a:solidFill>
                  <a:srgbClr val="155EE8"/>
                </a:solidFill>
                <a:latin typeface="DejaVu Sans"/>
              </a:defRPr>
            </a:pPr>
            <a:r>
              <a:t>хомсдол</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Боловсрол, эрүүл мэнд, ундны</a:t>
            </a:r>
          </a:p>
          <a:p>
            <a:pPr>
              <a:lnSpc>
                <a:spcPts val="2023"/>
              </a:lnSpc>
              <a:spcBef>
                <a:spcPts val="0"/>
              </a:spcBef>
              <a:spcAft>
                <a:spcPts val="0"/>
              </a:spcAft>
              <a:defRPr sz="1510" b="0">
                <a:solidFill>
                  <a:srgbClr val="16243B"/>
                </a:solidFill>
                <a:latin typeface="DejaVu Sans"/>
              </a:defRPr>
            </a:pPr>
            <a:r>
              <a:t>ус, ариун цэвэр, орон сууцны</a:t>
            </a:r>
          </a:p>
          <a:p>
            <a:pPr>
              <a:lnSpc>
                <a:spcPts val="2023"/>
              </a:lnSpc>
              <a:spcBef>
                <a:spcPts val="0"/>
              </a:spcBef>
              <a:spcAft>
                <a:spcPts val="0"/>
              </a:spcAft>
              <a:defRPr sz="1510" b="0">
                <a:solidFill>
                  <a:srgbClr val="16243B"/>
                </a:solidFill>
                <a:latin typeface="DejaVu Sans"/>
              </a:defRPr>
            </a:pPr>
            <a:r>
              <a:t>дутагдлыг хамтад нь харна.</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Нийгмийн гадуурхал</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Баримт бичиг, тээвэр, хэл,</a:t>
            </a:r>
          </a:p>
          <a:p>
            <a:pPr>
              <a:lnSpc>
                <a:spcPts val="2023"/>
              </a:lnSpc>
              <a:spcBef>
                <a:spcPts val="0"/>
              </a:spcBef>
              <a:spcAft>
                <a:spcPts val="0"/>
              </a:spcAft>
              <a:defRPr sz="1510" b="0">
                <a:solidFill>
                  <a:srgbClr val="16243B"/>
                </a:solidFill>
                <a:latin typeface="DejaVu Sans"/>
              </a:defRPr>
            </a:pPr>
            <a:r>
              <a:t>цахим ур чадвар, ялгаварлал</a:t>
            </a:r>
          </a:p>
          <a:p>
            <a:pPr>
              <a:lnSpc>
                <a:spcPts val="2023"/>
              </a:lnSpc>
              <a:spcBef>
                <a:spcPts val="0"/>
              </a:spcBef>
              <a:spcAft>
                <a:spcPts val="0"/>
              </a:spcAft>
              <a:defRPr sz="1510" b="0">
                <a:solidFill>
                  <a:srgbClr val="16243B"/>
                </a:solidFill>
                <a:latin typeface="DejaVu Sans"/>
              </a:defRPr>
            </a:pPr>
            <a:r>
              <a:t>зэргээс үйлчилгээ авч</a:t>
            </a:r>
          </a:p>
          <a:p>
            <a:pPr>
              <a:lnSpc>
                <a:spcPts val="2023"/>
              </a:lnSpc>
              <a:spcBef>
                <a:spcPts val="0"/>
              </a:spcBef>
              <a:spcAft>
                <a:spcPts val="0"/>
              </a:spcAft>
              <a:defRPr sz="1510" b="0">
                <a:solidFill>
                  <a:srgbClr val="16243B"/>
                </a:solidFill>
                <a:latin typeface="DejaVu Sans"/>
              </a:defRPr>
            </a:pPr>
            <a:r>
              <a:t>чадахгүй болох.</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Нэг үзүүлэлт бүх асуудлыг тайлбарлахгүй. Орлого, үйлчилгээний хүртээмж, эрхийн хамгаалалтыг хамт үнэлнэ.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POV • SDG</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04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01 / МОНГОЛЫН НӨХЦӨЛ</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Ядуурал буурсан ч хамрах хүрээ өндөр хэвээр</a:t>
            </a:r>
          </a:p>
        </p:txBody>
      </p:sp>
      <p:sp>
        <p:nvSpPr>
          <p:cNvPr id="6" name="TextBox 5"/>
          <p:cNvSpPr txBox="1"/>
          <p:nvPr/>
        </p:nvSpPr>
        <p:spPr>
          <a:xfrm>
            <a:off x="508000" y="1752600"/>
            <a:ext cx="7620000" cy="317500"/>
          </a:xfrm>
          <a:prstGeom prst="rect">
            <a:avLst/>
          </a:prstGeom>
          <a:noFill/>
        </p:spPr>
        <p:txBody>
          <a:bodyPr wrap="none" lIns="0" rIns="0" tIns="0" bIns="0">
            <a:spAutoFit/>
          </a:bodyPr>
          <a:lstStyle/>
          <a:p>
            <a:pPr>
              <a:lnSpc>
                <a:spcPts val="1742"/>
              </a:lnSpc>
              <a:spcBef>
                <a:spcPts val="0"/>
              </a:spcBef>
              <a:spcAft>
                <a:spcPts val="0"/>
              </a:spcAft>
              <a:defRPr sz="1300" b="0">
                <a:solidFill>
                  <a:srgbClr val="53657D"/>
                </a:solidFill>
                <a:latin typeface="DejaVu Sans"/>
              </a:defRPr>
            </a:pPr>
            <a:r>
              <a:t>Үндэсний ядуурлын түвшин • хүн амын хувь (%)</a:t>
            </a:r>
          </a:p>
        </p:txBody>
      </p:sp>
      <p:sp>
        <p:nvSpPr>
          <p:cNvPr id="7" name="Rectangle 6"/>
          <p:cNvSpPr/>
          <p:nvPr/>
        </p:nvSpPr>
        <p:spPr>
          <a:xfrm>
            <a:off x="939799" y="5257800"/>
            <a:ext cx="7137400" cy="8890"/>
          </a:xfrm>
          <a:prstGeom prst="rect">
            <a:avLst/>
          </a:prstGeom>
          <a:solidFill>
            <a:srgbClr val="D7E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8000" y="5156200"/>
            <a:ext cx="381000" cy="228600"/>
          </a:xfrm>
          <a:prstGeom prst="rect">
            <a:avLst/>
          </a:prstGeom>
          <a:noFill/>
        </p:spPr>
        <p:txBody>
          <a:bodyPr wrap="none" lIns="0" rIns="0" tIns="0" bIns="0">
            <a:spAutoFit/>
          </a:bodyPr>
          <a:lstStyle/>
          <a:p>
            <a:pPr>
              <a:lnSpc>
                <a:spcPts val="1340"/>
              </a:lnSpc>
              <a:spcBef>
                <a:spcPts val="0"/>
              </a:spcBef>
              <a:spcAft>
                <a:spcPts val="0"/>
              </a:spcAft>
              <a:defRPr sz="1000" b="0">
                <a:solidFill>
                  <a:srgbClr val="53657D"/>
                </a:solidFill>
                <a:latin typeface="DejaVu Sans"/>
              </a:defRPr>
            </a:pPr>
            <a:r>
              <a:t>0</a:t>
            </a:r>
          </a:p>
        </p:txBody>
      </p:sp>
      <p:sp>
        <p:nvSpPr>
          <p:cNvPr id="9" name="Rectangle 8"/>
          <p:cNvSpPr/>
          <p:nvPr/>
        </p:nvSpPr>
        <p:spPr>
          <a:xfrm>
            <a:off x="939799" y="4510314"/>
            <a:ext cx="7137400" cy="8890"/>
          </a:xfrm>
          <a:prstGeom prst="rect">
            <a:avLst/>
          </a:prstGeom>
          <a:solidFill>
            <a:srgbClr val="D7E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8000" y="4408714"/>
            <a:ext cx="381000" cy="228600"/>
          </a:xfrm>
          <a:prstGeom prst="rect">
            <a:avLst/>
          </a:prstGeom>
          <a:noFill/>
        </p:spPr>
        <p:txBody>
          <a:bodyPr wrap="none" lIns="0" rIns="0" tIns="0" bIns="0">
            <a:spAutoFit/>
          </a:bodyPr>
          <a:lstStyle/>
          <a:p>
            <a:pPr>
              <a:lnSpc>
                <a:spcPts val="1340"/>
              </a:lnSpc>
              <a:spcBef>
                <a:spcPts val="0"/>
              </a:spcBef>
              <a:spcAft>
                <a:spcPts val="0"/>
              </a:spcAft>
              <a:defRPr sz="1000" b="0">
                <a:solidFill>
                  <a:srgbClr val="53657D"/>
                </a:solidFill>
                <a:latin typeface="DejaVu Sans"/>
              </a:defRPr>
            </a:pPr>
            <a:r>
              <a:t>10</a:t>
            </a:r>
          </a:p>
        </p:txBody>
      </p:sp>
      <p:sp>
        <p:nvSpPr>
          <p:cNvPr id="11" name="Rectangle 10"/>
          <p:cNvSpPr/>
          <p:nvPr/>
        </p:nvSpPr>
        <p:spPr>
          <a:xfrm>
            <a:off x="939799" y="3762828"/>
            <a:ext cx="7137400" cy="8890"/>
          </a:xfrm>
          <a:prstGeom prst="rect">
            <a:avLst/>
          </a:prstGeom>
          <a:solidFill>
            <a:srgbClr val="D7E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8000" y="3661228"/>
            <a:ext cx="381000" cy="228600"/>
          </a:xfrm>
          <a:prstGeom prst="rect">
            <a:avLst/>
          </a:prstGeom>
          <a:noFill/>
        </p:spPr>
        <p:txBody>
          <a:bodyPr wrap="none" lIns="0" rIns="0" tIns="0" bIns="0">
            <a:spAutoFit/>
          </a:bodyPr>
          <a:lstStyle/>
          <a:p>
            <a:pPr>
              <a:lnSpc>
                <a:spcPts val="1340"/>
              </a:lnSpc>
              <a:spcBef>
                <a:spcPts val="0"/>
              </a:spcBef>
              <a:spcAft>
                <a:spcPts val="0"/>
              </a:spcAft>
              <a:defRPr sz="1000" b="0">
                <a:solidFill>
                  <a:srgbClr val="53657D"/>
                </a:solidFill>
                <a:latin typeface="DejaVu Sans"/>
              </a:defRPr>
            </a:pPr>
            <a:r>
              <a:t>20</a:t>
            </a:r>
          </a:p>
        </p:txBody>
      </p:sp>
      <p:sp>
        <p:nvSpPr>
          <p:cNvPr id="13" name="Rectangle 12"/>
          <p:cNvSpPr/>
          <p:nvPr/>
        </p:nvSpPr>
        <p:spPr>
          <a:xfrm>
            <a:off x="939799" y="3015342"/>
            <a:ext cx="7137400" cy="8890"/>
          </a:xfrm>
          <a:prstGeom prst="rect">
            <a:avLst/>
          </a:prstGeom>
          <a:solidFill>
            <a:srgbClr val="D7E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000" y="2913742"/>
            <a:ext cx="381000" cy="228600"/>
          </a:xfrm>
          <a:prstGeom prst="rect">
            <a:avLst/>
          </a:prstGeom>
          <a:noFill/>
        </p:spPr>
        <p:txBody>
          <a:bodyPr wrap="none" lIns="0" rIns="0" tIns="0" bIns="0">
            <a:spAutoFit/>
          </a:bodyPr>
          <a:lstStyle/>
          <a:p>
            <a:pPr>
              <a:lnSpc>
                <a:spcPts val="1340"/>
              </a:lnSpc>
              <a:spcBef>
                <a:spcPts val="0"/>
              </a:spcBef>
              <a:spcAft>
                <a:spcPts val="0"/>
              </a:spcAft>
              <a:defRPr sz="1000" b="0">
                <a:solidFill>
                  <a:srgbClr val="53657D"/>
                </a:solidFill>
                <a:latin typeface="DejaVu Sans"/>
              </a:defRPr>
            </a:pPr>
            <a:r>
              <a:t>30</a:t>
            </a:r>
          </a:p>
        </p:txBody>
      </p:sp>
      <p:sp>
        <p:nvSpPr>
          <p:cNvPr id="15" name="Rectangle 14"/>
          <p:cNvSpPr/>
          <p:nvPr/>
        </p:nvSpPr>
        <p:spPr>
          <a:xfrm>
            <a:off x="1346200" y="3045242"/>
            <a:ext cx="927100" cy="2212557"/>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95400" y="2676942"/>
            <a:ext cx="1143000" cy="292100"/>
          </a:xfrm>
          <a:prstGeom prst="rect">
            <a:avLst/>
          </a:prstGeom>
          <a:noFill/>
        </p:spPr>
        <p:txBody>
          <a:bodyPr wrap="none" lIns="0" rIns="0" tIns="0" bIns="0">
            <a:spAutoFit/>
          </a:bodyPr>
          <a:lstStyle/>
          <a:p>
            <a:pPr>
              <a:lnSpc>
                <a:spcPts val="2144"/>
              </a:lnSpc>
              <a:spcBef>
                <a:spcPts val="0"/>
              </a:spcBef>
              <a:spcAft>
                <a:spcPts val="0"/>
              </a:spcAft>
              <a:defRPr sz="1600" b="1">
                <a:solidFill>
                  <a:srgbClr val="155EE8"/>
                </a:solidFill>
                <a:latin typeface="DejaVu Sans"/>
              </a:defRPr>
            </a:pPr>
            <a:r>
              <a:t>29.6%</a:t>
            </a:r>
          </a:p>
        </p:txBody>
      </p:sp>
      <p:sp>
        <p:nvSpPr>
          <p:cNvPr id="17" name="TextBox 16"/>
          <p:cNvSpPr txBox="1"/>
          <p:nvPr/>
        </p:nvSpPr>
        <p:spPr>
          <a:xfrm>
            <a:off x="1447800" y="5410200"/>
            <a:ext cx="1016000" cy="279400"/>
          </a:xfrm>
          <a:prstGeom prst="rect">
            <a:avLst/>
          </a:prstGeom>
          <a:noFill/>
        </p:spPr>
        <p:txBody>
          <a:bodyPr wrap="none" lIns="0" rIns="0" tIns="0" bIns="0">
            <a:spAutoFit/>
          </a:bodyPr>
          <a:lstStyle/>
          <a:p>
            <a:pPr>
              <a:lnSpc>
                <a:spcPts val="1608"/>
              </a:lnSpc>
              <a:spcBef>
                <a:spcPts val="0"/>
              </a:spcBef>
              <a:spcAft>
                <a:spcPts val="0"/>
              </a:spcAft>
              <a:defRPr sz="1200" b="0">
                <a:solidFill>
                  <a:srgbClr val="53657D"/>
                </a:solidFill>
                <a:latin typeface="DejaVu Sans"/>
              </a:defRPr>
            </a:pPr>
            <a:r>
              <a:t>2016</a:t>
            </a:r>
          </a:p>
        </p:txBody>
      </p:sp>
      <p:sp>
        <p:nvSpPr>
          <p:cNvPr id="18" name="Rectangle 17"/>
          <p:cNvSpPr/>
          <p:nvPr/>
        </p:nvSpPr>
        <p:spPr>
          <a:xfrm>
            <a:off x="3073400" y="3134940"/>
            <a:ext cx="927100" cy="2122859"/>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22600" y="2766640"/>
            <a:ext cx="1143000" cy="292100"/>
          </a:xfrm>
          <a:prstGeom prst="rect">
            <a:avLst/>
          </a:prstGeom>
          <a:noFill/>
        </p:spPr>
        <p:txBody>
          <a:bodyPr wrap="none" lIns="0" rIns="0" tIns="0" bIns="0">
            <a:spAutoFit/>
          </a:bodyPr>
          <a:lstStyle/>
          <a:p>
            <a:pPr>
              <a:lnSpc>
                <a:spcPts val="2144"/>
              </a:lnSpc>
              <a:spcBef>
                <a:spcPts val="0"/>
              </a:spcBef>
              <a:spcAft>
                <a:spcPts val="0"/>
              </a:spcAft>
              <a:defRPr sz="1600" b="1">
                <a:solidFill>
                  <a:srgbClr val="155EE8"/>
                </a:solidFill>
                <a:latin typeface="DejaVu Sans"/>
              </a:defRPr>
            </a:pPr>
            <a:r>
              <a:t>28.4%</a:t>
            </a:r>
          </a:p>
        </p:txBody>
      </p:sp>
      <p:sp>
        <p:nvSpPr>
          <p:cNvPr id="20" name="TextBox 19"/>
          <p:cNvSpPr txBox="1"/>
          <p:nvPr/>
        </p:nvSpPr>
        <p:spPr>
          <a:xfrm>
            <a:off x="3175000" y="5410200"/>
            <a:ext cx="1016000" cy="279400"/>
          </a:xfrm>
          <a:prstGeom prst="rect">
            <a:avLst/>
          </a:prstGeom>
          <a:noFill/>
        </p:spPr>
        <p:txBody>
          <a:bodyPr wrap="none" lIns="0" rIns="0" tIns="0" bIns="0">
            <a:spAutoFit/>
          </a:bodyPr>
          <a:lstStyle/>
          <a:p>
            <a:pPr>
              <a:lnSpc>
                <a:spcPts val="1608"/>
              </a:lnSpc>
              <a:spcBef>
                <a:spcPts val="0"/>
              </a:spcBef>
              <a:spcAft>
                <a:spcPts val="0"/>
              </a:spcAft>
              <a:defRPr sz="1200" b="0">
                <a:solidFill>
                  <a:srgbClr val="53657D"/>
                </a:solidFill>
                <a:latin typeface="DejaVu Sans"/>
              </a:defRPr>
            </a:pPr>
            <a:r>
              <a:t>2018</a:t>
            </a:r>
          </a:p>
        </p:txBody>
      </p:sp>
      <p:sp>
        <p:nvSpPr>
          <p:cNvPr id="21" name="Rectangle 20"/>
          <p:cNvSpPr/>
          <p:nvPr/>
        </p:nvSpPr>
        <p:spPr>
          <a:xfrm>
            <a:off x="4800600" y="3179789"/>
            <a:ext cx="927100" cy="207801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49800" y="2811489"/>
            <a:ext cx="1143000" cy="292100"/>
          </a:xfrm>
          <a:prstGeom prst="rect">
            <a:avLst/>
          </a:prstGeom>
          <a:noFill/>
        </p:spPr>
        <p:txBody>
          <a:bodyPr wrap="none" lIns="0" rIns="0" tIns="0" bIns="0">
            <a:spAutoFit/>
          </a:bodyPr>
          <a:lstStyle/>
          <a:p>
            <a:pPr>
              <a:lnSpc>
                <a:spcPts val="2144"/>
              </a:lnSpc>
              <a:spcBef>
                <a:spcPts val="0"/>
              </a:spcBef>
              <a:spcAft>
                <a:spcPts val="0"/>
              </a:spcAft>
              <a:defRPr sz="1600" b="1">
                <a:solidFill>
                  <a:srgbClr val="155EE8"/>
                </a:solidFill>
                <a:latin typeface="DejaVu Sans"/>
              </a:defRPr>
            </a:pPr>
            <a:r>
              <a:t>27.8%</a:t>
            </a:r>
          </a:p>
        </p:txBody>
      </p:sp>
      <p:sp>
        <p:nvSpPr>
          <p:cNvPr id="23" name="TextBox 22"/>
          <p:cNvSpPr txBox="1"/>
          <p:nvPr/>
        </p:nvSpPr>
        <p:spPr>
          <a:xfrm>
            <a:off x="4902200" y="5410200"/>
            <a:ext cx="1016000" cy="279400"/>
          </a:xfrm>
          <a:prstGeom prst="rect">
            <a:avLst/>
          </a:prstGeom>
          <a:noFill/>
        </p:spPr>
        <p:txBody>
          <a:bodyPr wrap="none" lIns="0" rIns="0" tIns="0" bIns="0">
            <a:spAutoFit/>
          </a:bodyPr>
          <a:lstStyle/>
          <a:p>
            <a:pPr>
              <a:lnSpc>
                <a:spcPts val="1608"/>
              </a:lnSpc>
              <a:spcBef>
                <a:spcPts val="0"/>
              </a:spcBef>
              <a:spcAft>
                <a:spcPts val="0"/>
              </a:spcAft>
              <a:defRPr sz="1200" b="0">
                <a:solidFill>
                  <a:srgbClr val="53657D"/>
                </a:solidFill>
                <a:latin typeface="DejaVu Sans"/>
              </a:defRPr>
            </a:pPr>
            <a:r>
              <a:t>2020</a:t>
            </a:r>
          </a:p>
        </p:txBody>
      </p:sp>
      <p:sp>
        <p:nvSpPr>
          <p:cNvPr id="24" name="Rectangle 23"/>
          <p:cNvSpPr/>
          <p:nvPr/>
        </p:nvSpPr>
        <p:spPr>
          <a:xfrm>
            <a:off x="6527800" y="3232113"/>
            <a:ext cx="927100" cy="2025686"/>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7000" y="2863813"/>
            <a:ext cx="1143000" cy="292100"/>
          </a:xfrm>
          <a:prstGeom prst="rect">
            <a:avLst/>
          </a:prstGeom>
          <a:noFill/>
        </p:spPr>
        <p:txBody>
          <a:bodyPr wrap="none" lIns="0" rIns="0" tIns="0" bIns="0">
            <a:spAutoFit/>
          </a:bodyPr>
          <a:lstStyle/>
          <a:p>
            <a:pPr>
              <a:lnSpc>
                <a:spcPts val="2144"/>
              </a:lnSpc>
              <a:spcBef>
                <a:spcPts val="0"/>
              </a:spcBef>
              <a:spcAft>
                <a:spcPts val="0"/>
              </a:spcAft>
              <a:defRPr sz="1600" b="1">
                <a:solidFill>
                  <a:srgbClr val="155EE8"/>
                </a:solidFill>
                <a:latin typeface="DejaVu Sans"/>
              </a:defRPr>
            </a:pPr>
            <a:r>
              <a:t>27.1%</a:t>
            </a:r>
          </a:p>
        </p:txBody>
      </p:sp>
      <p:sp>
        <p:nvSpPr>
          <p:cNvPr id="26" name="TextBox 25"/>
          <p:cNvSpPr txBox="1"/>
          <p:nvPr/>
        </p:nvSpPr>
        <p:spPr>
          <a:xfrm>
            <a:off x="6629400" y="5410200"/>
            <a:ext cx="1016000" cy="279400"/>
          </a:xfrm>
          <a:prstGeom prst="rect">
            <a:avLst/>
          </a:prstGeom>
          <a:noFill/>
        </p:spPr>
        <p:txBody>
          <a:bodyPr wrap="none" lIns="0" rIns="0" tIns="0" bIns="0">
            <a:spAutoFit/>
          </a:bodyPr>
          <a:lstStyle/>
          <a:p>
            <a:pPr>
              <a:lnSpc>
                <a:spcPts val="1608"/>
              </a:lnSpc>
              <a:spcBef>
                <a:spcPts val="0"/>
              </a:spcBef>
              <a:spcAft>
                <a:spcPts val="0"/>
              </a:spcAft>
              <a:defRPr sz="1200" b="0">
                <a:solidFill>
                  <a:srgbClr val="53657D"/>
                </a:solidFill>
                <a:latin typeface="DejaVu Sans"/>
              </a:defRPr>
            </a:pPr>
            <a:r>
              <a:t>2022</a:t>
            </a:r>
          </a:p>
        </p:txBody>
      </p:sp>
      <p:sp>
        <p:nvSpPr>
          <p:cNvPr id="27" name="Rounded Rectangle 26"/>
          <p:cNvSpPr/>
          <p:nvPr/>
        </p:nvSpPr>
        <p:spPr>
          <a:xfrm>
            <a:off x="8661400" y="2120900"/>
            <a:ext cx="3022600" cy="3225800"/>
          </a:xfrm>
          <a:prstGeom prst="roundRect">
            <a:avLst>
              <a:gd name="adj" fmla="val 8000"/>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40800" y="2413000"/>
            <a:ext cx="2476500" cy="800100"/>
          </a:xfrm>
          <a:prstGeom prst="rect">
            <a:avLst/>
          </a:prstGeom>
          <a:noFill/>
        </p:spPr>
        <p:txBody>
          <a:bodyPr wrap="none" lIns="0" rIns="0" tIns="0" bIns="0">
            <a:spAutoFit/>
          </a:bodyPr>
          <a:lstStyle/>
          <a:p>
            <a:pPr>
              <a:lnSpc>
                <a:spcPts val="5896"/>
              </a:lnSpc>
              <a:spcBef>
                <a:spcPts val="0"/>
              </a:spcBef>
              <a:spcAft>
                <a:spcPts val="0"/>
              </a:spcAft>
              <a:defRPr sz="4400" b="1">
                <a:solidFill>
                  <a:srgbClr val="F5C842"/>
                </a:solidFill>
                <a:latin typeface="DejaVu Sans"/>
              </a:defRPr>
            </a:pPr>
            <a:r>
              <a:t>−2.5</a:t>
            </a:r>
          </a:p>
        </p:txBody>
      </p:sp>
      <p:sp>
        <p:nvSpPr>
          <p:cNvPr id="29" name="TextBox 28"/>
          <p:cNvSpPr txBox="1"/>
          <p:nvPr/>
        </p:nvSpPr>
        <p:spPr>
          <a:xfrm>
            <a:off x="8940800" y="3302000"/>
            <a:ext cx="2476500" cy="508000"/>
          </a:xfrm>
          <a:prstGeom prst="rect">
            <a:avLst/>
          </a:prstGeom>
          <a:noFill/>
        </p:spPr>
        <p:txBody>
          <a:bodyPr wrap="none" lIns="0" rIns="0" tIns="0" bIns="0">
            <a:spAutoFit/>
          </a:bodyPr>
          <a:lstStyle/>
          <a:p>
            <a:pPr>
              <a:lnSpc>
                <a:spcPts val="2412"/>
              </a:lnSpc>
              <a:spcBef>
                <a:spcPts val="0"/>
              </a:spcBef>
              <a:spcAft>
                <a:spcPts val="0"/>
              </a:spcAft>
              <a:defRPr sz="1800" b="1">
                <a:solidFill>
                  <a:srgbClr val="FFFFFF"/>
                </a:solidFill>
                <a:latin typeface="DejaVu Sans"/>
              </a:defRPr>
            </a:pPr>
            <a:r>
              <a:t>нэгж хувь</a:t>
            </a:r>
          </a:p>
        </p:txBody>
      </p:sp>
      <p:sp>
        <p:nvSpPr>
          <p:cNvPr id="30" name="TextBox 29"/>
          <p:cNvSpPr txBox="1"/>
          <p:nvPr/>
        </p:nvSpPr>
        <p:spPr>
          <a:xfrm>
            <a:off x="8940800" y="3987799"/>
            <a:ext cx="2413000" cy="1130300"/>
          </a:xfrm>
          <a:prstGeom prst="rect">
            <a:avLst/>
          </a:prstGeom>
          <a:noFill/>
        </p:spPr>
        <p:txBody>
          <a:bodyPr wrap="none" lIns="0" rIns="0" tIns="0" bIns="0">
            <a:spAutoFit/>
          </a:bodyPr>
          <a:lstStyle/>
          <a:p>
            <a:pPr>
              <a:lnSpc>
                <a:spcPts val="1742"/>
              </a:lnSpc>
              <a:spcBef>
                <a:spcPts val="0"/>
              </a:spcBef>
              <a:spcAft>
                <a:spcPts val="0"/>
              </a:spcAft>
              <a:defRPr sz="1300" b="0">
                <a:solidFill>
                  <a:srgbClr val="B7C7E1"/>
                </a:solidFill>
                <a:latin typeface="DejaVu Sans"/>
              </a:defRPr>
            </a:pPr>
            <a:r>
              <a:t>2016 → 2022</a:t>
            </a:r>
          </a:p>
          <a:p>
            <a:pPr>
              <a:lnSpc>
                <a:spcPts val="1742"/>
              </a:lnSpc>
              <a:spcBef>
                <a:spcPts val="0"/>
              </a:spcBef>
              <a:spcAft>
                <a:spcPts val="0"/>
              </a:spcAft>
              <a:defRPr sz="1300" b="0">
                <a:solidFill>
                  <a:srgbClr val="B7C7E1"/>
                </a:solidFill>
                <a:latin typeface="DejaVu Sans"/>
              </a:defRPr>
            </a:pPr>
            <a:r>
              <a:t>Үндэсний босгоор хэмжсэн</a:t>
            </a:r>
          </a:p>
          <a:p>
            <a:pPr>
              <a:lnSpc>
                <a:spcPts val="1742"/>
              </a:lnSpc>
              <a:spcBef>
                <a:spcPts val="0"/>
              </a:spcBef>
              <a:spcAft>
                <a:spcPts val="0"/>
              </a:spcAft>
              <a:defRPr sz="1300" b="0">
                <a:solidFill>
                  <a:srgbClr val="B7C7E1"/>
                </a:solidFill>
                <a:latin typeface="DejaVu Sans"/>
              </a:defRPr>
            </a:pPr>
            <a:r>
              <a:t>түүхэн өгөгдөл.</a:t>
            </a:r>
          </a:p>
        </p:txBody>
      </p:sp>
      <p:sp>
        <p:nvSpPr>
          <p:cNvPr id="31" name="Rounded Rectangle 30"/>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2022 онд 27.1% буюу ойролцоогоор 4 хүн тутмын 1 нь үндэсний ядуурлын босгоос доогуур хэрэглээтэй.</a:t>
            </a:r>
          </a:p>
        </p:txBody>
      </p:sp>
      <p:sp>
        <p:nvSpPr>
          <p:cNvPr id="33" name="TextBox 32"/>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POV</a:t>
            </a:r>
          </a:p>
        </p:txBody>
      </p:sp>
      <p:sp>
        <p:nvSpPr>
          <p:cNvPr id="34" name="TextBox 33"/>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05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01 / ШАЛТГААН БА ҮР ДАГАВАР</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Ядуурал ба эрхийн зөрчил бие биеэ бэхжүүлдэг</a:t>
            </a:r>
          </a:p>
        </p:txBody>
      </p:sp>
      <p:sp>
        <p:nvSpPr>
          <p:cNvPr id="6" name="Rounded Rectangle 5"/>
          <p:cNvSpPr/>
          <p:nvPr/>
        </p:nvSpPr>
        <p:spPr>
          <a:xfrm>
            <a:off x="482600" y="2171700"/>
            <a:ext cx="2654300" cy="30988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8500" y="2374900"/>
            <a:ext cx="2197100" cy="558800"/>
          </a:xfrm>
          <a:prstGeom prst="rect">
            <a:avLst/>
          </a:prstGeom>
          <a:noFill/>
        </p:spPr>
        <p:txBody>
          <a:bodyPr wrap="none" lIns="0" rIns="0" tIns="0" bIns="0">
            <a:spAutoFit/>
          </a:bodyPr>
          <a:lstStyle/>
          <a:p>
            <a:pPr>
              <a:lnSpc>
                <a:spcPts val="3886"/>
              </a:lnSpc>
              <a:spcBef>
                <a:spcPts val="0"/>
              </a:spcBef>
              <a:spcAft>
                <a:spcPts val="0"/>
              </a:spcAft>
              <a:defRPr sz="2900" b="1">
                <a:solidFill>
                  <a:srgbClr val="155EE8"/>
                </a:solidFill>
                <a:latin typeface="DejaVu Sans"/>
              </a:defRPr>
            </a:pPr>
            <a:r>
              <a:t>01</a:t>
            </a:r>
          </a:p>
        </p:txBody>
      </p:sp>
      <p:sp>
        <p:nvSpPr>
          <p:cNvPr id="8" name="TextBox 7"/>
          <p:cNvSpPr txBox="1"/>
          <p:nvPr/>
        </p:nvSpPr>
        <p:spPr>
          <a:xfrm>
            <a:off x="698500" y="3136900"/>
            <a:ext cx="2197100" cy="673100"/>
          </a:xfrm>
          <a:prstGeom prst="rect">
            <a:avLst/>
          </a:prstGeom>
          <a:noFill/>
        </p:spPr>
        <p:txBody>
          <a:bodyPr wrap="none" lIns="0" rIns="0" tIns="0" bIns="0">
            <a:spAutoFit/>
          </a:bodyPr>
          <a:lstStyle/>
          <a:p>
            <a:pPr>
              <a:lnSpc>
                <a:spcPts val="2546"/>
              </a:lnSpc>
              <a:spcBef>
                <a:spcPts val="0"/>
              </a:spcBef>
              <a:spcAft>
                <a:spcPts val="0"/>
              </a:spcAft>
              <a:defRPr sz="1900" b="1">
                <a:solidFill>
                  <a:srgbClr val="16243B"/>
                </a:solidFill>
                <a:latin typeface="DejaVu Sans"/>
              </a:defRPr>
            </a:pPr>
            <a:r>
              <a:t>Орлогын</a:t>
            </a:r>
          </a:p>
          <a:p>
            <a:pPr>
              <a:lnSpc>
                <a:spcPts val="2546"/>
              </a:lnSpc>
              <a:spcBef>
                <a:spcPts val="0"/>
              </a:spcBef>
              <a:spcAft>
                <a:spcPts val="0"/>
              </a:spcAft>
              <a:defRPr sz="1900" b="1">
                <a:solidFill>
                  <a:srgbClr val="16243B"/>
                </a:solidFill>
                <a:latin typeface="DejaVu Sans"/>
              </a:defRPr>
            </a:pPr>
            <a:r>
              <a:t>эрсдэл</a:t>
            </a:r>
          </a:p>
        </p:txBody>
      </p:sp>
      <p:sp>
        <p:nvSpPr>
          <p:cNvPr id="9" name="TextBox 8"/>
          <p:cNvSpPr txBox="1"/>
          <p:nvPr/>
        </p:nvSpPr>
        <p:spPr>
          <a:xfrm>
            <a:off x="698500" y="3937000"/>
            <a:ext cx="2197100" cy="1155700"/>
          </a:xfrm>
          <a:prstGeom prst="rect">
            <a:avLst/>
          </a:prstGeom>
          <a:noFill/>
        </p:spPr>
        <p:txBody>
          <a:bodyPr wrap="none" lIns="0" rIns="0" tIns="0" bIns="0">
            <a:spAutoFit/>
          </a:bodyPr>
          <a:lstStyle/>
          <a:p>
            <a:pPr>
              <a:lnSpc>
                <a:spcPts val="1768"/>
              </a:lnSpc>
              <a:spcBef>
                <a:spcPts val="0"/>
              </a:spcBef>
              <a:spcAft>
                <a:spcPts val="0"/>
              </a:spcAft>
              <a:defRPr sz="1320" b="0">
                <a:solidFill>
                  <a:srgbClr val="16243B"/>
                </a:solidFill>
                <a:latin typeface="DejaVu Sans"/>
              </a:defRPr>
            </a:pPr>
            <a:r>
              <a:t>Ажлын тогтворгүй</a:t>
            </a:r>
          </a:p>
          <a:p>
            <a:pPr>
              <a:lnSpc>
                <a:spcPts val="1768"/>
              </a:lnSpc>
              <a:spcBef>
                <a:spcPts val="0"/>
              </a:spcBef>
              <a:spcAft>
                <a:spcPts val="0"/>
              </a:spcAft>
              <a:defRPr sz="1320" b="0">
                <a:solidFill>
                  <a:srgbClr val="16243B"/>
                </a:solidFill>
                <a:latin typeface="DejaVu Sans"/>
              </a:defRPr>
            </a:pPr>
            <a:r>
              <a:t>байдал</a:t>
            </a:r>
          </a:p>
          <a:p>
            <a:pPr>
              <a:lnSpc>
                <a:spcPts val="1768"/>
              </a:lnSpc>
              <a:spcBef>
                <a:spcPts val="0"/>
              </a:spcBef>
              <a:spcAft>
                <a:spcPts val="0"/>
              </a:spcAft>
              <a:defRPr sz="1320" b="0">
                <a:solidFill>
                  <a:srgbClr val="16243B"/>
                </a:solidFill>
                <a:latin typeface="DejaVu Sans"/>
              </a:defRPr>
            </a:pPr>
            <a:r>
              <a:t>Үнэ, өрийн дарамт</a:t>
            </a:r>
          </a:p>
        </p:txBody>
      </p:sp>
      <p:sp>
        <p:nvSpPr>
          <p:cNvPr id="10" name="TextBox 9"/>
          <p:cNvSpPr txBox="1"/>
          <p:nvPr/>
        </p:nvSpPr>
        <p:spPr>
          <a:xfrm>
            <a:off x="3136900" y="3429000"/>
            <a:ext cx="241300" cy="368300"/>
          </a:xfrm>
          <a:prstGeom prst="rect">
            <a:avLst/>
          </a:prstGeom>
          <a:noFill/>
        </p:spPr>
        <p:txBody>
          <a:bodyPr wrap="none" lIns="0" rIns="0" tIns="0" bIns="0">
            <a:spAutoFit/>
          </a:bodyPr>
          <a:lstStyle/>
          <a:p>
            <a:pPr>
              <a:lnSpc>
                <a:spcPts val="2867"/>
              </a:lnSpc>
              <a:spcBef>
                <a:spcPts val="0"/>
              </a:spcBef>
              <a:spcAft>
                <a:spcPts val="0"/>
              </a:spcAft>
              <a:defRPr sz="2140" b="1">
                <a:solidFill>
                  <a:srgbClr val="155EE8"/>
                </a:solidFill>
                <a:latin typeface="DejaVu Sans"/>
              </a:defRPr>
            </a:pPr>
            <a:r>
              <a:t>›</a:t>
            </a:r>
          </a:p>
        </p:txBody>
      </p:sp>
      <p:sp>
        <p:nvSpPr>
          <p:cNvPr id="11" name="Rounded Rectangle 10"/>
          <p:cNvSpPr/>
          <p:nvPr/>
        </p:nvSpPr>
        <p:spPr>
          <a:xfrm>
            <a:off x="3340100" y="2171700"/>
            <a:ext cx="2654300" cy="30988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6000" y="2374900"/>
            <a:ext cx="2197100" cy="558800"/>
          </a:xfrm>
          <a:prstGeom prst="rect">
            <a:avLst/>
          </a:prstGeom>
          <a:noFill/>
        </p:spPr>
        <p:txBody>
          <a:bodyPr wrap="none" lIns="0" rIns="0" tIns="0" bIns="0">
            <a:spAutoFit/>
          </a:bodyPr>
          <a:lstStyle/>
          <a:p>
            <a:pPr>
              <a:lnSpc>
                <a:spcPts val="3886"/>
              </a:lnSpc>
              <a:spcBef>
                <a:spcPts val="0"/>
              </a:spcBef>
              <a:spcAft>
                <a:spcPts val="0"/>
              </a:spcAft>
              <a:defRPr sz="2900" b="1">
                <a:solidFill>
                  <a:srgbClr val="155EE8"/>
                </a:solidFill>
                <a:latin typeface="DejaVu Sans"/>
              </a:defRPr>
            </a:pPr>
            <a:r>
              <a:t>02</a:t>
            </a:r>
          </a:p>
        </p:txBody>
      </p:sp>
      <p:sp>
        <p:nvSpPr>
          <p:cNvPr id="13" name="TextBox 12"/>
          <p:cNvSpPr txBox="1"/>
          <p:nvPr/>
        </p:nvSpPr>
        <p:spPr>
          <a:xfrm>
            <a:off x="3556000" y="3136900"/>
            <a:ext cx="2197100" cy="673100"/>
          </a:xfrm>
          <a:prstGeom prst="rect">
            <a:avLst/>
          </a:prstGeom>
          <a:noFill/>
        </p:spPr>
        <p:txBody>
          <a:bodyPr wrap="none" lIns="0" rIns="0" tIns="0" bIns="0">
            <a:spAutoFit/>
          </a:bodyPr>
          <a:lstStyle/>
          <a:p>
            <a:pPr>
              <a:lnSpc>
                <a:spcPts val="2546"/>
              </a:lnSpc>
              <a:spcBef>
                <a:spcPts val="0"/>
              </a:spcBef>
              <a:spcAft>
                <a:spcPts val="0"/>
              </a:spcAft>
              <a:defRPr sz="1900" b="1">
                <a:solidFill>
                  <a:srgbClr val="16243B"/>
                </a:solidFill>
                <a:latin typeface="DejaVu Sans"/>
              </a:defRPr>
            </a:pPr>
            <a:r>
              <a:t>Үйлчилгээний</a:t>
            </a:r>
          </a:p>
          <a:p>
            <a:pPr>
              <a:lnSpc>
                <a:spcPts val="2546"/>
              </a:lnSpc>
              <a:spcBef>
                <a:spcPts val="0"/>
              </a:spcBef>
              <a:spcAft>
                <a:spcPts val="0"/>
              </a:spcAft>
              <a:defRPr sz="1900" b="1">
                <a:solidFill>
                  <a:srgbClr val="16243B"/>
                </a:solidFill>
                <a:latin typeface="DejaVu Sans"/>
              </a:defRPr>
            </a:pPr>
            <a:r>
              <a:t>саад</a:t>
            </a:r>
          </a:p>
        </p:txBody>
      </p:sp>
      <p:sp>
        <p:nvSpPr>
          <p:cNvPr id="14" name="TextBox 13"/>
          <p:cNvSpPr txBox="1"/>
          <p:nvPr/>
        </p:nvSpPr>
        <p:spPr>
          <a:xfrm>
            <a:off x="3556000" y="3937000"/>
            <a:ext cx="2197100" cy="1155700"/>
          </a:xfrm>
          <a:prstGeom prst="rect">
            <a:avLst/>
          </a:prstGeom>
          <a:noFill/>
        </p:spPr>
        <p:txBody>
          <a:bodyPr wrap="none" lIns="0" rIns="0" tIns="0" bIns="0">
            <a:spAutoFit/>
          </a:bodyPr>
          <a:lstStyle/>
          <a:p>
            <a:pPr>
              <a:lnSpc>
                <a:spcPts val="1768"/>
              </a:lnSpc>
              <a:spcBef>
                <a:spcPts val="0"/>
              </a:spcBef>
              <a:spcAft>
                <a:spcPts val="0"/>
              </a:spcAft>
              <a:defRPr sz="1320" b="0">
                <a:solidFill>
                  <a:srgbClr val="16243B"/>
                </a:solidFill>
                <a:latin typeface="DejaVu Sans"/>
              </a:defRPr>
            </a:pPr>
            <a:r>
              <a:t>Тээврийн зардал</a:t>
            </a:r>
          </a:p>
          <a:p>
            <a:pPr>
              <a:lnSpc>
                <a:spcPts val="1768"/>
              </a:lnSpc>
              <a:spcBef>
                <a:spcPts val="0"/>
              </a:spcBef>
              <a:spcAft>
                <a:spcPts val="0"/>
              </a:spcAft>
              <a:defRPr sz="1320" b="0">
                <a:solidFill>
                  <a:srgbClr val="16243B"/>
                </a:solidFill>
                <a:latin typeface="DejaVu Sans"/>
              </a:defRPr>
            </a:pPr>
            <a:r>
              <a:t>Баримт бичиг, хүртээмж</a:t>
            </a:r>
          </a:p>
        </p:txBody>
      </p:sp>
      <p:sp>
        <p:nvSpPr>
          <p:cNvPr id="15" name="TextBox 14"/>
          <p:cNvSpPr txBox="1"/>
          <p:nvPr/>
        </p:nvSpPr>
        <p:spPr>
          <a:xfrm>
            <a:off x="5994400" y="3429000"/>
            <a:ext cx="241300" cy="368300"/>
          </a:xfrm>
          <a:prstGeom prst="rect">
            <a:avLst/>
          </a:prstGeom>
          <a:noFill/>
        </p:spPr>
        <p:txBody>
          <a:bodyPr wrap="none" lIns="0" rIns="0" tIns="0" bIns="0">
            <a:spAutoFit/>
          </a:bodyPr>
          <a:lstStyle/>
          <a:p>
            <a:pPr>
              <a:lnSpc>
                <a:spcPts val="2867"/>
              </a:lnSpc>
              <a:spcBef>
                <a:spcPts val="0"/>
              </a:spcBef>
              <a:spcAft>
                <a:spcPts val="0"/>
              </a:spcAft>
              <a:defRPr sz="2140" b="1">
                <a:solidFill>
                  <a:srgbClr val="155EE8"/>
                </a:solidFill>
                <a:latin typeface="DejaVu Sans"/>
              </a:defRPr>
            </a:pPr>
            <a:r>
              <a:t>›</a:t>
            </a:r>
          </a:p>
        </p:txBody>
      </p:sp>
      <p:sp>
        <p:nvSpPr>
          <p:cNvPr id="16" name="Rounded Rectangle 15"/>
          <p:cNvSpPr/>
          <p:nvPr/>
        </p:nvSpPr>
        <p:spPr>
          <a:xfrm>
            <a:off x="6197600" y="2171700"/>
            <a:ext cx="2654300" cy="30988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3500" y="2374900"/>
            <a:ext cx="2197100" cy="558800"/>
          </a:xfrm>
          <a:prstGeom prst="rect">
            <a:avLst/>
          </a:prstGeom>
          <a:noFill/>
        </p:spPr>
        <p:txBody>
          <a:bodyPr wrap="none" lIns="0" rIns="0" tIns="0" bIns="0">
            <a:spAutoFit/>
          </a:bodyPr>
          <a:lstStyle/>
          <a:p>
            <a:pPr>
              <a:lnSpc>
                <a:spcPts val="3886"/>
              </a:lnSpc>
              <a:spcBef>
                <a:spcPts val="0"/>
              </a:spcBef>
              <a:spcAft>
                <a:spcPts val="0"/>
              </a:spcAft>
              <a:defRPr sz="2900" b="1">
                <a:solidFill>
                  <a:srgbClr val="155EE8"/>
                </a:solidFill>
                <a:latin typeface="DejaVu Sans"/>
              </a:defRPr>
            </a:pPr>
            <a:r>
              <a:t>03</a:t>
            </a:r>
          </a:p>
        </p:txBody>
      </p:sp>
      <p:sp>
        <p:nvSpPr>
          <p:cNvPr id="18" name="TextBox 17"/>
          <p:cNvSpPr txBox="1"/>
          <p:nvPr/>
        </p:nvSpPr>
        <p:spPr>
          <a:xfrm>
            <a:off x="6413500" y="3136900"/>
            <a:ext cx="2197100" cy="673100"/>
          </a:xfrm>
          <a:prstGeom prst="rect">
            <a:avLst/>
          </a:prstGeom>
          <a:noFill/>
        </p:spPr>
        <p:txBody>
          <a:bodyPr wrap="none" lIns="0" rIns="0" tIns="0" bIns="0">
            <a:spAutoFit/>
          </a:bodyPr>
          <a:lstStyle/>
          <a:p>
            <a:pPr>
              <a:lnSpc>
                <a:spcPts val="2546"/>
              </a:lnSpc>
              <a:spcBef>
                <a:spcPts val="0"/>
              </a:spcBef>
              <a:spcAft>
                <a:spcPts val="0"/>
              </a:spcAft>
              <a:defRPr sz="1900" b="1">
                <a:solidFill>
                  <a:srgbClr val="16243B"/>
                </a:solidFill>
                <a:latin typeface="DejaVu Sans"/>
              </a:defRPr>
            </a:pPr>
            <a:r>
              <a:t>Боломж</a:t>
            </a:r>
          </a:p>
          <a:p>
            <a:pPr>
              <a:lnSpc>
                <a:spcPts val="2546"/>
              </a:lnSpc>
              <a:spcBef>
                <a:spcPts val="0"/>
              </a:spcBef>
              <a:spcAft>
                <a:spcPts val="0"/>
              </a:spcAft>
              <a:defRPr sz="1900" b="1">
                <a:solidFill>
                  <a:srgbClr val="16243B"/>
                </a:solidFill>
                <a:latin typeface="DejaVu Sans"/>
              </a:defRPr>
            </a:pPr>
            <a:r>
              <a:t>хумигдах</a:t>
            </a:r>
          </a:p>
        </p:txBody>
      </p:sp>
      <p:sp>
        <p:nvSpPr>
          <p:cNvPr id="19" name="TextBox 18"/>
          <p:cNvSpPr txBox="1"/>
          <p:nvPr/>
        </p:nvSpPr>
        <p:spPr>
          <a:xfrm>
            <a:off x="6413500" y="3937000"/>
            <a:ext cx="2197100" cy="1155700"/>
          </a:xfrm>
          <a:prstGeom prst="rect">
            <a:avLst/>
          </a:prstGeom>
          <a:noFill/>
        </p:spPr>
        <p:txBody>
          <a:bodyPr wrap="none" lIns="0" rIns="0" tIns="0" bIns="0">
            <a:spAutoFit/>
          </a:bodyPr>
          <a:lstStyle/>
          <a:p>
            <a:pPr>
              <a:lnSpc>
                <a:spcPts val="1768"/>
              </a:lnSpc>
              <a:spcBef>
                <a:spcPts val="0"/>
              </a:spcBef>
              <a:spcAft>
                <a:spcPts val="0"/>
              </a:spcAft>
              <a:defRPr sz="1320" b="0">
                <a:solidFill>
                  <a:srgbClr val="16243B"/>
                </a:solidFill>
                <a:latin typeface="DejaVu Sans"/>
              </a:defRPr>
            </a:pPr>
            <a:r>
              <a:t>Хичээл тасалдах</a:t>
            </a:r>
          </a:p>
          <a:p>
            <a:pPr>
              <a:lnSpc>
                <a:spcPts val="1768"/>
              </a:lnSpc>
              <a:spcBef>
                <a:spcPts val="0"/>
              </a:spcBef>
              <a:spcAft>
                <a:spcPts val="0"/>
              </a:spcAft>
              <a:defRPr sz="1320" b="0">
                <a:solidFill>
                  <a:srgbClr val="16243B"/>
                </a:solidFill>
                <a:latin typeface="DejaVu Sans"/>
              </a:defRPr>
            </a:pPr>
            <a:r>
              <a:t>Эмчилгээ хойшлох</a:t>
            </a:r>
          </a:p>
        </p:txBody>
      </p:sp>
      <p:sp>
        <p:nvSpPr>
          <p:cNvPr id="20" name="TextBox 19"/>
          <p:cNvSpPr txBox="1"/>
          <p:nvPr/>
        </p:nvSpPr>
        <p:spPr>
          <a:xfrm>
            <a:off x="8851900" y="3429000"/>
            <a:ext cx="241300" cy="368300"/>
          </a:xfrm>
          <a:prstGeom prst="rect">
            <a:avLst/>
          </a:prstGeom>
          <a:noFill/>
        </p:spPr>
        <p:txBody>
          <a:bodyPr wrap="none" lIns="0" rIns="0" tIns="0" bIns="0">
            <a:spAutoFit/>
          </a:bodyPr>
          <a:lstStyle/>
          <a:p>
            <a:pPr>
              <a:lnSpc>
                <a:spcPts val="2867"/>
              </a:lnSpc>
              <a:spcBef>
                <a:spcPts val="0"/>
              </a:spcBef>
              <a:spcAft>
                <a:spcPts val="0"/>
              </a:spcAft>
              <a:defRPr sz="2140" b="1">
                <a:solidFill>
                  <a:srgbClr val="155EE8"/>
                </a:solidFill>
                <a:latin typeface="DejaVu Sans"/>
              </a:defRPr>
            </a:pPr>
            <a:r>
              <a:t>›</a:t>
            </a:r>
          </a:p>
        </p:txBody>
      </p:sp>
      <p:sp>
        <p:nvSpPr>
          <p:cNvPr id="21" name="Rounded Rectangle 20"/>
          <p:cNvSpPr/>
          <p:nvPr/>
        </p:nvSpPr>
        <p:spPr>
          <a:xfrm>
            <a:off x="9055100" y="2171700"/>
            <a:ext cx="2654300" cy="30988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1000" y="2374900"/>
            <a:ext cx="2197100" cy="558800"/>
          </a:xfrm>
          <a:prstGeom prst="rect">
            <a:avLst/>
          </a:prstGeom>
          <a:noFill/>
        </p:spPr>
        <p:txBody>
          <a:bodyPr wrap="none" lIns="0" rIns="0" tIns="0" bIns="0">
            <a:spAutoFit/>
          </a:bodyPr>
          <a:lstStyle/>
          <a:p>
            <a:pPr>
              <a:lnSpc>
                <a:spcPts val="3886"/>
              </a:lnSpc>
              <a:spcBef>
                <a:spcPts val="0"/>
              </a:spcBef>
              <a:spcAft>
                <a:spcPts val="0"/>
              </a:spcAft>
              <a:defRPr sz="2900" b="1">
                <a:solidFill>
                  <a:srgbClr val="155EE8"/>
                </a:solidFill>
                <a:latin typeface="DejaVu Sans"/>
              </a:defRPr>
            </a:pPr>
            <a:r>
              <a:t>04</a:t>
            </a:r>
          </a:p>
        </p:txBody>
      </p:sp>
      <p:sp>
        <p:nvSpPr>
          <p:cNvPr id="23" name="TextBox 22"/>
          <p:cNvSpPr txBox="1"/>
          <p:nvPr/>
        </p:nvSpPr>
        <p:spPr>
          <a:xfrm>
            <a:off x="9271000" y="3136900"/>
            <a:ext cx="2197100" cy="673100"/>
          </a:xfrm>
          <a:prstGeom prst="rect">
            <a:avLst/>
          </a:prstGeom>
          <a:noFill/>
        </p:spPr>
        <p:txBody>
          <a:bodyPr wrap="none" lIns="0" rIns="0" tIns="0" bIns="0">
            <a:spAutoFit/>
          </a:bodyPr>
          <a:lstStyle/>
          <a:p>
            <a:pPr>
              <a:lnSpc>
                <a:spcPts val="2546"/>
              </a:lnSpc>
              <a:spcBef>
                <a:spcPts val="0"/>
              </a:spcBef>
              <a:spcAft>
                <a:spcPts val="0"/>
              </a:spcAft>
              <a:defRPr sz="1900" b="1">
                <a:solidFill>
                  <a:srgbClr val="16243B"/>
                </a:solidFill>
                <a:latin typeface="DejaVu Sans"/>
              </a:defRPr>
            </a:pPr>
            <a:r>
              <a:t>Эмзэг байдал</a:t>
            </a:r>
          </a:p>
        </p:txBody>
      </p:sp>
      <p:sp>
        <p:nvSpPr>
          <p:cNvPr id="24" name="TextBox 23"/>
          <p:cNvSpPr txBox="1"/>
          <p:nvPr/>
        </p:nvSpPr>
        <p:spPr>
          <a:xfrm>
            <a:off x="9271000" y="3937000"/>
            <a:ext cx="2197100" cy="1155700"/>
          </a:xfrm>
          <a:prstGeom prst="rect">
            <a:avLst/>
          </a:prstGeom>
          <a:noFill/>
        </p:spPr>
        <p:txBody>
          <a:bodyPr wrap="none" lIns="0" rIns="0" tIns="0" bIns="0">
            <a:spAutoFit/>
          </a:bodyPr>
          <a:lstStyle/>
          <a:p>
            <a:pPr>
              <a:lnSpc>
                <a:spcPts val="1768"/>
              </a:lnSpc>
              <a:spcBef>
                <a:spcPts val="0"/>
              </a:spcBef>
              <a:spcAft>
                <a:spcPts val="0"/>
              </a:spcAft>
              <a:defRPr sz="1320" b="0">
                <a:solidFill>
                  <a:srgbClr val="16243B"/>
                </a:solidFill>
                <a:latin typeface="DejaVu Sans"/>
              </a:defRPr>
            </a:pPr>
            <a:r>
              <a:t>Ур чадвар, эрүүл мэнд</a:t>
            </a:r>
          </a:p>
          <a:p>
            <a:pPr>
              <a:lnSpc>
                <a:spcPts val="1768"/>
              </a:lnSpc>
              <a:spcBef>
                <a:spcPts val="0"/>
              </a:spcBef>
              <a:spcAft>
                <a:spcPts val="0"/>
              </a:spcAft>
              <a:defRPr sz="1320" b="0">
                <a:solidFill>
                  <a:srgbClr val="16243B"/>
                </a:solidFill>
                <a:latin typeface="DejaVu Sans"/>
              </a:defRPr>
            </a:pPr>
            <a:r>
              <a:t>доройтох</a:t>
            </a:r>
          </a:p>
          <a:p>
            <a:pPr>
              <a:lnSpc>
                <a:spcPts val="1768"/>
              </a:lnSpc>
              <a:spcBef>
                <a:spcPts val="0"/>
              </a:spcBef>
              <a:spcAft>
                <a:spcPts val="0"/>
              </a:spcAft>
              <a:defRPr sz="1320" b="0">
                <a:solidFill>
                  <a:srgbClr val="16243B"/>
                </a:solidFill>
                <a:latin typeface="DejaVu Sans"/>
              </a:defRPr>
            </a:pPr>
            <a:r>
              <a:t>Орлого дахин буурах</a:t>
            </a:r>
          </a:p>
        </p:txBody>
      </p:sp>
      <p:sp>
        <p:nvSpPr>
          <p:cNvPr id="25" name="Rounded Rectangle 24"/>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Гинжин холбоог таслах арга: суурь үйлчилгээ + орлогын хамгаалалт + эрхээ шаардах боломж.</a:t>
            </a:r>
          </a:p>
        </p:txBody>
      </p:sp>
      <p:sp>
        <p:nvSpPr>
          <p:cNvPr id="27" name="TextBox 26"/>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ICESCR • CRC</a:t>
            </a:r>
          </a:p>
        </p:txBody>
      </p:sp>
      <p:sp>
        <p:nvSpPr>
          <p:cNvPr id="28" name="TextBox 27"/>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06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02 / ХҮНИЙ ЭРХИЙН СУУРЬ</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Эрхийн хандлага: тусламж хүсэгчээс эрх эдлэгч рүү</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Хүн бүр эрх эдэлнэ</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Хүний эрхийн түгээмэл</a:t>
            </a:r>
          </a:p>
          <a:p>
            <a:pPr>
              <a:lnSpc>
                <a:spcPts val="2023"/>
              </a:lnSpc>
              <a:spcBef>
                <a:spcPts val="0"/>
              </a:spcBef>
              <a:spcAft>
                <a:spcPts val="0"/>
              </a:spcAft>
              <a:defRPr sz="1510" b="0">
                <a:solidFill>
                  <a:srgbClr val="16243B"/>
                </a:solidFill>
                <a:latin typeface="DejaVu Sans"/>
              </a:defRPr>
            </a:pPr>
            <a:r>
              <a:t>тунхаглал, 1948.12.10: 1</a:t>
            </a:r>
          </a:p>
          <a:p>
            <a:pPr>
              <a:lnSpc>
                <a:spcPts val="2023"/>
              </a:lnSpc>
              <a:spcBef>
                <a:spcPts val="0"/>
              </a:spcBef>
              <a:spcAft>
                <a:spcPts val="0"/>
              </a:spcAft>
              <a:defRPr sz="1510" b="0">
                <a:solidFill>
                  <a:srgbClr val="16243B"/>
                </a:solidFill>
                <a:latin typeface="DejaVu Sans"/>
              </a:defRPr>
            </a:pPr>
            <a:r>
              <a:t>дүгээр зүйл — нэр төр, эрхийн</a:t>
            </a:r>
          </a:p>
          <a:p>
            <a:pPr>
              <a:lnSpc>
                <a:spcPts val="2023"/>
              </a:lnSpc>
              <a:spcBef>
                <a:spcPts val="0"/>
              </a:spcBef>
              <a:spcAft>
                <a:spcPts val="0"/>
              </a:spcAft>
              <a:defRPr sz="1510" b="0">
                <a:solidFill>
                  <a:srgbClr val="16243B"/>
                </a:solidFill>
                <a:latin typeface="DejaVu Sans"/>
              </a:defRPr>
            </a:pPr>
            <a:r>
              <a:t>тэгш байдал; 2 —</a:t>
            </a:r>
          </a:p>
          <a:p>
            <a:pPr>
              <a:lnSpc>
                <a:spcPts val="2023"/>
              </a:lnSpc>
              <a:spcBef>
                <a:spcPts val="0"/>
              </a:spcBef>
              <a:spcAft>
                <a:spcPts val="0"/>
              </a:spcAft>
              <a:defRPr sz="1510" b="0">
                <a:solidFill>
                  <a:srgbClr val="16243B"/>
                </a:solidFill>
                <a:latin typeface="DejaVu Sans"/>
              </a:defRPr>
            </a:pPr>
            <a:r>
              <a:t>ялгаварлахгүй байх.</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Улс үүрэг хүлээнэ</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ICESCR, 1966.12.16: 2.1 —</a:t>
            </a:r>
          </a:p>
          <a:p>
            <a:pPr>
              <a:lnSpc>
                <a:spcPts val="2023"/>
              </a:lnSpc>
              <a:spcBef>
                <a:spcPts val="0"/>
              </a:spcBef>
              <a:spcAft>
                <a:spcPts val="0"/>
              </a:spcAft>
              <a:defRPr sz="1510" b="0">
                <a:solidFill>
                  <a:srgbClr val="16243B"/>
                </a:solidFill>
                <a:latin typeface="DejaVu Sans"/>
              </a:defRPr>
            </a:pPr>
            <a:r>
              <a:t>нөөц бололцоогоо дээд</a:t>
            </a:r>
          </a:p>
          <a:p>
            <a:pPr>
              <a:lnSpc>
                <a:spcPts val="2023"/>
              </a:lnSpc>
              <a:spcBef>
                <a:spcPts val="0"/>
              </a:spcBef>
              <a:spcAft>
                <a:spcPts val="0"/>
              </a:spcAft>
              <a:defRPr sz="1510" b="0">
                <a:solidFill>
                  <a:srgbClr val="16243B"/>
                </a:solidFill>
                <a:latin typeface="DejaVu Sans"/>
              </a:defRPr>
            </a:pPr>
            <a:r>
              <a:t>хэмжээгээр ашиглан эрхийг</a:t>
            </a:r>
          </a:p>
          <a:p>
            <a:pPr>
              <a:lnSpc>
                <a:spcPts val="2023"/>
              </a:lnSpc>
              <a:spcBef>
                <a:spcPts val="0"/>
              </a:spcBef>
              <a:spcAft>
                <a:spcPts val="0"/>
              </a:spcAft>
              <a:defRPr sz="1510" b="0">
                <a:solidFill>
                  <a:srgbClr val="16243B"/>
                </a:solidFill>
                <a:latin typeface="DejaVu Sans"/>
              </a:defRPr>
            </a:pPr>
            <a:r>
              <a:t>дэвшилттэй хэрэгжүүлэх.</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Шийдвэрийг хянуулна</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Үндсэн хууль, 1992.01.13:</a:t>
            </a:r>
          </a:p>
          <a:p>
            <a:pPr>
              <a:lnSpc>
                <a:spcPts val="2023"/>
              </a:lnSpc>
              <a:spcBef>
                <a:spcPts val="0"/>
              </a:spcBef>
              <a:spcAft>
                <a:spcPts val="0"/>
              </a:spcAft>
              <a:defRPr sz="1510" b="0">
                <a:solidFill>
                  <a:srgbClr val="16243B"/>
                </a:solidFill>
                <a:latin typeface="DejaVu Sans"/>
              </a:defRPr>
            </a:pPr>
            <a:r>
              <a:t>16.12 — өргөдөл, гомдол;</a:t>
            </a:r>
          </a:p>
          <a:p>
            <a:pPr>
              <a:lnSpc>
                <a:spcPts val="2023"/>
              </a:lnSpc>
              <a:spcBef>
                <a:spcPts val="0"/>
              </a:spcBef>
              <a:spcAft>
                <a:spcPts val="0"/>
              </a:spcAft>
              <a:defRPr sz="1510" b="0">
                <a:solidFill>
                  <a:srgbClr val="16243B"/>
                </a:solidFill>
                <a:latin typeface="DejaVu Sans"/>
              </a:defRPr>
            </a:pPr>
            <a:r>
              <a:t>16.14 — шүүхээр</a:t>
            </a:r>
          </a:p>
          <a:p>
            <a:pPr>
              <a:lnSpc>
                <a:spcPts val="2023"/>
              </a:lnSpc>
              <a:spcBef>
                <a:spcPts val="0"/>
              </a:spcBef>
              <a:spcAft>
                <a:spcPts val="0"/>
              </a:spcAft>
              <a:defRPr sz="1510" b="0">
                <a:solidFill>
                  <a:srgbClr val="16243B"/>
                </a:solidFill>
                <a:latin typeface="DejaVu Sans"/>
              </a:defRPr>
            </a:pPr>
            <a:r>
              <a:t>хамгаалуулах, хууль зүйн</a:t>
            </a:r>
          </a:p>
          <a:p>
            <a:pPr>
              <a:lnSpc>
                <a:spcPts val="2023"/>
              </a:lnSpc>
              <a:spcBef>
                <a:spcPts val="0"/>
              </a:spcBef>
              <a:spcAft>
                <a:spcPts val="0"/>
              </a:spcAft>
              <a:defRPr sz="1510" b="0">
                <a:solidFill>
                  <a:srgbClr val="16243B"/>
                </a:solidFill>
                <a:latin typeface="DejaVu Sans"/>
              </a:defRPr>
            </a:pPr>
            <a:r>
              <a:t>туслалцаа.</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Хандив, сайн дурын тусламж нь төрийн хуулиар хүлээсэн үүргийг орлохгүй.</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UDHR • ICESCR • ҮХ</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07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02 / МОНГОЛЫН ЭРХ ЗҮЙ</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Үндсэн хууль: орлогоос үл хамаарах баталгаа</a:t>
            </a:r>
          </a:p>
        </p:txBody>
      </p:sp>
      <p:sp>
        <p:nvSpPr>
          <p:cNvPr id="6" name="Rectangle 5"/>
          <p:cNvSpPr/>
          <p:nvPr/>
        </p:nvSpPr>
        <p:spPr>
          <a:xfrm>
            <a:off x="482600" y="1892300"/>
            <a:ext cx="29845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2300" y="2006600"/>
            <a:ext cx="27051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Заалт • 1992.01.13</a:t>
            </a:r>
          </a:p>
        </p:txBody>
      </p:sp>
      <p:sp>
        <p:nvSpPr>
          <p:cNvPr id="8" name="Rectangle 7"/>
          <p:cNvSpPr/>
          <p:nvPr/>
        </p:nvSpPr>
        <p:spPr>
          <a:xfrm>
            <a:off x="3467100" y="1892300"/>
            <a:ext cx="38354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6800" y="2006600"/>
            <a:ext cx="35560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Агуулгын товч тайлбар</a:t>
            </a:r>
          </a:p>
        </p:txBody>
      </p:sp>
      <p:sp>
        <p:nvSpPr>
          <p:cNvPr id="10" name="Rectangle 9"/>
          <p:cNvSpPr/>
          <p:nvPr/>
        </p:nvSpPr>
        <p:spPr>
          <a:xfrm>
            <a:off x="7302500" y="1892300"/>
            <a:ext cx="44069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42200" y="2006600"/>
            <a:ext cx="41275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Бодит хэрэглээ</a:t>
            </a:r>
          </a:p>
        </p:txBody>
      </p:sp>
      <p:sp>
        <p:nvSpPr>
          <p:cNvPr id="12" name="Rectangle 11"/>
          <p:cNvSpPr/>
          <p:nvPr/>
        </p:nvSpPr>
        <p:spPr>
          <a:xfrm>
            <a:off x="482600" y="23876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 y="24892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14.1; 14.2</a:t>
            </a:r>
          </a:p>
        </p:txBody>
      </p:sp>
      <p:sp>
        <p:nvSpPr>
          <p:cNvPr id="14" name="Rectangle 13"/>
          <p:cNvSpPr/>
          <p:nvPr/>
        </p:nvSpPr>
        <p:spPr>
          <a:xfrm>
            <a:off x="3467100" y="23876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6800" y="24892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Хуулийн өмнө эрх тэгш; хөрөнгө чинээ</a:t>
            </a:r>
          </a:p>
          <a:p>
            <a:pPr>
              <a:lnSpc>
                <a:spcPts val="1634"/>
              </a:lnSpc>
              <a:spcBef>
                <a:spcPts val="0"/>
              </a:spcBef>
              <a:spcAft>
                <a:spcPts val="0"/>
              </a:spcAft>
              <a:defRPr sz="1220" b="0">
                <a:solidFill>
                  <a:srgbClr val="16243B"/>
                </a:solidFill>
                <a:latin typeface="DejaVu Sans"/>
              </a:defRPr>
            </a:pPr>
            <a:r>
              <a:t>зэрэг үндэслэлээр ялгаварлахгүй</a:t>
            </a:r>
          </a:p>
        </p:txBody>
      </p:sp>
      <p:sp>
        <p:nvSpPr>
          <p:cNvPr id="16" name="Rectangle 15"/>
          <p:cNvSpPr/>
          <p:nvPr/>
        </p:nvSpPr>
        <p:spPr>
          <a:xfrm>
            <a:off x="7302500" y="23876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42200" y="24892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Үйлчилгээний шалгуур хүнийг дорд үзэж</a:t>
            </a:r>
          </a:p>
          <a:p>
            <a:pPr>
              <a:lnSpc>
                <a:spcPts val="1634"/>
              </a:lnSpc>
              <a:spcBef>
                <a:spcPts val="0"/>
              </a:spcBef>
              <a:spcAft>
                <a:spcPts val="0"/>
              </a:spcAft>
              <a:defRPr sz="1220" b="0">
                <a:solidFill>
                  <a:srgbClr val="16243B"/>
                </a:solidFill>
                <a:latin typeface="DejaVu Sans"/>
              </a:defRPr>
            </a:pPr>
            <a:r>
              <a:t>болохгүй</a:t>
            </a:r>
          </a:p>
        </p:txBody>
      </p:sp>
      <p:sp>
        <p:nvSpPr>
          <p:cNvPr id="18" name="Rectangle 17"/>
          <p:cNvSpPr/>
          <p:nvPr/>
        </p:nvSpPr>
        <p:spPr>
          <a:xfrm>
            <a:off x="482600" y="31115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300" y="32131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16.4</a:t>
            </a:r>
          </a:p>
        </p:txBody>
      </p:sp>
      <p:sp>
        <p:nvSpPr>
          <p:cNvPr id="20" name="Rectangle 19"/>
          <p:cNvSpPr/>
          <p:nvPr/>
        </p:nvSpPr>
        <p:spPr>
          <a:xfrm>
            <a:off x="3467100" y="31115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6800" y="32131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Ажил, хөдөлмөрөө сонгох; хөдөлмөрийн</a:t>
            </a:r>
          </a:p>
          <a:p>
            <a:pPr>
              <a:lnSpc>
                <a:spcPts val="1634"/>
              </a:lnSpc>
              <a:spcBef>
                <a:spcPts val="0"/>
              </a:spcBef>
              <a:spcAft>
                <a:spcPts val="0"/>
              </a:spcAft>
              <a:defRPr sz="1220" b="0">
                <a:solidFill>
                  <a:srgbClr val="16243B"/>
                </a:solidFill>
                <a:latin typeface="DejaVu Sans"/>
              </a:defRPr>
            </a:pPr>
            <a:r>
              <a:t>аятай нөхцөл; цалин</a:t>
            </a:r>
          </a:p>
        </p:txBody>
      </p:sp>
      <p:sp>
        <p:nvSpPr>
          <p:cNvPr id="22" name="Rectangle 21"/>
          <p:cNvSpPr/>
          <p:nvPr/>
        </p:nvSpPr>
        <p:spPr>
          <a:xfrm>
            <a:off x="7302500" y="31115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200" y="32131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Аюулгүй ажил, хуульд нийцсэн хөлс</a:t>
            </a:r>
          </a:p>
        </p:txBody>
      </p:sp>
      <p:sp>
        <p:nvSpPr>
          <p:cNvPr id="24" name="Rectangle 23"/>
          <p:cNvSpPr/>
          <p:nvPr/>
        </p:nvSpPr>
        <p:spPr>
          <a:xfrm>
            <a:off x="482600" y="38354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300" y="39370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16.5</a:t>
            </a:r>
          </a:p>
        </p:txBody>
      </p:sp>
      <p:sp>
        <p:nvSpPr>
          <p:cNvPr id="26" name="Rectangle 25"/>
          <p:cNvSpPr/>
          <p:nvPr/>
        </p:nvSpPr>
        <p:spPr>
          <a:xfrm>
            <a:off x="3467100" y="38354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6800" y="39370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Хуульд заасан нөхцөлд эд, мөнгөний</a:t>
            </a:r>
          </a:p>
          <a:p>
            <a:pPr>
              <a:lnSpc>
                <a:spcPts val="1634"/>
              </a:lnSpc>
              <a:spcBef>
                <a:spcPts val="0"/>
              </a:spcBef>
              <a:spcAft>
                <a:spcPts val="0"/>
              </a:spcAft>
              <a:defRPr sz="1220" b="0">
                <a:solidFill>
                  <a:srgbClr val="16243B"/>
                </a:solidFill>
                <a:latin typeface="DejaVu Sans"/>
              </a:defRPr>
            </a:pPr>
            <a:r>
              <a:t>тусламж авах</a:t>
            </a:r>
          </a:p>
        </p:txBody>
      </p:sp>
      <p:sp>
        <p:nvSpPr>
          <p:cNvPr id="28" name="Rectangle 27"/>
          <p:cNvSpPr/>
          <p:nvPr/>
        </p:nvSpPr>
        <p:spPr>
          <a:xfrm>
            <a:off x="7302500" y="38354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2200" y="39370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Өндөр нас, хөдөлмөрийн чадвар алдалт зэрэг</a:t>
            </a:r>
          </a:p>
        </p:txBody>
      </p:sp>
      <p:sp>
        <p:nvSpPr>
          <p:cNvPr id="30" name="Rectangle 29"/>
          <p:cNvSpPr/>
          <p:nvPr/>
        </p:nvSpPr>
        <p:spPr>
          <a:xfrm>
            <a:off x="482600" y="45593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2300" y="46609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16.6; 16.7</a:t>
            </a:r>
          </a:p>
        </p:txBody>
      </p:sp>
      <p:sp>
        <p:nvSpPr>
          <p:cNvPr id="32" name="Rectangle 31"/>
          <p:cNvSpPr/>
          <p:nvPr/>
        </p:nvSpPr>
        <p:spPr>
          <a:xfrm>
            <a:off x="3467100" y="45593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06800" y="46609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Эрүүл мэндээ хамгаалуулах; сурч</a:t>
            </a:r>
          </a:p>
          <a:p>
            <a:pPr>
              <a:lnSpc>
                <a:spcPts val="1634"/>
              </a:lnSpc>
              <a:spcBef>
                <a:spcPts val="0"/>
              </a:spcBef>
              <a:spcAft>
                <a:spcPts val="0"/>
              </a:spcAft>
              <a:defRPr sz="1220" b="0">
                <a:solidFill>
                  <a:srgbClr val="16243B"/>
                </a:solidFill>
                <a:latin typeface="DejaVu Sans"/>
              </a:defRPr>
            </a:pPr>
            <a:r>
              <a:t>боловсрох</a:t>
            </a:r>
          </a:p>
        </p:txBody>
      </p:sp>
      <p:sp>
        <p:nvSpPr>
          <p:cNvPr id="34" name="Rectangle 33"/>
          <p:cNvSpPr/>
          <p:nvPr/>
        </p:nvSpPr>
        <p:spPr>
          <a:xfrm>
            <a:off x="7302500" y="45593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42200" y="46609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Төлбөргүй үйлчилгээний хүрээг хууль тогтооно</a:t>
            </a:r>
          </a:p>
        </p:txBody>
      </p:sp>
      <p:sp>
        <p:nvSpPr>
          <p:cNvPr id="36" name="Rectangle 35"/>
          <p:cNvSpPr/>
          <p:nvPr/>
        </p:nvSpPr>
        <p:spPr>
          <a:xfrm>
            <a:off x="482600" y="52832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300" y="53848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19.1</a:t>
            </a:r>
          </a:p>
        </p:txBody>
      </p:sp>
      <p:sp>
        <p:nvSpPr>
          <p:cNvPr id="38" name="Rectangle 37"/>
          <p:cNvSpPr/>
          <p:nvPr/>
        </p:nvSpPr>
        <p:spPr>
          <a:xfrm>
            <a:off x="3467100" y="52832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06800" y="53848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Эдийн засаг, нийгэм, хууль зүйн</a:t>
            </a:r>
          </a:p>
          <a:p>
            <a:pPr>
              <a:lnSpc>
                <a:spcPts val="1634"/>
              </a:lnSpc>
              <a:spcBef>
                <a:spcPts val="0"/>
              </a:spcBef>
              <a:spcAft>
                <a:spcPts val="0"/>
              </a:spcAft>
              <a:defRPr sz="1220" b="0">
                <a:solidFill>
                  <a:srgbClr val="16243B"/>
                </a:solidFill>
                <a:latin typeface="DejaVu Sans"/>
              </a:defRPr>
            </a:pPr>
            <a:r>
              <a:t>баталгааг бүрдүүлэх төрийн үүрэг</a:t>
            </a:r>
          </a:p>
        </p:txBody>
      </p:sp>
      <p:sp>
        <p:nvSpPr>
          <p:cNvPr id="40" name="Rectangle 39"/>
          <p:cNvSpPr/>
          <p:nvPr/>
        </p:nvSpPr>
        <p:spPr>
          <a:xfrm>
            <a:off x="7302500" y="52832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42200" y="53848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Эрхийн хэрэгжилтийг төсөв, бодлогоор хангах</a:t>
            </a:r>
          </a:p>
        </p:txBody>
      </p:sp>
      <p:sp>
        <p:nvSpPr>
          <p:cNvPr id="42" name="Rounded Rectangle 41"/>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Энд болон бусад слайдад хуулийн агуулгыг хураангуйлсан; үгчилсэн эшлэл биш.</a:t>
            </a:r>
          </a:p>
        </p:txBody>
      </p:sp>
      <p:sp>
        <p:nvSpPr>
          <p:cNvPr id="44" name="TextBox 43"/>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a:t>
            </a:r>
          </a:p>
        </p:txBody>
      </p:sp>
      <p:sp>
        <p:nvSpPr>
          <p:cNvPr id="45" name="TextBox 44"/>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08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02 / САЛБАРЫН ХУУЛЬ</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Эрхийг хэрэгжүүлэх дотоодын гол хуулиуд</a:t>
            </a:r>
          </a:p>
        </p:txBody>
      </p:sp>
      <p:sp>
        <p:nvSpPr>
          <p:cNvPr id="6" name="Rectangle 5"/>
          <p:cNvSpPr/>
          <p:nvPr/>
        </p:nvSpPr>
        <p:spPr>
          <a:xfrm>
            <a:off x="482600" y="1892300"/>
            <a:ext cx="29845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2300" y="2006600"/>
            <a:ext cx="27051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Хууль • баталсан огноо</a:t>
            </a:r>
          </a:p>
        </p:txBody>
      </p:sp>
      <p:sp>
        <p:nvSpPr>
          <p:cNvPr id="8" name="Rectangle 7"/>
          <p:cNvSpPr/>
          <p:nvPr/>
        </p:nvSpPr>
        <p:spPr>
          <a:xfrm>
            <a:off x="3467100" y="1892300"/>
            <a:ext cx="38354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6800" y="2006600"/>
            <a:ext cx="35560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Холбогдох зохицуулалт</a:t>
            </a:r>
          </a:p>
        </p:txBody>
      </p:sp>
      <p:sp>
        <p:nvSpPr>
          <p:cNvPr id="10" name="Rectangle 9"/>
          <p:cNvSpPr/>
          <p:nvPr/>
        </p:nvSpPr>
        <p:spPr>
          <a:xfrm>
            <a:off x="7302500" y="1892300"/>
            <a:ext cx="44069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42200" y="2006600"/>
            <a:ext cx="41275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Хэрэгжилтийг шалгах асуулт</a:t>
            </a:r>
          </a:p>
        </p:txBody>
      </p:sp>
      <p:sp>
        <p:nvSpPr>
          <p:cNvPr id="12" name="Rectangle 11"/>
          <p:cNvSpPr/>
          <p:nvPr/>
        </p:nvSpPr>
        <p:spPr>
          <a:xfrm>
            <a:off x="482600" y="2387600"/>
            <a:ext cx="2971800" cy="8128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 y="2489200"/>
            <a:ext cx="2692400" cy="6477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Хөдөлмөрийн тухай</a:t>
            </a:r>
          </a:p>
          <a:p>
            <a:pPr>
              <a:lnSpc>
                <a:spcPts val="1634"/>
              </a:lnSpc>
              <a:spcBef>
                <a:spcPts val="0"/>
              </a:spcBef>
              <a:spcAft>
                <a:spcPts val="0"/>
              </a:spcAft>
              <a:defRPr sz="1220" b="1">
                <a:solidFill>
                  <a:srgbClr val="155EE8"/>
                </a:solidFill>
                <a:latin typeface="DejaVu Sans"/>
              </a:defRPr>
            </a:pPr>
            <a:r>
              <a:t>2021.07.02</a:t>
            </a:r>
          </a:p>
        </p:txBody>
      </p:sp>
      <p:sp>
        <p:nvSpPr>
          <p:cNvPr id="14" name="Rectangle 13"/>
          <p:cNvSpPr/>
          <p:nvPr/>
        </p:nvSpPr>
        <p:spPr>
          <a:xfrm>
            <a:off x="3467100" y="2387600"/>
            <a:ext cx="3822700" cy="8128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6800" y="2489200"/>
            <a:ext cx="3543300" cy="6477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6 дугаар зүйл: хөдөлмөрт ялгаварлан</a:t>
            </a:r>
          </a:p>
          <a:p>
            <a:pPr>
              <a:lnSpc>
                <a:spcPts val="1634"/>
              </a:lnSpc>
              <a:spcBef>
                <a:spcPts val="0"/>
              </a:spcBef>
              <a:spcAft>
                <a:spcPts val="0"/>
              </a:spcAft>
              <a:defRPr sz="1220" b="0">
                <a:solidFill>
                  <a:srgbClr val="16243B"/>
                </a:solidFill>
                <a:latin typeface="DejaVu Sans"/>
              </a:defRPr>
            </a:pPr>
            <a:r>
              <a:t>гадуурхахыг хориглох</a:t>
            </a:r>
          </a:p>
        </p:txBody>
      </p:sp>
      <p:sp>
        <p:nvSpPr>
          <p:cNvPr id="16" name="Rectangle 15"/>
          <p:cNvSpPr/>
          <p:nvPr/>
        </p:nvSpPr>
        <p:spPr>
          <a:xfrm>
            <a:off x="7302500" y="2387600"/>
            <a:ext cx="4394200" cy="8128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42200" y="2489200"/>
            <a:ext cx="4114800" cy="6477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Сонгон шалгаруулалт, цалин тэгш үү?</a:t>
            </a:r>
          </a:p>
        </p:txBody>
      </p:sp>
      <p:sp>
        <p:nvSpPr>
          <p:cNvPr id="18" name="Rectangle 17"/>
          <p:cNvSpPr/>
          <p:nvPr/>
        </p:nvSpPr>
        <p:spPr>
          <a:xfrm>
            <a:off x="482600" y="3213100"/>
            <a:ext cx="2971800" cy="8128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300" y="3314700"/>
            <a:ext cx="2692400" cy="6477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Нийгмийн халамжийн тухай</a:t>
            </a:r>
          </a:p>
          <a:p>
            <a:pPr>
              <a:lnSpc>
                <a:spcPts val="1634"/>
              </a:lnSpc>
              <a:spcBef>
                <a:spcPts val="0"/>
              </a:spcBef>
              <a:spcAft>
                <a:spcPts val="0"/>
              </a:spcAft>
              <a:defRPr sz="1220" b="1">
                <a:solidFill>
                  <a:srgbClr val="155EE8"/>
                </a:solidFill>
                <a:latin typeface="DejaVu Sans"/>
              </a:defRPr>
            </a:pPr>
            <a:r>
              <a:t>2012.01.19</a:t>
            </a:r>
          </a:p>
        </p:txBody>
      </p:sp>
      <p:sp>
        <p:nvSpPr>
          <p:cNvPr id="20" name="Rectangle 19"/>
          <p:cNvSpPr/>
          <p:nvPr/>
        </p:nvSpPr>
        <p:spPr>
          <a:xfrm>
            <a:off x="3467100" y="3213100"/>
            <a:ext cx="3822700" cy="8128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6800" y="3314700"/>
            <a:ext cx="3543300" cy="6477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Нийгмийн халамжийн тэтгэвэр, тэтгэмж,</a:t>
            </a:r>
          </a:p>
          <a:p>
            <a:pPr>
              <a:lnSpc>
                <a:spcPts val="1634"/>
              </a:lnSpc>
              <a:spcBef>
                <a:spcPts val="0"/>
              </a:spcBef>
              <a:spcAft>
                <a:spcPts val="0"/>
              </a:spcAft>
              <a:defRPr sz="1220" b="0">
                <a:solidFill>
                  <a:srgbClr val="16243B"/>
                </a:solidFill>
                <a:latin typeface="DejaVu Sans"/>
              </a:defRPr>
            </a:pPr>
            <a:r>
              <a:t>үйлчилгээ</a:t>
            </a:r>
          </a:p>
        </p:txBody>
      </p:sp>
      <p:sp>
        <p:nvSpPr>
          <p:cNvPr id="22" name="Rectangle 21"/>
          <p:cNvSpPr/>
          <p:nvPr/>
        </p:nvSpPr>
        <p:spPr>
          <a:xfrm>
            <a:off x="7302500" y="3213100"/>
            <a:ext cx="4394200" cy="8128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200" y="3314700"/>
            <a:ext cx="4114800" cy="6477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Хуулийн шалгуур хангасан хүнд хүрч байна уу?</a:t>
            </a:r>
          </a:p>
        </p:txBody>
      </p:sp>
      <p:sp>
        <p:nvSpPr>
          <p:cNvPr id="24" name="Rectangle 23"/>
          <p:cNvSpPr/>
          <p:nvPr/>
        </p:nvSpPr>
        <p:spPr>
          <a:xfrm>
            <a:off x="482600" y="4038600"/>
            <a:ext cx="2971800" cy="8128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300" y="4140200"/>
            <a:ext cx="2692400" cy="6477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Боловсролын ерөнхий хууль</a:t>
            </a:r>
          </a:p>
          <a:p>
            <a:pPr>
              <a:lnSpc>
                <a:spcPts val="1634"/>
              </a:lnSpc>
              <a:spcBef>
                <a:spcPts val="0"/>
              </a:spcBef>
              <a:spcAft>
                <a:spcPts val="0"/>
              </a:spcAft>
              <a:defRPr sz="1220" b="1">
                <a:solidFill>
                  <a:srgbClr val="155EE8"/>
                </a:solidFill>
                <a:latin typeface="DejaVu Sans"/>
              </a:defRPr>
            </a:pPr>
            <a:r>
              <a:t>2023.07.07</a:t>
            </a:r>
          </a:p>
        </p:txBody>
      </p:sp>
      <p:sp>
        <p:nvSpPr>
          <p:cNvPr id="26" name="Rectangle 25"/>
          <p:cNvSpPr/>
          <p:nvPr/>
        </p:nvSpPr>
        <p:spPr>
          <a:xfrm>
            <a:off x="3467100" y="4038600"/>
            <a:ext cx="3822700" cy="8128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6800" y="4140200"/>
            <a:ext cx="3543300" cy="6477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Боловсролын тэгш боломж, хүртээмжийн</a:t>
            </a:r>
          </a:p>
          <a:p>
            <a:pPr>
              <a:lnSpc>
                <a:spcPts val="1634"/>
              </a:lnSpc>
              <a:spcBef>
                <a:spcPts val="0"/>
              </a:spcBef>
              <a:spcAft>
                <a:spcPts val="0"/>
              </a:spcAft>
              <a:defRPr sz="1220" b="0">
                <a:solidFill>
                  <a:srgbClr val="16243B"/>
                </a:solidFill>
                <a:latin typeface="DejaVu Sans"/>
              </a:defRPr>
            </a:pPr>
            <a:r>
              <a:t>зохицуулалт</a:t>
            </a:r>
          </a:p>
        </p:txBody>
      </p:sp>
      <p:sp>
        <p:nvSpPr>
          <p:cNvPr id="28" name="Rectangle 27"/>
          <p:cNvSpPr/>
          <p:nvPr/>
        </p:nvSpPr>
        <p:spPr>
          <a:xfrm>
            <a:off x="7302500" y="4038600"/>
            <a:ext cx="4394200" cy="8128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2200" y="4140200"/>
            <a:ext cx="4114800" cy="6477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Төлбөрөөс гаднах саадыг арилгасан уу?</a:t>
            </a:r>
          </a:p>
        </p:txBody>
      </p:sp>
      <p:sp>
        <p:nvSpPr>
          <p:cNvPr id="30" name="Rectangle 29"/>
          <p:cNvSpPr/>
          <p:nvPr/>
        </p:nvSpPr>
        <p:spPr>
          <a:xfrm>
            <a:off x="482600" y="4864100"/>
            <a:ext cx="2971800" cy="8128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2300" y="4965700"/>
            <a:ext cx="2692400" cy="6477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Хөгжлийн бэрхшээлтэй</a:t>
            </a:r>
          </a:p>
          <a:p>
            <a:pPr>
              <a:lnSpc>
                <a:spcPts val="1634"/>
              </a:lnSpc>
              <a:spcBef>
                <a:spcPts val="0"/>
              </a:spcBef>
              <a:spcAft>
                <a:spcPts val="0"/>
              </a:spcAft>
              <a:defRPr sz="1220" b="1">
                <a:solidFill>
                  <a:srgbClr val="155EE8"/>
                </a:solidFill>
                <a:latin typeface="DejaVu Sans"/>
              </a:defRPr>
            </a:pPr>
            <a:r>
              <a:t>хүний эрхийн тухай</a:t>
            </a:r>
          </a:p>
          <a:p>
            <a:pPr>
              <a:lnSpc>
                <a:spcPts val="1634"/>
              </a:lnSpc>
              <a:spcBef>
                <a:spcPts val="0"/>
              </a:spcBef>
              <a:spcAft>
                <a:spcPts val="0"/>
              </a:spcAft>
              <a:defRPr sz="1220" b="1">
                <a:solidFill>
                  <a:srgbClr val="155EE8"/>
                </a:solidFill>
                <a:latin typeface="DejaVu Sans"/>
              </a:defRPr>
            </a:pPr>
            <a:r>
              <a:t>2016.02.05</a:t>
            </a:r>
          </a:p>
        </p:txBody>
      </p:sp>
      <p:sp>
        <p:nvSpPr>
          <p:cNvPr id="32" name="Rectangle 31"/>
          <p:cNvSpPr/>
          <p:nvPr/>
        </p:nvSpPr>
        <p:spPr>
          <a:xfrm>
            <a:off x="3467100" y="4864100"/>
            <a:ext cx="3822700" cy="8128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06800" y="4965700"/>
            <a:ext cx="3543300" cy="6477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Ялгаварлалгүй оролцоо, хүртээмжийн</a:t>
            </a:r>
          </a:p>
          <a:p>
            <a:pPr>
              <a:lnSpc>
                <a:spcPts val="1634"/>
              </a:lnSpc>
              <a:spcBef>
                <a:spcPts val="0"/>
              </a:spcBef>
              <a:spcAft>
                <a:spcPts val="0"/>
              </a:spcAft>
              <a:defRPr sz="1220" b="0">
                <a:solidFill>
                  <a:srgbClr val="16243B"/>
                </a:solidFill>
                <a:latin typeface="DejaVu Sans"/>
              </a:defRPr>
            </a:pPr>
            <a:r>
              <a:t>зохицуулалт</a:t>
            </a:r>
          </a:p>
        </p:txBody>
      </p:sp>
      <p:sp>
        <p:nvSpPr>
          <p:cNvPr id="34" name="Rectangle 33"/>
          <p:cNvSpPr/>
          <p:nvPr/>
        </p:nvSpPr>
        <p:spPr>
          <a:xfrm>
            <a:off x="7302500" y="4864100"/>
            <a:ext cx="4394200" cy="8128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42200" y="4965700"/>
            <a:ext cx="4114800" cy="6477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Орчин, мэдээлэл, үйлчилгээ хүртээмжтэй юу?</a:t>
            </a:r>
          </a:p>
        </p:txBody>
      </p:sp>
      <p:sp>
        <p:nvSpPr>
          <p:cNvPr id="36" name="Rounded Rectangle 35"/>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Батлагдсан он нь сүүлийн нэмэлт, өөрчлөлтийн он гэсэн үг биш. Одоогийн найруулгыг Legalinfo-оос нягтална.</a:t>
            </a:r>
          </a:p>
        </p:txBody>
      </p:sp>
      <p:sp>
        <p:nvSpPr>
          <p:cNvPr id="38" name="TextBox 37"/>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ХТ • НХ • БЕХ • ХБХ</a:t>
            </a:r>
          </a:p>
        </p:txBody>
      </p:sp>
      <p:sp>
        <p:nvSpPr>
          <p:cNvPr id="39" name="TextBox 38"/>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09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F5C842"/>
                </a:solidFill>
                <a:latin typeface="DejaVu Sans"/>
              </a:defRPr>
            </a:pPr>
            <a:r>
              <a:t>03 / ОЛОН УЛСЫН СТАНДАРТ</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FFFFFF"/>
                </a:solidFill>
                <a:latin typeface="DejaVu Sans"/>
              </a:defRPr>
            </a:pPr>
            <a:r>
              <a:t>Олон улсын эрх зүйн гол үе шатууд</a:t>
            </a:r>
          </a:p>
        </p:txBody>
      </p:sp>
      <p:sp>
        <p:nvSpPr>
          <p:cNvPr id="6" name="Rectangle 5"/>
          <p:cNvSpPr/>
          <p:nvPr/>
        </p:nvSpPr>
        <p:spPr>
          <a:xfrm>
            <a:off x="939799" y="2794000"/>
            <a:ext cx="10287000" cy="38100"/>
          </a:xfrm>
          <a:prstGeom prst="rect">
            <a:avLst/>
          </a:prstGeom>
          <a:solidFill>
            <a:srgbClr val="3851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2500" y="2705100"/>
            <a:ext cx="215900" cy="2159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600" y="2108200"/>
            <a:ext cx="2184400" cy="406400"/>
          </a:xfrm>
          <a:prstGeom prst="rect">
            <a:avLst/>
          </a:prstGeom>
          <a:noFill/>
        </p:spPr>
        <p:txBody>
          <a:bodyPr wrap="none" lIns="0" rIns="0" tIns="0" bIns="0">
            <a:spAutoFit/>
          </a:bodyPr>
          <a:lstStyle/>
          <a:p>
            <a:pPr>
              <a:lnSpc>
                <a:spcPts val="2278"/>
              </a:lnSpc>
              <a:spcBef>
                <a:spcPts val="0"/>
              </a:spcBef>
              <a:spcAft>
                <a:spcPts val="0"/>
              </a:spcAft>
              <a:defRPr sz="1700" b="1">
                <a:solidFill>
                  <a:srgbClr val="F5C842"/>
                </a:solidFill>
                <a:latin typeface="DejaVu Sans"/>
              </a:defRPr>
            </a:pPr>
            <a:r>
              <a:t>1948.12.10</a:t>
            </a:r>
          </a:p>
        </p:txBody>
      </p:sp>
      <p:sp>
        <p:nvSpPr>
          <p:cNvPr id="9" name="TextBox 8"/>
          <p:cNvSpPr txBox="1"/>
          <p:nvPr/>
        </p:nvSpPr>
        <p:spPr>
          <a:xfrm>
            <a:off x="482600" y="3175000"/>
            <a:ext cx="2095499" cy="939799"/>
          </a:xfrm>
          <a:prstGeom prst="rect">
            <a:avLst/>
          </a:prstGeom>
          <a:noFill/>
        </p:spPr>
        <p:txBody>
          <a:bodyPr wrap="none" lIns="0" rIns="0" tIns="0" bIns="0">
            <a:spAutoFit/>
          </a:bodyPr>
          <a:lstStyle/>
          <a:p>
            <a:pPr>
              <a:lnSpc>
                <a:spcPts val="2278"/>
              </a:lnSpc>
              <a:spcBef>
                <a:spcPts val="0"/>
              </a:spcBef>
              <a:spcAft>
                <a:spcPts val="0"/>
              </a:spcAft>
              <a:defRPr sz="1700" b="1">
                <a:solidFill>
                  <a:srgbClr val="FFFFFF"/>
                </a:solidFill>
                <a:latin typeface="DejaVu Sans"/>
              </a:defRPr>
            </a:pPr>
            <a:r>
              <a:t>Түгээмэл</a:t>
            </a:r>
          </a:p>
          <a:p>
            <a:pPr>
              <a:lnSpc>
                <a:spcPts val="2278"/>
              </a:lnSpc>
              <a:spcBef>
                <a:spcPts val="0"/>
              </a:spcBef>
              <a:spcAft>
                <a:spcPts val="0"/>
              </a:spcAft>
              <a:defRPr sz="1700" b="1">
                <a:solidFill>
                  <a:srgbClr val="FFFFFF"/>
                </a:solidFill>
                <a:latin typeface="DejaVu Sans"/>
              </a:defRPr>
            </a:pPr>
            <a:r>
              <a:t>тунхаглал</a:t>
            </a:r>
          </a:p>
        </p:txBody>
      </p:sp>
      <p:sp>
        <p:nvSpPr>
          <p:cNvPr id="10" name="TextBox 9"/>
          <p:cNvSpPr txBox="1"/>
          <p:nvPr/>
        </p:nvSpPr>
        <p:spPr>
          <a:xfrm>
            <a:off x="482600" y="4343400"/>
            <a:ext cx="2082800" cy="1016000"/>
          </a:xfrm>
          <a:prstGeom prst="rect">
            <a:avLst/>
          </a:prstGeom>
          <a:noFill/>
        </p:spPr>
        <p:txBody>
          <a:bodyPr wrap="none" lIns="0" rIns="0" tIns="0" bIns="0">
            <a:spAutoFit/>
          </a:bodyPr>
          <a:lstStyle/>
          <a:p>
            <a:pPr>
              <a:lnSpc>
                <a:spcPts val="1809"/>
              </a:lnSpc>
              <a:spcBef>
                <a:spcPts val="0"/>
              </a:spcBef>
              <a:spcAft>
                <a:spcPts val="0"/>
              </a:spcAft>
              <a:defRPr sz="1350" b="0">
                <a:solidFill>
                  <a:srgbClr val="B7C7E1"/>
                </a:solidFill>
                <a:latin typeface="DejaVu Sans"/>
              </a:defRPr>
            </a:pPr>
            <a:r>
              <a:t>Хүн бүрийн нэр төр,</a:t>
            </a:r>
          </a:p>
          <a:p>
            <a:pPr>
              <a:lnSpc>
                <a:spcPts val="1809"/>
              </a:lnSpc>
              <a:spcBef>
                <a:spcPts val="0"/>
              </a:spcBef>
              <a:spcAft>
                <a:spcPts val="0"/>
              </a:spcAft>
              <a:defRPr sz="1350" b="0">
                <a:solidFill>
                  <a:srgbClr val="B7C7E1"/>
                </a:solidFill>
                <a:latin typeface="DejaVu Sans"/>
              </a:defRPr>
            </a:pPr>
            <a:r>
              <a:t>суурь эрх</a:t>
            </a:r>
          </a:p>
        </p:txBody>
      </p:sp>
      <p:sp>
        <p:nvSpPr>
          <p:cNvPr id="11" name="Rectangle 10"/>
          <p:cNvSpPr/>
          <p:nvPr/>
        </p:nvSpPr>
        <p:spPr>
          <a:xfrm>
            <a:off x="3238500" y="2705100"/>
            <a:ext cx="215900" cy="2159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68600" y="2108200"/>
            <a:ext cx="2184400" cy="406400"/>
          </a:xfrm>
          <a:prstGeom prst="rect">
            <a:avLst/>
          </a:prstGeom>
          <a:noFill/>
        </p:spPr>
        <p:txBody>
          <a:bodyPr wrap="none" lIns="0" rIns="0" tIns="0" bIns="0">
            <a:spAutoFit/>
          </a:bodyPr>
          <a:lstStyle/>
          <a:p>
            <a:pPr>
              <a:lnSpc>
                <a:spcPts val="2278"/>
              </a:lnSpc>
              <a:spcBef>
                <a:spcPts val="0"/>
              </a:spcBef>
              <a:spcAft>
                <a:spcPts val="0"/>
              </a:spcAft>
              <a:defRPr sz="1700" b="1">
                <a:solidFill>
                  <a:srgbClr val="F5C842"/>
                </a:solidFill>
                <a:latin typeface="DejaVu Sans"/>
              </a:defRPr>
            </a:pPr>
            <a:r>
              <a:t>1966.12.16</a:t>
            </a:r>
          </a:p>
        </p:txBody>
      </p:sp>
      <p:sp>
        <p:nvSpPr>
          <p:cNvPr id="13" name="TextBox 12"/>
          <p:cNvSpPr txBox="1"/>
          <p:nvPr/>
        </p:nvSpPr>
        <p:spPr>
          <a:xfrm>
            <a:off x="2768600" y="3175000"/>
            <a:ext cx="2095499" cy="939799"/>
          </a:xfrm>
          <a:prstGeom prst="rect">
            <a:avLst/>
          </a:prstGeom>
          <a:noFill/>
        </p:spPr>
        <p:txBody>
          <a:bodyPr wrap="none" lIns="0" rIns="0" tIns="0" bIns="0">
            <a:spAutoFit/>
          </a:bodyPr>
          <a:lstStyle/>
          <a:p>
            <a:pPr>
              <a:lnSpc>
                <a:spcPts val="2278"/>
              </a:lnSpc>
              <a:spcBef>
                <a:spcPts val="0"/>
              </a:spcBef>
              <a:spcAft>
                <a:spcPts val="0"/>
              </a:spcAft>
              <a:defRPr sz="1700" b="1">
                <a:solidFill>
                  <a:srgbClr val="FFFFFF"/>
                </a:solidFill>
                <a:latin typeface="DejaVu Sans"/>
              </a:defRPr>
            </a:pPr>
            <a:r>
              <a:t>Хоёр олон</a:t>
            </a:r>
          </a:p>
          <a:p>
            <a:pPr>
              <a:lnSpc>
                <a:spcPts val="2278"/>
              </a:lnSpc>
              <a:spcBef>
                <a:spcPts val="0"/>
              </a:spcBef>
              <a:spcAft>
                <a:spcPts val="0"/>
              </a:spcAft>
              <a:defRPr sz="1700" b="1">
                <a:solidFill>
                  <a:srgbClr val="FFFFFF"/>
                </a:solidFill>
                <a:latin typeface="DejaVu Sans"/>
              </a:defRPr>
            </a:pPr>
            <a:r>
              <a:t>улсын пакт</a:t>
            </a:r>
          </a:p>
        </p:txBody>
      </p:sp>
      <p:sp>
        <p:nvSpPr>
          <p:cNvPr id="14" name="TextBox 13"/>
          <p:cNvSpPr txBox="1"/>
          <p:nvPr/>
        </p:nvSpPr>
        <p:spPr>
          <a:xfrm>
            <a:off x="2768600" y="4343400"/>
            <a:ext cx="2082800" cy="1016000"/>
          </a:xfrm>
          <a:prstGeom prst="rect">
            <a:avLst/>
          </a:prstGeom>
          <a:noFill/>
        </p:spPr>
        <p:txBody>
          <a:bodyPr wrap="none" lIns="0" rIns="0" tIns="0" bIns="0">
            <a:spAutoFit/>
          </a:bodyPr>
          <a:lstStyle/>
          <a:p>
            <a:pPr>
              <a:lnSpc>
                <a:spcPts val="1809"/>
              </a:lnSpc>
              <a:spcBef>
                <a:spcPts val="0"/>
              </a:spcBef>
              <a:spcAft>
                <a:spcPts val="0"/>
              </a:spcAft>
              <a:defRPr sz="1350" b="0">
                <a:solidFill>
                  <a:srgbClr val="B7C7E1"/>
                </a:solidFill>
                <a:latin typeface="DejaVu Sans"/>
              </a:defRPr>
            </a:pPr>
            <a:r>
              <a:t>Иргэний ба нийгэм,</a:t>
            </a:r>
          </a:p>
          <a:p>
            <a:pPr>
              <a:lnSpc>
                <a:spcPts val="1809"/>
              </a:lnSpc>
              <a:spcBef>
                <a:spcPts val="0"/>
              </a:spcBef>
              <a:spcAft>
                <a:spcPts val="0"/>
              </a:spcAft>
              <a:defRPr sz="1350" b="0">
                <a:solidFill>
                  <a:srgbClr val="B7C7E1"/>
                </a:solidFill>
                <a:latin typeface="DejaVu Sans"/>
              </a:defRPr>
            </a:pPr>
            <a:r>
              <a:t>эдийн засгийн эрх</a:t>
            </a:r>
          </a:p>
        </p:txBody>
      </p:sp>
      <p:sp>
        <p:nvSpPr>
          <p:cNvPr id="15" name="Rectangle 14"/>
          <p:cNvSpPr/>
          <p:nvPr/>
        </p:nvSpPr>
        <p:spPr>
          <a:xfrm>
            <a:off x="5524500" y="2705100"/>
            <a:ext cx="215900" cy="2159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54600" y="2108200"/>
            <a:ext cx="2184400" cy="406400"/>
          </a:xfrm>
          <a:prstGeom prst="rect">
            <a:avLst/>
          </a:prstGeom>
          <a:noFill/>
        </p:spPr>
        <p:txBody>
          <a:bodyPr wrap="none" lIns="0" rIns="0" tIns="0" bIns="0">
            <a:spAutoFit/>
          </a:bodyPr>
          <a:lstStyle/>
          <a:p>
            <a:pPr>
              <a:lnSpc>
                <a:spcPts val="2278"/>
              </a:lnSpc>
              <a:spcBef>
                <a:spcPts val="0"/>
              </a:spcBef>
              <a:spcAft>
                <a:spcPts val="0"/>
              </a:spcAft>
              <a:defRPr sz="1700" b="1">
                <a:solidFill>
                  <a:srgbClr val="F5C842"/>
                </a:solidFill>
                <a:latin typeface="DejaVu Sans"/>
              </a:defRPr>
            </a:pPr>
            <a:r>
              <a:t>1989.11.20</a:t>
            </a:r>
          </a:p>
        </p:txBody>
      </p:sp>
      <p:sp>
        <p:nvSpPr>
          <p:cNvPr id="17" name="TextBox 16"/>
          <p:cNvSpPr txBox="1"/>
          <p:nvPr/>
        </p:nvSpPr>
        <p:spPr>
          <a:xfrm>
            <a:off x="5054600" y="3175000"/>
            <a:ext cx="2095499" cy="939799"/>
          </a:xfrm>
          <a:prstGeom prst="rect">
            <a:avLst/>
          </a:prstGeom>
          <a:noFill/>
        </p:spPr>
        <p:txBody>
          <a:bodyPr wrap="none" lIns="0" rIns="0" tIns="0" bIns="0">
            <a:spAutoFit/>
          </a:bodyPr>
          <a:lstStyle/>
          <a:p>
            <a:pPr>
              <a:lnSpc>
                <a:spcPts val="2278"/>
              </a:lnSpc>
              <a:spcBef>
                <a:spcPts val="0"/>
              </a:spcBef>
              <a:spcAft>
                <a:spcPts val="0"/>
              </a:spcAft>
              <a:defRPr sz="1700" b="1">
                <a:solidFill>
                  <a:srgbClr val="FFFFFF"/>
                </a:solidFill>
                <a:latin typeface="DejaVu Sans"/>
              </a:defRPr>
            </a:pPr>
            <a:r>
              <a:t>Хүүхдийн</a:t>
            </a:r>
          </a:p>
          <a:p>
            <a:pPr>
              <a:lnSpc>
                <a:spcPts val="2278"/>
              </a:lnSpc>
              <a:spcBef>
                <a:spcPts val="0"/>
              </a:spcBef>
              <a:spcAft>
                <a:spcPts val="0"/>
              </a:spcAft>
              <a:defRPr sz="1700" b="1">
                <a:solidFill>
                  <a:srgbClr val="FFFFFF"/>
                </a:solidFill>
                <a:latin typeface="DejaVu Sans"/>
              </a:defRPr>
            </a:pPr>
            <a:r>
              <a:t>эрхийн конвенц</a:t>
            </a:r>
          </a:p>
        </p:txBody>
      </p:sp>
      <p:sp>
        <p:nvSpPr>
          <p:cNvPr id="18" name="TextBox 17"/>
          <p:cNvSpPr txBox="1"/>
          <p:nvPr/>
        </p:nvSpPr>
        <p:spPr>
          <a:xfrm>
            <a:off x="5054600" y="4343400"/>
            <a:ext cx="2082800" cy="1016000"/>
          </a:xfrm>
          <a:prstGeom prst="rect">
            <a:avLst/>
          </a:prstGeom>
          <a:noFill/>
        </p:spPr>
        <p:txBody>
          <a:bodyPr wrap="none" lIns="0" rIns="0" tIns="0" bIns="0">
            <a:spAutoFit/>
          </a:bodyPr>
          <a:lstStyle/>
          <a:p>
            <a:pPr>
              <a:lnSpc>
                <a:spcPts val="1809"/>
              </a:lnSpc>
              <a:spcBef>
                <a:spcPts val="0"/>
              </a:spcBef>
              <a:spcAft>
                <a:spcPts val="0"/>
              </a:spcAft>
              <a:defRPr sz="1350" b="0">
                <a:solidFill>
                  <a:srgbClr val="B7C7E1"/>
                </a:solidFill>
                <a:latin typeface="DejaVu Sans"/>
              </a:defRPr>
            </a:pPr>
            <a:r>
              <a:t>Хүүхдийн хамгаалалт,</a:t>
            </a:r>
          </a:p>
          <a:p>
            <a:pPr>
              <a:lnSpc>
                <a:spcPts val="1809"/>
              </a:lnSpc>
              <a:spcBef>
                <a:spcPts val="0"/>
              </a:spcBef>
              <a:spcAft>
                <a:spcPts val="0"/>
              </a:spcAft>
              <a:defRPr sz="1350" b="0">
                <a:solidFill>
                  <a:srgbClr val="B7C7E1"/>
                </a:solidFill>
                <a:latin typeface="DejaVu Sans"/>
              </a:defRPr>
            </a:pPr>
            <a:r>
              <a:t>хөгжил</a:t>
            </a:r>
          </a:p>
        </p:txBody>
      </p:sp>
      <p:sp>
        <p:nvSpPr>
          <p:cNvPr id="19" name="Rectangle 18"/>
          <p:cNvSpPr/>
          <p:nvPr/>
        </p:nvSpPr>
        <p:spPr>
          <a:xfrm>
            <a:off x="7810499" y="2705100"/>
            <a:ext cx="215900" cy="2159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600" y="2108200"/>
            <a:ext cx="2184400" cy="406400"/>
          </a:xfrm>
          <a:prstGeom prst="rect">
            <a:avLst/>
          </a:prstGeom>
          <a:noFill/>
        </p:spPr>
        <p:txBody>
          <a:bodyPr wrap="none" lIns="0" rIns="0" tIns="0" bIns="0">
            <a:spAutoFit/>
          </a:bodyPr>
          <a:lstStyle/>
          <a:p>
            <a:pPr>
              <a:lnSpc>
                <a:spcPts val="2278"/>
              </a:lnSpc>
              <a:spcBef>
                <a:spcPts val="0"/>
              </a:spcBef>
              <a:spcAft>
                <a:spcPts val="0"/>
              </a:spcAft>
              <a:defRPr sz="1700" b="1">
                <a:solidFill>
                  <a:srgbClr val="F5C842"/>
                </a:solidFill>
                <a:latin typeface="DejaVu Sans"/>
              </a:defRPr>
            </a:pPr>
            <a:r>
              <a:t>2006.12.13</a:t>
            </a:r>
          </a:p>
        </p:txBody>
      </p:sp>
      <p:sp>
        <p:nvSpPr>
          <p:cNvPr id="21" name="TextBox 20"/>
          <p:cNvSpPr txBox="1"/>
          <p:nvPr/>
        </p:nvSpPr>
        <p:spPr>
          <a:xfrm>
            <a:off x="7340600" y="3175000"/>
            <a:ext cx="2095499" cy="939799"/>
          </a:xfrm>
          <a:prstGeom prst="rect">
            <a:avLst/>
          </a:prstGeom>
          <a:noFill/>
        </p:spPr>
        <p:txBody>
          <a:bodyPr wrap="none" lIns="0" rIns="0" tIns="0" bIns="0">
            <a:spAutoFit/>
          </a:bodyPr>
          <a:lstStyle/>
          <a:p>
            <a:pPr>
              <a:lnSpc>
                <a:spcPts val="2278"/>
              </a:lnSpc>
              <a:spcBef>
                <a:spcPts val="0"/>
              </a:spcBef>
              <a:spcAft>
                <a:spcPts val="0"/>
              </a:spcAft>
              <a:defRPr sz="1700" b="1">
                <a:solidFill>
                  <a:srgbClr val="FFFFFF"/>
                </a:solidFill>
                <a:latin typeface="DejaVu Sans"/>
              </a:defRPr>
            </a:pPr>
            <a:r>
              <a:t>ХБХ-ийн эрхийн</a:t>
            </a:r>
          </a:p>
          <a:p>
            <a:pPr>
              <a:lnSpc>
                <a:spcPts val="2278"/>
              </a:lnSpc>
              <a:spcBef>
                <a:spcPts val="0"/>
              </a:spcBef>
              <a:spcAft>
                <a:spcPts val="0"/>
              </a:spcAft>
              <a:defRPr sz="1700" b="1">
                <a:solidFill>
                  <a:srgbClr val="FFFFFF"/>
                </a:solidFill>
                <a:latin typeface="DejaVu Sans"/>
              </a:defRPr>
            </a:pPr>
            <a:r>
              <a:t>конвенц</a:t>
            </a:r>
          </a:p>
        </p:txBody>
      </p:sp>
      <p:sp>
        <p:nvSpPr>
          <p:cNvPr id="22" name="TextBox 21"/>
          <p:cNvSpPr txBox="1"/>
          <p:nvPr/>
        </p:nvSpPr>
        <p:spPr>
          <a:xfrm>
            <a:off x="7340600" y="4343400"/>
            <a:ext cx="2082800" cy="1016000"/>
          </a:xfrm>
          <a:prstGeom prst="rect">
            <a:avLst/>
          </a:prstGeom>
          <a:noFill/>
        </p:spPr>
        <p:txBody>
          <a:bodyPr wrap="none" lIns="0" rIns="0" tIns="0" bIns="0">
            <a:spAutoFit/>
          </a:bodyPr>
          <a:lstStyle/>
          <a:p>
            <a:pPr>
              <a:lnSpc>
                <a:spcPts val="1809"/>
              </a:lnSpc>
              <a:spcBef>
                <a:spcPts val="0"/>
              </a:spcBef>
              <a:spcAft>
                <a:spcPts val="0"/>
              </a:spcAft>
              <a:defRPr sz="1350" b="0">
                <a:solidFill>
                  <a:srgbClr val="B7C7E1"/>
                </a:solidFill>
                <a:latin typeface="DejaVu Sans"/>
              </a:defRPr>
            </a:pPr>
            <a:r>
              <a:t>Хүртээмж ба тэгш</a:t>
            </a:r>
          </a:p>
          <a:p>
            <a:pPr>
              <a:lnSpc>
                <a:spcPts val="1809"/>
              </a:lnSpc>
              <a:spcBef>
                <a:spcPts val="0"/>
              </a:spcBef>
              <a:spcAft>
                <a:spcPts val="0"/>
              </a:spcAft>
              <a:defRPr sz="1350" b="0">
                <a:solidFill>
                  <a:srgbClr val="B7C7E1"/>
                </a:solidFill>
                <a:latin typeface="DejaVu Sans"/>
              </a:defRPr>
            </a:pPr>
            <a:r>
              <a:t>оролцоо</a:t>
            </a:r>
          </a:p>
        </p:txBody>
      </p:sp>
      <p:sp>
        <p:nvSpPr>
          <p:cNvPr id="23" name="Rectangle 22"/>
          <p:cNvSpPr/>
          <p:nvPr/>
        </p:nvSpPr>
        <p:spPr>
          <a:xfrm>
            <a:off x="10096500" y="2705100"/>
            <a:ext cx="215900" cy="2159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26600" y="2108200"/>
            <a:ext cx="2184400" cy="406400"/>
          </a:xfrm>
          <a:prstGeom prst="rect">
            <a:avLst/>
          </a:prstGeom>
          <a:noFill/>
        </p:spPr>
        <p:txBody>
          <a:bodyPr wrap="none" lIns="0" rIns="0" tIns="0" bIns="0">
            <a:spAutoFit/>
          </a:bodyPr>
          <a:lstStyle/>
          <a:p>
            <a:pPr>
              <a:lnSpc>
                <a:spcPts val="2278"/>
              </a:lnSpc>
              <a:spcBef>
                <a:spcPts val="0"/>
              </a:spcBef>
              <a:spcAft>
                <a:spcPts val="0"/>
              </a:spcAft>
              <a:defRPr sz="1700" b="1">
                <a:solidFill>
                  <a:srgbClr val="F5C842"/>
                </a:solidFill>
                <a:latin typeface="DejaVu Sans"/>
              </a:defRPr>
            </a:pPr>
            <a:r>
              <a:t>2015.09.25</a:t>
            </a:r>
          </a:p>
        </p:txBody>
      </p:sp>
      <p:sp>
        <p:nvSpPr>
          <p:cNvPr id="25" name="TextBox 24"/>
          <p:cNvSpPr txBox="1"/>
          <p:nvPr/>
        </p:nvSpPr>
        <p:spPr>
          <a:xfrm>
            <a:off x="9626600" y="3175000"/>
            <a:ext cx="2095499" cy="939799"/>
          </a:xfrm>
          <a:prstGeom prst="rect">
            <a:avLst/>
          </a:prstGeom>
          <a:noFill/>
        </p:spPr>
        <p:txBody>
          <a:bodyPr wrap="none" lIns="0" rIns="0" tIns="0" bIns="0">
            <a:spAutoFit/>
          </a:bodyPr>
          <a:lstStyle/>
          <a:p>
            <a:pPr>
              <a:lnSpc>
                <a:spcPts val="2278"/>
              </a:lnSpc>
              <a:spcBef>
                <a:spcPts val="0"/>
              </a:spcBef>
              <a:spcAft>
                <a:spcPts val="0"/>
              </a:spcAft>
              <a:defRPr sz="1700" b="1">
                <a:solidFill>
                  <a:srgbClr val="FFFFFF"/>
                </a:solidFill>
                <a:latin typeface="DejaVu Sans"/>
              </a:defRPr>
            </a:pPr>
            <a:r>
              <a:t>ТХЗ • 2030</a:t>
            </a:r>
          </a:p>
          <a:p>
            <a:pPr>
              <a:lnSpc>
                <a:spcPts val="2278"/>
              </a:lnSpc>
              <a:spcBef>
                <a:spcPts val="0"/>
              </a:spcBef>
              <a:spcAft>
                <a:spcPts val="0"/>
              </a:spcAft>
              <a:defRPr sz="1700" b="1">
                <a:solidFill>
                  <a:srgbClr val="FFFFFF"/>
                </a:solidFill>
                <a:latin typeface="DejaVu Sans"/>
              </a:defRPr>
            </a:pPr>
            <a:r>
              <a:t>хөтөлбөр</a:t>
            </a:r>
          </a:p>
        </p:txBody>
      </p:sp>
      <p:sp>
        <p:nvSpPr>
          <p:cNvPr id="26" name="TextBox 25"/>
          <p:cNvSpPr txBox="1"/>
          <p:nvPr/>
        </p:nvSpPr>
        <p:spPr>
          <a:xfrm>
            <a:off x="9626600" y="4343400"/>
            <a:ext cx="2082800" cy="1016000"/>
          </a:xfrm>
          <a:prstGeom prst="rect">
            <a:avLst/>
          </a:prstGeom>
          <a:noFill/>
        </p:spPr>
        <p:txBody>
          <a:bodyPr wrap="none" lIns="0" rIns="0" tIns="0" bIns="0">
            <a:spAutoFit/>
          </a:bodyPr>
          <a:lstStyle/>
          <a:p>
            <a:pPr>
              <a:lnSpc>
                <a:spcPts val="1809"/>
              </a:lnSpc>
              <a:spcBef>
                <a:spcPts val="0"/>
              </a:spcBef>
              <a:spcAft>
                <a:spcPts val="0"/>
              </a:spcAft>
              <a:defRPr sz="1350" b="0">
                <a:solidFill>
                  <a:srgbClr val="B7C7E1"/>
                </a:solidFill>
                <a:latin typeface="DejaVu Sans"/>
              </a:defRPr>
            </a:pPr>
            <a:r>
              <a:t>Ядуурал, тэгш бус</a:t>
            </a:r>
          </a:p>
          <a:p>
            <a:pPr>
              <a:lnSpc>
                <a:spcPts val="1809"/>
              </a:lnSpc>
              <a:spcBef>
                <a:spcPts val="0"/>
              </a:spcBef>
              <a:spcAft>
                <a:spcPts val="0"/>
              </a:spcAft>
              <a:defRPr sz="1350" b="0">
                <a:solidFill>
                  <a:srgbClr val="B7C7E1"/>
                </a:solidFill>
                <a:latin typeface="DejaVu Sans"/>
              </a:defRPr>
            </a:pPr>
            <a:r>
              <a:t>байдлыг бууруулах</a:t>
            </a:r>
          </a:p>
        </p:txBody>
      </p:sp>
      <p:sp>
        <p:nvSpPr>
          <p:cNvPr id="27" name="Rounded Rectangle 26"/>
          <p:cNvSpPr/>
          <p:nvPr/>
        </p:nvSpPr>
        <p:spPr>
          <a:xfrm>
            <a:off x="482600" y="5880100"/>
            <a:ext cx="11226800" cy="419100"/>
          </a:xfrm>
          <a:prstGeom prst="roundRect">
            <a:avLst>
              <a:gd name="adj" fmla="val 8000"/>
            </a:avLst>
          </a:prstGeom>
          <a:solidFill>
            <a:srgbClr val="213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FFFFFF"/>
                </a:solidFill>
                <a:latin typeface="DejaVu Sans"/>
              </a:defRPr>
            </a:pPr>
            <a:r>
              <a:t>Огноонууд нь олон улсын баримт бичгийг баталсан өдөр; Монгол Улс нэгдсэн огноо биш.</a:t>
            </a:r>
          </a:p>
        </p:txBody>
      </p:sp>
      <p:sp>
        <p:nvSpPr>
          <p:cNvPr id="29" name="TextBox 28"/>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B7C7E1"/>
                </a:solidFill>
                <a:latin typeface="DejaVu Sans"/>
              </a:defRPr>
            </a:pPr>
            <a:r>
              <a:t>Эх: UDHR • ICESCR • ICCPR • CRC • CRPD • SDG</a:t>
            </a:r>
          </a:p>
        </p:txBody>
      </p:sp>
      <p:sp>
        <p:nvSpPr>
          <p:cNvPr id="30" name="TextBox 29"/>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B7C7E1"/>
                </a:solidFill>
                <a:latin typeface="DejaVu Sans"/>
              </a:defRPr>
            </a:pPr>
            <a: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03 / ТҮГЭЭМЭЛ ТУНХАГЛАЛ</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1948.12.10 • Нэр төртэй амьдрах суурь стандарт</a:t>
            </a:r>
          </a:p>
        </p:txBody>
      </p:sp>
      <p:sp>
        <p:nvSpPr>
          <p:cNvPr id="6" name="Rectangle 5"/>
          <p:cNvSpPr/>
          <p:nvPr/>
        </p:nvSpPr>
        <p:spPr>
          <a:xfrm>
            <a:off x="482600" y="1892300"/>
            <a:ext cx="29845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2300" y="2006600"/>
            <a:ext cx="27051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UDHR-ийн зүйл</a:t>
            </a:r>
          </a:p>
        </p:txBody>
      </p:sp>
      <p:sp>
        <p:nvSpPr>
          <p:cNvPr id="8" name="Rectangle 7"/>
          <p:cNvSpPr/>
          <p:nvPr/>
        </p:nvSpPr>
        <p:spPr>
          <a:xfrm>
            <a:off x="3467100" y="1892300"/>
            <a:ext cx="38354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6800" y="2006600"/>
            <a:ext cx="35560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Хамгаалж буй эрх</a:t>
            </a:r>
          </a:p>
        </p:txBody>
      </p:sp>
      <p:sp>
        <p:nvSpPr>
          <p:cNvPr id="10" name="Rectangle 9"/>
          <p:cNvSpPr/>
          <p:nvPr/>
        </p:nvSpPr>
        <p:spPr>
          <a:xfrm>
            <a:off x="7302500" y="1892300"/>
            <a:ext cx="44069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42200" y="2006600"/>
            <a:ext cx="41275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Ядууралтай холбоо</a:t>
            </a:r>
          </a:p>
        </p:txBody>
      </p:sp>
      <p:sp>
        <p:nvSpPr>
          <p:cNvPr id="12" name="Rectangle 11"/>
          <p:cNvSpPr/>
          <p:nvPr/>
        </p:nvSpPr>
        <p:spPr>
          <a:xfrm>
            <a:off x="482600" y="23876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 y="24892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1, 2</a:t>
            </a:r>
          </a:p>
        </p:txBody>
      </p:sp>
      <p:sp>
        <p:nvSpPr>
          <p:cNvPr id="14" name="Rectangle 13"/>
          <p:cNvSpPr/>
          <p:nvPr/>
        </p:nvSpPr>
        <p:spPr>
          <a:xfrm>
            <a:off x="3467100" y="23876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6800" y="24892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Эрх тэгш байдал; ялгаварлан</a:t>
            </a:r>
          </a:p>
          <a:p>
            <a:pPr>
              <a:lnSpc>
                <a:spcPts val="1634"/>
              </a:lnSpc>
              <a:spcBef>
                <a:spcPts val="0"/>
              </a:spcBef>
              <a:spcAft>
                <a:spcPts val="0"/>
              </a:spcAft>
              <a:defRPr sz="1220" b="0">
                <a:solidFill>
                  <a:srgbClr val="16243B"/>
                </a:solidFill>
                <a:latin typeface="DejaVu Sans"/>
              </a:defRPr>
            </a:pPr>
            <a:r>
              <a:t>гадуурхахгүй байх</a:t>
            </a:r>
          </a:p>
        </p:txBody>
      </p:sp>
      <p:sp>
        <p:nvSpPr>
          <p:cNvPr id="16" name="Rectangle 15"/>
          <p:cNvSpPr/>
          <p:nvPr/>
        </p:nvSpPr>
        <p:spPr>
          <a:xfrm>
            <a:off x="7302500" y="23876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42200" y="24892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Бага орлогыг доромжлох үндэслэл болгохгүй</a:t>
            </a:r>
          </a:p>
        </p:txBody>
      </p:sp>
      <p:sp>
        <p:nvSpPr>
          <p:cNvPr id="18" name="Rectangle 17"/>
          <p:cNvSpPr/>
          <p:nvPr/>
        </p:nvSpPr>
        <p:spPr>
          <a:xfrm>
            <a:off x="482600" y="31115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300" y="32131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22</a:t>
            </a:r>
          </a:p>
        </p:txBody>
      </p:sp>
      <p:sp>
        <p:nvSpPr>
          <p:cNvPr id="20" name="Rectangle 19"/>
          <p:cNvSpPr/>
          <p:nvPr/>
        </p:nvSpPr>
        <p:spPr>
          <a:xfrm>
            <a:off x="3467100" y="31115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6800" y="32131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Нийгмийн хамгаалал</a:t>
            </a:r>
          </a:p>
        </p:txBody>
      </p:sp>
      <p:sp>
        <p:nvSpPr>
          <p:cNvPr id="22" name="Rectangle 21"/>
          <p:cNvSpPr/>
          <p:nvPr/>
        </p:nvSpPr>
        <p:spPr>
          <a:xfrm>
            <a:off x="7302500" y="31115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200" y="32131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Эрсдэлд орсон үед баталгаатай дэмжлэг</a:t>
            </a:r>
          </a:p>
        </p:txBody>
      </p:sp>
      <p:sp>
        <p:nvSpPr>
          <p:cNvPr id="24" name="Rectangle 23"/>
          <p:cNvSpPr/>
          <p:nvPr/>
        </p:nvSpPr>
        <p:spPr>
          <a:xfrm>
            <a:off x="482600" y="38354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300" y="39370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23</a:t>
            </a:r>
          </a:p>
        </p:txBody>
      </p:sp>
      <p:sp>
        <p:nvSpPr>
          <p:cNvPr id="26" name="Rectangle 25"/>
          <p:cNvSpPr/>
          <p:nvPr/>
        </p:nvSpPr>
        <p:spPr>
          <a:xfrm>
            <a:off x="3467100" y="38354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6800" y="39370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Хөдөлмөр; шударга, таатай цалин хөлс</a:t>
            </a:r>
          </a:p>
        </p:txBody>
      </p:sp>
      <p:sp>
        <p:nvSpPr>
          <p:cNvPr id="28" name="Rectangle 27"/>
          <p:cNvSpPr/>
          <p:nvPr/>
        </p:nvSpPr>
        <p:spPr>
          <a:xfrm>
            <a:off x="7302500" y="38354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2200" y="39370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Ажилтай ч ядуурах эрсдэлийг авч үзнэ</a:t>
            </a:r>
          </a:p>
        </p:txBody>
      </p:sp>
      <p:sp>
        <p:nvSpPr>
          <p:cNvPr id="30" name="Rectangle 29"/>
          <p:cNvSpPr/>
          <p:nvPr/>
        </p:nvSpPr>
        <p:spPr>
          <a:xfrm>
            <a:off x="482600" y="45593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2300" y="46609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25</a:t>
            </a:r>
          </a:p>
        </p:txBody>
      </p:sp>
      <p:sp>
        <p:nvSpPr>
          <p:cNvPr id="32" name="Rectangle 31"/>
          <p:cNvSpPr/>
          <p:nvPr/>
        </p:nvSpPr>
        <p:spPr>
          <a:xfrm>
            <a:off x="3467100" y="45593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06800" y="46609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Зохистой амьжиргаа; хоол, орон байр,</a:t>
            </a:r>
          </a:p>
          <a:p>
            <a:pPr>
              <a:lnSpc>
                <a:spcPts val="1634"/>
              </a:lnSpc>
              <a:spcBef>
                <a:spcPts val="0"/>
              </a:spcBef>
              <a:spcAft>
                <a:spcPts val="0"/>
              </a:spcAft>
              <a:defRPr sz="1220" b="0">
                <a:solidFill>
                  <a:srgbClr val="16243B"/>
                </a:solidFill>
                <a:latin typeface="DejaVu Sans"/>
              </a:defRPr>
            </a:pPr>
            <a:r>
              <a:t>эрүүл мэнд</a:t>
            </a:r>
          </a:p>
        </p:txBody>
      </p:sp>
      <p:sp>
        <p:nvSpPr>
          <p:cNvPr id="34" name="Rectangle 33"/>
          <p:cNvSpPr/>
          <p:nvPr/>
        </p:nvSpPr>
        <p:spPr>
          <a:xfrm>
            <a:off x="7302500" y="45593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42200" y="46609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Амьдралын суурь хэрэгцээг эрхтэй холбох</a:t>
            </a:r>
          </a:p>
        </p:txBody>
      </p:sp>
      <p:sp>
        <p:nvSpPr>
          <p:cNvPr id="36" name="Rectangle 35"/>
          <p:cNvSpPr/>
          <p:nvPr/>
        </p:nvSpPr>
        <p:spPr>
          <a:xfrm>
            <a:off x="482600" y="52832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300" y="53848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26</a:t>
            </a:r>
          </a:p>
        </p:txBody>
      </p:sp>
      <p:sp>
        <p:nvSpPr>
          <p:cNvPr id="38" name="Rectangle 37"/>
          <p:cNvSpPr/>
          <p:nvPr/>
        </p:nvSpPr>
        <p:spPr>
          <a:xfrm>
            <a:off x="3467100" y="52832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06800" y="53848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Боловсрол</a:t>
            </a:r>
          </a:p>
        </p:txBody>
      </p:sp>
      <p:sp>
        <p:nvSpPr>
          <p:cNvPr id="40" name="Rectangle 39"/>
          <p:cNvSpPr/>
          <p:nvPr/>
        </p:nvSpPr>
        <p:spPr>
          <a:xfrm>
            <a:off x="7302500" y="52832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42200" y="53848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Бага шатны боловсрол үнэ төлбөргүй, заавал</a:t>
            </a:r>
          </a:p>
          <a:p>
            <a:pPr>
              <a:lnSpc>
                <a:spcPts val="1634"/>
              </a:lnSpc>
              <a:spcBef>
                <a:spcPts val="0"/>
              </a:spcBef>
              <a:spcAft>
                <a:spcPts val="0"/>
              </a:spcAft>
              <a:defRPr sz="1220" b="0">
                <a:solidFill>
                  <a:srgbClr val="16243B"/>
                </a:solidFill>
                <a:latin typeface="DejaVu Sans"/>
              </a:defRPr>
            </a:pPr>
            <a:r>
              <a:t>байх</a:t>
            </a:r>
          </a:p>
        </p:txBody>
      </p:sp>
      <p:sp>
        <p:nvSpPr>
          <p:cNvPr id="42" name="Rounded Rectangle 41"/>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Түгээмэл тунхаглал нь гэрээ биш; хүний эрхийн нийтлэг стандартын суурь баримт бичиг.</a:t>
            </a:r>
          </a:p>
        </p:txBody>
      </p:sp>
      <p:sp>
        <p:nvSpPr>
          <p:cNvPr id="44" name="TextBox 43"/>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UDHR</a:t>
            </a:r>
          </a:p>
        </p:txBody>
      </p:sp>
      <p:sp>
        <p:nvSpPr>
          <p:cNvPr id="45" name="TextBox 44"/>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03 / ЭДИЙН ЗАСАГ, НИЙГМИЙН ЭРХ</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1966.12.16 • ICESCR ямар хамгаалалт тогтоодог вэ?</a:t>
            </a:r>
          </a:p>
        </p:txBody>
      </p:sp>
      <p:sp>
        <p:nvSpPr>
          <p:cNvPr id="6" name="Rectangle 5"/>
          <p:cNvSpPr/>
          <p:nvPr/>
        </p:nvSpPr>
        <p:spPr>
          <a:xfrm>
            <a:off x="482600" y="1892300"/>
            <a:ext cx="29845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2300" y="2006600"/>
            <a:ext cx="27051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Зүйл</a:t>
            </a:r>
          </a:p>
        </p:txBody>
      </p:sp>
      <p:sp>
        <p:nvSpPr>
          <p:cNvPr id="8" name="Rectangle 7"/>
          <p:cNvSpPr/>
          <p:nvPr/>
        </p:nvSpPr>
        <p:spPr>
          <a:xfrm>
            <a:off x="3467100" y="1892300"/>
            <a:ext cx="38354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6800" y="2006600"/>
            <a:ext cx="35560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Эрхийн агуулга</a:t>
            </a:r>
          </a:p>
        </p:txBody>
      </p:sp>
      <p:sp>
        <p:nvSpPr>
          <p:cNvPr id="10" name="Rectangle 9"/>
          <p:cNvSpPr/>
          <p:nvPr/>
        </p:nvSpPr>
        <p:spPr>
          <a:xfrm>
            <a:off x="7302500" y="1892300"/>
            <a:ext cx="44069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42200" y="2006600"/>
            <a:ext cx="41275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Бодлогын жишээ</a:t>
            </a:r>
          </a:p>
        </p:txBody>
      </p:sp>
      <p:sp>
        <p:nvSpPr>
          <p:cNvPr id="12" name="Rectangle 11"/>
          <p:cNvSpPr/>
          <p:nvPr/>
        </p:nvSpPr>
        <p:spPr>
          <a:xfrm>
            <a:off x="482600" y="23876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 y="24892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2.1; 2.2</a:t>
            </a:r>
          </a:p>
        </p:txBody>
      </p:sp>
      <p:sp>
        <p:nvSpPr>
          <p:cNvPr id="14" name="Rectangle 13"/>
          <p:cNvSpPr/>
          <p:nvPr/>
        </p:nvSpPr>
        <p:spPr>
          <a:xfrm>
            <a:off x="3467100" y="23876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6800" y="24892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Дэвшилттэй хэрэгжилт; ялгаварлалгүй</a:t>
            </a:r>
          </a:p>
          <a:p>
            <a:pPr>
              <a:lnSpc>
                <a:spcPts val="1634"/>
              </a:lnSpc>
              <a:spcBef>
                <a:spcPts val="0"/>
              </a:spcBef>
              <a:spcAft>
                <a:spcPts val="0"/>
              </a:spcAft>
              <a:defRPr sz="1220" b="0">
                <a:solidFill>
                  <a:srgbClr val="16243B"/>
                </a:solidFill>
                <a:latin typeface="DejaVu Sans"/>
              </a:defRPr>
            </a:pPr>
            <a:r>
              <a:t>байдал</a:t>
            </a:r>
          </a:p>
        </p:txBody>
      </p:sp>
      <p:sp>
        <p:nvSpPr>
          <p:cNvPr id="16" name="Rectangle 15"/>
          <p:cNvSpPr/>
          <p:nvPr/>
        </p:nvSpPr>
        <p:spPr>
          <a:xfrm>
            <a:off x="7302500" y="23876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42200" y="24892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Нөөц ба хэрэгжилтийн ахицыг тайлагнах</a:t>
            </a:r>
          </a:p>
        </p:txBody>
      </p:sp>
      <p:sp>
        <p:nvSpPr>
          <p:cNvPr id="18" name="Rectangle 17"/>
          <p:cNvSpPr/>
          <p:nvPr/>
        </p:nvSpPr>
        <p:spPr>
          <a:xfrm>
            <a:off x="482600" y="31115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300" y="32131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6; 7</a:t>
            </a:r>
          </a:p>
        </p:txBody>
      </p:sp>
      <p:sp>
        <p:nvSpPr>
          <p:cNvPr id="20" name="Rectangle 19"/>
          <p:cNvSpPr/>
          <p:nvPr/>
        </p:nvSpPr>
        <p:spPr>
          <a:xfrm>
            <a:off x="3467100" y="31115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6800" y="32131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Хөдөлмөрлөх; шударга, таатай нөхцөл</a:t>
            </a:r>
          </a:p>
        </p:txBody>
      </p:sp>
      <p:sp>
        <p:nvSpPr>
          <p:cNvPr id="22" name="Rectangle 21"/>
          <p:cNvSpPr/>
          <p:nvPr/>
        </p:nvSpPr>
        <p:spPr>
          <a:xfrm>
            <a:off x="7302500" y="31115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200" y="32131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Аюулгүй ажлын байр, зохистой цалин</a:t>
            </a:r>
          </a:p>
        </p:txBody>
      </p:sp>
      <p:sp>
        <p:nvSpPr>
          <p:cNvPr id="24" name="Rectangle 23"/>
          <p:cNvSpPr/>
          <p:nvPr/>
        </p:nvSpPr>
        <p:spPr>
          <a:xfrm>
            <a:off x="482600" y="38354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300" y="39370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9</a:t>
            </a:r>
          </a:p>
        </p:txBody>
      </p:sp>
      <p:sp>
        <p:nvSpPr>
          <p:cNvPr id="26" name="Rectangle 25"/>
          <p:cNvSpPr/>
          <p:nvPr/>
        </p:nvSpPr>
        <p:spPr>
          <a:xfrm>
            <a:off x="3467100" y="38354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6800" y="39370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Нийгмийн хамгаалал, нийгмийн даатгал</a:t>
            </a:r>
          </a:p>
        </p:txBody>
      </p:sp>
      <p:sp>
        <p:nvSpPr>
          <p:cNvPr id="28" name="Rectangle 27"/>
          <p:cNvSpPr/>
          <p:nvPr/>
        </p:nvSpPr>
        <p:spPr>
          <a:xfrm>
            <a:off x="7302500" y="38354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2200" y="39370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Өндөр нас, ажилгүйдэл, бусад эрсдэлийн</a:t>
            </a:r>
          </a:p>
          <a:p>
            <a:pPr>
              <a:lnSpc>
                <a:spcPts val="1634"/>
              </a:lnSpc>
              <a:spcBef>
                <a:spcPts val="0"/>
              </a:spcBef>
              <a:spcAft>
                <a:spcPts val="0"/>
              </a:spcAft>
              <a:defRPr sz="1220" b="0">
                <a:solidFill>
                  <a:srgbClr val="16243B"/>
                </a:solidFill>
                <a:latin typeface="DejaVu Sans"/>
              </a:defRPr>
            </a:pPr>
            <a:r>
              <a:t>хамгаалалт</a:t>
            </a:r>
          </a:p>
        </p:txBody>
      </p:sp>
      <p:sp>
        <p:nvSpPr>
          <p:cNvPr id="30" name="Rectangle 29"/>
          <p:cNvSpPr/>
          <p:nvPr/>
        </p:nvSpPr>
        <p:spPr>
          <a:xfrm>
            <a:off x="482600" y="45593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2300" y="46609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11</a:t>
            </a:r>
          </a:p>
        </p:txBody>
      </p:sp>
      <p:sp>
        <p:nvSpPr>
          <p:cNvPr id="32" name="Rectangle 31"/>
          <p:cNvSpPr/>
          <p:nvPr/>
        </p:nvSpPr>
        <p:spPr>
          <a:xfrm>
            <a:off x="3467100" y="45593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06800" y="46609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Зохистой амьжиргаа; өлсгөлөнгөөс ангид</a:t>
            </a:r>
          </a:p>
          <a:p>
            <a:pPr>
              <a:lnSpc>
                <a:spcPts val="1634"/>
              </a:lnSpc>
              <a:spcBef>
                <a:spcPts val="0"/>
              </a:spcBef>
              <a:spcAft>
                <a:spcPts val="0"/>
              </a:spcAft>
              <a:defRPr sz="1220" b="0">
                <a:solidFill>
                  <a:srgbClr val="16243B"/>
                </a:solidFill>
                <a:latin typeface="DejaVu Sans"/>
              </a:defRPr>
            </a:pPr>
            <a:r>
              <a:t>байх</a:t>
            </a:r>
          </a:p>
        </p:txBody>
      </p:sp>
      <p:sp>
        <p:nvSpPr>
          <p:cNvPr id="34" name="Rectangle 33"/>
          <p:cNvSpPr/>
          <p:nvPr/>
        </p:nvSpPr>
        <p:spPr>
          <a:xfrm>
            <a:off x="7302500" y="45593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42200" y="46609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Хоол хүнс, хувцас, орон байрны бодлого</a:t>
            </a:r>
          </a:p>
        </p:txBody>
      </p:sp>
      <p:sp>
        <p:nvSpPr>
          <p:cNvPr id="36" name="Rectangle 35"/>
          <p:cNvSpPr/>
          <p:nvPr/>
        </p:nvSpPr>
        <p:spPr>
          <a:xfrm>
            <a:off x="482600" y="52832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300" y="53848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12; 13</a:t>
            </a:r>
          </a:p>
        </p:txBody>
      </p:sp>
      <p:sp>
        <p:nvSpPr>
          <p:cNvPr id="38" name="Rectangle 37"/>
          <p:cNvSpPr/>
          <p:nvPr/>
        </p:nvSpPr>
        <p:spPr>
          <a:xfrm>
            <a:off x="3467100" y="52832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06800" y="53848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Эрүүл мэнд; боловсрол</a:t>
            </a:r>
          </a:p>
        </p:txBody>
      </p:sp>
      <p:sp>
        <p:nvSpPr>
          <p:cNvPr id="40" name="Rectangle 39"/>
          <p:cNvSpPr/>
          <p:nvPr/>
        </p:nvSpPr>
        <p:spPr>
          <a:xfrm>
            <a:off x="7302500" y="52832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42200" y="53848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Хүртээмжтэй анхан шатны тусламж, боловсрол</a:t>
            </a:r>
          </a:p>
        </p:txBody>
      </p:sp>
      <p:sp>
        <p:nvSpPr>
          <p:cNvPr id="42" name="Rounded Rectangle 41"/>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Хүчин төгөлдөр болсон: 1976.01.03. Нөөц хязгаарлагдмал ч бодит алхам хийх үүрэг хэвээр.</a:t>
            </a:r>
          </a:p>
        </p:txBody>
      </p:sp>
      <p:sp>
        <p:nvSpPr>
          <p:cNvPr id="44" name="TextBox 43"/>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ICESCR • GC3</a:t>
            </a:r>
          </a:p>
        </p:txBody>
      </p:sp>
      <p:sp>
        <p:nvSpPr>
          <p:cNvPr id="45" name="TextBox 44"/>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03 / ИРГЭНИЙ БОЛОН УЛС ТӨРИЙН ЭРХ</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1966.12.16 • Ядуу хүн ч дуу хоолой, хамгаалалттай</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Хуулийн өмнө тэгш</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ICCPR-ийн 26 дугаар зүйл: хүн</a:t>
            </a:r>
          </a:p>
          <a:p>
            <a:pPr>
              <a:lnSpc>
                <a:spcPts val="2023"/>
              </a:lnSpc>
              <a:spcBef>
                <a:spcPts val="0"/>
              </a:spcBef>
              <a:spcAft>
                <a:spcPts val="0"/>
              </a:spcAft>
              <a:defRPr sz="1510" b="0">
                <a:solidFill>
                  <a:srgbClr val="16243B"/>
                </a:solidFill>
                <a:latin typeface="DejaVu Sans"/>
              </a:defRPr>
            </a:pPr>
            <a:r>
              <a:t>бүр хуулийн өмнө тэгш; эд</a:t>
            </a:r>
          </a:p>
          <a:p>
            <a:pPr>
              <a:lnSpc>
                <a:spcPts val="2023"/>
              </a:lnSpc>
              <a:spcBef>
                <a:spcPts val="0"/>
              </a:spcBef>
              <a:spcAft>
                <a:spcPts val="0"/>
              </a:spcAft>
              <a:defRPr sz="1510" b="0">
                <a:solidFill>
                  <a:srgbClr val="16243B"/>
                </a:solidFill>
                <a:latin typeface="DejaVu Sans"/>
              </a:defRPr>
            </a:pPr>
            <a:r>
              <a:t>хөрөнгө болон бусад</a:t>
            </a:r>
          </a:p>
          <a:p>
            <a:pPr>
              <a:lnSpc>
                <a:spcPts val="2023"/>
              </a:lnSpc>
              <a:spcBef>
                <a:spcPts val="0"/>
              </a:spcBef>
              <a:spcAft>
                <a:spcPts val="0"/>
              </a:spcAft>
              <a:defRPr sz="1510" b="0">
                <a:solidFill>
                  <a:srgbClr val="16243B"/>
                </a:solidFill>
                <a:latin typeface="DejaVu Sans"/>
              </a:defRPr>
            </a:pPr>
            <a:r>
              <a:t>байдлаар ялгаварлахгүй,</a:t>
            </a:r>
          </a:p>
          <a:p>
            <a:pPr>
              <a:lnSpc>
                <a:spcPts val="2023"/>
              </a:lnSpc>
              <a:spcBef>
                <a:spcPts val="0"/>
              </a:spcBef>
              <a:spcAft>
                <a:spcPts val="0"/>
              </a:spcAft>
              <a:defRPr sz="1510" b="0">
                <a:solidFill>
                  <a:srgbClr val="16243B"/>
                </a:solidFill>
                <a:latin typeface="DejaVu Sans"/>
              </a:defRPr>
            </a:pPr>
            <a:r>
              <a:t>тэгш хамгаалуулах.</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Шүүхэд хүрэх боломж</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14.1 — шүүхийн өмнө тэгш</a:t>
            </a:r>
          </a:p>
          <a:p>
            <a:pPr>
              <a:lnSpc>
                <a:spcPts val="2023"/>
              </a:lnSpc>
              <a:spcBef>
                <a:spcPts val="0"/>
              </a:spcBef>
              <a:spcAft>
                <a:spcPts val="0"/>
              </a:spcAft>
              <a:defRPr sz="1510" b="0">
                <a:solidFill>
                  <a:srgbClr val="16243B"/>
                </a:solidFill>
                <a:latin typeface="DejaVu Sans"/>
              </a:defRPr>
            </a:pPr>
            <a:r>
              <a:t>байх.</a:t>
            </a:r>
          </a:p>
          <a:p>
            <a:pPr>
              <a:lnSpc>
                <a:spcPts val="2023"/>
              </a:lnSpc>
              <a:spcBef>
                <a:spcPts val="0"/>
              </a:spcBef>
              <a:spcAft>
                <a:spcPts val="0"/>
              </a:spcAft>
              <a:defRPr sz="1510" b="0">
                <a:solidFill>
                  <a:srgbClr val="16243B"/>
                </a:solidFill>
                <a:latin typeface="DejaVu Sans"/>
              </a:defRPr>
            </a:pPr>
            <a:r>
              <a:t>14.3(d) — эрүүгийн хэрэгт</a:t>
            </a:r>
          </a:p>
          <a:p>
            <a:pPr>
              <a:lnSpc>
                <a:spcPts val="2023"/>
              </a:lnSpc>
              <a:spcBef>
                <a:spcPts val="0"/>
              </a:spcBef>
              <a:spcAft>
                <a:spcPts val="0"/>
              </a:spcAft>
              <a:defRPr sz="1510" b="0">
                <a:solidFill>
                  <a:srgbClr val="16243B"/>
                </a:solidFill>
                <a:latin typeface="DejaVu Sans"/>
              </a:defRPr>
            </a:pPr>
            <a:r>
              <a:t>шударга ёсны шаардлагаар,</a:t>
            </a:r>
          </a:p>
          <a:p>
            <a:pPr>
              <a:lnSpc>
                <a:spcPts val="2023"/>
              </a:lnSpc>
              <a:spcBef>
                <a:spcPts val="0"/>
              </a:spcBef>
              <a:spcAft>
                <a:spcPts val="0"/>
              </a:spcAft>
              <a:defRPr sz="1510" b="0">
                <a:solidFill>
                  <a:srgbClr val="16243B"/>
                </a:solidFill>
                <a:latin typeface="DejaVu Sans"/>
              </a:defRPr>
            </a:pPr>
            <a:r>
              <a:t>төлбөрийн чадваргүй бол үнэ</a:t>
            </a:r>
          </a:p>
          <a:p>
            <a:pPr>
              <a:lnSpc>
                <a:spcPts val="2023"/>
              </a:lnSpc>
              <a:spcBef>
                <a:spcPts val="0"/>
              </a:spcBef>
              <a:spcAft>
                <a:spcPts val="0"/>
              </a:spcAft>
              <a:defRPr sz="1510" b="0">
                <a:solidFill>
                  <a:srgbClr val="16243B"/>
                </a:solidFill>
                <a:latin typeface="DejaVu Sans"/>
              </a:defRPr>
            </a:pPr>
            <a:r>
              <a:t>төлбөргүй өмгөөлөл.</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Оролцох эрх</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25 дугаар зүйл: иргэд төрийн</a:t>
            </a:r>
          </a:p>
          <a:p>
            <a:pPr>
              <a:lnSpc>
                <a:spcPts val="2023"/>
              </a:lnSpc>
              <a:spcBef>
                <a:spcPts val="0"/>
              </a:spcBef>
              <a:spcAft>
                <a:spcPts val="0"/>
              </a:spcAft>
              <a:defRPr sz="1510" b="0">
                <a:solidFill>
                  <a:srgbClr val="16243B"/>
                </a:solidFill>
                <a:latin typeface="DejaVu Sans"/>
              </a:defRPr>
            </a:pPr>
            <a:r>
              <a:t>хэрэгт оролцох, сонгох,</a:t>
            </a:r>
          </a:p>
          <a:p>
            <a:pPr>
              <a:lnSpc>
                <a:spcPts val="2023"/>
              </a:lnSpc>
              <a:spcBef>
                <a:spcPts val="0"/>
              </a:spcBef>
              <a:spcAft>
                <a:spcPts val="0"/>
              </a:spcAft>
              <a:defRPr sz="1510" b="0">
                <a:solidFill>
                  <a:srgbClr val="16243B"/>
                </a:solidFill>
                <a:latin typeface="DejaVu Sans"/>
              </a:defRPr>
            </a:pPr>
            <a:r>
              <a:t>сонгогдох боломжтой.</a:t>
            </a:r>
          </a:p>
          <a:p>
            <a:pPr>
              <a:lnSpc>
                <a:spcPts val="2023"/>
              </a:lnSpc>
              <a:spcBef>
                <a:spcPts val="0"/>
              </a:spcBef>
              <a:spcAft>
                <a:spcPts val="0"/>
              </a:spcAft>
              <a:defRPr sz="1510" b="0">
                <a:solidFill>
                  <a:srgbClr val="16243B"/>
                </a:solidFill>
                <a:latin typeface="DejaVu Sans"/>
              </a:defRPr>
            </a:pPr>
            <a:r>
              <a:t>Ядуурал нь иргэний дуу</a:t>
            </a:r>
          </a:p>
          <a:p>
            <a:pPr>
              <a:lnSpc>
                <a:spcPts val="2023"/>
              </a:lnSpc>
              <a:spcBef>
                <a:spcPts val="0"/>
              </a:spcBef>
              <a:spcAft>
                <a:spcPts val="0"/>
              </a:spcAft>
              <a:defRPr sz="1510" b="0">
                <a:solidFill>
                  <a:srgbClr val="16243B"/>
                </a:solidFill>
                <a:latin typeface="DejaVu Sans"/>
              </a:defRPr>
            </a:pPr>
            <a:r>
              <a:t>хоолойг үгүйсгэх үндэслэл</a:t>
            </a:r>
          </a:p>
          <a:p>
            <a:pPr>
              <a:lnSpc>
                <a:spcPts val="2023"/>
              </a:lnSpc>
              <a:spcBef>
                <a:spcPts val="0"/>
              </a:spcBef>
              <a:spcAft>
                <a:spcPts val="0"/>
              </a:spcAft>
              <a:defRPr sz="1510" b="0">
                <a:solidFill>
                  <a:srgbClr val="16243B"/>
                </a:solidFill>
                <a:latin typeface="DejaVu Sans"/>
              </a:defRPr>
            </a:pPr>
            <a:r>
              <a:t>биш.</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Хүчин төгөлдөр: 1976.03.23. Орлогоос үл хамаарах хамгаалалт нь нийгмийн эрхээ шаардах боломжийг дэмжинэ.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ICCPR</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03 / ТӨРИЙН ҮҮРЭГ</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Төрийн үүргийг гурван түвшинд шалгана</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Хүндэтгэх</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Төр өөрөө эрхэд үндэслэлгүй</a:t>
            </a:r>
          </a:p>
          <a:p>
            <a:pPr>
              <a:lnSpc>
                <a:spcPts val="2023"/>
              </a:lnSpc>
              <a:spcBef>
                <a:spcPts val="0"/>
              </a:spcBef>
              <a:spcAft>
                <a:spcPts val="0"/>
              </a:spcAft>
              <a:defRPr sz="1510" b="0">
                <a:solidFill>
                  <a:srgbClr val="16243B"/>
                </a:solidFill>
                <a:latin typeface="DejaVu Sans"/>
              </a:defRPr>
            </a:pPr>
            <a:r>
              <a:t>халдахгүй. Жишээ: хууль</a:t>
            </a:r>
          </a:p>
          <a:p>
            <a:pPr>
              <a:lnSpc>
                <a:spcPts val="2023"/>
              </a:lnSpc>
              <a:spcBef>
                <a:spcPts val="0"/>
              </a:spcBef>
              <a:spcAft>
                <a:spcPts val="0"/>
              </a:spcAft>
              <a:defRPr sz="1510" b="0">
                <a:solidFill>
                  <a:srgbClr val="16243B"/>
                </a:solidFill>
                <a:latin typeface="DejaVu Sans"/>
              </a:defRPr>
            </a:pPr>
            <a:r>
              <a:t>ёсны хамгаалалтгүй албадан</a:t>
            </a:r>
          </a:p>
          <a:p>
            <a:pPr>
              <a:lnSpc>
                <a:spcPts val="2023"/>
              </a:lnSpc>
              <a:spcBef>
                <a:spcPts val="0"/>
              </a:spcBef>
              <a:spcAft>
                <a:spcPts val="0"/>
              </a:spcAft>
              <a:defRPr sz="1510" b="0">
                <a:solidFill>
                  <a:srgbClr val="16243B"/>
                </a:solidFill>
                <a:latin typeface="DejaVu Sans"/>
              </a:defRPr>
            </a:pPr>
            <a:r>
              <a:t>нүүлгэхээс зайлсхийх.</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Хамгаалах</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Гуравдагч этгээдийн зөрчлөөс</a:t>
            </a:r>
          </a:p>
          <a:p>
            <a:pPr>
              <a:lnSpc>
                <a:spcPts val="2023"/>
              </a:lnSpc>
              <a:spcBef>
                <a:spcPts val="0"/>
              </a:spcBef>
              <a:spcAft>
                <a:spcPts val="0"/>
              </a:spcAft>
              <a:defRPr sz="1510" b="0">
                <a:solidFill>
                  <a:srgbClr val="16243B"/>
                </a:solidFill>
                <a:latin typeface="DejaVu Sans"/>
              </a:defRPr>
            </a:pPr>
            <a:r>
              <a:t>хамгаална. Жишээ: ажил</a:t>
            </a:r>
          </a:p>
          <a:p>
            <a:pPr>
              <a:lnSpc>
                <a:spcPts val="2023"/>
              </a:lnSpc>
              <a:spcBef>
                <a:spcPts val="0"/>
              </a:spcBef>
              <a:spcAft>
                <a:spcPts val="0"/>
              </a:spcAft>
              <a:defRPr sz="1510" b="0">
                <a:solidFill>
                  <a:srgbClr val="16243B"/>
                </a:solidFill>
                <a:latin typeface="DejaVu Sans"/>
              </a:defRPr>
            </a:pPr>
            <a:r>
              <a:t>олгогчийн ялгаварлал,</a:t>
            </a:r>
          </a:p>
          <a:p>
            <a:pPr>
              <a:lnSpc>
                <a:spcPts val="2023"/>
              </a:lnSpc>
              <a:spcBef>
                <a:spcPts val="0"/>
              </a:spcBef>
              <a:spcAft>
                <a:spcPts val="0"/>
              </a:spcAft>
              <a:defRPr sz="1510" b="0">
                <a:solidFill>
                  <a:srgbClr val="16243B"/>
                </a:solidFill>
                <a:latin typeface="DejaVu Sans"/>
              </a:defRPr>
            </a:pPr>
            <a:r>
              <a:t>аюултай нөхцөлд хяналт</a:t>
            </a:r>
          </a:p>
          <a:p>
            <a:pPr>
              <a:lnSpc>
                <a:spcPts val="2023"/>
              </a:lnSpc>
              <a:spcBef>
                <a:spcPts val="0"/>
              </a:spcBef>
              <a:spcAft>
                <a:spcPts val="0"/>
              </a:spcAft>
              <a:defRPr sz="1510" b="0">
                <a:solidFill>
                  <a:srgbClr val="16243B"/>
                </a:solidFill>
                <a:latin typeface="DejaVu Sans"/>
              </a:defRPr>
            </a:pPr>
            <a:r>
              <a:t>тавих.</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Хангах</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Хууль, төсөв, үйлчилгээ,</a:t>
            </a:r>
          </a:p>
          <a:p>
            <a:pPr>
              <a:lnSpc>
                <a:spcPts val="2023"/>
              </a:lnSpc>
              <a:spcBef>
                <a:spcPts val="0"/>
              </a:spcBef>
              <a:spcAft>
                <a:spcPts val="0"/>
              </a:spcAft>
              <a:defRPr sz="1510" b="0">
                <a:solidFill>
                  <a:srgbClr val="16243B"/>
                </a:solidFill>
                <a:latin typeface="DejaVu Sans"/>
              </a:defRPr>
            </a:pPr>
            <a:r>
              <a:t>хүртээмжийг бүрдүүлнэ.</a:t>
            </a:r>
          </a:p>
          <a:p>
            <a:pPr>
              <a:lnSpc>
                <a:spcPts val="2023"/>
              </a:lnSpc>
              <a:spcBef>
                <a:spcPts val="0"/>
              </a:spcBef>
              <a:spcAft>
                <a:spcPts val="0"/>
              </a:spcAft>
              <a:defRPr sz="1510" b="0">
                <a:solidFill>
                  <a:srgbClr val="16243B"/>
                </a:solidFill>
                <a:latin typeface="DejaVu Sans"/>
              </a:defRPr>
            </a:pPr>
            <a:r>
              <a:t>Жишээ: анхан шатны</a:t>
            </a:r>
          </a:p>
          <a:p>
            <a:pPr>
              <a:lnSpc>
                <a:spcPts val="2023"/>
              </a:lnSpc>
              <a:spcBef>
                <a:spcPts val="0"/>
              </a:spcBef>
              <a:spcAft>
                <a:spcPts val="0"/>
              </a:spcAft>
              <a:defRPr sz="1510" b="0">
                <a:solidFill>
                  <a:srgbClr val="16243B"/>
                </a:solidFill>
                <a:latin typeface="DejaVu Sans"/>
              </a:defRPr>
            </a:pPr>
            <a:r>
              <a:t>тусламж, нийгмийн</a:t>
            </a:r>
          </a:p>
          <a:p>
            <a:pPr>
              <a:lnSpc>
                <a:spcPts val="2023"/>
              </a:lnSpc>
              <a:spcBef>
                <a:spcPts val="0"/>
              </a:spcBef>
              <a:spcAft>
                <a:spcPts val="0"/>
              </a:spcAft>
              <a:defRPr sz="1510" b="0">
                <a:solidFill>
                  <a:srgbClr val="16243B"/>
                </a:solidFill>
                <a:latin typeface="DejaVu Sans"/>
              </a:defRPr>
            </a:pPr>
            <a:r>
              <a:t>хамгаалалд бодит хүрэх</a:t>
            </a:r>
          </a:p>
          <a:p>
            <a:pPr>
              <a:lnSpc>
                <a:spcPts val="2023"/>
              </a:lnSpc>
              <a:spcBef>
                <a:spcPts val="0"/>
              </a:spcBef>
              <a:spcAft>
                <a:spcPts val="0"/>
              </a:spcAft>
              <a:defRPr sz="1510" b="0">
                <a:solidFill>
                  <a:srgbClr val="16243B"/>
                </a:solidFill>
                <a:latin typeface="DejaVu Sans"/>
              </a:defRPr>
            </a:pPr>
            <a:r>
              <a:t>боломж.</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“Төсөв хүрэхгүй” гэдэг тайлбар нь ялгаварлал, дур зоргын шийдвэрийг зөвтгөхгүй.</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ICESCR • GC3</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03 / ОГТЛОЛЦСОН ЭМЗЭГ БАЙДАЛ</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Хүүхэд, эмэгтэйчүүд, хөгжлийн бэрхшээлтэй хүн</a:t>
            </a:r>
          </a:p>
        </p:txBody>
      </p:sp>
      <p:sp>
        <p:nvSpPr>
          <p:cNvPr id="6" name="Rectangle 5"/>
          <p:cNvSpPr/>
          <p:nvPr/>
        </p:nvSpPr>
        <p:spPr>
          <a:xfrm>
            <a:off x="482600" y="1892300"/>
            <a:ext cx="29845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2300" y="2006600"/>
            <a:ext cx="27051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Конвенц • баталсан өдөр</a:t>
            </a:r>
          </a:p>
        </p:txBody>
      </p:sp>
      <p:sp>
        <p:nvSpPr>
          <p:cNvPr id="8" name="Rectangle 7"/>
          <p:cNvSpPr/>
          <p:nvPr/>
        </p:nvSpPr>
        <p:spPr>
          <a:xfrm>
            <a:off x="3467100" y="1892300"/>
            <a:ext cx="38354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6800" y="2006600"/>
            <a:ext cx="35560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Холбогдох зүйл</a:t>
            </a:r>
          </a:p>
        </p:txBody>
      </p:sp>
      <p:sp>
        <p:nvSpPr>
          <p:cNvPr id="10" name="Rectangle 9"/>
          <p:cNvSpPr/>
          <p:nvPr/>
        </p:nvSpPr>
        <p:spPr>
          <a:xfrm>
            <a:off x="7302500" y="1892300"/>
            <a:ext cx="44069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42200" y="2006600"/>
            <a:ext cx="41275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Ямар саадыг шийдэх вэ?</a:t>
            </a:r>
          </a:p>
        </p:txBody>
      </p:sp>
      <p:sp>
        <p:nvSpPr>
          <p:cNvPr id="12" name="Rectangle 11"/>
          <p:cNvSpPr/>
          <p:nvPr/>
        </p:nvSpPr>
        <p:spPr>
          <a:xfrm>
            <a:off x="482600" y="23876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 y="24892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CRC • 1989.11.20</a:t>
            </a:r>
          </a:p>
        </p:txBody>
      </p:sp>
      <p:sp>
        <p:nvSpPr>
          <p:cNvPr id="14" name="Rectangle 13"/>
          <p:cNvSpPr/>
          <p:nvPr/>
        </p:nvSpPr>
        <p:spPr>
          <a:xfrm>
            <a:off x="3467100" y="23876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6800" y="24892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2 — ялгаварлахгүй; 3 — дээд ашиг</a:t>
            </a:r>
          </a:p>
          <a:p>
            <a:pPr>
              <a:lnSpc>
                <a:spcPts val="1634"/>
              </a:lnSpc>
              <a:spcBef>
                <a:spcPts val="0"/>
              </a:spcBef>
              <a:spcAft>
                <a:spcPts val="0"/>
              </a:spcAft>
              <a:defRPr sz="1220" b="0">
                <a:solidFill>
                  <a:srgbClr val="16243B"/>
                </a:solidFill>
                <a:latin typeface="DejaVu Sans"/>
              </a:defRPr>
            </a:pPr>
            <a:r>
              <a:t>сонирхол; 26, 27 — хамгаалал, амьжиргаа</a:t>
            </a:r>
          </a:p>
        </p:txBody>
      </p:sp>
      <p:sp>
        <p:nvSpPr>
          <p:cNvPr id="16" name="Rectangle 15"/>
          <p:cNvSpPr/>
          <p:nvPr/>
        </p:nvSpPr>
        <p:spPr>
          <a:xfrm>
            <a:off x="7302500" y="23876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42200" y="24892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Өрхийн ядуурлаас шалтгаалсан хүүхдийн</a:t>
            </a:r>
          </a:p>
          <a:p>
            <a:pPr>
              <a:lnSpc>
                <a:spcPts val="1634"/>
              </a:lnSpc>
              <a:spcBef>
                <a:spcPts val="0"/>
              </a:spcBef>
              <a:spcAft>
                <a:spcPts val="0"/>
              </a:spcAft>
              <a:defRPr sz="1220" b="0">
                <a:solidFill>
                  <a:srgbClr val="16243B"/>
                </a:solidFill>
                <a:latin typeface="DejaVu Sans"/>
              </a:defRPr>
            </a:pPr>
            <a:r>
              <a:t>хомсдол</a:t>
            </a:r>
          </a:p>
        </p:txBody>
      </p:sp>
      <p:sp>
        <p:nvSpPr>
          <p:cNvPr id="18" name="Rectangle 17"/>
          <p:cNvSpPr/>
          <p:nvPr/>
        </p:nvSpPr>
        <p:spPr>
          <a:xfrm>
            <a:off x="482600" y="31115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300" y="32131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CEDAW • 1979.12.18</a:t>
            </a:r>
          </a:p>
        </p:txBody>
      </p:sp>
      <p:sp>
        <p:nvSpPr>
          <p:cNvPr id="20" name="Rectangle 19"/>
          <p:cNvSpPr/>
          <p:nvPr/>
        </p:nvSpPr>
        <p:spPr>
          <a:xfrm>
            <a:off x="3467100" y="31115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6800" y="32131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11 — хөдөлмөр; 12 — эрүүл мэнд; 14 —</a:t>
            </a:r>
          </a:p>
          <a:p>
            <a:pPr>
              <a:lnSpc>
                <a:spcPts val="1634"/>
              </a:lnSpc>
              <a:spcBef>
                <a:spcPts val="0"/>
              </a:spcBef>
              <a:spcAft>
                <a:spcPts val="0"/>
              </a:spcAft>
              <a:defRPr sz="1220" b="0">
                <a:solidFill>
                  <a:srgbClr val="16243B"/>
                </a:solidFill>
                <a:latin typeface="DejaVu Sans"/>
              </a:defRPr>
            </a:pPr>
            <a:r>
              <a:t>хөдөөгийн эмэгтэйчүүд</a:t>
            </a:r>
          </a:p>
        </p:txBody>
      </p:sp>
      <p:sp>
        <p:nvSpPr>
          <p:cNvPr id="22" name="Rectangle 21"/>
          <p:cNvSpPr/>
          <p:nvPr/>
        </p:nvSpPr>
        <p:spPr>
          <a:xfrm>
            <a:off x="7302500" y="31115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200" y="32131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Асаргааны ачаалал, ажлын ба үйлчилгээний</a:t>
            </a:r>
          </a:p>
          <a:p>
            <a:pPr>
              <a:lnSpc>
                <a:spcPts val="1634"/>
              </a:lnSpc>
              <a:spcBef>
                <a:spcPts val="0"/>
              </a:spcBef>
              <a:spcAft>
                <a:spcPts val="0"/>
              </a:spcAft>
              <a:defRPr sz="1220" b="0">
                <a:solidFill>
                  <a:srgbClr val="16243B"/>
                </a:solidFill>
                <a:latin typeface="DejaVu Sans"/>
              </a:defRPr>
            </a:pPr>
            <a:r>
              <a:t>тэгш бус байдал</a:t>
            </a:r>
          </a:p>
        </p:txBody>
      </p:sp>
      <p:sp>
        <p:nvSpPr>
          <p:cNvPr id="24" name="Rectangle 23"/>
          <p:cNvSpPr/>
          <p:nvPr/>
        </p:nvSpPr>
        <p:spPr>
          <a:xfrm>
            <a:off x="482600" y="38354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300" y="39370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CRPD • 2006.12.13</a:t>
            </a:r>
          </a:p>
        </p:txBody>
      </p:sp>
      <p:sp>
        <p:nvSpPr>
          <p:cNvPr id="26" name="Rectangle 25"/>
          <p:cNvSpPr/>
          <p:nvPr/>
        </p:nvSpPr>
        <p:spPr>
          <a:xfrm>
            <a:off x="3467100" y="38354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6800" y="39370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9 — хүртээмж; 24 — боловсрол; 27 —</a:t>
            </a:r>
          </a:p>
          <a:p>
            <a:pPr>
              <a:lnSpc>
                <a:spcPts val="1634"/>
              </a:lnSpc>
              <a:spcBef>
                <a:spcPts val="0"/>
              </a:spcBef>
              <a:spcAft>
                <a:spcPts val="0"/>
              </a:spcAft>
              <a:defRPr sz="1220" b="0">
                <a:solidFill>
                  <a:srgbClr val="16243B"/>
                </a:solidFill>
                <a:latin typeface="DejaVu Sans"/>
              </a:defRPr>
            </a:pPr>
            <a:r>
              <a:t>ажил; 28 — амьжиргаа, хамгаалал</a:t>
            </a:r>
          </a:p>
        </p:txBody>
      </p:sp>
      <p:sp>
        <p:nvSpPr>
          <p:cNvPr id="28" name="Rectangle 27"/>
          <p:cNvSpPr/>
          <p:nvPr/>
        </p:nvSpPr>
        <p:spPr>
          <a:xfrm>
            <a:off x="7302500" y="38354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2200" y="39370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Биеийн орчин, мэдээлэл, ажилд оролцох саад</a:t>
            </a:r>
          </a:p>
        </p:txBody>
      </p:sp>
      <p:sp>
        <p:nvSpPr>
          <p:cNvPr id="30" name="Rounded Rectangle 29"/>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Нэг хүнд хэд хэдэн саад давхцаж болно. Ижил үйлчилгээ бүх хүнд ижил үр дүн өгөхгүй.</a:t>
            </a:r>
          </a:p>
        </p:txBody>
      </p:sp>
      <p:sp>
        <p:nvSpPr>
          <p:cNvPr id="32" name="TextBox 31"/>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CRC • CEDAW • CRPD</a:t>
            </a:r>
          </a:p>
        </p:txBody>
      </p:sp>
      <p:sp>
        <p:nvSpPr>
          <p:cNvPr id="33" name="TextBox 32"/>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04 / ХӨДӨЛМӨР</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Ажилтай байх нь дангаараа ядуурлаас хамгаалахгүй</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Эрхийн тулгуур</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Үндсэн хууль • 1992.01.13:</a:t>
            </a:r>
          </a:p>
          <a:p>
            <a:pPr>
              <a:lnSpc>
                <a:spcPts val="2023"/>
              </a:lnSpc>
              <a:spcBef>
                <a:spcPts val="0"/>
              </a:spcBef>
              <a:spcAft>
                <a:spcPts val="0"/>
              </a:spcAft>
              <a:defRPr sz="1510" b="0">
                <a:solidFill>
                  <a:srgbClr val="16243B"/>
                </a:solidFill>
                <a:latin typeface="DejaVu Sans"/>
              </a:defRPr>
            </a:pPr>
            <a:r>
              <a:t>16.4.</a:t>
            </a:r>
          </a:p>
          <a:p>
            <a:pPr>
              <a:lnSpc>
                <a:spcPts val="2023"/>
              </a:lnSpc>
              <a:spcBef>
                <a:spcPts val="0"/>
              </a:spcBef>
              <a:spcAft>
                <a:spcPts val="0"/>
              </a:spcAft>
              <a:defRPr sz="1510" b="0">
                <a:solidFill>
                  <a:srgbClr val="16243B"/>
                </a:solidFill>
                <a:latin typeface="DejaVu Sans"/>
              </a:defRPr>
            </a:pPr>
            <a:r>
              <a:t>Хөдөлмөрийн тухай хууль •</a:t>
            </a:r>
          </a:p>
          <a:p>
            <a:pPr>
              <a:lnSpc>
                <a:spcPts val="2023"/>
              </a:lnSpc>
              <a:spcBef>
                <a:spcPts val="0"/>
              </a:spcBef>
              <a:spcAft>
                <a:spcPts val="0"/>
              </a:spcAft>
              <a:defRPr sz="1510" b="0">
                <a:solidFill>
                  <a:srgbClr val="16243B"/>
                </a:solidFill>
                <a:latin typeface="DejaVu Sans"/>
              </a:defRPr>
            </a:pPr>
            <a:r>
              <a:t>2021.07.02: 6 дугаар зүйл.</a:t>
            </a:r>
          </a:p>
          <a:p>
            <a:pPr>
              <a:lnSpc>
                <a:spcPts val="2023"/>
              </a:lnSpc>
              <a:spcBef>
                <a:spcPts val="0"/>
              </a:spcBef>
              <a:spcAft>
                <a:spcPts val="0"/>
              </a:spcAft>
              <a:defRPr sz="1510" b="0">
                <a:solidFill>
                  <a:srgbClr val="16243B"/>
                </a:solidFill>
                <a:latin typeface="DejaVu Sans"/>
              </a:defRPr>
            </a:pPr>
            <a:r>
              <a:t>ICESCR • 1966.12.16: 6, 7</a:t>
            </a:r>
          </a:p>
          <a:p>
            <a:pPr>
              <a:lnSpc>
                <a:spcPts val="2023"/>
              </a:lnSpc>
              <a:spcBef>
                <a:spcPts val="0"/>
              </a:spcBef>
              <a:spcAft>
                <a:spcPts val="0"/>
              </a:spcAft>
              <a:defRPr sz="1510" b="0">
                <a:solidFill>
                  <a:srgbClr val="16243B"/>
                </a:solidFill>
                <a:latin typeface="DejaVu Sans"/>
              </a:defRPr>
            </a:pPr>
            <a:r>
              <a:t>дугаар зүйл.</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Эрсдэлийн цэг</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Бага цалин, тогтворгүй цаг,</a:t>
            </a:r>
          </a:p>
          <a:p>
            <a:pPr>
              <a:lnSpc>
                <a:spcPts val="2023"/>
              </a:lnSpc>
              <a:spcBef>
                <a:spcPts val="0"/>
              </a:spcBef>
              <a:spcAft>
                <a:spcPts val="0"/>
              </a:spcAft>
              <a:defRPr sz="1510" b="0">
                <a:solidFill>
                  <a:srgbClr val="16243B"/>
                </a:solidFill>
                <a:latin typeface="DejaVu Sans"/>
              </a:defRPr>
            </a:pPr>
            <a:r>
              <a:t>албан бус ажил; хөдөлмөрийн</a:t>
            </a:r>
          </a:p>
          <a:p>
            <a:pPr>
              <a:lnSpc>
                <a:spcPts val="2023"/>
              </a:lnSpc>
              <a:spcBef>
                <a:spcPts val="0"/>
              </a:spcBef>
              <a:spcAft>
                <a:spcPts val="0"/>
              </a:spcAft>
              <a:defRPr sz="1510" b="0">
                <a:solidFill>
                  <a:srgbClr val="16243B"/>
                </a:solidFill>
                <a:latin typeface="DejaVu Sans"/>
              </a:defRPr>
            </a:pPr>
            <a:r>
              <a:t>аюулгүй байдал; даатгалын</a:t>
            </a:r>
          </a:p>
          <a:p>
            <a:pPr>
              <a:lnSpc>
                <a:spcPts val="2023"/>
              </a:lnSpc>
              <a:spcBef>
                <a:spcPts val="0"/>
              </a:spcBef>
              <a:spcAft>
                <a:spcPts val="0"/>
              </a:spcAft>
              <a:defRPr sz="1510" b="0">
                <a:solidFill>
                  <a:srgbClr val="16243B"/>
                </a:solidFill>
                <a:latin typeface="DejaVu Sans"/>
              </a:defRPr>
            </a:pPr>
            <a:r>
              <a:t>хамрагдалтын тасалдал.</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Шалгах баримт</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Гэрээ, ажлын цагийн бүртгэл,</a:t>
            </a:r>
          </a:p>
          <a:p>
            <a:pPr>
              <a:lnSpc>
                <a:spcPts val="2023"/>
              </a:lnSpc>
              <a:spcBef>
                <a:spcPts val="0"/>
              </a:spcBef>
              <a:spcAft>
                <a:spcPts val="0"/>
              </a:spcAft>
              <a:defRPr sz="1510" b="0">
                <a:solidFill>
                  <a:srgbClr val="16243B"/>
                </a:solidFill>
                <a:latin typeface="DejaVu Sans"/>
              </a:defRPr>
            </a:pPr>
            <a:r>
              <a:t>цалин олголт, даатгалын</a:t>
            </a:r>
          </a:p>
          <a:p>
            <a:pPr>
              <a:lnSpc>
                <a:spcPts val="2023"/>
              </a:lnSpc>
              <a:spcBef>
                <a:spcPts val="0"/>
              </a:spcBef>
              <a:spcAft>
                <a:spcPts val="0"/>
              </a:spcAft>
              <a:defRPr sz="1510" b="0">
                <a:solidFill>
                  <a:srgbClr val="16243B"/>
                </a:solidFill>
                <a:latin typeface="DejaVu Sans"/>
              </a:defRPr>
            </a:pPr>
            <a:r>
              <a:t>мэдээлэл. Хууль ёсны</a:t>
            </a:r>
          </a:p>
          <a:p>
            <a:pPr>
              <a:lnSpc>
                <a:spcPts val="2023"/>
              </a:lnSpc>
              <a:spcBef>
                <a:spcPts val="0"/>
              </a:spcBef>
              <a:spcAft>
                <a:spcPts val="0"/>
              </a:spcAft>
              <a:defRPr sz="1510" b="0">
                <a:solidFill>
                  <a:srgbClr val="16243B"/>
                </a:solidFill>
                <a:latin typeface="DejaVu Sans"/>
              </a:defRPr>
            </a:pPr>
            <a:r>
              <a:t>шаардлагыг ажилтанд</a:t>
            </a:r>
          </a:p>
          <a:p>
            <a:pPr>
              <a:lnSpc>
                <a:spcPts val="2023"/>
              </a:lnSpc>
              <a:spcBef>
                <a:spcPts val="0"/>
              </a:spcBef>
              <a:spcAft>
                <a:spcPts val="0"/>
              </a:spcAft>
              <a:defRPr sz="1510" b="0">
                <a:solidFill>
                  <a:srgbClr val="16243B"/>
                </a:solidFill>
                <a:latin typeface="DejaVu Sans"/>
              </a:defRPr>
            </a:pPr>
            <a:r>
              <a:t>ойлгомжтой тайлбарлах.</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Шийдэл: зохистой нөхцөл + хэрэгжих хяналт + ажилтны гомдол гаргах аюулгүй боломж.</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 • ХТ • ICESCR</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04 / БОЛОВСРОЛ</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Төлбөргүй сургууль ≠ зардалгүй суралцах</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Баталгаа</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Үндсэн хууль • 1992.01.13:</a:t>
            </a:r>
          </a:p>
          <a:p>
            <a:pPr>
              <a:lnSpc>
                <a:spcPts val="2023"/>
              </a:lnSpc>
              <a:spcBef>
                <a:spcPts val="0"/>
              </a:spcBef>
              <a:spcAft>
                <a:spcPts val="0"/>
              </a:spcAft>
              <a:defRPr sz="1510" b="0">
                <a:solidFill>
                  <a:srgbClr val="16243B"/>
                </a:solidFill>
                <a:latin typeface="DejaVu Sans"/>
              </a:defRPr>
            </a:pPr>
            <a:r>
              <a:t>16.7.</a:t>
            </a:r>
          </a:p>
          <a:p>
            <a:pPr>
              <a:lnSpc>
                <a:spcPts val="2023"/>
              </a:lnSpc>
              <a:spcBef>
                <a:spcPts val="0"/>
              </a:spcBef>
              <a:spcAft>
                <a:spcPts val="0"/>
              </a:spcAft>
              <a:defRPr sz="1510" b="0">
                <a:solidFill>
                  <a:srgbClr val="16243B"/>
                </a:solidFill>
                <a:latin typeface="DejaVu Sans"/>
              </a:defRPr>
            </a:pPr>
            <a:r>
              <a:t>Боловсролын ерөнхий хууль •</a:t>
            </a:r>
          </a:p>
          <a:p>
            <a:pPr>
              <a:lnSpc>
                <a:spcPts val="2023"/>
              </a:lnSpc>
              <a:spcBef>
                <a:spcPts val="0"/>
              </a:spcBef>
              <a:spcAft>
                <a:spcPts val="0"/>
              </a:spcAft>
              <a:defRPr sz="1510" b="0">
                <a:solidFill>
                  <a:srgbClr val="16243B"/>
                </a:solidFill>
                <a:latin typeface="DejaVu Sans"/>
              </a:defRPr>
            </a:pPr>
            <a:r>
              <a:t>2023.07.07.</a:t>
            </a:r>
          </a:p>
          <a:p>
            <a:pPr>
              <a:lnSpc>
                <a:spcPts val="2023"/>
              </a:lnSpc>
              <a:spcBef>
                <a:spcPts val="0"/>
              </a:spcBef>
              <a:spcAft>
                <a:spcPts val="0"/>
              </a:spcAft>
              <a:defRPr sz="1510" b="0">
                <a:solidFill>
                  <a:srgbClr val="16243B"/>
                </a:solidFill>
                <a:latin typeface="DejaVu Sans"/>
              </a:defRPr>
            </a:pPr>
            <a:r>
              <a:t>CRC • 1989.11.20: 28 дугаар</a:t>
            </a:r>
          </a:p>
          <a:p>
            <a:pPr>
              <a:lnSpc>
                <a:spcPts val="2023"/>
              </a:lnSpc>
              <a:spcBef>
                <a:spcPts val="0"/>
              </a:spcBef>
              <a:spcAft>
                <a:spcPts val="0"/>
              </a:spcAft>
              <a:defRPr sz="1510" b="0">
                <a:solidFill>
                  <a:srgbClr val="16243B"/>
                </a:solidFill>
                <a:latin typeface="DejaVu Sans"/>
              </a:defRPr>
            </a:pPr>
            <a:r>
              <a:t>зүйл.</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Далд саад</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Тээвэр, хэрэгсэл, дотуур байр,</a:t>
            </a:r>
          </a:p>
          <a:p>
            <a:pPr>
              <a:lnSpc>
                <a:spcPts val="2023"/>
              </a:lnSpc>
              <a:spcBef>
                <a:spcPts val="0"/>
              </a:spcBef>
              <a:spcAft>
                <a:spcPts val="0"/>
              </a:spcAft>
              <a:defRPr sz="1510" b="0">
                <a:solidFill>
                  <a:srgbClr val="16243B"/>
                </a:solidFill>
                <a:latin typeface="DejaVu Sans"/>
              </a:defRPr>
            </a:pPr>
            <a:r>
              <a:t>интернет, төхөөрөмжийн</a:t>
            </a:r>
          </a:p>
          <a:p>
            <a:pPr>
              <a:lnSpc>
                <a:spcPts val="2023"/>
              </a:lnSpc>
              <a:spcBef>
                <a:spcPts val="0"/>
              </a:spcBef>
              <a:spcAft>
                <a:spcPts val="0"/>
              </a:spcAft>
              <a:defRPr sz="1510" b="0">
                <a:solidFill>
                  <a:srgbClr val="16243B"/>
                </a:solidFill>
                <a:latin typeface="DejaVu Sans"/>
              </a:defRPr>
            </a:pPr>
            <a:r>
              <a:t>зардал; асаргаа, хөдөлмөрийн</a:t>
            </a:r>
          </a:p>
          <a:p>
            <a:pPr>
              <a:lnSpc>
                <a:spcPts val="2023"/>
              </a:lnSpc>
              <a:spcBef>
                <a:spcPts val="0"/>
              </a:spcBef>
              <a:spcAft>
                <a:spcPts val="0"/>
              </a:spcAft>
              <a:defRPr sz="1510" b="0">
                <a:solidFill>
                  <a:srgbClr val="16243B"/>
                </a:solidFill>
                <a:latin typeface="DejaVu Sans"/>
              </a:defRPr>
            </a:pPr>
            <a:r>
              <a:t>ачаалал.</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Хэрэгжүүлэх арга</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Сургуулиас завсардах</a:t>
            </a:r>
          </a:p>
          <a:p>
            <a:pPr>
              <a:lnSpc>
                <a:spcPts val="2023"/>
              </a:lnSpc>
              <a:spcBef>
                <a:spcPts val="0"/>
              </a:spcBef>
              <a:spcAft>
                <a:spcPts val="0"/>
              </a:spcAft>
              <a:defRPr sz="1510" b="0">
                <a:solidFill>
                  <a:srgbClr val="16243B"/>
                </a:solidFill>
                <a:latin typeface="DejaVu Sans"/>
              </a:defRPr>
            </a:pPr>
            <a:r>
              <a:t>эрсдэлийг эрт илрүүлэх;</a:t>
            </a:r>
          </a:p>
          <a:p>
            <a:pPr>
              <a:lnSpc>
                <a:spcPts val="2023"/>
              </a:lnSpc>
              <a:spcBef>
                <a:spcPts val="0"/>
              </a:spcBef>
              <a:spcAft>
                <a:spcPts val="0"/>
              </a:spcAft>
              <a:defRPr sz="1510" b="0">
                <a:solidFill>
                  <a:srgbClr val="16243B"/>
                </a:solidFill>
                <a:latin typeface="DejaVu Sans"/>
              </a:defRPr>
            </a:pPr>
            <a:r>
              <a:t>хэрэгцээнд нийцсэн дэмжлэг;</a:t>
            </a:r>
          </a:p>
          <a:p>
            <a:pPr>
              <a:lnSpc>
                <a:spcPts val="2023"/>
              </a:lnSpc>
              <a:spcBef>
                <a:spcPts val="0"/>
              </a:spcBef>
              <a:spcAft>
                <a:spcPts val="0"/>
              </a:spcAft>
              <a:defRPr sz="1510" b="0">
                <a:solidFill>
                  <a:srgbClr val="16243B"/>
                </a:solidFill>
                <a:latin typeface="DejaVu Sans"/>
              </a:defRPr>
            </a:pPr>
            <a:r>
              <a:t>хүртээмжтэй сургалтын</a:t>
            </a:r>
          </a:p>
          <a:p>
            <a:pPr>
              <a:lnSpc>
                <a:spcPts val="2023"/>
              </a:lnSpc>
              <a:spcBef>
                <a:spcPts val="0"/>
              </a:spcBef>
              <a:spcAft>
                <a:spcPts val="0"/>
              </a:spcAft>
              <a:defRPr sz="1510" b="0">
                <a:solidFill>
                  <a:srgbClr val="16243B"/>
                </a:solidFill>
                <a:latin typeface="DejaVu Sans"/>
              </a:defRPr>
            </a:pPr>
            <a:r>
              <a:t>орчин.</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Элсэлтээс гадна ирц, төгсөлт, сурлагын ахиц, гомдол шийдвэрлэлтийг хэмжинэ.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 • БЕХ • CRC</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04 / ЭРҮҮЛ МЭНД, ОРОН БАЙР</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Эрүүл орчин ба үйлчилгээ нь суурь боломж</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Эрүүл мэнд</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Үндсэн хууль • 1992.01.13:</a:t>
            </a:r>
          </a:p>
          <a:p>
            <a:pPr>
              <a:lnSpc>
                <a:spcPts val="2023"/>
              </a:lnSpc>
              <a:spcBef>
                <a:spcPts val="0"/>
              </a:spcBef>
              <a:spcAft>
                <a:spcPts val="0"/>
              </a:spcAft>
              <a:defRPr sz="1510" b="0">
                <a:solidFill>
                  <a:srgbClr val="16243B"/>
                </a:solidFill>
                <a:latin typeface="DejaVu Sans"/>
              </a:defRPr>
            </a:pPr>
            <a:r>
              <a:t>16.6.</a:t>
            </a:r>
          </a:p>
          <a:p>
            <a:pPr>
              <a:lnSpc>
                <a:spcPts val="2023"/>
              </a:lnSpc>
              <a:spcBef>
                <a:spcPts val="0"/>
              </a:spcBef>
              <a:spcAft>
                <a:spcPts val="0"/>
              </a:spcAft>
              <a:defRPr sz="1510" b="0">
                <a:solidFill>
                  <a:srgbClr val="16243B"/>
                </a:solidFill>
                <a:latin typeface="DejaVu Sans"/>
              </a:defRPr>
            </a:pPr>
            <a:r>
              <a:t>ICESCR • 1966.12.16: 12</a:t>
            </a:r>
          </a:p>
          <a:p>
            <a:pPr>
              <a:lnSpc>
                <a:spcPts val="2023"/>
              </a:lnSpc>
              <a:spcBef>
                <a:spcPts val="0"/>
              </a:spcBef>
              <a:spcAft>
                <a:spcPts val="0"/>
              </a:spcAft>
              <a:defRPr sz="1510" b="0">
                <a:solidFill>
                  <a:srgbClr val="16243B"/>
                </a:solidFill>
                <a:latin typeface="DejaVu Sans"/>
              </a:defRPr>
            </a:pPr>
            <a:r>
              <a:t>дугаар зүйл.</a:t>
            </a:r>
          </a:p>
          <a:p>
            <a:pPr>
              <a:lnSpc>
                <a:spcPts val="2023"/>
              </a:lnSpc>
              <a:spcBef>
                <a:spcPts val="0"/>
              </a:spcBef>
              <a:spcAft>
                <a:spcPts val="0"/>
              </a:spcAft>
              <a:defRPr sz="1510" b="0">
                <a:solidFill>
                  <a:srgbClr val="16243B"/>
                </a:solidFill>
                <a:latin typeface="DejaVu Sans"/>
              </a:defRPr>
            </a:pPr>
            <a:r>
              <a:t>Тусламж авах зардал, зай,</a:t>
            </a:r>
          </a:p>
          <a:p>
            <a:pPr>
              <a:lnSpc>
                <a:spcPts val="2023"/>
              </a:lnSpc>
              <a:spcBef>
                <a:spcPts val="0"/>
              </a:spcBef>
              <a:spcAft>
                <a:spcPts val="0"/>
              </a:spcAft>
              <a:defRPr sz="1510" b="0">
                <a:solidFill>
                  <a:srgbClr val="16243B"/>
                </a:solidFill>
                <a:latin typeface="DejaVu Sans"/>
              </a:defRPr>
            </a:pPr>
            <a:r>
              <a:t>хугацааг хамтад нь үнэлнэ.</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Орчин, орон байр</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Үндсэн хууль: 16.2 — эрүүл,</a:t>
            </a:r>
          </a:p>
          <a:p>
            <a:pPr>
              <a:lnSpc>
                <a:spcPts val="2023"/>
              </a:lnSpc>
              <a:spcBef>
                <a:spcPts val="0"/>
              </a:spcBef>
              <a:spcAft>
                <a:spcPts val="0"/>
              </a:spcAft>
              <a:defRPr sz="1510" b="0">
                <a:solidFill>
                  <a:srgbClr val="16243B"/>
                </a:solidFill>
                <a:latin typeface="DejaVu Sans"/>
              </a:defRPr>
            </a:pPr>
            <a:r>
              <a:t>аюулгүй орчин.</a:t>
            </a:r>
          </a:p>
          <a:p>
            <a:pPr>
              <a:lnSpc>
                <a:spcPts val="2023"/>
              </a:lnSpc>
              <a:spcBef>
                <a:spcPts val="0"/>
              </a:spcBef>
              <a:spcAft>
                <a:spcPts val="0"/>
              </a:spcAft>
              <a:defRPr sz="1510" b="0">
                <a:solidFill>
                  <a:srgbClr val="16243B"/>
                </a:solidFill>
                <a:latin typeface="DejaVu Sans"/>
              </a:defRPr>
            </a:pPr>
            <a:r>
              <a:t>ICESCR: 11 — зохистой</a:t>
            </a:r>
          </a:p>
          <a:p>
            <a:pPr>
              <a:lnSpc>
                <a:spcPts val="2023"/>
              </a:lnSpc>
              <a:spcBef>
                <a:spcPts val="0"/>
              </a:spcBef>
              <a:spcAft>
                <a:spcPts val="0"/>
              </a:spcAft>
              <a:defRPr sz="1510" b="0">
                <a:solidFill>
                  <a:srgbClr val="16243B"/>
                </a:solidFill>
                <a:latin typeface="DejaVu Sans"/>
              </a:defRPr>
            </a:pPr>
            <a:r>
              <a:t>амьжиргаа, орон байр.</a:t>
            </a:r>
          </a:p>
          <a:p>
            <a:pPr>
              <a:lnSpc>
                <a:spcPts val="2023"/>
              </a:lnSpc>
              <a:spcBef>
                <a:spcPts val="0"/>
              </a:spcBef>
              <a:spcAft>
                <a:spcPts val="0"/>
              </a:spcAft>
              <a:defRPr sz="1510" b="0">
                <a:solidFill>
                  <a:srgbClr val="16243B"/>
                </a:solidFill>
                <a:latin typeface="DejaVu Sans"/>
              </a:defRPr>
            </a:pPr>
            <a:r>
              <a:t>Ус, дулаан, ариун цэвэр,</a:t>
            </a:r>
          </a:p>
          <a:p>
            <a:pPr>
              <a:lnSpc>
                <a:spcPts val="2023"/>
              </a:lnSpc>
              <a:spcBef>
                <a:spcPts val="0"/>
              </a:spcBef>
              <a:spcAft>
                <a:spcPts val="0"/>
              </a:spcAft>
              <a:defRPr sz="1510" b="0">
                <a:solidFill>
                  <a:srgbClr val="16243B"/>
                </a:solidFill>
                <a:latin typeface="DejaVu Sans"/>
              </a:defRPr>
            </a:pPr>
            <a:r>
              <a:t>аюулгүй байдлыг харна.</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Хүртээмж</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Үйлчилгээ байгаа эсэх → очиж</a:t>
            </a:r>
          </a:p>
          <a:p>
            <a:pPr>
              <a:lnSpc>
                <a:spcPts val="2023"/>
              </a:lnSpc>
              <a:spcBef>
                <a:spcPts val="0"/>
              </a:spcBef>
              <a:spcAft>
                <a:spcPts val="0"/>
              </a:spcAft>
              <a:defRPr sz="1510" b="0">
                <a:solidFill>
                  <a:srgbClr val="16243B"/>
                </a:solidFill>
                <a:latin typeface="DejaVu Sans"/>
              </a:defRPr>
            </a:pPr>
            <a:r>
              <a:t>чадах эсэх → төлж чадах эсэх</a:t>
            </a:r>
          </a:p>
          <a:p>
            <a:pPr>
              <a:lnSpc>
                <a:spcPts val="2023"/>
              </a:lnSpc>
              <a:spcBef>
                <a:spcPts val="0"/>
              </a:spcBef>
              <a:spcAft>
                <a:spcPts val="0"/>
              </a:spcAft>
              <a:defRPr sz="1510" b="0">
                <a:solidFill>
                  <a:srgbClr val="16243B"/>
                </a:solidFill>
                <a:latin typeface="DejaVu Sans"/>
              </a:defRPr>
            </a:pPr>
            <a:r>
              <a:t>→ чанартай эсэх.</a:t>
            </a:r>
          </a:p>
          <a:p>
            <a:pPr>
              <a:lnSpc>
                <a:spcPts val="2023"/>
              </a:lnSpc>
              <a:spcBef>
                <a:spcPts val="0"/>
              </a:spcBef>
              <a:spcAft>
                <a:spcPts val="0"/>
              </a:spcAft>
              <a:defRPr sz="1510" b="0">
                <a:solidFill>
                  <a:srgbClr val="16243B"/>
                </a:solidFill>
                <a:latin typeface="DejaVu Sans"/>
              </a:defRPr>
            </a:pPr>
            <a:r>
              <a:t>Бүртгэл, хөгжлийн бэрхшээл,</a:t>
            </a:r>
          </a:p>
          <a:p>
            <a:pPr>
              <a:lnSpc>
                <a:spcPts val="2023"/>
              </a:lnSpc>
              <a:spcBef>
                <a:spcPts val="0"/>
              </a:spcBef>
              <a:spcAft>
                <a:spcPts val="0"/>
              </a:spcAft>
              <a:defRPr sz="1510" b="0">
                <a:solidFill>
                  <a:srgbClr val="16243B"/>
                </a:solidFill>
                <a:latin typeface="DejaVu Sans"/>
              </a:defRPr>
            </a:pPr>
            <a:r>
              <a:t>тээврийн саадыг илрүүлнэ.</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Эрхийг зөвхөн барилга, орны тоогоор биш бодит хэрэглэгчийн боломж, үр дүнгээр үнэлнэ.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 • ICESCR</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04 / НИЙГМИЙН ХАМГААЛАЛ</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Халамжийн шийдвэр ил тод, хянуулах боломжтой байх</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Хуулийн үндэс</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Үндсэн хууль • 1992.01.13:</a:t>
            </a:r>
          </a:p>
          <a:p>
            <a:pPr>
              <a:lnSpc>
                <a:spcPts val="2023"/>
              </a:lnSpc>
              <a:spcBef>
                <a:spcPts val="0"/>
              </a:spcBef>
              <a:spcAft>
                <a:spcPts val="0"/>
              </a:spcAft>
              <a:defRPr sz="1510" b="0">
                <a:solidFill>
                  <a:srgbClr val="16243B"/>
                </a:solidFill>
                <a:latin typeface="DejaVu Sans"/>
              </a:defRPr>
            </a:pPr>
            <a:r>
              <a:t>16.5.</a:t>
            </a:r>
          </a:p>
          <a:p>
            <a:pPr>
              <a:lnSpc>
                <a:spcPts val="2023"/>
              </a:lnSpc>
              <a:spcBef>
                <a:spcPts val="0"/>
              </a:spcBef>
              <a:spcAft>
                <a:spcPts val="0"/>
              </a:spcAft>
              <a:defRPr sz="1510" b="0">
                <a:solidFill>
                  <a:srgbClr val="16243B"/>
                </a:solidFill>
                <a:latin typeface="DejaVu Sans"/>
              </a:defRPr>
            </a:pPr>
            <a:r>
              <a:t>Нийгмийн халамжийн тухай</a:t>
            </a:r>
          </a:p>
          <a:p>
            <a:pPr>
              <a:lnSpc>
                <a:spcPts val="2023"/>
              </a:lnSpc>
              <a:spcBef>
                <a:spcPts val="0"/>
              </a:spcBef>
              <a:spcAft>
                <a:spcPts val="0"/>
              </a:spcAft>
              <a:defRPr sz="1510" b="0">
                <a:solidFill>
                  <a:srgbClr val="16243B"/>
                </a:solidFill>
                <a:latin typeface="DejaVu Sans"/>
              </a:defRPr>
            </a:pPr>
            <a:r>
              <a:t>хууль • 2012.01.19.</a:t>
            </a:r>
          </a:p>
          <a:p>
            <a:pPr>
              <a:lnSpc>
                <a:spcPts val="2023"/>
              </a:lnSpc>
              <a:spcBef>
                <a:spcPts val="0"/>
              </a:spcBef>
              <a:spcAft>
                <a:spcPts val="0"/>
              </a:spcAft>
              <a:defRPr sz="1510" b="0">
                <a:solidFill>
                  <a:srgbClr val="16243B"/>
                </a:solidFill>
                <a:latin typeface="DejaVu Sans"/>
              </a:defRPr>
            </a:pPr>
            <a:r>
              <a:t>ICESCR • 1966.12.16: 9 дүгээр</a:t>
            </a:r>
          </a:p>
          <a:p>
            <a:pPr>
              <a:lnSpc>
                <a:spcPts val="2023"/>
              </a:lnSpc>
              <a:spcBef>
                <a:spcPts val="0"/>
              </a:spcBef>
              <a:spcAft>
                <a:spcPts val="0"/>
              </a:spcAft>
              <a:defRPr sz="1510" b="0">
                <a:solidFill>
                  <a:srgbClr val="16243B"/>
                </a:solidFill>
                <a:latin typeface="DejaVu Sans"/>
              </a:defRPr>
            </a:pPr>
            <a:r>
              <a:t>зүйл.</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Хоёр төрлийн алдаа</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Хасагдлын алдаа: шаардлага</a:t>
            </a:r>
          </a:p>
          <a:p>
            <a:pPr>
              <a:lnSpc>
                <a:spcPts val="2023"/>
              </a:lnSpc>
              <a:spcBef>
                <a:spcPts val="0"/>
              </a:spcBef>
              <a:spcAft>
                <a:spcPts val="0"/>
              </a:spcAft>
              <a:defRPr sz="1510" b="0">
                <a:solidFill>
                  <a:srgbClr val="16243B"/>
                </a:solidFill>
                <a:latin typeface="DejaVu Sans"/>
              </a:defRPr>
            </a:pPr>
            <a:r>
              <a:t>хангасан хүн дэмжлэгээс</a:t>
            </a:r>
          </a:p>
          <a:p>
            <a:pPr>
              <a:lnSpc>
                <a:spcPts val="2023"/>
              </a:lnSpc>
              <a:spcBef>
                <a:spcPts val="0"/>
              </a:spcBef>
              <a:spcAft>
                <a:spcPts val="0"/>
              </a:spcAft>
              <a:defRPr sz="1510" b="0">
                <a:solidFill>
                  <a:srgbClr val="16243B"/>
                </a:solidFill>
                <a:latin typeface="DejaVu Sans"/>
              </a:defRPr>
            </a:pPr>
            <a:r>
              <a:t>үлдэх.</a:t>
            </a:r>
          </a:p>
          <a:p>
            <a:pPr>
              <a:lnSpc>
                <a:spcPts val="2023"/>
              </a:lnSpc>
              <a:spcBef>
                <a:spcPts val="0"/>
              </a:spcBef>
              <a:spcAft>
                <a:spcPts val="0"/>
              </a:spcAft>
              <a:defRPr sz="1510" b="0">
                <a:solidFill>
                  <a:srgbClr val="16243B"/>
                </a:solidFill>
                <a:latin typeface="DejaVu Sans"/>
              </a:defRPr>
            </a:pPr>
            <a:r>
              <a:t>Хамрагдлын алдаа:</a:t>
            </a:r>
          </a:p>
          <a:p>
            <a:pPr>
              <a:lnSpc>
                <a:spcPts val="2023"/>
              </a:lnSpc>
              <a:spcBef>
                <a:spcPts val="0"/>
              </a:spcBef>
              <a:spcAft>
                <a:spcPts val="0"/>
              </a:spcAft>
              <a:defRPr sz="1510" b="0">
                <a:solidFill>
                  <a:srgbClr val="16243B"/>
                </a:solidFill>
                <a:latin typeface="DejaVu Sans"/>
              </a:defRPr>
            </a:pPr>
            <a:r>
              <a:t>шаардлага хангахгүй хүн</a:t>
            </a:r>
          </a:p>
          <a:p>
            <a:pPr>
              <a:lnSpc>
                <a:spcPts val="2023"/>
              </a:lnSpc>
              <a:spcBef>
                <a:spcPts val="0"/>
              </a:spcBef>
              <a:spcAft>
                <a:spcPts val="0"/>
              </a:spcAft>
              <a:defRPr sz="1510" b="0">
                <a:solidFill>
                  <a:srgbClr val="16243B"/>
                </a:solidFill>
                <a:latin typeface="DejaVu Sans"/>
              </a:defRPr>
            </a:pPr>
            <a:r>
              <a:t>хамрагдах.</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Сайн ажиллагаа</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Ойлгомжтой шалгуур;</a:t>
            </a:r>
          </a:p>
          <a:p>
            <a:pPr>
              <a:lnSpc>
                <a:spcPts val="2023"/>
              </a:lnSpc>
              <a:spcBef>
                <a:spcPts val="0"/>
              </a:spcBef>
              <a:spcAft>
                <a:spcPts val="0"/>
              </a:spcAft>
              <a:defRPr sz="1510" b="0">
                <a:solidFill>
                  <a:srgbClr val="16243B"/>
                </a:solidFill>
                <a:latin typeface="DejaVu Sans"/>
              </a:defRPr>
            </a:pPr>
            <a:r>
              <a:t>мэдээллээ засуулах боломж;</a:t>
            </a:r>
          </a:p>
          <a:p>
            <a:pPr>
              <a:lnSpc>
                <a:spcPts val="2023"/>
              </a:lnSpc>
              <a:spcBef>
                <a:spcPts val="0"/>
              </a:spcBef>
              <a:spcAft>
                <a:spcPts val="0"/>
              </a:spcAft>
              <a:defRPr sz="1510" b="0">
                <a:solidFill>
                  <a:srgbClr val="16243B"/>
                </a:solidFill>
                <a:latin typeface="DejaVu Sans"/>
              </a:defRPr>
            </a:pPr>
            <a:r>
              <a:t>үндэслэл бүхий шийдвэр;</a:t>
            </a:r>
          </a:p>
          <a:p>
            <a:pPr>
              <a:lnSpc>
                <a:spcPts val="2023"/>
              </a:lnSpc>
              <a:spcBef>
                <a:spcPts val="0"/>
              </a:spcBef>
              <a:spcAft>
                <a:spcPts val="0"/>
              </a:spcAft>
              <a:defRPr sz="1510" b="0">
                <a:solidFill>
                  <a:srgbClr val="16243B"/>
                </a:solidFill>
                <a:latin typeface="DejaVu Sans"/>
              </a:defRPr>
            </a:pPr>
            <a:r>
              <a:t>гомдол гаргах хүртээмжтэй</a:t>
            </a:r>
          </a:p>
          <a:p>
            <a:pPr>
              <a:lnSpc>
                <a:spcPts val="2023"/>
              </a:lnSpc>
              <a:spcBef>
                <a:spcPts val="0"/>
              </a:spcBef>
              <a:spcAft>
                <a:spcPts val="0"/>
              </a:spcAft>
              <a:defRPr sz="1510" b="0">
                <a:solidFill>
                  <a:srgbClr val="16243B"/>
                </a:solidFill>
                <a:latin typeface="DejaVu Sans"/>
              </a:defRPr>
            </a:pPr>
            <a:r>
              <a:t>суваг.</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Зорилтот дэмжлэгийн үр ашгийг хүний нэр төр, хувийн мэдээллийн хамгаалалттай хамт үнэлнэ.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 • НХ • ICESCR</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05 / БОДИТ КЕЙС 01</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Өмнөд Африк: орон байрны бодлого хэнийг орхив?</a:t>
            </a:r>
          </a:p>
        </p:txBody>
      </p:sp>
      <p:sp>
        <p:nvSpPr>
          <p:cNvPr id="6" name="Rectangle 5"/>
          <p:cNvSpPr/>
          <p:nvPr/>
        </p:nvSpPr>
        <p:spPr>
          <a:xfrm>
            <a:off x="482600" y="1828800"/>
            <a:ext cx="11226800" cy="469899"/>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3100" y="1930400"/>
            <a:ext cx="10845800" cy="292100"/>
          </a:xfrm>
          <a:prstGeom prst="rect">
            <a:avLst/>
          </a:prstGeom>
          <a:noFill/>
        </p:spPr>
        <p:txBody>
          <a:bodyPr wrap="none" lIns="0" rIns="0" tIns="0" bIns="0">
            <a:spAutoFit/>
          </a:bodyPr>
          <a:lstStyle/>
          <a:p>
            <a:pPr>
              <a:lnSpc>
                <a:spcPts val="1742"/>
              </a:lnSpc>
              <a:spcBef>
                <a:spcPts val="0"/>
              </a:spcBef>
              <a:spcAft>
                <a:spcPts val="0"/>
              </a:spcAft>
              <a:defRPr sz="1300" b="1">
                <a:solidFill>
                  <a:srgbClr val="FFFFFF"/>
                </a:solidFill>
                <a:latin typeface="DejaVu Sans"/>
              </a:defRPr>
            </a:pPr>
            <a:r>
              <a:t>2000.10.04 • Grootboom • [2000] ZACC 19</a:t>
            </a:r>
          </a:p>
        </p:txBody>
      </p:sp>
      <p:sp>
        <p:nvSpPr>
          <p:cNvPr id="8" name="Rounded Rectangle 7"/>
          <p:cNvSpPr/>
          <p:nvPr/>
        </p:nvSpPr>
        <p:spPr>
          <a:xfrm>
            <a:off x="4826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НӨХЦӨЛ БАЙДАЛ</a:t>
            </a:r>
          </a:p>
        </p:txBody>
      </p:sp>
      <p:sp>
        <p:nvSpPr>
          <p:cNvPr id="10" name="TextBox 9"/>
          <p:cNvSpPr txBox="1"/>
          <p:nvPr/>
        </p:nvSpPr>
        <p:spPr>
          <a:xfrm>
            <a:off x="6858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Орон байргүй, хүнд нөхцөлд</a:t>
            </a:r>
          </a:p>
          <a:p>
            <a:pPr>
              <a:lnSpc>
                <a:spcPts val="1876"/>
              </a:lnSpc>
              <a:spcBef>
                <a:spcPts val="0"/>
              </a:spcBef>
              <a:spcAft>
                <a:spcPts val="0"/>
              </a:spcAft>
              <a:defRPr sz="1400" b="0">
                <a:solidFill>
                  <a:srgbClr val="16243B"/>
                </a:solidFill>
                <a:latin typeface="DejaVu Sans"/>
              </a:defRPr>
            </a:pPr>
            <a:r>
              <a:t>амьдарч байсан иргэд төрийн</a:t>
            </a:r>
          </a:p>
          <a:p>
            <a:pPr>
              <a:lnSpc>
                <a:spcPts val="1876"/>
              </a:lnSpc>
              <a:spcBef>
                <a:spcPts val="0"/>
              </a:spcBef>
              <a:spcAft>
                <a:spcPts val="0"/>
              </a:spcAft>
              <a:defRPr sz="1400" b="0">
                <a:solidFill>
                  <a:srgbClr val="16243B"/>
                </a:solidFill>
                <a:latin typeface="DejaVu Sans"/>
              </a:defRPr>
            </a:pPr>
            <a:r>
              <a:t>орон сууцны хөтөлбөр яаралтай</a:t>
            </a:r>
          </a:p>
          <a:p>
            <a:pPr>
              <a:lnSpc>
                <a:spcPts val="1876"/>
              </a:lnSpc>
              <a:spcBef>
                <a:spcPts val="0"/>
              </a:spcBef>
              <a:spcAft>
                <a:spcPts val="0"/>
              </a:spcAft>
              <a:defRPr sz="1400" b="0">
                <a:solidFill>
                  <a:srgbClr val="16243B"/>
                </a:solidFill>
                <a:latin typeface="DejaVu Sans"/>
              </a:defRPr>
            </a:pPr>
            <a:r>
              <a:t>хэрэгцээг нь хангахгүй байгааг</a:t>
            </a:r>
          </a:p>
          <a:p>
            <a:pPr>
              <a:lnSpc>
                <a:spcPts val="1876"/>
              </a:lnSpc>
              <a:spcBef>
                <a:spcPts val="0"/>
              </a:spcBef>
              <a:spcAft>
                <a:spcPts val="0"/>
              </a:spcAft>
              <a:defRPr sz="1400" b="0">
                <a:solidFill>
                  <a:srgbClr val="16243B"/>
                </a:solidFill>
                <a:latin typeface="DejaVu Sans"/>
              </a:defRPr>
            </a:pPr>
            <a:r>
              <a:t>шүүхэд маргасан.</a:t>
            </a:r>
          </a:p>
        </p:txBody>
      </p:sp>
      <p:sp>
        <p:nvSpPr>
          <p:cNvPr id="11" name="Rounded Rectangle 10"/>
          <p:cNvSpPr/>
          <p:nvPr/>
        </p:nvSpPr>
        <p:spPr>
          <a:xfrm>
            <a:off x="42799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31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ЭРХ ЗҮЙ • ШИЙДВЭР</a:t>
            </a:r>
          </a:p>
        </p:txBody>
      </p:sp>
      <p:sp>
        <p:nvSpPr>
          <p:cNvPr id="13" name="TextBox 12"/>
          <p:cNvSpPr txBox="1"/>
          <p:nvPr/>
        </p:nvSpPr>
        <p:spPr>
          <a:xfrm>
            <a:off x="44831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Өмнөд Африкийн Үндсэн хууль •</a:t>
            </a:r>
          </a:p>
          <a:p>
            <a:pPr>
              <a:lnSpc>
                <a:spcPts val="1876"/>
              </a:lnSpc>
              <a:spcBef>
                <a:spcPts val="0"/>
              </a:spcBef>
              <a:spcAft>
                <a:spcPts val="0"/>
              </a:spcAft>
              <a:defRPr sz="1400" b="0">
                <a:solidFill>
                  <a:srgbClr val="16243B"/>
                </a:solidFill>
                <a:latin typeface="DejaVu Sans"/>
              </a:defRPr>
            </a:pPr>
            <a:r>
              <a:t>1996.12.10 (гарын үсэг зурсан);</a:t>
            </a:r>
          </a:p>
          <a:p>
            <a:pPr>
              <a:lnSpc>
                <a:spcPts val="1876"/>
              </a:lnSpc>
              <a:spcBef>
                <a:spcPts val="0"/>
              </a:spcBef>
              <a:spcAft>
                <a:spcPts val="0"/>
              </a:spcAft>
              <a:defRPr sz="1400" b="0">
                <a:solidFill>
                  <a:srgbClr val="16243B"/>
                </a:solidFill>
                <a:latin typeface="DejaVu Sans"/>
              </a:defRPr>
            </a:pPr>
            <a:r>
              <a:t>26 дугаар зүйл. Шүүх бодлого нь</a:t>
            </a:r>
          </a:p>
          <a:p>
            <a:pPr>
              <a:lnSpc>
                <a:spcPts val="1876"/>
              </a:lnSpc>
              <a:spcBef>
                <a:spcPts val="0"/>
              </a:spcBef>
              <a:spcAft>
                <a:spcPts val="0"/>
              </a:spcAft>
              <a:defRPr sz="1400" b="0">
                <a:solidFill>
                  <a:srgbClr val="16243B"/>
                </a:solidFill>
                <a:latin typeface="DejaVu Sans"/>
              </a:defRPr>
            </a:pPr>
            <a:r>
              <a:t>онцгой гачигдалтай хүмүүсийн</a:t>
            </a:r>
          </a:p>
          <a:p>
            <a:pPr>
              <a:lnSpc>
                <a:spcPts val="1876"/>
              </a:lnSpc>
              <a:spcBef>
                <a:spcPts val="0"/>
              </a:spcBef>
              <a:spcAft>
                <a:spcPts val="0"/>
              </a:spcAft>
              <a:defRPr sz="1400" b="0">
                <a:solidFill>
                  <a:srgbClr val="16243B"/>
                </a:solidFill>
                <a:latin typeface="DejaVu Sans"/>
              </a:defRPr>
            </a:pPr>
            <a:r>
              <a:t>яаралтай хэрэгцээг бодитой</a:t>
            </a:r>
          </a:p>
          <a:p>
            <a:pPr>
              <a:lnSpc>
                <a:spcPts val="1876"/>
              </a:lnSpc>
              <a:spcBef>
                <a:spcPts val="0"/>
              </a:spcBef>
              <a:spcAft>
                <a:spcPts val="0"/>
              </a:spcAft>
              <a:defRPr sz="1400" b="0">
                <a:solidFill>
                  <a:srgbClr val="16243B"/>
                </a:solidFill>
                <a:latin typeface="DejaVu Sans"/>
              </a:defRPr>
            </a:pPr>
            <a:r>
              <a:t>тусгах ёстой гэж үзсэн.</a:t>
            </a:r>
          </a:p>
        </p:txBody>
      </p:sp>
      <p:sp>
        <p:nvSpPr>
          <p:cNvPr id="14" name="Rounded Rectangle 13"/>
          <p:cNvSpPr/>
          <p:nvPr/>
        </p:nvSpPr>
        <p:spPr>
          <a:xfrm>
            <a:off x="80772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04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МОНГОЛД АВАХ САНАА</a:t>
            </a:r>
          </a:p>
        </p:txBody>
      </p:sp>
      <p:sp>
        <p:nvSpPr>
          <p:cNvPr id="16" name="TextBox 15"/>
          <p:cNvSpPr txBox="1"/>
          <p:nvPr/>
        </p:nvSpPr>
        <p:spPr>
          <a:xfrm>
            <a:off x="82804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Монголд авах санаа: урт</a:t>
            </a:r>
          </a:p>
          <a:p>
            <a:pPr>
              <a:lnSpc>
                <a:spcPts val="1876"/>
              </a:lnSpc>
              <a:spcBef>
                <a:spcPts val="0"/>
              </a:spcBef>
              <a:spcAft>
                <a:spcPts val="0"/>
              </a:spcAft>
              <a:defRPr sz="1400" b="0">
                <a:solidFill>
                  <a:srgbClr val="16243B"/>
                </a:solidFill>
                <a:latin typeface="DejaVu Sans"/>
              </a:defRPr>
            </a:pPr>
            <a:r>
              <a:t>хугацааны орон сууцны</a:t>
            </a:r>
          </a:p>
          <a:p>
            <a:pPr>
              <a:lnSpc>
                <a:spcPts val="1876"/>
              </a:lnSpc>
              <a:spcBef>
                <a:spcPts val="0"/>
              </a:spcBef>
              <a:spcAft>
                <a:spcPts val="0"/>
              </a:spcAft>
              <a:defRPr sz="1400" b="0">
                <a:solidFill>
                  <a:srgbClr val="16243B"/>
                </a:solidFill>
                <a:latin typeface="DejaVu Sans"/>
              </a:defRPr>
            </a:pPr>
            <a:r>
              <a:t>бодлогын хажуугаар түр</a:t>
            </a:r>
          </a:p>
          <a:p>
            <a:pPr>
              <a:lnSpc>
                <a:spcPts val="1876"/>
              </a:lnSpc>
              <a:spcBef>
                <a:spcPts val="0"/>
              </a:spcBef>
              <a:spcAft>
                <a:spcPts val="0"/>
              </a:spcAft>
              <a:defRPr sz="1400" b="0">
                <a:solidFill>
                  <a:srgbClr val="16243B"/>
                </a:solidFill>
                <a:latin typeface="DejaVu Sans"/>
              </a:defRPr>
            </a:pPr>
            <a:r>
              <a:t>хамгаалах байр, ус, ариун цэвэр</a:t>
            </a:r>
          </a:p>
          <a:p>
            <a:pPr>
              <a:lnSpc>
                <a:spcPts val="1876"/>
              </a:lnSpc>
              <a:spcBef>
                <a:spcPts val="0"/>
              </a:spcBef>
              <a:spcAft>
                <a:spcPts val="0"/>
              </a:spcAft>
              <a:defRPr sz="1400" b="0">
                <a:solidFill>
                  <a:srgbClr val="16243B"/>
                </a:solidFill>
                <a:latin typeface="DejaVu Sans"/>
              </a:defRPr>
            </a:pPr>
            <a:r>
              <a:t>зэрэг яаралтай хэрэгцээг тусад</a:t>
            </a:r>
          </a:p>
          <a:p>
            <a:pPr>
              <a:lnSpc>
                <a:spcPts val="1876"/>
              </a:lnSpc>
              <a:spcBef>
                <a:spcPts val="0"/>
              </a:spcBef>
              <a:spcAft>
                <a:spcPts val="0"/>
              </a:spcAft>
              <a:defRPr sz="1400" b="0">
                <a:solidFill>
                  <a:srgbClr val="16243B"/>
                </a:solidFill>
                <a:latin typeface="DejaVu Sans"/>
              </a:defRPr>
            </a:pPr>
            <a:r>
              <a:t>нь шийдэх.</a:t>
            </a:r>
          </a:p>
        </p:txBody>
      </p:sp>
      <p:sp>
        <p:nvSpPr>
          <p:cNvPr id="17" name="Rounded Rectangle 16"/>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Шүүх хүн бүрд нэн даруй байшин олгох ерөнхий шийдвэр гаргаагүй; бодлогын үндэслэлтэй байдлыг хянасан.</a:t>
            </a:r>
          </a:p>
        </p:txBody>
      </p:sp>
      <p:sp>
        <p:nvSpPr>
          <p:cNvPr id="19" name="TextBox 18"/>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GROOT</a:t>
            </a:r>
          </a:p>
        </p:txBody>
      </p:sp>
      <p:sp>
        <p:nvSpPr>
          <p:cNvPr id="20" name="TextBox 19"/>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05 / БОДИТ КЕЙС 02</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Өмнөд Африк: эхээс хүүхдэд ХДХВ дамжихаас</a:t>
            </a:r>
          </a:p>
          <a:p>
            <a:pPr>
              <a:lnSpc>
                <a:spcPts val="3618"/>
              </a:lnSpc>
              <a:spcBef>
                <a:spcPts val="0"/>
              </a:spcBef>
              <a:spcAft>
                <a:spcPts val="0"/>
              </a:spcAft>
              <a:defRPr sz="2700" b="1">
                <a:solidFill>
                  <a:srgbClr val="16243B"/>
                </a:solidFill>
                <a:latin typeface="DejaVu Sans"/>
              </a:defRPr>
            </a:pPr>
            <a:r>
              <a:t>сэргийлэх</a:t>
            </a:r>
          </a:p>
        </p:txBody>
      </p:sp>
      <p:sp>
        <p:nvSpPr>
          <p:cNvPr id="6" name="Rectangle 5"/>
          <p:cNvSpPr/>
          <p:nvPr/>
        </p:nvSpPr>
        <p:spPr>
          <a:xfrm>
            <a:off x="482600" y="1828800"/>
            <a:ext cx="11226800" cy="469899"/>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3100" y="1930400"/>
            <a:ext cx="10845800" cy="292100"/>
          </a:xfrm>
          <a:prstGeom prst="rect">
            <a:avLst/>
          </a:prstGeom>
          <a:noFill/>
        </p:spPr>
        <p:txBody>
          <a:bodyPr wrap="none" lIns="0" rIns="0" tIns="0" bIns="0">
            <a:spAutoFit/>
          </a:bodyPr>
          <a:lstStyle/>
          <a:p>
            <a:pPr>
              <a:lnSpc>
                <a:spcPts val="1742"/>
              </a:lnSpc>
              <a:spcBef>
                <a:spcPts val="0"/>
              </a:spcBef>
              <a:spcAft>
                <a:spcPts val="0"/>
              </a:spcAft>
              <a:defRPr sz="1300" b="1">
                <a:solidFill>
                  <a:srgbClr val="FFFFFF"/>
                </a:solidFill>
                <a:latin typeface="DejaVu Sans"/>
              </a:defRPr>
            </a:pPr>
            <a:r>
              <a:t>2002.07.05 • Treatment Action Campaign • [2002] ZACC 15</a:t>
            </a:r>
          </a:p>
        </p:txBody>
      </p:sp>
      <p:sp>
        <p:nvSpPr>
          <p:cNvPr id="8" name="Rounded Rectangle 7"/>
          <p:cNvSpPr/>
          <p:nvPr/>
        </p:nvSpPr>
        <p:spPr>
          <a:xfrm>
            <a:off x="4826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НӨХЦӨЛ БАЙДАЛ</a:t>
            </a:r>
          </a:p>
        </p:txBody>
      </p:sp>
      <p:sp>
        <p:nvSpPr>
          <p:cNvPr id="10" name="TextBox 9"/>
          <p:cNvSpPr txBox="1"/>
          <p:nvPr/>
        </p:nvSpPr>
        <p:spPr>
          <a:xfrm>
            <a:off x="6858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Невирапин эмийг улсын эрүүл</a:t>
            </a:r>
          </a:p>
          <a:p>
            <a:pPr>
              <a:lnSpc>
                <a:spcPts val="1876"/>
              </a:lnSpc>
              <a:spcBef>
                <a:spcPts val="0"/>
              </a:spcBef>
              <a:spcAft>
                <a:spcPts val="0"/>
              </a:spcAft>
              <a:defRPr sz="1400" b="0">
                <a:solidFill>
                  <a:srgbClr val="16243B"/>
                </a:solidFill>
                <a:latin typeface="DejaVu Sans"/>
              </a:defRPr>
            </a:pPr>
            <a:r>
              <a:t>мэндийн салбарт зөвхөн</a:t>
            </a:r>
          </a:p>
          <a:p>
            <a:pPr>
              <a:lnSpc>
                <a:spcPts val="1876"/>
              </a:lnSpc>
              <a:spcBef>
                <a:spcPts val="0"/>
              </a:spcBef>
              <a:spcAft>
                <a:spcPts val="0"/>
              </a:spcAft>
              <a:defRPr sz="1400" b="0">
                <a:solidFill>
                  <a:srgbClr val="16243B"/>
                </a:solidFill>
                <a:latin typeface="DejaVu Sans"/>
              </a:defRPr>
            </a:pPr>
            <a:r>
              <a:t>сонгосон туршилтын цэгүүдээр</a:t>
            </a:r>
          </a:p>
          <a:p>
            <a:pPr>
              <a:lnSpc>
                <a:spcPts val="1876"/>
              </a:lnSpc>
              <a:spcBef>
                <a:spcPts val="0"/>
              </a:spcBef>
              <a:spcAft>
                <a:spcPts val="0"/>
              </a:spcAft>
              <a:defRPr sz="1400" b="0">
                <a:solidFill>
                  <a:srgbClr val="16243B"/>
                </a:solidFill>
                <a:latin typeface="DejaVu Sans"/>
              </a:defRPr>
            </a:pPr>
            <a:r>
              <a:t>хязгаарласан бодлого нь бусад</a:t>
            </a:r>
          </a:p>
          <a:p>
            <a:pPr>
              <a:lnSpc>
                <a:spcPts val="1876"/>
              </a:lnSpc>
              <a:spcBef>
                <a:spcPts val="0"/>
              </a:spcBef>
              <a:spcAft>
                <a:spcPts val="0"/>
              </a:spcAft>
              <a:defRPr sz="1400" b="0">
                <a:solidFill>
                  <a:srgbClr val="16243B"/>
                </a:solidFill>
                <a:latin typeface="DejaVu Sans"/>
              </a:defRPr>
            </a:pPr>
            <a:r>
              <a:t>эмнэлгийн эх, хүүхдийн</a:t>
            </a:r>
          </a:p>
          <a:p>
            <a:pPr>
              <a:lnSpc>
                <a:spcPts val="1876"/>
              </a:lnSpc>
              <a:spcBef>
                <a:spcPts val="0"/>
              </a:spcBef>
              <a:spcAft>
                <a:spcPts val="0"/>
              </a:spcAft>
              <a:defRPr sz="1400" b="0">
                <a:solidFill>
                  <a:srgbClr val="16243B"/>
                </a:solidFill>
                <a:latin typeface="DejaVu Sans"/>
              </a:defRPr>
            </a:pPr>
            <a:r>
              <a:t>хүртээмжийг хааж байв.</a:t>
            </a:r>
          </a:p>
        </p:txBody>
      </p:sp>
      <p:sp>
        <p:nvSpPr>
          <p:cNvPr id="11" name="Rounded Rectangle 10"/>
          <p:cNvSpPr/>
          <p:nvPr/>
        </p:nvSpPr>
        <p:spPr>
          <a:xfrm>
            <a:off x="42799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31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ЭРХ ЗҮЙ • ШИЙДВЭР</a:t>
            </a:r>
          </a:p>
        </p:txBody>
      </p:sp>
      <p:sp>
        <p:nvSpPr>
          <p:cNvPr id="13" name="TextBox 12"/>
          <p:cNvSpPr txBox="1"/>
          <p:nvPr/>
        </p:nvSpPr>
        <p:spPr>
          <a:xfrm>
            <a:off x="44831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Өмнөд Африкийн Үндсэн хууль •</a:t>
            </a:r>
          </a:p>
          <a:p>
            <a:pPr>
              <a:lnSpc>
                <a:spcPts val="1876"/>
              </a:lnSpc>
              <a:spcBef>
                <a:spcPts val="0"/>
              </a:spcBef>
              <a:spcAft>
                <a:spcPts val="0"/>
              </a:spcAft>
              <a:defRPr sz="1400" b="0">
                <a:solidFill>
                  <a:srgbClr val="16243B"/>
                </a:solidFill>
                <a:latin typeface="DejaVu Sans"/>
              </a:defRPr>
            </a:pPr>
            <a:r>
              <a:t>1996.12.10 (гарын үсэг зурсан);</a:t>
            </a:r>
          </a:p>
          <a:p>
            <a:pPr>
              <a:lnSpc>
                <a:spcPts val="1876"/>
              </a:lnSpc>
              <a:spcBef>
                <a:spcPts val="0"/>
              </a:spcBef>
              <a:spcAft>
                <a:spcPts val="0"/>
              </a:spcAft>
              <a:defRPr sz="1400" b="0">
                <a:solidFill>
                  <a:srgbClr val="16243B"/>
                </a:solidFill>
                <a:latin typeface="DejaVu Sans"/>
              </a:defRPr>
            </a:pPr>
            <a:r>
              <a:t>27 дугаар зүйл. Шүүх эмнэлгийн</a:t>
            </a:r>
          </a:p>
          <a:p>
            <a:pPr>
              <a:lnSpc>
                <a:spcPts val="1876"/>
              </a:lnSpc>
              <a:spcBef>
                <a:spcPts val="0"/>
              </a:spcBef>
              <a:spcAft>
                <a:spcPts val="0"/>
              </a:spcAft>
              <a:defRPr sz="1400" b="0">
                <a:solidFill>
                  <a:srgbClr val="16243B"/>
                </a:solidFill>
                <a:latin typeface="DejaVu Sans"/>
              </a:defRPr>
            </a:pPr>
            <a:r>
              <a:t>шаардлага хангасан газруудад</a:t>
            </a:r>
          </a:p>
          <a:p>
            <a:pPr>
              <a:lnSpc>
                <a:spcPts val="1876"/>
              </a:lnSpc>
              <a:spcBef>
                <a:spcPts val="0"/>
              </a:spcBef>
              <a:spcAft>
                <a:spcPts val="0"/>
              </a:spcAft>
              <a:defRPr sz="1400" b="0">
                <a:solidFill>
                  <a:srgbClr val="16243B"/>
                </a:solidFill>
                <a:latin typeface="DejaVu Sans"/>
              </a:defRPr>
            </a:pPr>
            <a:r>
              <a:t>хэрэглэхэд саад болсон</a:t>
            </a:r>
          </a:p>
          <a:p>
            <a:pPr>
              <a:lnSpc>
                <a:spcPts val="1876"/>
              </a:lnSpc>
              <a:spcBef>
                <a:spcPts val="0"/>
              </a:spcBef>
              <a:spcAft>
                <a:spcPts val="0"/>
              </a:spcAft>
              <a:defRPr sz="1400" b="0">
                <a:solidFill>
                  <a:srgbClr val="16243B"/>
                </a:solidFill>
                <a:latin typeface="DejaVu Sans"/>
              </a:defRPr>
            </a:pPr>
            <a:r>
              <a:t>хязгаарлалтыг арилгахыг</a:t>
            </a:r>
          </a:p>
          <a:p>
            <a:pPr>
              <a:lnSpc>
                <a:spcPts val="1876"/>
              </a:lnSpc>
              <a:spcBef>
                <a:spcPts val="0"/>
              </a:spcBef>
              <a:spcAft>
                <a:spcPts val="0"/>
              </a:spcAft>
              <a:defRPr sz="1400" b="0">
                <a:solidFill>
                  <a:srgbClr val="16243B"/>
                </a:solidFill>
                <a:latin typeface="DejaVu Sans"/>
              </a:defRPr>
            </a:pPr>
            <a:r>
              <a:t>даалгасан.</a:t>
            </a:r>
          </a:p>
        </p:txBody>
      </p:sp>
      <p:sp>
        <p:nvSpPr>
          <p:cNvPr id="14" name="Rounded Rectangle 13"/>
          <p:cNvSpPr/>
          <p:nvPr/>
        </p:nvSpPr>
        <p:spPr>
          <a:xfrm>
            <a:off x="80772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04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МОНГОЛД АВАХ САНАА</a:t>
            </a:r>
          </a:p>
        </p:txBody>
      </p:sp>
      <p:sp>
        <p:nvSpPr>
          <p:cNvPr id="16" name="TextBox 15"/>
          <p:cNvSpPr txBox="1"/>
          <p:nvPr/>
        </p:nvSpPr>
        <p:spPr>
          <a:xfrm>
            <a:off x="82804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Монголд авах санаа: бодлогын</a:t>
            </a:r>
          </a:p>
          <a:p>
            <a:pPr>
              <a:lnSpc>
                <a:spcPts val="1876"/>
              </a:lnSpc>
              <a:spcBef>
                <a:spcPts val="0"/>
              </a:spcBef>
              <a:spcAft>
                <a:spcPts val="0"/>
              </a:spcAft>
              <a:defRPr sz="1400" b="0">
                <a:solidFill>
                  <a:srgbClr val="16243B"/>
                </a:solidFill>
                <a:latin typeface="DejaVu Sans"/>
              </a:defRPr>
            </a:pPr>
            <a:r>
              <a:t>хязгаарлалт нь нотолгоонд</a:t>
            </a:r>
          </a:p>
          <a:p>
            <a:pPr>
              <a:lnSpc>
                <a:spcPts val="1876"/>
              </a:lnSpc>
              <a:spcBef>
                <a:spcPts val="0"/>
              </a:spcBef>
              <a:spcAft>
                <a:spcPts val="0"/>
              </a:spcAft>
              <a:defRPr sz="1400" b="0">
                <a:solidFill>
                  <a:srgbClr val="16243B"/>
                </a:solidFill>
                <a:latin typeface="DejaVu Sans"/>
              </a:defRPr>
            </a:pPr>
            <a:r>
              <a:t>суурилсан уу, орлогогүй иргэдэд</a:t>
            </a:r>
          </a:p>
          <a:p>
            <a:pPr>
              <a:lnSpc>
                <a:spcPts val="1876"/>
              </a:lnSpc>
              <a:spcBef>
                <a:spcPts val="0"/>
              </a:spcBef>
              <a:spcAft>
                <a:spcPts val="0"/>
              </a:spcAft>
              <a:defRPr sz="1400" b="0">
                <a:solidFill>
                  <a:srgbClr val="16243B"/>
                </a:solidFill>
                <a:latin typeface="DejaVu Sans"/>
              </a:defRPr>
            </a:pPr>
            <a:r>
              <a:t>ямар бодит нөлөө үзүүлж байна</a:t>
            </a:r>
          </a:p>
          <a:p>
            <a:pPr>
              <a:lnSpc>
                <a:spcPts val="1876"/>
              </a:lnSpc>
              <a:spcBef>
                <a:spcPts val="0"/>
              </a:spcBef>
              <a:spcAft>
                <a:spcPts val="0"/>
              </a:spcAft>
              <a:defRPr sz="1400" b="0">
                <a:solidFill>
                  <a:srgbClr val="16243B"/>
                </a:solidFill>
                <a:latin typeface="DejaVu Sans"/>
              </a:defRPr>
            </a:pPr>
            <a:r>
              <a:t>вэ гэдгийг хянах.</a:t>
            </a:r>
          </a:p>
        </p:txBody>
      </p:sp>
      <p:sp>
        <p:nvSpPr>
          <p:cNvPr id="17" name="Rounded Rectangle 16"/>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Эрүүл мэндийн бодлогын сонголт нь эрхийн хүртээмжийг үндэслэлгүй хязгаарлаж болохгүй.</a:t>
            </a:r>
          </a:p>
        </p:txBody>
      </p:sp>
      <p:sp>
        <p:nvSpPr>
          <p:cNvPr id="19" name="TextBox 18"/>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TAC</a:t>
            </a:r>
          </a:p>
        </p:txBody>
      </p:sp>
      <p:sp>
        <p:nvSpPr>
          <p:cNvPr id="20" name="TextBox 19"/>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05 / БОДИТ КЕЙС 03</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Герман: амьжиргааны доод хэмжээг яаж тооцох вэ?</a:t>
            </a:r>
          </a:p>
        </p:txBody>
      </p:sp>
      <p:sp>
        <p:nvSpPr>
          <p:cNvPr id="6" name="Rectangle 5"/>
          <p:cNvSpPr/>
          <p:nvPr/>
        </p:nvSpPr>
        <p:spPr>
          <a:xfrm>
            <a:off x="482600" y="1828800"/>
            <a:ext cx="11226800" cy="469899"/>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3100" y="1930400"/>
            <a:ext cx="10845800" cy="292100"/>
          </a:xfrm>
          <a:prstGeom prst="rect">
            <a:avLst/>
          </a:prstGeom>
          <a:noFill/>
        </p:spPr>
        <p:txBody>
          <a:bodyPr wrap="none" lIns="0" rIns="0" tIns="0" bIns="0">
            <a:spAutoFit/>
          </a:bodyPr>
          <a:lstStyle/>
          <a:p>
            <a:pPr>
              <a:lnSpc>
                <a:spcPts val="1742"/>
              </a:lnSpc>
              <a:spcBef>
                <a:spcPts val="0"/>
              </a:spcBef>
              <a:spcAft>
                <a:spcPts val="0"/>
              </a:spcAft>
              <a:defRPr sz="1300" b="1">
                <a:solidFill>
                  <a:srgbClr val="FFFFFF"/>
                </a:solidFill>
                <a:latin typeface="DejaVu Sans"/>
              </a:defRPr>
            </a:pPr>
            <a:r>
              <a:t>2010.02.09 • BVerfG • 1 BvL 1/09 нар</a:t>
            </a:r>
          </a:p>
        </p:txBody>
      </p:sp>
      <p:sp>
        <p:nvSpPr>
          <p:cNvPr id="8" name="Rounded Rectangle 7"/>
          <p:cNvSpPr/>
          <p:nvPr/>
        </p:nvSpPr>
        <p:spPr>
          <a:xfrm>
            <a:off x="4826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НӨХЦӨЛ БАЙДАЛ</a:t>
            </a:r>
          </a:p>
        </p:txBody>
      </p:sp>
      <p:sp>
        <p:nvSpPr>
          <p:cNvPr id="10" name="TextBox 9"/>
          <p:cNvSpPr txBox="1"/>
          <p:nvPr/>
        </p:nvSpPr>
        <p:spPr>
          <a:xfrm>
            <a:off x="6858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Hartz IV тогтолцооны зарим</a:t>
            </a:r>
          </a:p>
          <a:p>
            <a:pPr>
              <a:lnSpc>
                <a:spcPts val="1876"/>
              </a:lnSpc>
              <a:spcBef>
                <a:spcPts val="0"/>
              </a:spcBef>
              <a:spcAft>
                <a:spcPts val="0"/>
              </a:spcAft>
              <a:defRPr sz="1400" b="0">
                <a:solidFill>
                  <a:srgbClr val="16243B"/>
                </a:solidFill>
                <a:latin typeface="DejaVu Sans"/>
              </a:defRPr>
            </a:pPr>
            <a:r>
              <a:t>суурь тэтгэмж, ялангуяа</a:t>
            </a:r>
          </a:p>
          <a:p>
            <a:pPr>
              <a:lnSpc>
                <a:spcPts val="1876"/>
              </a:lnSpc>
              <a:spcBef>
                <a:spcPts val="0"/>
              </a:spcBef>
              <a:spcAft>
                <a:spcPts val="0"/>
              </a:spcAft>
              <a:defRPr sz="1400" b="0">
                <a:solidFill>
                  <a:srgbClr val="16243B"/>
                </a:solidFill>
                <a:latin typeface="DejaVu Sans"/>
              </a:defRPr>
            </a:pPr>
            <a:r>
              <a:t>хүүхдийн хэрэгцээний тооцоолол</a:t>
            </a:r>
          </a:p>
          <a:p>
            <a:pPr>
              <a:lnSpc>
                <a:spcPts val="1876"/>
              </a:lnSpc>
              <a:spcBef>
                <a:spcPts val="0"/>
              </a:spcBef>
              <a:spcAft>
                <a:spcPts val="0"/>
              </a:spcAft>
              <a:defRPr sz="1400" b="0">
                <a:solidFill>
                  <a:srgbClr val="16243B"/>
                </a:solidFill>
                <a:latin typeface="DejaVu Sans"/>
              </a:defRPr>
            </a:pPr>
            <a:r>
              <a:t>нь ил тод, бодит үндэслэлтэй</a:t>
            </a:r>
          </a:p>
          <a:p>
            <a:pPr>
              <a:lnSpc>
                <a:spcPts val="1876"/>
              </a:lnSpc>
              <a:spcBef>
                <a:spcPts val="0"/>
              </a:spcBef>
              <a:spcAft>
                <a:spcPts val="0"/>
              </a:spcAft>
              <a:defRPr sz="1400" b="0">
                <a:solidFill>
                  <a:srgbClr val="16243B"/>
                </a:solidFill>
                <a:latin typeface="DejaVu Sans"/>
              </a:defRPr>
            </a:pPr>
            <a:r>
              <a:t>эсэх талаар маргасан.</a:t>
            </a:r>
          </a:p>
        </p:txBody>
      </p:sp>
      <p:sp>
        <p:nvSpPr>
          <p:cNvPr id="11" name="Rounded Rectangle 10"/>
          <p:cNvSpPr/>
          <p:nvPr/>
        </p:nvSpPr>
        <p:spPr>
          <a:xfrm>
            <a:off x="42799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31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ЭРХ ЗҮЙ • ШИЙДВЭР</a:t>
            </a:r>
          </a:p>
        </p:txBody>
      </p:sp>
      <p:sp>
        <p:nvSpPr>
          <p:cNvPr id="13" name="TextBox 12"/>
          <p:cNvSpPr txBox="1"/>
          <p:nvPr/>
        </p:nvSpPr>
        <p:spPr>
          <a:xfrm>
            <a:off x="44831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Германы Үндсэн хууль •</a:t>
            </a:r>
          </a:p>
          <a:p>
            <a:pPr>
              <a:lnSpc>
                <a:spcPts val="1876"/>
              </a:lnSpc>
              <a:spcBef>
                <a:spcPts val="0"/>
              </a:spcBef>
              <a:spcAft>
                <a:spcPts val="0"/>
              </a:spcAft>
              <a:defRPr sz="1400" b="0">
                <a:solidFill>
                  <a:srgbClr val="16243B"/>
                </a:solidFill>
                <a:latin typeface="DejaVu Sans"/>
              </a:defRPr>
            </a:pPr>
            <a:r>
              <a:t>1949.05.23; 1(1) ба 20(1). Хүний</a:t>
            </a:r>
          </a:p>
          <a:p>
            <a:pPr>
              <a:lnSpc>
                <a:spcPts val="1876"/>
              </a:lnSpc>
              <a:spcBef>
                <a:spcPts val="0"/>
              </a:spcBef>
              <a:spcAft>
                <a:spcPts val="0"/>
              </a:spcAft>
              <a:defRPr sz="1400" b="0">
                <a:solidFill>
                  <a:srgbClr val="16243B"/>
                </a:solidFill>
                <a:latin typeface="DejaVu Sans"/>
              </a:defRPr>
            </a:pPr>
            <a:r>
              <a:t>нэр төр ба нийгмийн төрийн</a:t>
            </a:r>
          </a:p>
          <a:p>
            <a:pPr>
              <a:lnSpc>
                <a:spcPts val="1876"/>
              </a:lnSpc>
              <a:spcBef>
                <a:spcPts val="0"/>
              </a:spcBef>
              <a:spcAft>
                <a:spcPts val="0"/>
              </a:spcAft>
              <a:defRPr sz="1400" b="0">
                <a:solidFill>
                  <a:srgbClr val="16243B"/>
                </a:solidFill>
                <a:latin typeface="DejaVu Sans"/>
              </a:defRPr>
            </a:pPr>
            <a:r>
              <a:t>зарчмаас амьжиргааны наад</a:t>
            </a:r>
          </a:p>
          <a:p>
            <a:pPr>
              <a:lnSpc>
                <a:spcPts val="1876"/>
              </a:lnSpc>
              <a:spcBef>
                <a:spcPts val="0"/>
              </a:spcBef>
              <a:spcAft>
                <a:spcPts val="0"/>
              </a:spcAft>
              <a:defRPr sz="1400" b="0">
                <a:solidFill>
                  <a:srgbClr val="16243B"/>
                </a:solidFill>
                <a:latin typeface="DejaVu Sans"/>
              </a:defRPr>
            </a:pPr>
            <a:r>
              <a:t>захын баталгааг тайлбарласан.</a:t>
            </a:r>
          </a:p>
        </p:txBody>
      </p:sp>
      <p:sp>
        <p:nvSpPr>
          <p:cNvPr id="14" name="Rounded Rectangle 13"/>
          <p:cNvSpPr/>
          <p:nvPr/>
        </p:nvSpPr>
        <p:spPr>
          <a:xfrm>
            <a:off x="8077200" y="2489200"/>
            <a:ext cx="3594100" cy="30226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0400" y="2705100"/>
            <a:ext cx="3187700" cy="444500"/>
          </a:xfrm>
          <a:prstGeom prst="rect">
            <a:avLst/>
          </a:prstGeom>
          <a:noFill/>
        </p:spPr>
        <p:txBody>
          <a:bodyPr wrap="none" lIns="0" rIns="0" tIns="0" bIns="0">
            <a:spAutoFit/>
          </a:bodyPr>
          <a:lstStyle/>
          <a:p>
            <a:pPr>
              <a:lnSpc>
                <a:spcPts val="1581"/>
              </a:lnSpc>
              <a:spcBef>
                <a:spcPts val="0"/>
              </a:spcBef>
              <a:spcAft>
                <a:spcPts val="0"/>
              </a:spcAft>
              <a:defRPr sz="1180" b="1">
                <a:solidFill>
                  <a:srgbClr val="155EE8"/>
                </a:solidFill>
                <a:latin typeface="DejaVu Sans"/>
              </a:defRPr>
            </a:pPr>
            <a:r>
              <a:t>МОНГОЛД АВАХ САНАА</a:t>
            </a:r>
          </a:p>
        </p:txBody>
      </p:sp>
      <p:sp>
        <p:nvSpPr>
          <p:cNvPr id="16" name="TextBox 15"/>
          <p:cNvSpPr txBox="1"/>
          <p:nvPr/>
        </p:nvSpPr>
        <p:spPr>
          <a:xfrm>
            <a:off x="8280400" y="3289300"/>
            <a:ext cx="3187700" cy="2006600"/>
          </a:xfrm>
          <a:prstGeom prst="rect">
            <a:avLst/>
          </a:prstGeom>
          <a:noFill/>
        </p:spPr>
        <p:txBody>
          <a:bodyPr wrap="none" lIns="0" rIns="0" tIns="0" bIns="0">
            <a:spAutoFit/>
          </a:bodyPr>
          <a:lstStyle/>
          <a:p>
            <a:pPr>
              <a:lnSpc>
                <a:spcPts val="1876"/>
              </a:lnSpc>
              <a:spcBef>
                <a:spcPts val="0"/>
              </a:spcBef>
              <a:spcAft>
                <a:spcPts val="0"/>
              </a:spcAft>
              <a:defRPr sz="1400" b="0">
                <a:solidFill>
                  <a:srgbClr val="16243B"/>
                </a:solidFill>
                <a:latin typeface="DejaVu Sans"/>
              </a:defRPr>
            </a:pPr>
            <a:r>
              <a:t>Монголд авах санаа: тэтгэмжийн</a:t>
            </a:r>
          </a:p>
          <a:p>
            <a:pPr>
              <a:lnSpc>
                <a:spcPts val="1876"/>
              </a:lnSpc>
              <a:spcBef>
                <a:spcPts val="0"/>
              </a:spcBef>
              <a:spcAft>
                <a:spcPts val="0"/>
              </a:spcAft>
              <a:defRPr sz="1400" b="0">
                <a:solidFill>
                  <a:srgbClr val="16243B"/>
                </a:solidFill>
                <a:latin typeface="DejaVu Sans"/>
              </a:defRPr>
            </a:pPr>
            <a:r>
              <a:t>хэмжээг зөвхөн улс төрийн</a:t>
            </a:r>
          </a:p>
          <a:p>
            <a:pPr>
              <a:lnSpc>
                <a:spcPts val="1876"/>
              </a:lnSpc>
              <a:spcBef>
                <a:spcPts val="0"/>
              </a:spcBef>
              <a:spcAft>
                <a:spcPts val="0"/>
              </a:spcAft>
              <a:defRPr sz="1400" b="0">
                <a:solidFill>
                  <a:srgbClr val="16243B"/>
                </a:solidFill>
                <a:latin typeface="DejaVu Sans"/>
              </a:defRPr>
            </a:pPr>
            <a:r>
              <a:t>сонголтоор бус бодит хэрэгцээ,</a:t>
            </a:r>
          </a:p>
          <a:p>
            <a:pPr>
              <a:lnSpc>
                <a:spcPts val="1876"/>
              </a:lnSpc>
              <a:spcBef>
                <a:spcPts val="0"/>
              </a:spcBef>
              <a:spcAft>
                <a:spcPts val="0"/>
              </a:spcAft>
              <a:defRPr sz="1400" b="0">
                <a:solidFill>
                  <a:srgbClr val="16243B"/>
                </a:solidFill>
                <a:latin typeface="DejaVu Sans"/>
              </a:defRPr>
            </a:pPr>
            <a:r>
              <a:t>ойлгомжтой аргачлал, тогтмол</a:t>
            </a:r>
          </a:p>
          <a:p>
            <a:pPr>
              <a:lnSpc>
                <a:spcPts val="1876"/>
              </a:lnSpc>
              <a:spcBef>
                <a:spcPts val="0"/>
              </a:spcBef>
              <a:spcAft>
                <a:spcPts val="0"/>
              </a:spcAft>
              <a:defRPr sz="1400" b="0">
                <a:solidFill>
                  <a:srgbClr val="16243B"/>
                </a:solidFill>
                <a:latin typeface="DejaVu Sans"/>
              </a:defRPr>
            </a:pPr>
            <a:r>
              <a:t>шинэчлэлээр үндэслэх.</a:t>
            </a:r>
          </a:p>
        </p:txBody>
      </p:sp>
      <p:sp>
        <p:nvSpPr>
          <p:cNvPr id="17" name="Rounded Rectangle 16"/>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Шүүх нэг “зөв” мөнгөн дүн тогтоохоос илүү тооцооллын арга, үндэслэл, баталгааг шаардсан.</a:t>
            </a:r>
          </a:p>
        </p:txBody>
      </p:sp>
      <p:sp>
        <p:nvSpPr>
          <p:cNvPr id="19" name="TextBox 18"/>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GER</a:t>
            </a:r>
          </a:p>
        </p:txBody>
      </p:sp>
      <p:sp>
        <p:nvSpPr>
          <p:cNvPr id="20" name="TextBox 19"/>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06 / УЛС ОРНУУДЫН ХАРЬЦУУЛАЛТ</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Ижил зорилго, өөр өөр хэрэгсэл</a:t>
            </a:r>
          </a:p>
        </p:txBody>
      </p:sp>
      <p:sp>
        <p:nvSpPr>
          <p:cNvPr id="6" name="Rectangle 5"/>
          <p:cNvSpPr/>
          <p:nvPr/>
        </p:nvSpPr>
        <p:spPr>
          <a:xfrm>
            <a:off x="482600" y="1892300"/>
            <a:ext cx="29845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2300" y="2006600"/>
            <a:ext cx="27051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Улс • жишээ</a:t>
            </a:r>
          </a:p>
        </p:txBody>
      </p:sp>
      <p:sp>
        <p:nvSpPr>
          <p:cNvPr id="8" name="Rectangle 7"/>
          <p:cNvSpPr/>
          <p:nvPr/>
        </p:nvSpPr>
        <p:spPr>
          <a:xfrm>
            <a:off x="3467100" y="1892300"/>
            <a:ext cx="38354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6800" y="2006600"/>
            <a:ext cx="35560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Хамгаалалтын хэрэгсэл</a:t>
            </a:r>
          </a:p>
        </p:txBody>
      </p:sp>
      <p:sp>
        <p:nvSpPr>
          <p:cNvPr id="10" name="Rectangle 9"/>
          <p:cNvSpPr/>
          <p:nvPr/>
        </p:nvSpPr>
        <p:spPr>
          <a:xfrm>
            <a:off x="7302500" y="1892300"/>
            <a:ext cx="44069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42200" y="2006600"/>
            <a:ext cx="41275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Давуу тал / анхаарах зүйл</a:t>
            </a:r>
          </a:p>
        </p:txBody>
      </p:sp>
      <p:sp>
        <p:nvSpPr>
          <p:cNvPr id="12" name="Rectangle 11"/>
          <p:cNvSpPr/>
          <p:nvPr/>
        </p:nvSpPr>
        <p:spPr>
          <a:xfrm>
            <a:off x="482600" y="23876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 y="24892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Монгол • Үндсэн хууль</a:t>
            </a:r>
          </a:p>
          <a:p>
            <a:pPr>
              <a:lnSpc>
                <a:spcPts val="1634"/>
              </a:lnSpc>
              <a:spcBef>
                <a:spcPts val="0"/>
              </a:spcBef>
              <a:spcAft>
                <a:spcPts val="0"/>
              </a:spcAft>
              <a:defRPr sz="1220" b="1">
                <a:solidFill>
                  <a:srgbClr val="155EE8"/>
                </a:solidFill>
                <a:latin typeface="DejaVu Sans"/>
              </a:defRPr>
            </a:pPr>
            <a:r>
              <a:t>1992.01.13</a:t>
            </a:r>
          </a:p>
        </p:txBody>
      </p:sp>
      <p:sp>
        <p:nvSpPr>
          <p:cNvPr id="14" name="Rectangle 13"/>
          <p:cNvSpPr/>
          <p:nvPr/>
        </p:nvSpPr>
        <p:spPr>
          <a:xfrm>
            <a:off x="3467100" y="23876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6800" y="24892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Үндсэн эрх + хуульд заасан халамж,</a:t>
            </a:r>
          </a:p>
          <a:p>
            <a:pPr>
              <a:lnSpc>
                <a:spcPts val="1634"/>
              </a:lnSpc>
              <a:spcBef>
                <a:spcPts val="0"/>
              </a:spcBef>
              <a:spcAft>
                <a:spcPts val="0"/>
              </a:spcAft>
              <a:defRPr sz="1220" b="0">
                <a:solidFill>
                  <a:srgbClr val="16243B"/>
                </a:solidFill>
                <a:latin typeface="DejaVu Sans"/>
              </a:defRPr>
            </a:pPr>
            <a:r>
              <a:t>үйлчилгээ</a:t>
            </a:r>
          </a:p>
        </p:txBody>
      </p:sp>
      <p:sp>
        <p:nvSpPr>
          <p:cNvPr id="16" name="Rectangle 15"/>
          <p:cNvSpPr/>
          <p:nvPr/>
        </p:nvSpPr>
        <p:spPr>
          <a:xfrm>
            <a:off x="7302500" y="23876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42200" y="24892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Шалгуур ба бодит хүртээмжийг уялдуулах</a:t>
            </a:r>
          </a:p>
        </p:txBody>
      </p:sp>
      <p:sp>
        <p:nvSpPr>
          <p:cNvPr id="18" name="Rectangle 17"/>
          <p:cNvSpPr/>
          <p:nvPr/>
        </p:nvSpPr>
        <p:spPr>
          <a:xfrm>
            <a:off x="482600" y="31115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300" y="32131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Өмнөд Африк • 1996.12.10</a:t>
            </a:r>
          </a:p>
          <a:p>
            <a:pPr>
              <a:lnSpc>
                <a:spcPts val="1634"/>
              </a:lnSpc>
              <a:spcBef>
                <a:spcPts val="0"/>
              </a:spcBef>
              <a:spcAft>
                <a:spcPts val="0"/>
              </a:spcAft>
              <a:defRPr sz="1220" b="1">
                <a:solidFill>
                  <a:srgbClr val="155EE8"/>
                </a:solidFill>
                <a:latin typeface="DejaVu Sans"/>
              </a:defRPr>
            </a:pPr>
            <a:r>
              <a:t>(гарын үсэг зурсан)</a:t>
            </a:r>
          </a:p>
        </p:txBody>
      </p:sp>
      <p:sp>
        <p:nvSpPr>
          <p:cNvPr id="20" name="Rectangle 19"/>
          <p:cNvSpPr/>
          <p:nvPr/>
        </p:nvSpPr>
        <p:spPr>
          <a:xfrm>
            <a:off x="3467100" y="31115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6800" y="32131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Нийгмийн эрхийн хэрэгжилтэд шүүхийн</a:t>
            </a:r>
          </a:p>
          <a:p>
            <a:pPr>
              <a:lnSpc>
                <a:spcPts val="1634"/>
              </a:lnSpc>
              <a:spcBef>
                <a:spcPts val="0"/>
              </a:spcBef>
              <a:spcAft>
                <a:spcPts val="0"/>
              </a:spcAft>
              <a:defRPr sz="1220" b="0">
                <a:solidFill>
                  <a:srgbClr val="16243B"/>
                </a:solidFill>
                <a:latin typeface="DejaVu Sans"/>
              </a:defRPr>
            </a:pPr>
            <a:r>
              <a:t>хяналт</a:t>
            </a:r>
          </a:p>
        </p:txBody>
      </p:sp>
      <p:sp>
        <p:nvSpPr>
          <p:cNvPr id="22" name="Rectangle 21"/>
          <p:cNvSpPr/>
          <p:nvPr/>
        </p:nvSpPr>
        <p:spPr>
          <a:xfrm>
            <a:off x="7302500" y="31115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200" y="32131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Бодлого гачигдалтай хүмүүсийг орхисон эсэх</a:t>
            </a:r>
          </a:p>
        </p:txBody>
      </p:sp>
      <p:sp>
        <p:nvSpPr>
          <p:cNvPr id="24" name="Rectangle 23"/>
          <p:cNvSpPr/>
          <p:nvPr/>
        </p:nvSpPr>
        <p:spPr>
          <a:xfrm>
            <a:off x="482600" y="38354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300" y="39370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Герман • 1949.05.23</a:t>
            </a:r>
          </a:p>
        </p:txBody>
      </p:sp>
      <p:sp>
        <p:nvSpPr>
          <p:cNvPr id="26" name="Rectangle 25"/>
          <p:cNvSpPr/>
          <p:nvPr/>
        </p:nvSpPr>
        <p:spPr>
          <a:xfrm>
            <a:off x="3467100" y="38354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6800" y="39370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Нэр төрд нийцэх амьжиргааны доод</a:t>
            </a:r>
          </a:p>
          <a:p>
            <a:pPr>
              <a:lnSpc>
                <a:spcPts val="1634"/>
              </a:lnSpc>
              <a:spcBef>
                <a:spcPts val="0"/>
              </a:spcBef>
              <a:spcAft>
                <a:spcPts val="0"/>
              </a:spcAft>
              <a:defRPr sz="1220" b="0">
                <a:solidFill>
                  <a:srgbClr val="16243B"/>
                </a:solidFill>
                <a:latin typeface="DejaVu Sans"/>
              </a:defRPr>
            </a:pPr>
            <a:r>
              <a:t>баталгаа</a:t>
            </a:r>
          </a:p>
        </p:txBody>
      </p:sp>
      <p:sp>
        <p:nvSpPr>
          <p:cNvPr id="28" name="Rectangle 27"/>
          <p:cNvSpPr/>
          <p:nvPr/>
        </p:nvSpPr>
        <p:spPr>
          <a:xfrm>
            <a:off x="7302500" y="38354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2200" y="39370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Тэтгэмжийн тооцоолол үндэслэлтэй байх</a:t>
            </a:r>
          </a:p>
        </p:txBody>
      </p:sp>
      <p:sp>
        <p:nvSpPr>
          <p:cNvPr id="30" name="Rectangle 29"/>
          <p:cNvSpPr/>
          <p:nvPr/>
        </p:nvSpPr>
        <p:spPr>
          <a:xfrm>
            <a:off x="482600" y="45593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2300" y="46609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Финланд • 2017–2018</a:t>
            </a:r>
          </a:p>
          <a:p>
            <a:pPr>
              <a:lnSpc>
                <a:spcPts val="1634"/>
              </a:lnSpc>
              <a:spcBef>
                <a:spcPts val="0"/>
              </a:spcBef>
              <a:spcAft>
                <a:spcPts val="0"/>
              </a:spcAft>
              <a:defRPr sz="1220" b="1">
                <a:solidFill>
                  <a:srgbClr val="155EE8"/>
                </a:solidFill>
                <a:latin typeface="DejaVu Sans"/>
              </a:defRPr>
            </a:pPr>
            <a:r>
              <a:t>туршилт</a:t>
            </a:r>
          </a:p>
        </p:txBody>
      </p:sp>
      <p:sp>
        <p:nvSpPr>
          <p:cNvPr id="32" name="Rectangle 31"/>
          <p:cNvSpPr/>
          <p:nvPr/>
        </p:nvSpPr>
        <p:spPr>
          <a:xfrm>
            <a:off x="3467100" y="45593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06800" y="46609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Нөхцөл багатай тогтмол мөнгөн дэмжлэг</a:t>
            </a:r>
          </a:p>
        </p:txBody>
      </p:sp>
      <p:sp>
        <p:nvSpPr>
          <p:cNvPr id="34" name="Rectangle 33"/>
          <p:cNvSpPr/>
          <p:nvPr/>
        </p:nvSpPr>
        <p:spPr>
          <a:xfrm>
            <a:off x="7302500" y="45593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42200" y="46609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Туршилтын үр дүнг бүх хүн амд шууд дүгнэхгүй</a:t>
            </a:r>
          </a:p>
        </p:txBody>
      </p:sp>
      <p:sp>
        <p:nvSpPr>
          <p:cNvPr id="36" name="Rectangle 35"/>
          <p:cNvSpPr/>
          <p:nvPr/>
        </p:nvSpPr>
        <p:spPr>
          <a:xfrm>
            <a:off x="482600" y="52832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300" y="53848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Бразил • хууль 2023.06.19</a:t>
            </a:r>
          </a:p>
        </p:txBody>
      </p:sp>
      <p:sp>
        <p:nvSpPr>
          <p:cNvPr id="38" name="Rectangle 37"/>
          <p:cNvSpPr/>
          <p:nvPr/>
        </p:nvSpPr>
        <p:spPr>
          <a:xfrm>
            <a:off x="3467100" y="52832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06800" y="53848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Bolsa Família: зорилтот орлогын дэмжлэг</a:t>
            </a:r>
          </a:p>
        </p:txBody>
      </p:sp>
      <p:sp>
        <p:nvSpPr>
          <p:cNvPr id="40" name="Rectangle 39"/>
          <p:cNvSpPr/>
          <p:nvPr/>
        </p:nvSpPr>
        <p:spPr>
          <a:xfrm>
            <a:off x="7302500" y="52832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42200" y="53848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Боловсрол, эрүүл мэндийн үйлчилгээтэй холбох</a:t>
            </a:r>
          </a:p>
        </p:txBody>
      </p:sp>
      <p:sp>
        <p:nvSpPr>
          <p:cNvPr id="42" name="Rounded Rectangle 41"/>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Энэ хүснэгт бол бодлогын харьцуулалт; улсын “хүний эрхийн чансаа” биш.</a:t>
            </a:r>
          </a:p>
        </p:txBody>
      </p:sp>
      <p:sp>
        <p:nvSpPr>
          <p:cNvPr id="44" name="TextBox 43"/>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 • GROOT • GER • FIN • BRA</a:t>
            </a:r>
          </a:p>
        </p:txBody>
      </p:sp>
      <p:sp>
        <p:nvSpPr>
          <p:cNvPr id="45" name="TextBox 44"/>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06 / ФИНЛАНДЫН ТУРШИЛТ</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Финланд: орлогын баталгаа ба сайн сайхан байдал</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Загвар • 2017–2018</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2,000 ажилгүй хүн; сар бүр</a:t>
            </a:r>
          </a:p>
          <a:p>
            <a:pPr>
              <a:lnSpc>
                <a:spcPts val="2023"/>
              </a:lnSpc>
              <a:spcBef>
                <a:spcPts val="0"/>
              </a:spcBef>
              <a:spcAft>
                <a:spcPts val="0"/>
              </a:spcAft>
              <a:defRPr sz="1510" b="0">
                <a:solidFill>
                  <a:srgbClr val="16243B"/>
                </a:solidFill>
                <a:latin typeface="DejaVu Sans"/>
              </a:defRPr>
            </a:pPr>
            <a:r>
              <a:t>€560. Туршилтын мөнгө нь</a:t>
            </a:r>
          </a:p>
          <a:p>
            <a:pPr>
              <a:lnSpc>
                <a:spcPts val="2023"/>
              </a:lnSpc>
              <a:spcBef>
                <a:spcPts val="0"/>
              </a:spcBef>
              <a:spcAft>
                <a:spcPts val="0"/>
              </a:spcAft>
              <a:defRPr sz="1510" b="0">
                <a:solidFill>
                  <a:srgbClr val="16243B"/>
                </a:solidFill>
                <a:latin typeface="DejaVu Sans"/>
              </a:defRPr>
            </a:pPr>
            <a:r>
              <a:t>ажилд орох эсэхээс хамааран</a:t>
            </a:r>
          </a:p>
          <a:p>
            <a:pPr>
              <a:lnSpc>
                <a:spcPts val="2023"/>
              </a:lnSpc>
              <a:spcBef>
                <a:spcPts val="0"/>
              </a:spcBef>
              <a:spcAft>
                <a:spcPts val="0"/>
              </a:spcAft>
              <a:defRPr sz="1510" b="0">
                <a:solidFill>
                  <a:srgbClr val="16243B"/>
                </a:solidFill>
                <a:latin typeface="DejaVu Sans"/>
              </a:defRPr>
            </a:pPr>
            <a:r>
              <a:t>зогсохгүй байхаар</a:t>
            </a:r>
          </a:p>
          <a:p>
            <a:pPr>
              <a:lnSpc>
                <a:spcPts val="2023"/>
              </a:lnSpc>
              <a:spcBef>
                <a:spcPts val="0"/>
              </a:spcBef>
              <a:spcAft>
                <a:spcPts val="0"/>
              </a:spcAft>
              <a:defRPr sz="1510" b="0">
                <a:solidFill>
                  <a:srgbClr val="16243B"/>
                </a:solidFill>
                <a:latin typeface="DejaVu Sans"/>
              </a:defRPr>
            </a:pPr>
            <a:r>
              <a:t>загварчилсан.</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Юуг ажигласан бэ?</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Kela-ийн 2020 оны тайланд</a:t>
            </a:r>
          </a:p>
          <a:p>
            <a:pPr>
              <a:lnSpc>
                <a:spcPts val="2023"/>
              </a:lnSpc>
              <a:spcBef>
                <a:spcPts val="0"/>
              </a:spcBef>
              <a:spcAft>
                <a:spcPts val="0"/>
              </a:spcAft>
              <a:defRPr sz="1510" b="0">
                <a:solidFill>
                  <a:srgbClr val="16243B"/>
                </a:solidFill>
                <a:latin typeface="DejaVu Sans"/>
              </a:defRPr>
            </a:pPr>
            <a:r>
              <a:t>амьдралын сэтгэл ханамж,</a:t>
            </a:r>
          </a:p>
          <a:p>
            <a:pPr>
              <a:lnSpc>
                <a:spcPts val="2023"/>
              </a:lnSpc>
              <a:spcBef>
                <a:spcPts val="0"/>
              </a:spcBef>
              <a:spcAft>
                <a:spcPts val="0"/>
              </a:spcAft>
              <a:defRPr sz="1510" b="0">
                <a:solidFill>
                  <a:srgbClr val="16243B"/>
                </a:solidFill>
                <a:latin typeface="DejaVu Sans"/>
              </a:defRPr>
            </a:pPr>
            <a:r>
              <a:t>эдийн засгийн аюулгүй</a:t>
            </a:r>
          </a:p>
          <a:p>
            <a:pPr>
              <a:lnSpc>
                <a:spcPts val="2023"/>
              </a:lnSpc>
              <a:spcBef>
                <a:spcPts val="0"/>
              </a:spcBef>
              <a:spcAft>
                <a:spcPts val="0"/>
              </a:spcAft>
              <a:defRPr sz="1510" b="0">
                <a:solidFill>
                  <a:srgbClr val="16243B"/>
                </a:solidFill>
                <a:latin typeface="DejaVu Sans"/>
              </a:defRPr>
            </a:pPr>
            <a:r>
              <a:t>байдлын үнэлгээ илүү сайн</a:t>
            </a:r>
          </a:p>
          <a:p>
            <a:pPr>
              <a:lnSpc>
                <a:spcPts val="2023"/>
              </a:lnSpc>
              <a:spcBef>
                <a:spcPts val="0"/>
              </a:spcBef>
              <a:spcAft>
                <a:spcPts val="0"/>
              </a:spcAft>
              <a:defRPr sz="1510" b="0">
                <a:solidFill>
                  <a:srgbClr val="16243B"/>
                </a:solidFill>
                <a:latin typeface="DejaVu Sans"/>
              </a:defRPr>
            </a:pPr>
            <a:r>
              <a:t>байсныг мэдээлсэн.</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Хязгаарлалт</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Ажил эрхлэлтийн нөлөө</a:t>
            </a:r>
          </a:p>
          <a:p>
            <a:pPr>
              <a:lnSpc>
                <a:spcPts val="2023"/>
              </a:lnSpc>
              <a:spcBef>
                <a:spcPts val="0"/>
              </a:spcBef>
              <a:spcAft>
                <a:spcPts val="0"/>
              </a:spcAft>
              <a:defRPr sz="1510" b="0">
                <a:solidFill>
                  <a:srgbClr val="16243B"/>
                </a:solidFill>
                <a:latin typeface="DejaVu Sans"/>
              </a:defRPr>
            </a:pPr>
            <a:r>
              <a:t>хязгаарлагдмал; хоёр дахь</a:t>
            </a:r>
          </a:p>
          <a:p>
            <a:pPr>
              <a:lnSpc>
                <a:spcPts val="2023"/>
              </a:lnSpc>
              <a:spcBef>
                <a:spcPts val="0"/>
              </a:spcBef>
              <a:spcAft>
                <a:spcPts val="0"/>
              </a:spcAft>
              <a:defRPr sz="1510" b="0">
                <a:solidFill>
                  <a:srgbClr val="16243B"/>
                </a:solidFill>
                <a:latin typeface="DejaVu Sans"/>
              </a:defRPr>
            </a:pPr>
            <a:r>
              <a:t>жилд бусад бодлогын</a:t>
            </a:r>
          </a:p>
          <a:p>
            <a:pPr>
              <a:lnSpc>
                <a:spcPts val="2023"/>
              </a:lnSpc>
              <a:spcBef>
                <a:spcPts val="0"/>
              </a:spcBef>
              <a:spcAft>
                <a:spcPts val="0"/>
              </a:spcAft>
              <a:defRPr sz="1510" b="0">
                <a:solidFill>
                  <a:srgbClr val="16243B"/>
                </a:solidFill>
                <a:latin typeface="DejaVu Sans"/>
              </a:defRPr>
            </a:pPr>
            <a:r>
              <a:t>өөрчлөлт нөлөөлсөн.</a:t>
            </a:r>
          </a:p>
          <a:p>
            <a:pPr>
              <a:lnSpc>
                <a:spcPts val="2023"/>
              </a:lnSpc>
              <a:spcBef>
                <a:spcPts val="0"/>
              </a:spcBef>
              <a:spcAft>
                <a:spcPts val="0"/>
              </a:spcAft>
              <a:defRPr sz="1510" b="0">
                <a:solidFill>
                  <a:srgbClr val="16243B"/>
                </a:solidFill>
                <a:latin typeface="DejaVu Sans"/>
              </a:defRPr>
            </a:pPr>
            <a:r>
              <a:t>Судалгааны хариу өгөх ялгааг</a:t>
            </a:r>
          </a:p>
          <a:p>
            <a:pPr>
              <a:lnSpc>
                <a:spcPts val="2023"/>
              </a:lnSpc>
              <a:spcBef>
                <a:spcPts val="0"/>
              </a:spcBef>
              <a:spcAft>
                <a:spcPts val="0"/>
              </a:spcAft>
              <a:defRPr sz="1510" b="0">
                <a:solidFill>
                  <a:srgbClr val="16243B"/>
                </a:solidFill>
                <a:latin typeface="DejaVu Sans"/>
              </a:defRPr>
            </a:pPr>
            <a:r>
              <a:t>ч харгалзана.</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Сургамж: мөнгөн дэмжлэгийн нөлөөг зөвхөн ажилд орсон тоогоор биш хүний амьдралын чанараар үнэлнэ.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FIN</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06 / БРАЗИЛЫН ЖИШЭЭ</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Bolsa Família: орлого ба үйлчилгээг холбох нь</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Эрх зүйн огноо</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Анхны хөтөлбөрийн хууль:</a:t>
            </a:r>
          </a:p>
          <a:p>
            <a:pPr>
              <a:lnSpc>
                <a:spcPts val="2023"/>
              </a:lnSpc>
              <a:spcBef>
                <a:spcPts val="0"/>
              </a:spcBef>
              <a:spcAft>
                <a:spcPts val="0"/>
              </a:spcAft>
              <a:defRPr sz="1510" b="0">
                <a:solidFill>
                  <a:srgbClr val="16243B"/>
                </a:solidFill>
                <a:latin typeface="DejaVu Sans"/>
              </a:defRPr>
            </a:pPr>
            <a:r>
              <a:t>№10.836 • 2004.01.09.</a:t>
            </a:r>
          </a:p>
          <a:p>
            <a:pPr>
              <a:lnSpc>
                <a:spcPts val="2023"/>
              </a:lnSpc>
              <a:spcBef>
                <a:spcPts val="0"/>
              </a:spcBef>
              <a:spcAft>
                <a:spcPts val="0"/>
              </a:spcAft>
              <a:defRPr sz="1510" b="0">
                <a:solidFill>
                  <a:srgbClr val="16243B"/>
                </a:solidFill>
                <a:latin typeface="DejaVu Sans"/>
              </a:defRPr>
            </a:pPr>
            <a:r>
              <a:t>Шинэ хууль: №14.601 •</a:t>
            </a:r>
          </a:p>
          <a:p>
            <a:pPr>
              <a:lnSpc>
                <a:spcPts val="2023"/>
              </a:lnSpc>
              <a:spcBef>
                <a:spcPts val="0"/>
              </a:spcBef>
              <a:spcAft>
                <a:spcPts val="0"/>
              </a:spcAft>
              <a:defRPr sz="1510" b="0">
                <a:solidFill>
                  <a:srgbClr val="16243B"/>
                </a:solidFill>
                <a:latin typeface="DejaVu Sans"/>
              </a:defRPr>
            </a:pPr>
            <a:r>
              <a:t>2023.06.19.</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Бодлогын механизм</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Бага орлоготой өрхөд мөнгөн</a:t>
            </a:r>
          </a:p>
          <a:p>
            <a:pPr>
              <a:lnSpc>
                <a:spcPts val="2023"/>
              </a:lnSpc>
              <a:spcBef>
                <a:spcPts val="0"/>
              </a:spcBef>
              <a:spcAft>
                <a:spcPts val="0"/>
              </a:spcAft>
              <a:defRPr sz="1510" b="0">
                <a:solidFill>
                  <a:srgbClr val="16243B"/>
                </a:solidFill>
                <a:latin typeface="DejaVu Sans"/>
              </a:defRPr>
            </a:pPr>
            <a:r>
              <a:t>дэмжлэг олгож, хүүхдийн</a:t>
            </a:r>
          </a:p>
          <a:p>
            <a:pPr>
              <a:lnSpc>
                <a:spcPts val="2023"/>
              </a:lnSpc>
              <a:spcBef>
                <a:spcPts val="0"/>
              </a:spcBef>
              <a:spcAft>
                <a:spcPts val="0"/>
              </a:spcAft>
              <a:defRPr sz="1510" b="0">
                <a:solidFill>
                  <a:srgbClr val="16243B"/>
                </a:solidFill>
                <a:latin typeface="DejaVu Sans"/>
              </a:defRPr>
            </a:pPr>
            <a:r>
              <a:t>боловсрол, эрүүл мэндийн</a:t>
            </a:r>
          </a:p>
          <a:p>
            <a:pPr>
              <a:lnSpc>
                <a:spcPts val="2023"/>
              </a:lnSpc>
              <a:spcBef>
                <a:spcPts val="0"/>
              </a:spcBef>
              <a:spcAft>
                <a:spcPts val="0"/>
              </a:spcAft>
              <a:defRPr sz="1510" b="0">
                <a:solidFill>
                  <a:srgbClr val="16243B"/>
                </a:solidFill>
                <a:latin typeface="DejaVu Sans"/>
              </a:defRPr>
            </a:pPr>
            <a:r>
              <a:t>хяналттай холбоотой</a:t>
            </a:r>
          </a:p>
          <a:p>
            <a:pPr>
              <a:lnSpc>
                <a:spcPts val="2023"/>
              </a:lnSpc>
              <a:spcBef>
                <a:spcPts val="0"/>
              </a:spcBef>
              <a:spcAft>
                <a:spcPts val="0"/>
              </a:spcAft>
              <a:defRPr sz="1510" b="0">
                <a:solidFill>
                  <a:srgbClr val="16243B"/>
                </a:solidFill>
                <a:latin typeface="DejaVu Sans"/>
              </a:defRPr>
            </a:pPr>
            <a:r>
              <a:t>нөхцөлүүдийг ашигладаг.</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Эрхийн шүүлтүүр</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Сургууль, эмнэлэг нь өөрөө</a:t>
            </a:r>
          </a:p>
          <a:p>
            <a:pPr>
              <a:lnSpc>
                <a:spcPts val="2023"/>
              </a:lnSpc>
              <a:spcBef>
                <a:spcPts val="0"/>
              </a:spcBef>
              <a:spcAft>
                <a:spcPts val="0"/>
              </a:spcAft>
              <a:defRPr sz="1510" b="0">
                <a:solidFill>
                  <a:srgbClr val="16243B"/>
                </a:solidFill>
                <a:latin typeface="DejaVu Sans"/>
              </a:defRPr>
            </a:pPr>
            <a:r>
              <a:t>хүртээмжгүй бол өрхийг</a:t>
            </a:r>
          </a:p>
          <a:p>
            <a:pPr>
              <a:lnSpc>
                <a:spcPts val="2023"/>
              </a:lnSpc>
              <a:spcBef>
                <a:spcPts val="0"/>
              </a:spcBef>
              <a:spcAft>
                <a:spcPts val="0"/>
              </a:spcAft>
              <a:defRPr sz="1510" b="0">
                <a:solidFill>
                  <a:srgbClr val="16243B"/>
                </a:solidFill>
                <a:latin typeface="DejaVu Sans"/>
              </a:defRPr>
            </a:pPr>
            <a:r>
              <a:t>дангаар буруутгаж болохгүй.</a:t>
            </a:r>
          </a:p>
          <a:p>
            <a:pPr>
              <a:lnSpc>
                <a:spcPts val="2023"/>
              </a:lnSpc>
              <a:spcBef>
                <a:spcPts val="0"/>
              </a:spcBef>
              <a:spcAft>
                <a:spcPts val="0"/>
              </a:spcAft>
              <a:defRPr sz="1510" b="0">
                <a:solidFill>
                  <a:srgbClr val="16243B"/>
                </a:solidFill>
                <a:latin typeface="DejaVu Sans"/>
              </a:defRPr>
            </a:pPr>
            <a:r>
              <a:t>Бүртгэл шинэчлэх, тайлбар</a:t>
            </a:r>
          </a:p>
          <a:p>
            <a:pPr>
              <a:lnSpc>
                <a:spcPts val="2023"/>
              </a:lnSpc>
              <a:spcBef>
                <a:spcPts val="0"/>
              </a:spcBef>
              <a:spcAft>
                <a:spcPts val="0"/>
              </a:spcAft>
              <a:defRPr sz="1510" b="0">
                <a:solidFill>
                  <a:srgbClr val="16243B"/>
                </a:solidFill>
                <a:latin typeface="DejaVu Sans"/>
              </a:defRPr>
            </a:pPr>
            <a:r>
              <a:t>авах, гомдол гаргах боломж</a:t>
            </a:r>
          </a:p>
          <a:p>
            <a:pPr>
              <a:lnSpc>
                <a:spcPts val="2023"/>
              </a:lnSpc>
              <a:spcBef>
                <a:spcPts val="0"/>
              </a:spcBef>
              <a:spcAft>
                <a:spcPts val="0"/>
              </a:spcAft>
              <a:defRPr sz="1510" b="0">
                <a:solidFill>
                  <a:srgbClr val="16243B"/>
                </a:solidFill>
                <a:latin typeface="DejaVu Sans"/>
              </a:defRPr>
            </a:pPr>
            <a:r>
              <a:t>чухал.</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Монголд авах санаа: тэтгэмжийг үйлчилгээтэй холбохдоо тухайн үйлчилгээ бодитоор хүрдэг эсэхийг шалгана.</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BRA</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07 / МОНГОЛД ХЭРЭГЖҮҮЛЭХ САНАЛ</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Эрхийг бодит болгох таван чиглэл</a:t>
            </a:r>
          </a:p>
        </p:txBody>
      </p:sp>
      <p:sp>
        <p:nvSpPr>
          <p:cNvPr id="6" name="Rectangle 5"/>
          <p:cNvSpPr/>
          <p:nvPr/>
        </p:nvSpPr>
        <p:spPr>
          <a:xfrm>
            <a:off x="482600" y="1892300"/>
            <a:ext cx="29845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2300" y="2006600"/>
            <a:ext cx="27051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Санал</a:t>
            </a:r>
          </a:p>
        </p:txBody>
      </p:sp>
      <p:sp>
        <p:nvSpPr>
          <p:cNvPr id="8" name="Rectangle 7"/>
          <p:cNvSpPr/>
          <p:nvPr/>
        </p:nvSpPr>
        <p:spPr>
          <a:xfrm>
            <a:off x="3467100" y="1892300"/>
            <a:ext cx="38354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6800" y="2006600"/>
            <a:ext cx="35560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Хэрэгжүүлэх жишээ</a:t>
            </a:r>
          </a:p>
        </p:txBody>
      </p:sp>
      <p:sp>
        <p:nvSpPr>
          <p:cNvPr id="10" name="Rectangle 9"/>
          <p:cNvSpPr/>
          <p:nvPr/>
        </p:nvSpPr>
        <p:spPr>
          <a:xfrm>
            <a:off x="7302500" y="1892300"/>
            <a:ext cx="4406900" cy="495299"/>
          </a:xfrm>
          <a:prstGeom prst="rect">
            <a:avLst/>
          </a:prstGeom>
          <a:solidFill>
            <a:srgbClr val="10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42200" y="2006600"/>
            <a:ext cx="4127500" cy="330200"/>
          </a:xfrm>
          <a:prstGeom prst="rect">
            <a:avLst/>
          </a:prstGeom>
          <a:noFill/>
        </p:spPr>
        <p:txBody>
          <a:bodyPr wrap="none" lIns="0" rIns="0" tIns="0" bIns="0">
            <a:spAutoFit/>
          </a:bodyPr>
          <a:lstStyle/>
          <a:p>
            <a:pPr>
              <a:lnSpc>
                <a:spcPts val="1608"/>
              </a:lnSpc>
              <a:spcBef>
                <a:spcPts val="0"/>
              </a:spcBef>
              <a:spcAft>
                <a:spcPts val="0"/>
              </a:spcAft>
              <a:defRPr sz="1200" b="1">
                <a:solidFill>
                  <a:srgbClr val="FFFFFF"/>
                </a:solidFill>
                <a:latin typeface="DejaVu Sans"/>
              </a:defRPr>
            </a:pPr>
            <a:r>
              <a:t>Үр дүнг хэмжих үзүүлэлт</a:t>
            </a:r>
          </a:p>
        </p:txBody>
      </p:sp>
      <p:sp>
        <p:nvSpPr>
          <p:cNvPr id="12" name="Rectangle 11"/>
          <p:cNvSpPr/>
          <p:nvPr/>
        </p:nvSpPr>
        <p:spPr>
          <a:xfrm>
            <a:off x="482600" y="23876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 y="24892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1. Нэг цэгийн хүртээмж</a:t>
            </a:r>
          </a:p>
        </p:txBody>
      </p:sp>
      <p:sp>
        <p:nvSpPr>
          <p:cNvPr id="14" name="Rectangle 13"/>
          <p:cNvSpPr/>
          <p:nvPr/>
        </p:nvSpPr>
        <p:spPr>
          <a:xfrm>
            <a:off x="3467100" y="23876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6800" y="24892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Халамж, бүртгэл, хууль зүйн мэдээллийг</a:t>
            </a:r>
          </a:p>
          <a:p>
            <a:pPr>
              <a:lnSpc>
                <a:spcPts val="1634"/>
              </a:lnSpc>
              <a:spcBef>
                <a:spcPts val="0"/>
              </a:spcBef>
              <a:spcAft>
                <a:spcPts val="0"/>
              </a:spcAft>
              <a:defRPr sz="1220" b="0">
                <a:solidFill>
                  <a:srgbClr val="16243B"/>
                </a:solidFill>
                <a:latin typeface="DejaVu Sans"/>
              </a:defRPr>
            </a:pPr>
            <a:r>
              <a:t>холбох</a:t>
            </a:r>
          </a:p>
        </p:txBody>
      </p:sp>
      <p:sp>
        <p:nvSpPr>
          <p:cNvPr id="16" name="Rectangle 15"/>
          <p:cNvSpPr/>
          <p:nvPr/>
        </p:nvSpPr>
        <p:spPr>
          <a:xfrm>
            <a:off x="7302500" y="23876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42200" y="24892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Хүсэлт шийдвэрлэх хугацаа; давтан очилт</a:t>
            </a:r>
          </a:p>
        </p:txBody>
      </p:sp>
      <p:sp>
        <p:nvSpPr>
          <p:cNvPr id="18" name="Rectangle 17"/>
          <p:cNvSpPr/>
          <p:nvPr/>
        </p:nvSpPr>
        <p:spPr>
          <a:xfrm>
            <a:off x="482600" y="31115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300" y="32131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2. Гомдлын бодит механизм</a:t>
            </a:r>
          </a:p>
        </p:txBody>
      </p:sp>
      <p:sp>
        <p:nvSpPr>
          <p:cNvPr id="20" name="Rectangle 19"/>
          <p:cNvSpPr/>
          <p:nvPr/>
        </p:nvSpPr>
        <p:spPr>
          <a:xfrm>
            <a:off x="3467100" y="31115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6800" y="32131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Шийдвэрийн үндэслэл, хянуулах сувгийг</a:t>
            </a:r>
          </a:p>
          <a:p>
            <a:pPr>
              <a:lnSpc>
                <a:spcPts val="1634"/>
              </a:lnSpc>
              <a:spcBef>
                <a:spcPts val="0"/>
              </a:spcBef>
              <a:spcAft>
                <a:spcPts val="0"/>
              </a:spcAft>
              <a:defRPr sz="1220" b="0">
                <a:solidFill>
                  <a:srgbClr val="16243B"/>
                </a:solidFill>
                <a:latin typeface="DejaVu Sans"/>
              </a:defRPr>
            </a:pPr>
            <a:r>
              <a:t>мэдээлэх</a:t>
            </a:r>
          </a:p>
        </p:txBody>
      </p:sp>
      <p:sp>
        <p:nvSpPr>
          <p:cNvPr id="22" name="Rectangle 21"/>
          <p:cNvSpPr/>
          <p:nvPr/>
        </p:nvSpPr>
        <p:spPr>
          <a:xfrm>
            <a:off x="7302500" y="31115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200" y="32131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Хугацаандаа шийдсэн гомдлын хувь</a:t>
            </a:r>
          </a:p>
        </p:txBody>
      </p:sp>
      <p:sp>
        <p:nvSpPr>
          <p:cNvPr id="24" name="Rectangle 23"/>
          <p:cNvSpPr/>
          <p:nvPr/>
        </p:nvSpPr>
        <p:spPr>
          <a:xfrm>
            <a:off x="482600" y="38354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300" y="39370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3. Суурь үйлчилгээний саад</a:t>
            </a:r>
          </a:p>
          <a:p>
            <a:pPr>
              <a:lnSpc>
                <a:spcPts val="1634"/>
              </a:lnSpc>
              <a:spcBef>
                <a:spcPts val="0"/>
              </a:spcBef>
              <a:spcAft>
                <a:spcPts val="0"/>
              </a:spcAft>
              <a:defRPr sz="1220" b="1">
                <a:solidFill>
                  <a:srgbClr val="155EE8"/>
                </a:solidFill>
                <a:latin typeface="DejaVu Sans"/>
              </a:defRPr>
            </a:pPr>
            <a:r>
              <a:t>бууруулах</a:t>
            </a:r>
          </a:p>
        </p:txBody>
      </p:sp>
      <p:sp>
        <p:nvSpPr>
          <p:cNvPr id="26" name="Rectangle 25"/>
          <p:cNvSpPr/>
          <p:nvPr/>
        </p:nvSpPr>
        <p:spPr>
          <a:xfrm>
            <a:off x="3467100" y="38354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6800" y="39370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Тээвэр, хүртээмж, сургалтын далд</a:t>
            </a:r>
          </a:p>
          <a:p>
            <a:pPr>
              <a:lnSpc>
                <a:spcPts val="1634"/>
              </a:lnSpc>
              <a:spcBef>
                <a:spcPts val="0"/>
              </a:spcBef>
              <a:spcAft>
                <a:spcPts val="0"/>
              </a:spcAft>
              <a:defRPr sz="1220" b="0">
                <a:solidFill>
                  <a:srgbClr val="16243B"/>
                </a:solidFill>
                <a:latin typeface="DejaVu Sans"/>
              </a:defRPr>
            </a:pPr>
            <a:r>
              <a:t>зардлын дэмжлэг</a:t>
            </a:r>
          </a:p>
        </p:txBody>
      </p:sp>
      <p:sp>
        <p:nvSpPr>
          <p:cNvPr id="28" name="Rectangle 27"/>
          <p:cNvSpPr/>
          <p:nvPr/>
        </p:nvSpPr>
        <p:spPr>
          <a:xfrm>
            <a:off x="7302500" y="38354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2200" y="39370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Хичээлийн ирц; үйлчилгээ тасалдсан тохиолдол</a:t>
            </a:r>
          </a:p>
        </p:txBody>
      </p:sp>
      <p:sp>
        <p:nvSpPr>
          <p:cNvPr id="30" name="Rectangle 29"/>
          <p:cNvSpPr/>
          <p:nvPr/>
        </p:nvSpPr>
        <p:spPr>
          <a:xfrm>
            <a:off x="482600" y="4559300"/>
            <a:ext cx="29718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2300" y="46609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4. Орлогын хамгаалал</a:t>
            </a:r>
          </a:p>
        </p:txBody>
      </p:sp>
      <p:sp>
        <p:nvSpPr>
          <p:cNvPr id="32" name="Rectangle 31"/>
          <p:cNvSpPr/>
          <p:nvPr/>
        </p:nvSpPr>
        <p:spPr>
          <a:xfrm>
            <a:off x="3467100" y="4559300"/>
            <a:ext cx="38227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06800" y="46609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Эрсдэлд тохирсон дэмжлэг, хөдөлмөрийн</a:t>
            </a:r>
          </a:p>
          <a:p>
            <a:pPr>
              <a:lnSpc>
                <a:spcPts val="1634"/>
              </a:lnSpc>
              <a:spcBef>
                <a:spcPts val="0"/>
              </a:spcBef>
              <a:spcAft>
                <a:spcPts val="0"/>
              </a:spcAft>
              <a:defRPr sz="1220" b="0">
                <a:solidFill>
                  <a:srgbClr val="16243B"/>
                </a:solidFill>
                <a:latin typeface="DejaVu Sans"/>
              </a:defRPr>
            </a:pPr>
            <a:r>
              <a:t>зуучлал</a:t>
            </a:r>
          </a:p>
        </p:txBody>
      </p:sp>
      <p:sp>
        <p:nvSpPr>
          <p:cNvPr id="34" name="Rectangle 33"/>
          <p:cNvSpPr/>
          <p:nvPr/>
        </p:nvSpPr>
        <p:spPr>
          <a:xfrm>
            <a:off x="7302500" y="4559300"/>
            <a:ext cx="4394200" cy="711200"/>
          </a:xfrm>
          <a:prstGeom prst="rect">
            <a:avLst/>
          </a:prstGeom>
          <a:solidFill>
            <a:srgbClr val="F8FA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42200" y="46609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Хамрагдалт; эрх бүхий өрхийн хасагдлын алдаа</a:t>
            </a:r>
          </a:p>
        </p:txBody>
      </p:sp>
      <p:sp>
        <p:nvSpPr>
          <p:cNvPr id="36" name="Rectangle 35"/>
          <p:cNvSpPr/>
          <p:nvPr/>
        </p:nvSpPr>
        <p:spPr>
          <a:xfrm>
            <a:off x="482600" y="5283200"/>
            <a:ext cx="29718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300" y="5384800"/>
            <a:ext cx="2692400" cy="546100"/>
          </a:xfrm>
          <a:prstGeom prst="rect">
            <a:avLst/>
          </a:prstGeom>
          <a:noFill/>
        </p:spPr>
        <p:txBody>
          <a:bodyPr wrap="none" lIns="0" rIns="0" tIns="0" bIns="0">
            <a:spAutoFit/>
          </a:bodyPr>
          <a:lstStyle/>
          <a:p>
            <a:pPr>
              <a:lnSpc>
                <a:spcPts val="1634"/>
              </a:lnSpc>
              <a:spcBef>
                <a:spcPts val="0"/>
              </a:spcBef>
              <a:spcAft>
                <a:spcPts val="0"/>
              </a:spcAft>
              <a:defRPr sz="1220" b="1">
                <a:solidFill>
                  <a:srgbClr val="155EE8"/>
                </a:solidFill>
                <a:latin typeface="DejaVu Sans"/>
              </a:defRPr>
            </a:pPr>
            <a:r>
              <a:t>5. Төсвийн үндэслэл,</a:t>
            </a:r>
          </a:p>
          <a:p>
            <a:pPr>
              <a:lnSpc>
                <a:spcPts val="1634"/>
              </a:lnSpc>
              <a:spcBef>
                <a:spcPts val="0"/>
              </a:spcBef>
              <a:spcAft>
                <a:spcPts val="0"/>
              </a:spcAft>
              <a:defRPr sz="1220" b="1">
                <a:solidFill>
                  <a:srgbClr val="155EE8"/>
                </a:solidFill>
                <a:latin typeface="DejaVu Sans"/>
              </a:defRPr>
            </a:pPr>
            <a:r>
              <a:t>оролцоо</a:t>
            </a:r>
          </a:p>
        </p:txBody>
      </p:sp>
      <p:sp>
        <p:nvSpPr>
          <p:cNvPr id="38" name="Rectangle 37"/>
          <p:cNvSpPr/>
          <p:nvPr/>
        </p:nvSpPr>
        <p:spPr>
          <a:xfrm>
            <a:off x="3467100" y="5283200"/>
            <a:ext cx="38227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06800" y="5384800"/>
            <a:ext cx="35433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Хэрэгцээнд тулгуурласан тооцоо,</a:t>
            </a:r>
          </a:p>
          <a:p>
            <a:pPr>
              <a:lnSpc>
                <a:spcPts val="1634"/>
              </a:lnSpc>
              <a:spcBef>
                <a:spcPts val="0"/>
              </a:spcBef>
              <a:spcAft>
                <a:spcPts val="0"/>
              </a:spcAft>
              <a:defRPr sz="1220" b="0">
                <a:solidFill>
                  <a:srgbClr val="16243B"/>
                </a:solidFill>
                <a:latin typeface="DejaVu Sans"/>
              </a:defRPr>
            </a:pPr>
            <a:r>
              <a:t>иргэдийн санал</a:t>
            </a:r>
          </a:p>
        </p:txBody>
      </p:sp>
      <p:sp>
        <p:nvSpPr>
          <p:cNvPr id="40" name="Rectangle 39"/>
          <p:cNvSpPr/>
          <p:nvPr/>
        </p:nvSpPr>
        <p:spPr>
          <a:xfrm>
            <a:off x="7302500" y="5283200"/>
            <a:ext cx="4394200" cy="711200"/>
          </a:xfrm>
          <a:prstGeom prst="rect">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42200" y="5384800"/>
            <a:ext cx="4114800" cy="546100"/>
          </a:xfrm>
          <a:prstGeom prst="rect">
            <a:avLst/>
          </a:prstGeom>
          <a:noFill/>
        </p:spPr>
        <p:txBody>
          <a:bodyPr wrap="none" lIns="0" rIns="0" tIns="0" bIns="0">
            <a:spAutoFit/>
          </a:bodyPr>
          <a:lstStyle/>
          <a:p>
            <a:pPr>
              <a:lnSpc>
                <a:spcPts val="1634"/>
              </a:lnSpc>
              <a:spcBef>
                <a:spcPts val="0"/>
              </a:spcBef>
              <a:spcAft>
                <a:spcPts val="0"/>
              </a:spcAft>
              <a:defRPr sz="1220" b="0">
                <a:solidFill>
                  <a:srgbClr val="16243B"/>
                </a:solidFill>
                <a:latin typeface="DejaVu Sans"/>
              </a:defRPr>
            </a:pPr>
            <a:r>
              <a:t>Нийтэлсэн аргачлал; хэрэгжилтийн тайлан</a:t>
            </a:r>
          </a:p>
        </p:txBody>
      </p:sp>
      <p:sp>
        <p:nvSpPr>
          <p:cNvPr id="42" name="Rounded Rectangle 41"/>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Эдгээр нь илтгэлийн бодлогын санал; одоо хүчин төгөлдөр хуульд бүгд заасан гэсэн үг биш.</a:t>
            </a:r>
          </a:p>
        </p:txBody>
      </p:sp>
      <p:sp>
        <p:nvSpPr>
          <p:cNvPr id="44" name="TextBox 43"/>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 • ICESCR • SDG</a:t>
            </a:r>
          </a:p>
        </p:txBody>
      </p:sp>
      <p:sp>
        <p:nvSpPr>
          <p:cNvPr id="45" name="TextBox 44"/>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07 / ЭРХЭЭ ХАМГААЛАХ</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Үйлчилгээ авах боломж хаагдвал ямар дарааллаар</a:t>
            </a:r>
          </a:p>
          <a:p>
            <a:pPr>
              <a:lnSpc>
                <a:spcPts val="3618"/>
              </a:lnSpc>
              <a:spcBef>
                <a:spcPts val="0"/>
              </a:spcBef>
              <a:spcAft>
                <a:spcPts val="0"/>
              </a:spcAft>
              <a:defRPr sz="2700" b="1">
                <a:solidFill>
                  <a:srgbClr val="16243B"/>
                </a:solidFill>
                <a:latin typeface="DejaVu Sans"/>
              </a:defRPr>
            </a:pPr>
            <a:r>
              <a:t>хандах вэ?</a:t>
            </a:r>
          </a:p>
        </p:txBody>
      </p:sp>
      <p:sp>
        <p:nvSpPr>
          <p:cNvPr id="6" name="Rounded Rectangle 5"/>
          <p:cNvSpPr/>
          <p:nvPr/>
        </p:nvSpPr>
        <p:spPr>
          <a:xfrm>
            <a:off x="482600" y="2171700"/>
            <a:ext cx="2654300" cy="30988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8500" y="2374900"/>
            <a:ext cx="2197100" cy="558800"/>
          </a:xfrm>
          <a:prstGeom prst="rect">
            <a:avLst/>
          </a:prstGeom>
          <a:noFill/>
        </p:spPr>
        <p:txBody>
          <a:bodyPr wrap="none" lIns="0" rIns="0" tIns="0" bIns="0">
            <a:spAutoFit/>
          </a:bodyPr>
          <a:lstStyle/>
          <a:p>
            <a:pPr>
              <a:lnSpc>
                <a:spcPts val="3886"/>
              </a:lnSpc>
              <a:spcBef>
                <a:spcPts val="0"/>
              </a:spcBef>
              <a:spcAft>
                <a:spcPts val="0"/>
              </a:spcAft>
              <a:defRPr sz="2900" b="1">
                <a:solidFill>
                  <a:srgbClr val="155EE8"/>
                </a:solidFill>
                <a:latin typeface="DejaVu Sans"/>
              </a:defRPr>
            </a:pPr>
            <a:r>
              <a:t>01</a:t>
            </a:r>
          </a:p>
        </p:txBody>
      </p:sp>
      <p:sp>
        <p:nvSpPr>
          <p:cNvPr id="8" name="TextBox 7"/>
          <p:cNvSpPr txBox="1"/>
          <p:nvPr/>
        </p:nvSpPr>
        <p:spPr>
          <a:xfrm>
            <a:off x="698500" y="3136900"/>
            <a:ext cx="2197100" cy="673100"/>
          </a:xfrm>
          <a:prstGeom prst="rect">
            <a:avLst/>
          </a:prstGeom>
          <a:noFill/>
        </p:spPr>
        <p:txBody>
          <a:bodyPr wrap="none" lIns="0" rIns="0" tIns="0" bIns="0">
            <a:spAutoFit/>
          </a:bodyPr>
          <a:lstStyle/>
          <a:p>
            <a:pPr>
              <a:lnSpc>
                <a:spcPts val="2546"/>
              </a:lnSpc>
              <a:spcBef>
                <a:spcPts val="0"/>
              </a:spcBef>
              <a:spcAft>
                <a:spcPts val="0"/>
              </a:spcAft>
              <a:defRPr sz="1900" b="1">
                <a:solidFill>
                  <a:srgbClr val="16243B"/>
                </a:solidFill>
                <a:latin typeface="DejaVu Sans"/>
              </a:defRPr>
            </a:pPr>
            <a:r>
              <a:t>Баримтжуулах</a:t>
            </a:r>
          </a:p>
        </p:txBody>
      </p:sp>
      <p:sp>
        <p:nvSpPr>
          <p:cNvPr id="9" name="TextBox 8"/>
          <p:cNvSpPr txBox="1"/>
          <p:nvPr/>
        </p:nvSpPr>
        <p:spPr>
          <a:xfrm>
            <a:off x="698500" y="3937000"/>
            <a:ext cx="2197100" cy="1155700"/>
          </a:xfrm>
          <a:prstGeom prst="rect">
            <a:avLst/>
          </a:prstGeom>
          <a:noFill/>
        </p:spPr>
        <p:txBody>
          <a:bodyPr wrap="none" lIns="0" rIns="0" tIns="0" bIns="0">
            <a:spAutoFit/>
          </a:bodyPr>
          <a:lstStyle/>
          <a:p>
            <a:pPr>
              <a:lnSpc>
                <a:spcPts val="1768"/>
              </a:lnSpc>
              <a:spcBef>
                <a:spcPts val="0"/>
              </a:spcBef>
              <a:spcAft>
                <a:spcPts val="0"/>
              </a:spcAft>
              <a:defRPr sz="1320" b="0">
                <a:solidFill>
                  <a:srgbClr val="16243B"/>
                </a:solidFill>
                <a:latin typeface="DejaVu Sans"/>
              </a:defRPr>
            </a:pPr>
            <a:r>
              <a:t>Хүсэлт, хариу, огноо</a:t>
            </a:r>
          </a:p>
          <a:p>
            <a:pPr>
              <a:lnSpc>
                <a:spcPts val="1768"/>
              </a:lnSpc>
              <a:spcBef>
                <a:spcPts val="0"/>
              </a:spcBef>
              <a:spcAft>
                <a:spcPts val="0"/>
              </a:spcAft>
              <a:defRPr sz="1320" b="0">
                <a:solidFill>
                  <a:srgbClr val="16243B"/>
                </a:solidFill>
                <a:latin typeface="DejaVu Sans"/>
              </a:defRPr>
            </a:pPr>
            <a:r>
              <a:t>Төлбөр, холбогдох</a:t>
            </a:r>
          </a:p>
          <a:p>
            <a:pPr>
              <a:lnSpc>
                <a:spcPts val="1768"/>
              </a:lnSpc>
              <a:spcBef>
                <a:spcPts val="0"/>
              </a:spcBef>
              <a:spcAft>
                <a:spcPts val="0"/>
              </a:spcAft>
              <a:defRPr sz="1320" b="0">
                <a:solidFill>
                  <a:srgbClr val="16243B"/>
                </a:solidFill>
                <a:latin typeface="DejaVu Sans"/>
              </a:defRPr>
            </a:pPr>
            <a:r>
              <a:t>баримт</a:t>
            </a:r>
          </a:p>
        </p:txBody>
      </p:sp>
      <p:sp>
        <p:nvSpPr>
          <p:cNvPr id="10" name="TextBox 9"/>
          <p:cNvSpPr txBox="1"/>
          <p:nvPr/>
        </p:nvSpPr>
        <p:spPr>
          <a:xfrm>
            <a:off x="3136900" y="3429000"/>
            <a:ext cx="241300" cy="368300"/>
          </a:xfrm>
          <a:prstGeom prst="rect">
            <a:avLst/>
          </a:prstGeom>
          <a:noFill/>
        </p:spPr>
        <p:txBody>
          <a:bodyPr wrap="none" lIns="0" rIns="0" tIns="0" bIns="0">
            <a:spAutoFit/>
          </a:bodyPr>
          <a:lstStyle/>
          <a:p>
            <a:pPr>
              <a:lnSpc>
                <a:spcPts val="2867"/>
              </a:lnSpc>
              <a:spcBef>
                <a:spcPts val="0"/>
              </a:spcBef>
              <a:spcAft>
                <a:spcPts val="0"/>
              </a:spcAft>
              <a:defRPr sz="2140" b="1">
                <a:solidFill>
                  <a:srgbClr val="155EE8"/>
                </a:solidFill>
                <a:latin typeface="DejaVu Sans"/>
              </a:defRPr>
            </a:pPr>
            <a:r>
              <a:t>›</a:t>
            </a:r>
          </a:p>
        </p:txBody>
      </p:sp>
      <p:sp>
        <p:nvSpPr>
          <p:cNvPr id="11" name="Rounded Rectangle 10"/>
          <p:cNvSpPr/>
          <p:nvPr/>
        </p:nvSpPr>
        <p:spPr>
          <a:xfrm>
            <a:off x="3340100" y="2171700"/>
            <a:ext cx="2654300" cy="30988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6000" y="2374900"/>
            <a:ext cx="2197100" cy="558800"/>
          </a:xfrm>
          <a:prstGeom prst="rect">
            <a:avLst/>
          </a:prstGeom>
          <a:noFill/>
        </p:spPr>
        <p:txBody>
          <a:bodyPr wrap="none" lIns="0" rIns="0" tIns="0" bIns="0">
            <a:spAutoFit/>
          </a:bodyPr>
          <a:lstStyle/>
          <a:p>
            <a:pPr>
              <a:lnSpc>
                <a:spcPts val="3886"/>
              </a:lnSpc>
              <a:spcBef>
                <a:spcPts val="0"/>
              </a:spcBef>
              <a:spcAft>
                <a:spcPts val="0"/>
              </a:spcAft>
              <a:defRPr sz="2900" b="1">
                <a:solidFill>
                  <a:srgbClr val="155EE8"/>
                </a:solidFill>
                <a:latin typeface="DejaVu Sans"/>
              </a:defRPr>
            </a:pPr>
            <a:r>
              <a:t>02</a:t>
            </a:r>
          </a:p>
        </p:txBody>
      </p:sp>
      <p:sp>
        <p:nvSpPr>
          <p:cNvPr id="13" name="TextBox 12"/>
          <p:cNvSpPr txBox="1"/>
          <p:nvPr/>
        </p:nvSpPr>
        <p:spPr>
          <a:xfrm>
            <a:off x="3556000" y="3136900"/>
            <a:ext cx="2197100" cy="673100"/>
          </a:xfrm>
          <a:prstGeom prst="rect">
            <a:avLst/>
          </a:prstGeom>
          <a:noFill/>
        </p:spPr>
        <p:txBody>
          <a:bodyPr wrap="none" lIns="0" rIns="0" tIns="0" bIns="0">
            <a:spAutoFit/>
          </a:bodyPr>
          <a:lstStyle/>
          <a:p>
            <a:pPr>
              <a:lnSpc>
                <a:spcPts val="2546"/>
              </a:lnSpc>
              <a:spcBef>
                <a:spcPts val="0"/>
              </a:spcBef>
              <a:spcAft>
                <a:spcPts val="0"/>
              </a:spcAft>
              <a:defRPr sz="1900" b="1">
                <a:solidFill>
                  <a:srgbClr val="16243B"/>
                </a:solidFill>
                <a:latin typeface="DejaVu Sans"/>
              </a:defRPr>
            </a:pPr>
            <a:r>
              <a:t>Үндэслэл авах</a:t>
            </a:r>
          </a:p>
        </p:txBody>
      </p:sp>
      <p:sp>
        <p:nvSpPr>
          <p:cNvPr id="14" name="TextBox 13"/>
          <p:cNvSpPr txBox="1"/>
          <p:nvPr/>
        </p:nvSpPr>
        <p:spPr>
          <a:xfrm>
            <a:off x="3556000" y="3937000"/>
            <a:ext cx="2197100" cy="1155700"/>
          </a:xfrm>
          <a:prstGeom prst="rect">
            <a:avLst/>
          </a:prstGeom>
          <a:noFill/>
        </p:spPr>
        <p:txBody>
          <a:bodyPr wrap="none" lIns="0" rIns="0" tIns="0" bIns="0">
            <a:spAutoFit/>
          </a:bodyPr>
          <a:lstStyle/>
          <a:p>
            <a:pPr>
              <a:lnSpc>
                <a:spcPts val="1768"/>
              </a:lnSpc>
              <a:spcBef>
                <a:spcPts val="0"/>
              </a:spcBef>
              <a:spcAft>
                <a:spcPts val="0"/>
              </a:spcAft>
              <a:defRPr sz="1320" b="0">
                <a:solidFill>
                  <a:srgbClr val="16243B"/>
                </a:solidFill>
                <a:latin typeface="DejaVu Sans"/>
              </a:defRPr>
            </a:pPr>
            <a:r>
              <a:t>Татгалзсан шалтгаан</a:t>
            </a:r>
          </a:p>
          <a:p>
            <a:pPr>
              <a:lnSpc>
                <a:spcPts val="1768"/>
              </a:lnSpc>
              <a:spcBef>
                <a:spcPts val="0"/>
              </a:spcBef>
              <a:spcAft>
                <a:spcPts val="0"/>
              </a:spcAft>
              <a:defRPr sz="1320" b="0">
                <a:solidFill>
                  <a:srgbClr val="16243B"/>
                </a:solidFill>
                <a:latin typeface="DejaVu Sans"/>
              </a:defRPr>
            </a:pPr>
            <a:r>
              <a:t>Шалгуур, хууль зүйн</a:t>
            </a:r>
          </a:p>
          <a:p>
            <a:pPr>
              <a:lnSpc>
                <a:spcPts val="1768"/>
              </a:lnSpc>
              <a:spcBef>
                <a:spcPts val="0"/>
              </a:spcBef>
              <a:spcAft>
                <a:spcPts val="0"/>
              </a:spcAft>
              <a:defRPr sz="1320" b="0">
                <a:solidFill>
                  <a:srgbClr val="16243B"/>
                </a:solidFill>
                <a:latin typeface="DejaVu Sans"/>
              </a:defRPr>
            </a:pPr>
            <a:r>
              <a:t>үндэс</a:t>
            </a:r>
          </a:p>
        </p:txBody>
      </p:sp>
      <p:sp>
        <p:nvSpPr>
          <p:cNvPr id="15" name="TextBox 14"/>
          <p:cNvSpPr txBox="1"/>
          <p:nvPr/>
        </p:nvSpPr>
        <p:spPr>
          <a:xfrm>
            <a:off x="5994400" y="3429000"/>
            <a:ext cx="241300" cy="368300"/>
          </a:xfrm>
          <a:prstGeom prst="rect">
            <a:avLst/>
          </a:prstGeom>
          <a:noFill/>
        </p:spPr>
        <p:txBody>
          <a:bodyPr wrap="none" lIns="0" rIns="0" tIns="0" bIns="0">
            <a:spAutoFit/>
          </a:bodyPr>
          <a:lstStyle/>
          <a:p>
            <a:pPr>
              <a:lnSpc>
                <a:spcPts val="2867"/>
              </a:lnSpc>
              <a:spcBef>
                <a:spcPts val="0"/>
              </a:spcBef>
              <a:spcAft>
                <a:spcPts val="0"/>
              </a:spcAft>
              <a:defRPr sz="2140" b="1">
                <a:solidFill>
                  <a:srgbClr val="155EE8"/>
                </a:solidFill>
                <a:latin typeface="DejaVu Sans"/>
              </a:defRPr>
            </a:pPr>
            <a:r>
              <a:t>›</a:t>
            </a:r>
          </a:p>
        </p:txBody>
      </p:sp>
      <p:sp>
        <p:nvSpPr>
          <p:cNvPr id="16" name="Rounded Rectangle 15"/>
          <p:cNvSpPr/>
          <p:nvPr/>
        </p:nvSpPr>
        <p:spPr>
          <a:xfrm>
            <a:off x="6197600" y="2171700"/>
            <a:ext cx="2654300" cy="30988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3500" y="2374900"/>
            <a:ext cx="2197100" cy="558800"/>
          </a:xfrm>
          <a:prstGeom prst="rect">
            <a:avLst/>
          </a:prstGeom>
          <a:noFill/>
        </p:spPr>
        <p:txBody>
          <a:bodyPr wrap="none" lIns="0" rIns="0" tIns="0" bIns="0">
            <a:spAutoFit/>
          </a:bodyPr>
          <a:lstStyle/>
          <a:p>
            <a:pPr>
              <a:lnSpc>
                <a:spcPts val="3886"/>
              </a:lnSpc>
              <a:spcBef>
                <a:spcPts val="0"/>
              </a:spcBef>
              <a:spcAft>
                <a:spcPts val="0"/>
              </a:spcAft>
              <a:defRPr sz="2900" b="1">
                <a:solidFill>
                  <a:srgbClr val="155EE8"/>
                </a:solidFill>
                <a:latin typeface="DejaVu Sans"/>
              </a:defRPr>
            </a:pPr>
            <a:r>
              <a:t>03</a:t>
            </a:r>
          </a:p>
        </p:txBody>
      </p:sp>
      <p:sp>
        <p:nvSpPr>
          <p:cNvPr id="18" name="TextBox 17"/>
          <p:cNvSpPr txBox="1"/>
          <p:nvPr/>
        </p:nvSpPr>
        <p:spPr>
          <a:xfrm>
            <a:off x="6413500" y="3136900"/>
            <a:ext cx="2197100" cy="673100"/>
          </a:xfrm>
          <a:prstGeom prst="rect">
            <a:avLst/>
          </a:prstGeom>
          <a:noFill/>
        </p:spPr>
        <p:txBody>
          <a:bodyPr wrap="none" lIns="0" rIns="0" tIns="0" bIns="0">
            <a:spAutoFit/>
          </a:bodyPr>
          <a:lstStyle/>
          <a:p>
            <a:pPr>
              <a:lnSpc>
                <a:spcPts val="2546"/>
              </a:lnSpc>
              <a:spcBef>
                <a:spcPts val="0"/>
              </a:spcBef>
              <a:spcAft>
                <a:spcPts val="0"/>
              </a:spcAft>
              <a:defRPr sz="1900" b="1">
                <a:solidFill>
                  <a:srgbClr val="16243B"/>
                </a:solidFill>
                <a:latin typeface="DejaVu Sans"/>
              </a:defRPr>
            </a:pPr>
            <a:r>
              <a:t>Хянуулах</a:t>
            </a:r>
          </a:p>
        </p:txBody>
      </p:sp>
      <p:sp>
        <p:nvSpPr>
          <p:cNvPr id="19" name="TextBox 18"/>
          <p:cNvSpPr txBox="1"/>
          <p:nvPr/>
        </p:nvSpPr>
        <p:spPr>
          <a:xfrm>
            <a:off x="6413500" y="3937000"/>
            <a:ext cx="2197100" cy="1155700"/>
          </a:xfrm>
          <a:prstGeom prst="rect">
            <a:avLst/>
          </a:prstGeom>
          <a:noFill/>
        </p:spPr>
        <p:txBody>
          <a:bodyPr wrap="none" lIns="0" rIns="0" tIns="0" bIns="0">
            <a:spAutoFit/>
          </a:bodyPr>
          <a:lstStyle/>
          <a:p>
            <a:pPr>
              <a:lnSpc>
                <a:spcPts val="1768"/>
              </a:lnSpc>
              <a:spcBef>
                <a:spcPts val="0"/>
              </a:spcBef>
              <a:spcAft>
                <a:spcPts val="0"/>
              </a:spcAft>
              <a:defRPr sz="1320" b="0">
                <a:solidFill>
                  <a:srgbClr val="16243B"/>
                </a:solidFill>
                <a:latin typeface="DejaVu Sans"/>
              </a:defRPr>
            </a:pPr>
            <a:r>
              <a:t>Эрх бүхий байгууллага</a:t>
            </a:r>
          </a:p>
          <a:p>
            <a:pPr>
              <a:lnSpc>
                <a:spcPts val="1768"/>
              </a:lnSpc>
              <a:spcBef>
                <a:spcPts val="0"/>
              </a:spcBef>
              <a:spcAft>
                <a:spcPts val="0"/>
              </a:spcAft>
              <a:defRPr sz="1320" b="0">
                <a:solidFill>
                  <a:srgbClr val="16243B"/>
                </a:solidFill>
                <a:latin typeface="DejaVu Sans"/>
              </a:defRPr>
            </a:pPr>
            <a:r>
              <a:t>ХЭҮК, хууль зүйн</a:t>
            </a:r>
          </a:p>
          <a:p>
            <a:pPr>
              <a:lnSpc>
                <a:spcPts val="1768"/>
              </a:lnSpc>
              <a:spcBef>
                <a:spcPts val="0"/>
              </a:spcBef>
              <a:spcAft>
                <a:spcPts val="0"/>
              </a:spcAft>
              <a:defRPr sz="1320" b="0">
                <a:solidFill>
                  <a:srgbClr val="16243B"/>
                </a:solidFill>
                <a:latin typeface="DejaVu Sans"/>
              </a:defRPr>
            </a:pPr>
            <a:r>
              <a:t>зөвлөгөө</a:t>
            </a:r>
          </a:p>
        </p:txBody>
      </p:sp>
      <p:sp>
        <p:nvSpPr>
          <p:cNvPr id="20" name="TextBox 19"/>
          <p:cNvSpPr txBox="1"/>
          <p:nvPr/>
        </p:nvSpPr>
        <p:spPr>
          <a:xfrm>
            <a:off x="8851900" y="3429000"/>
            <a:ext cx="241300" cy="368300"/>
          </a:xfrm>
          <a:prstGeom prst="rect">
            <a:avLst/>
          </a:prstGeom>
          <a:noFill/>
        </p:spPr>
        <p:txBody>
          <a:bodyPr wrap="none" lIns="0" rIns="0" tIns="0" bIns="0">
            <a:spAutoFit/>
          </a:bodyPr>
          <a:lstStyle/>
          <a:p>
            <a:pPr>
              <a:lnSpc>
                <a:spcPts val="2867"/>
              </a:lnSpc>
              <a:spcBef>
                <a:spcPts val="0"/>
              </a:spcBef>
              <a:spcAft>
                <a:spcPts val="0"/>
              </a:spcAft>
              <a:defRPr sz="2140" b="1">
                <a:solidFill>
                  <a:srgbClr val="155EE8"/>
                </a:solidFill>
                <a:latin typeface="DejaVu Sans"/>
              </a:defRPr>
            </a:pPr>
            <a:r>
              <a:t>›</a:t>
            </a:r>
          </a:p>
        </p:txBody>
      </p:sp>
      <p:sp>
        <p:nvSpPr>
          <p:cNvPr id="21" name="Rounded Rectangle 20"/>
          <p:cNvSpPr/>
          <p:nvPr/>
        </p:nvSpPr>
        <p:spPr>
          <a:xfrm>
            <a:off x="9055100" y="2171700"/>
            <a:ext cx="2654300" cy="30988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1000" y="2374900"/>
            <a:ext cx="2197100" cy="558800"/>
          </a:xfrm>
          <a:prstGeom prst="rect">
            <a:avLst/>
          </a:prstGeom>
          <a:noFill/>
        </p:spPr>
        <p:txBody>
          <a:bodyPr wrap="none" lIns="0" rIns="0" tIns="0" bIns="0">
            <a:spAutoFit/>
          </a:bodyPr>
          <a:lstStyle/>
          <a:p>
            <a:pPr>
              <a:lnSpc>
                <a:spcPts val="3886"/>
              </a:lnSpc>
              <a:spcBef>
                <a:spcPts val="0"/>
              </a:spcBef>
              <a:spcAft>
                <a:spcPts val="0"/>
              </a:spcAft>
              <a:defRPr sz="2900" b="1">
                <a:solidFill>
                  <a:srgbClr val="155EE8"/>
                </a:solidFill>
                <a:latin typeface="DejaVu Sans"/>
              </a:defRPr>
            </a:pPr>
            <a:r>
              <a:t>04</a:t>
            </a:r>
          </a:p>
        </p:txBody>
      </p:sp>
      <p:sp>
        <p:nvSpPr>
          <p:cNvPr id="23" name="TextBox 22"/>
          <p:cNvSpPr txBox="1"/>
          <p:nvPr/>
        </p:nvSpPr>
        <p:spPr>
          <a:xfrm>
            <a:off x="9271000" y="3136900"/>
            <a:ext cx="2197100" cy="673100"/>
          </a:xfrm>
          <a:prstGeom prst="rect">
            <a:avLst/>
          </a:prstGeom>
          <a:noFill/>
        </p:spPr>
        <p:txBody>
          <a:bodyPr wrap="none" lIns="0" rIns="0" tIns="0" bIns="0">
            <a:spAutoFit/>
          </a:bodyPr>
          <a:lstStyle/>
          <a:p>
            <a:pPr>
              <a:lnSpc>
                <a:spcPts val="2546"/>
              </a:lnSpc>
              <a:spcBef>
                <a:spcPts val="0"/>
              </a:spcBef>
              <a:spcAft>
                <a:spcPts val="0"/>
              </a:spcAft>
              <a:defRPr sz="1900" b="1">
                <a:solidFill>
                  <a:srgbClr val="16243B"/>
                </a:solidFill>
                <a:latin typeface="DejaVu Sans"/>
              </a:defRPr>
            </a:pPr>
            <a:r>
              <a:t>Шүүхээр</a:t>
            </a:r>
          </a:p>
          <a:p>
            <a:pPr>
              <a:lnSpc>
                <a:spcPts val="2546"/>
              </a:lnSpc>
              <a:spcBef>
                <a:spcPts val="0"/>
              </a:spcBef>
              <a:spcAft>
                <a:spcPts val="0"/>
              </a:spcAft>
              <a:defRPr sz="1900" b="1">
                <a:solidFill>
                  <a:srgbClr val="16243B"/>
                </a:solidFill>
                <a:latin typeface="DejaVu Sans"/>
              </a:defRPr>
            </a:pPr>
            <a:r>
              <a:t>хамгаалах</a:t>
            </a:r>
          </a:p>
        </p:txBody>
      </p:sp>
      <p:sp>
        <p:nvSpPr>
          <p:cNvPr id="24" name="TextBox 23"/>
          <p:cNvSpPr txBox="1"/>
          <p:nvPr/>
        </p:nvSpPr>
        <p:spPr>
          <a:xfrm>
            <a:off x="9271000" y="3937000"/>
            <a:ext cx="2197100" cy="1155700"/>
          </a:xfrm>
          <a:prstGeom prst="rect">
            <a:avLst/>
          </a:prstGeom>
          <a:noFill/>
        </p:spPr>
        <p:txBody>
          <a:bodyPr wrap="none" lIns="0" rIns="0" tIns="0" bIns="0">
            <a:spAutoFit/>
          </a:bodyPr>
          <a:lstStyle/>
          <a:p>
            <a:pPr>
              <a:lnSpc>
                <a:spcPts val="1768"/>
              </a:lnSpc>
              <a:spcBef>
                <a:spcPts val="0"/>
              </a:spcBef>
              <a:spcAft>
                <a:spcPts val="0"/>
              </a:spcAft>
              <a:defRPr sz="1320" b="0">
                <a:solidFill>
                  <a:srgbClr val="16243B"/>
                </a:solidFill>
                <a:latin typeface="DejaVu Sans"/>
              </a:defRPr>
            </a:pPr>
            <a:r>
              <a:t>Маргааны харьяаллыг</a:t>
            </a:r>
          </a:p>
          <a:p>
            <a:pPr>
              <a:lnSpc>
                <a:spcPts val="1768"/>
              </a:lnSpc>
              <a:spcBef>
                <a:spcPts val="0"/>
              </a:spcBef>
              <a:spcAft>
                <a:spcPts val="0"/>
              </a:spcAft>
              <a:defRPr sz="1320" b="0">
                <a:solidFill>
                  <a:srgbClr val="16243B"/>
                </a:solidFill>
                <a:latin typeface="DejaVu Sans"/>
              </a:defRPr>
            </a:pPr>
            <a:r>
              <a:t>тогтоох</a:t>
            </a:r>
          </a:p>
          <a:p>
            <a:pPr>
              <a:lnSpc>
                <a:spcPts val="1768"/>
              </a:lnSpc>
              <a:spcBef>
                <a:spcPts val="0"/>
              </a:spcBef>
              <a:spcAft>
                <a:spcPts val="0"/>
              </a:spcAft>
              <a:defRPr sz="1320" b="0">
                <a:solidFill>
                  <a:srgbClr val="16243B"/>
                </a:solidFill>
                <a:latin typeface="DejaVu Sans"/>
              </a:defRPr>
            </a:pPr>
            <a:r>
              <a:t>Хугацаа, журмыг</a:t>
            </a:r>
          </a:p>
          <a:p>
            <a:pPr>
              <a:lnSpc>
                <a:spcPts val="1768"/>
              </a:lnSpc>
              <a:spcBef>
                <a:spcPts val="0"/>
              </a:spcBef>
              <a:spcAft>
                <a:spcPts val="0"/>
              </a:spcAft>
              <a:defRPr sz="1320" b="0">
                <a:solidFill>
                  <a:srgbClr val="16243B"/>
                </a:solidFill>
                <a:latin typeface="DejaVu Sans"/>
              </a:defRPr>
            </a:pPr>
            <a:r>
              <a:t>нягтлах</a:t>
            </a:r>
          </a:p>
        </p:txBody>
      </p:sp>
      <p:sp>
        <p:nvSpPr>
          <p:cNvPr id="25" name="Rounded Rectangle 24"/>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Үндсэн хууль • 1992.01.13: 16.12, 16.14. Гомдлын төрөл бүрийн журам, хугацаа өөр.</a:t>
            </a:r>
          </a:p>
        </p:txBody>
      </p:sp>
      <p:sp>
        <p:nvSpPr>
          <p:cNvPr id="27" name="TextBox 26"/>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a:t>
            </a:r>
          </a:p>
        </p:txBody>
      </p:sp>
      <p:sp>
        <p:nvSpPr>
          <p:cNvPr id="28" name="TextBox 27"/>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08 / ДҮГНЭЛТ</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Нэр төртэй амьдрал бол бодлогын гол шалгуур</a:t>
            </a:r>
          </a:p>
        </p:txBody>
      </p:sp>
      <p:sp>
        <p:nvSpPr>
          <p:cNvPr id="6" name="Rounded Rectangle 5"/>
          <p:cNvSpPr/>
          <p:nvPr/>
        </p:nvSpPr>
        <p:spPr>
          <a:xfrm>
            <a:off x="4826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26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01 Эрх тэгш</a:t>
            </a:r>
          </a:p>
        </p:txBody>
      </p:sp>
      <p:sp>
        <p:nvSpPr>
          <p:cNvPr id="9" name="TextBox 8"/>
          <p:cNvSpPr txBox="1"/>
          <p:nvPr/>
        </p:nvSpPr>
        <p:spPr>
          <a:xfrm>
            <a:off x="7112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Орлого бага байх нь хүний</a:t>
            </a:r>
          </a:p>
          <a:p>
            <a:pPr>
              <a:lnSpc>
                <a:spcPts val="2023"/>
              </a:lnSpc>
              <a:spcBef>
                <a:spcPts val="0"/>
              </a:spcBef>
              <a:spcAft>
                <a:spcPts val="0"/>
              </a:spcAft>
              <a:defRPr sz="1510" b="0">
                <a:solidFill>
                  <a:srgbClr val="16243B"/>
                </a:solidFill>
                <a:latin typeface="DejaVu Sans"/>
              </a:defRPr>
            </a:pPr>
            <a:r>
              <a:t>эрх, нэр төрийг бууруулахгүй.</a:t>
            </a:r>
          </a:p>
          <a:p>
            <a:pPr>
              <a:lnSpc>
                <a:spcPts val="2023"/>
              </a:lnSpc>
              <a:spcBef>
                <a:spcPts val="0"/>
              </a:spcBef>
              <a:spcAft>
                <a:spcPts val="0"/>
              </a:spcAft>
              <a:defRPr sz="1510" b="0">
                <a:solidFill>
                  <a:srgbClr val="16243B"/>
                </a:solidFill>
                <a:latin typeface="DejaVu Sans"/>
              </a:defRPr>
            </a:pPr>
            <a:r>
              <a:t>Ялгаварлалгүй байдал бол</a:t>
            </a:r>
          </a:p>
          <a:p>
            <a:pPr>
              <a:lnSpc>
                <a:spcPts val="2023"/>
              </a:lnSpc>
              <a:spcBef>
                <a:spcPts val="0"/>
              </a:spcBef>
              <a:spcAft>
                <a:spcPts val="0"/>
              </a:spcAft>
              <a:defRPr sz="1510" b="0">
                <a:solidFill>
                  <a:srgbClr val="16243B"/>
                </a:solidFill>
                <a:latin typeface="DejaVu Sans"/>
              </a:defRPr>
            </a:pPr>
            <a:r>
              <a:t>суурь шаардлага.</a:t>
            </a:r>
          </a:p>
        </p:txBody>
      </p:sp>
      <p:sp>
        <p:nvSpPr>
          <p:cNvPr id="10" name="Rounded Rectangle 9"/>
          <p:cNvSpPr/>
          <p:nvPr/>
        </p:nvSpPr>
        <p:spPr>
          <a:xfrm>
            <a:off x="42799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900" y="1917700"/>
            <a:ext cx="3594100" cy="635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85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02 Бодит хүртээмж</a:t>
            </a:r>
          </a:p>
        </p:txBody>
      </p:sp>
      <p:sp>
        <p:nvSpPr>
          <p:cNvPr id="13" name="TextBox 12"/>
          <p:cNvSpPr txBox="1"/>
          <p:nvPr/>
        </p:nvSpPr>
        <p:spPr>
          <a:xfrm>
            <a:off x="45085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Хуулийн заалт нь төсөв,</a:t>
            </a:r>
          </a:p>
          <a:p>
            <a:pPr>
              <a:lnSpc>
                <a:spcPts val="2023"/>
              </a:lnSpc>
              <a:spcBef>
                <a:spcPts val="0"/>
              </a:spcBef>
              <a:spcAft>
                <a:spcPts val="0"/>
              </a:spcAft>
              <a:defRPr sz="1510" b="0">
                <a:solidFill>
                  <a:srgbClr val="16243B"/>
                </a:solidFill>
                <a:latin typeface="DejaVu Sans"/>
              </a:defRPr>
            </a:pPr>
            <a:r>
              <a:t>үйлчилгээ, мэдээлэл, орчны</a:t>
            </a:r>
          </a:p>
          <a:p>
            <a:pPr>
              <a:lnSpc>
                <a:spcPts val="2023"/>
              </a:lnSpc>
              <a:spcBef>
                <a:spcPts val="0"/>
              </a:spcBef>
              <a:spcAft>
                <a:spcPts val="0"/>
              </a:spcAft>
              <a:defRPr sz="1510" b="0">
                <a:solidFill>
                  <a:srgbClr val="16243B"/>
                </a:solidFill>
                <a:latin typeface="DejaVu Sans"/>
              </a:defRPr>
            </a:pPr>
            <a:r>
              <a:t>хүртээмжээр дамжин бодит</a:t>
            </a:r>
          </a:p>
          <a:p>
            <a:pPr>
              <a:lnSpc>
                <a:spcPts val="2023"/>
              </a:lnSpc>
              <a:spcBef>
                <a:spcPts val="0"/>
              </a:spcBef>
              <a:spcAft>
                <a:spcPts val="0"/>
              </a:spcAft>
              <a:defRPr sz="1510" b="0">
                <a:solidFill>
                  <a:srgbClr val="16243B"/>
                </a:solidFill>
                <a:latin typeface="DejaVu Sans"/>
              </a:defRPr>
            </a:pPr>
            <a:r>
              <a:t>боломж болно.</a:t>
            </a:r>
          </a:p>
        </p:txBody>
      </p:sp>
      <p:sp>
        <p:nvSpPr>
          <p:cNvPr id="14" name="Rounded Rectangle 13"/>
          <p:cNvSpPr/>
          <p:nvPr/>
        </p:nvSpPr>
        <p:spPr>
          <a:xfrm>
            <a:off x="8077200" y="1917700"/>
            <a:ext cx="3594100" cy="3632200"/>
          </a:xfrm>
          <a:prstGeom prst="roundRect">
            <a:avLst>
              <a:gd name="adj" fmla="val 8000"/>
            </a:avLst>
          </a:prstGeom>
          <a:solidFill>
            <a:srgbClr val="EDF3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7200" y="1917700"/>
            <a:ext cx="3594100" cy="635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5800" y="2209800"/>
            <a:ext cx="3136900" cy="660400"/>
          </a:xfrm>
          <a:prstGeom prst="rect">
            <a:avLst/>
          </a:prstGeom>
          <a:noFill/>
        </p:spPr>
        <p:txBody>
          <a:bodyPr wrap="none" lIns="0" rIns="0" tIns="0" bIns="0">
            <a:spAutoFit/>
          </a:bodyPr>
          <a:lstStyle/>
          <a:p>
            <a:pPr>
              <a:lnSpc>
                <a:spcPts val="2412"/>
              </a:lnSpc>
              <a:spcBef>
                <a:spcPts val="0"/>
              </a:spcBef>
              <a:spcAft>
                <a:spcPts val="0"/>
              </a:spcAft>
              <a:defRPr sz="1800" b="1">
                <a:solidFill>
                  <a:srgbClr val="155EE8"/>
                </a:solidFill>
                <a:latin typeface="DejaVu Sans"/>
              </a:defRPr>
            </a:pPr>
            <a:r>
              <a:t>03 Хариуцлага</a:t>
            </a:r>
          </a:p>
        </p:txBody>
      </p:sp>
      <p:sp>
        <p:nvSpPr>
          <p:cNvPr id="17" name="TextBox 16"/>
          <p:cNvSpPr txBox="1"/>
          <p:nvPr/>
        </p:nvSpPr>
        <p:spPr>
          <a:xfrm>
            <a:off x="8305800" y="3035300"/>
            <a:ext cx="3136900" cy="2260600"/>
          </a:xfrm>
          <a:prstGeom prst="rect">
            <a:avLst/>
          </a:prstGeom>
          <a:noFill/>
        </p:spPr>
        <p:txBody>
          <a:bodyPr wrap="none" lIns="0" rIns="0" tIns="0" bIns="0">
            <a:spAutoFit/>
          </a:bodyPr>
          <a:lstStyle/>
          <a:p>
            <a:pPr>
              <a:lnSpc>
                <a:spcPts val="2023"/>
              </a:lnSpc>
              <a:spcBef>
                <a:spcPts val="0"/>
              </a:spcBef>
              <a:spcAft>
                <a:spcPts val="0"/>
              </a:spcAft>
              <a:defRPr sz="1510" b="0">
                <a:solidFill>
                  <a:srgbClr val="16243B"/>
                </a:solidFill>
                <a:latin typeface="DejaVu Sans"/>
              </a:defRPr>
            </a:pPr>
            <a:r>
              <a:t>Тооцоолол ил тод, шийдвэр</a:t>
            </a:r>
          </a:p>
          <a:p>
            <a:pPr>
              <a:lnSpc>
                <a:spcPts val="2023"/>
              </a:lnSpc>
              <a:spcBef>
                <a:spcPts val="0"/>
              </a:spcBef>
              <a:spcAft>
                <a:spcPts val="0"/>
              </a:spcAft>
              <a:defRPr sz="1510" b="0">
                <a:solidFill>
                  <a:srgbClr val="16243B"/>
                </a:solidFill>
                <a:latin typeface="DejaVu Sans"/>
              </a:defRPr>
            </a:pPr>
            <a:r>
              <a:t>үндэслэлтэй, гомдол хянуулах</a:t>
            </a:r>
          </a:p>
          <a:p>
            <a:pPr>
              <a:lnSpc>
                <a:spcPts val="2023"/>
              </a:lnSpc>
              <a:spcBef>
                <a:spcPts val="0"/>
              </a:spcBef>
              <a:spcAft>
                <a:spcPts val="0"/>
              </a:spcAft>
              <a:defRPr sz="1510" b="0">
                <a:solidFill>
                  <a:srgbClr val="16243B"/>
                </a:solidFill>
                <a:latin typeface="DejaVu Sans"/>
              </a:defRPr>
            </a:pPr>
            <a:r>
              <a:t>боломжтой үед хамгаалалт үр</a:t>
            </a:r>
          </a:p>
          <a:p>
            <a:pPr>
              <a:lnSpc>
                <a:spcPts val="2023"/>
              </a:lnSpc>
              <a:spcBef>
                <a:spcPts val="0"/>
              </a:spcBef>
              <a:spcAft>
                <a:spcPts val="0"/>
              </a:spcAft>
              <a:defRPr sz="1510" b="0">
                <a:solidFill>
                  <a:srgbClr val="16243B"/>
                </a:solidFill>
                <a:latin typeface="DejaVu Sans"/>
              </a:defRPr>
            </a:pPr>
            <a:r>
              <a:t>дүнтэй.</a:t>
            </a:r>
          </a:p>
        </p:txBody>
      </p:sp>
      <p:sp>
        <p:nvSpPr>
          <p:cNvPr id="18" name="Rounded Rectangle 1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Хэлэлцүүлэг: Монголд хамгийн түрүүнд аль саадыг арилгавал иргэдийн эрхийн бодит боломж нэмэгдэх вэ?</a:t>
            </a:r>
          </a:p>
        </p:txBody>
      </p:sp>
      <p:sp>
        <p:nvSpPr>
          <p:cNvPr id="20" name="TextBox 1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ҮХ • UDHR • ICESCR</a:t>
            </a:r>
          </a:p>
        </p:txBody>
      </p:sp>
      <p:sp>
        <p:nvSpPr>
          <p:cNvPr id="21" name="TextBox 2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09 / ЭХ СУРВАЛЖ • 1/2</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Монголын хууль ба олон улсын баримт бичиг</a:t>
            </a:r>
          </a:p>
        </p:txBody>
      </p:sp>
      <p:sp>
        <p:nvSpPr>
          <p:cNvPr id="6" name="TextBox 5"/>
          <p:cNvSpPr txBox="1"/>
          <p:nvPr/>
        </p:nvSpPr>
        <p:spPr>
          <a:xfrm>
            <a:off x="482600" y="1879599"/>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[ҮХ] Монгол Улсын Үндсэн хууль — 1992.01.13</a:t>
            </a:r>
          </a:p>
        </p:txBody>
      </p:sp>
      <p:sp>
        <p:nvSpPr>
          <p:cNvPr id="7" name="Rectangle 6">
            <a:hlinkClick r:id="rId2"/>
          </p:cNvPr>
          <p:cNvSpPr/>
          <p:nvPr/>
        </p:nvSpPr>
        <p:spPr>
          <a:xfrm>
            <a:off x="482600" y="1879599"/>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600" y="25019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[ХТ] Хөдөлмөрийн тухай хууль /шинэчилсэн найруулга/ — 2021.07.02</a:t>
            </a:r>
          </a:p>
        </p:txBody>
      </p:sp>
      <p:sp>
        <p:nvSpPr>
          <p:cNvPr id="9" name="Rectangle 8">
            <a:hlinkClick r:id="rId3"/>
          </p:cNvPr>
          <p:cNvSpPr/>
          <p:nvPr/>
        </p:nvSpPr>
        <p:spPr>
          <a:xfrm>
            <a:off x="482600" y="25019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600" y="31242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[НХ] Нийгмийн халамжийн тухай хууль /шинэчилсэн найруулга/ —</a:t>
            </a:r>
          </a:p>
          <a:p>
            <a:pPr>
              <a:lnSpc>
                <a:spcPts val="1393"/>
              </a:lnSpc>
              <a:spcBef>
                <a:spcPts val="0"/>
              </a:spcBef>
              <a:spcAft>
                <a:spcPts val="0"/>
              </a:spcAft>
              <a:defRPr sz="1040" b="0">
                <a:solidFill>
                  <a:srgbClr val="16243B"/>
                </a:solidFill>
                <a:latin typeface="DejaVu Sans"/>
              </a:defRPr>
            </a:pPr>
            <a:r>
              <a:t>2012.01.19</a:t>
            </a:r>
          </a:p>
        </p:txBody>
      </p:sp>
      <p:sp>
        <p:nvSpPr>
          <p:cNvPr id="11" name="Rectangle 10">
            <a:hlinkClick r:id="rId3"/>
          </p:cNvPr>
          <p:cNvSpPr/>
          <p:nvPr/>
        </p:nvSpPr>
        <p:spPr>
          <a:xfrm>
            <a:off x="482600" y="31242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2600" y="37465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[БЕХ] Боловсролын ерөнхий хууль /шинэчилсэн найруулга/ — 2023.07.07</a:t>
            </a:r>
          </a:p>
        </p:txBody>
      </p:sp>
      <p:sp>
        <p:nvSpPr>
          <p:cNvPr id="13" name="Rectangle 12">
            <a:hlinkClick r:id="rId3"/>
          </p:cNvPr>
          <p:cNvSpPr/>
          <p:nvPr/>
        </p:nvSpPr>
        <p:spPr>
          <a:xfrm>
            <a:off x="482600" y="37465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2600" y="43688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[ХБХ] Хөгжлийн бэрхшээлтэй хүний эрхийн тухай хууль — 2016.02.05</a:t>
            </a:r>
          </a:p>
        </p:txBody>
      </p:sp>
      <p:sp>
        <p:nvSpPr>
          <p:cNvPr id="15" name="Rectangle 14">
            <a:hlinkClick r:id="rId3"/>
          </p:cNvPr>
          <p:cNvSpPr/>
          <p:nvPr/>
        </p:nvSpPr>
        <p:spPr>
          <a:xfrm>
            <a:off x="482600" y="43688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600" y="49911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[UDHR] Хүний эрхийн түгээмэл тунхаглал — 1948.12.10</a:t>
            </a:r>
          </a:p>
        </p:txBody>
      </p:sp>
      <p:sp>
        <p:nvSpPr>
          <p:cNvPr id="17" name="Rectangle 16">
            <a:hlinkClick r:id="rId4"/>
          </p:cNvPr>
          <p:cNvSpPr/>
          <p:nvPr/>
        </p:nvSpPr>
        <p:spPr>
          <a:xfrm>
            <a:off x="482600" y="49911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48400" y="1879599"/>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[ICESCR] Эдийн засаг, нийгэм, соёлын эрхийн тухай олон улсын пакт —</a:t>
            </a:r>
          </a:p>
          <a:p>
            <a:pPr>
              <a:lnSpc>
                <a:spcPts val="1393"/>
              </a:lnSpc>
              <a:spcBef>
                <a:spcPts val="0"/>
              </a:spcBef>
              <a:spcAft>
                <a:spcPts val="0"/>
              </a:spcAft>
              <a:defRPr sz="1040" b="0">
                <a:solidFill>
                  <a:srgbClr val="16243B"/>
                </a:solidFill>
                <a:latin typeface="DejaVu Sans"/>
              </a:defRPr>
            </a:pPr>
            <a:r>
              <a:t>1966.12.16; хүчин төгөлдөр: 1976.01.03</a:t>
            </a:r>
          </a:p>
        </p:txBody>
      </p:sp>
      <p:sp>
        <p:nvSpPr>
          <p:cNvPr id="19" name="Rectangle 18">
            <a:hlinkClick r:id="rId5"/>
          </p:cNvPr>
          <p:cNvSpPr/>
          <p:nvPr/>
        </p:nvSpPr>
        <p:spPr>
          <a:xfrm>
            <a:off x="6248400" y="1879599"/>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8400" y="25019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[ICCPR] Иргэний болон улс төрийн эрхийн тухай олон улсын пакт —</a:t>
            </a:r>
          </a:p>
          <a:p>
            <a:pPr>
              <a:lnSpc>
                <a:spcPts val="1393"/>
              </a:lnSpc>
              <a:spcBef>
                <a:spcPts val="0"/>
              </a:spcBef>
              <a:spcAft>
                <a:spcPts val="0"/>
              </a:spcAft>
              <a:defRPr sz="1040" b="0">
                <a:solidFill>
                  <a:srgbClr val="16243B"/>
                </a:solidFill>
                <a:latin typeface="DejaVu Sans"/>
              </a:defRPr>
            </a:pPr>
            <a:r>
              <a:t>1966.12.16; хүчин төгөлдөр: 1976.03.23</a:t>
            </a:r>
          </a:p>
        </p:txBody>
      </p:sp>
      <p:sp>
        <p:nvSpPr>
          <p:cNvPr id="21" name="Rectangle 20">
            <a:hlinkClick r:id="rId6"/>
          </p:cNvPr>
          <p:cNvSpPr/>
          <p:nvPr/>
        </p:nvSpPr>
        <p:spPr>
          <a:xfrm>
            <a:off x="6248400" y="25019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8400" y="31242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[CRC] Хүүхдийн эрхийн тухай конвенц — 1989.11.20; хүчин төгөлдөр:</a:t>
            </a:r>
          </a:p>
          <a:p>
            <a:pPr>
              <a:lnSpc>
                <a:spcPts val="1393"/>
              </a:lnSpc>
              <a:spcBef>
                <a:spcPts val="0"/>
              </a:spcBef>
              <a:spcAft>
                <a:spcPts val="0"/>
              </a:spcAft>
              <a:defRPr sz="1040" b="0">
                <a:solidFill>
                  <a:srgbClr val="16243B"/>
                </a:solidFill>
                <a:latin typeface="DejaVu Sans"/>
              </a:defRPr>
            </a:pPr>
            <a:r>
              <a:t>1990.09.02</a:t>
            </a:r>
          </a:p>
        </p:txBody>
      </p:sp>
      <p:sp>
        <p:nvSpPr>
          <p:cNvPr id="23" name="Rectangle 22">
            <a:hlinkClick r:id="rId7"/>
          </p:cNvPr>
          <p:cNvSpPr/>
          <p:nvPr/>
        </p:nvSpPr>
        <p:spPr>
          <a:xfrm>
            <a:off x="6248400" y="31242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48400" y="37465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[CEDAW] Эмэгтэйчүүдийг алагчлах бүх хэлбэрийг устгах тухай конвенц —</a:t>
            </a:r>
          </a:p>
          <a:p>
            <a:pPr>
              <a:lnSpc>
                <a:spcPts val="1393"/>
              </a:lnSpc>
              <a:spcBef>
                <a:spcPts val="0"/>
              </a:spcBef>
              <a:spcAft>
                <a:spcPts val="0"/>
              </a:spcAft>
              <a:defRPr sz="1040" b="0">
                <a:solidFill>
                  <a:srgbClr val="16243B"/>
                </a:solidFill>
                <a:latin typeface="DejaVu Sans"/>
              </a:defRPr>
            </a:pPr>
            <a:r>
              <a:t>1979.12.18; хүчин төгөлдөр: 1981.09.03</a:t>
            </a:r>
          </a:p>
        </p:txBody>
      </p:sp>
      <p:sp>
        <p:nvSpPr>
          <p:cNvPr id="25" name="Rectangle 24">
            <a:hlinkClick r:id="rId8"/>
          </p:cNvPr>
          <p:cNvSpPr/>
          <p:nvPr/>
        </p:nvSpPr>
        <p:spPr>
          <a:xfrm>
            <a:off x="6248400" y="37465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48400" y="43688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[CRPD] Хөгжлийн бэрхшээлтэй хүмүүсийн эрхийн тухай конвенц —</a:t>
            </a:r>
          </a:p>
          <a:p>
            <a:pPr>
              <a:lnSpc>
                <a:spcPts val="1393"/>
              </a:lnSpc>
              <a:spcBef>
                <a:spcPts val="0"/>
              </a:spcBef>
              <a:spcAft>
                <a:spcPts val="0"/>
              </a:spcAft>
              <a:defRPr sz="1040" b="0">
                <a:solidFill>
                  <a:srgbClr val="16243B"/>
                </a:solidFill>
                <a:latin typeface="DejaVu Sans"/>
              </a:defRPr>
            </a:pPr>
            <a:r>
              <a:t>2006.12.13; хүчин төгөлдөр: 2008.05.03</a:t>
            </a:r>
          </a:p>
        </p:txBody>
      </p:sp>
      <p:sp>
        <p:nvSpPr>
          <p:cNvPr id="27" name="Rectangle 26">
            <a:hlinkClick r:id="rId9"/>
          </p:cNvPr>
          <p:cNvSpPr/>
          <p:nvPr/>
        </p:nvSpPr>
        <p:spPr>
          <a:xfrm>
            <a:off x="6248400" y="43688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Албан ёсны эх: legalinfo.mn • ohchr.org. Слайдын тайлбар хэсэгт холбогдох эх сурвалжийн холбоос бий.</a:t>
            </a:r>
          </a:p>
        </p:txBody>
      </p:sp>
      <p:sp>
        <p:nvSpPr>
          <p:cNvPr id="30" name="TextBox 29"/>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сурвалжийн дэлгэрэнгүй жагсаалт • Илтгэгчийн тайлбарыг үзнэ үү</a:t>
            </a:r>
          </a:p>
        </p:txBody>
      </p:sp>
      <p:sp>
        <p:nvSpPr>
          <p:cNvPr id="31" name="TextBox 30"/>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155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2600" y="330200"/>
            <a:ext cx="11176000" cy="254000"/>
          </a:xfrm>
          <a:prstGeom prst="rect">
            <a:avLst/>
          </a:prstGeom>
          <a:noFill/>
        </p:spPr>
        <p:txBody>
          <a:bodyPr wrap="none" lIns="0" rIns="0" tIns="0" bIns="0">
            <a:spAutoFit/>
          </a:bodyPr>
          <a:lstStyle/>
          <a:p>
            <a:pPr>
              <a:lnSpc>
                <a:spcPts val="1273"/>
              </a:lnSpc>
              <a:spcBef>
                <a:spcPts val="0"/>
              </a:spcBef>
              <a:spcAft>
                <a:spcPts val="0"/>
              </a:spcAft>
              <a:defRPr sz="950" b="1">
                <a:solidFill>
                  <a:srgbClr val="155EE8"/>
                </a:solidFill>
                <a:latin typeface="DejaVu Sans"/>
              </a:defRPr>
            </a:pPr>
            <a:r>
              <a:t>09 / ЭХ СУРВАЛЖ • 2/2</a:t>
            </a:r>
          </a:p>
        </p:txBody>
      </p:sp>
      <p:sp>
        <p:nvSpPr>
          <p:cNvPr id="5" name="TextBox 4"/>
          <p:cNvSpPr txBox="1"/>
          <p:nvPr/>
        </p:nvSpPr>
        <p:spPr>
          <a:xfrm>
            <a:off x="482600" y="736600"/>
            <a:ext cx="11226800" cy="977900"/>
          </a:xfrm>
          <a:prstGeom prst="rect">
            <a:avLst/>
          </a:prstGeom>
          <a:noFill/>
        </p:spPr>
        <p:txBody>
          <a:bodyPr wrap="none" lIns="0" rIns="0" tIns="0" bIns="0">
            <a:spAutoFit/>
          </a:bodyPr>
          <a:lstStyle/>
          <a:p>
            <a:pPr>
              <a:lnSpc>
                <a:spcPts val="3618"/>
              </a:lnSpc>
              <a:spcBef>
                <a:spcPts val="0"/>
              </a:spcBef>
              <a:spcAft>
                <a:spcPts val="0"/>
              </a:spcAft>
              <a:defRPr sz="2700" b="1">
                <a:solidFill>
                  <a:srgbClr val="16243B"/>
                </a:solidFill>
                <a:latin typeface="DejaVu Sans"/>
              </a:defRPr>
            </a:pPr>
            <a:r>
              <a:t>Судалгаа, шүүхийн кейс ба мэдээллийн тайлбар</a:t>
            </a:r>
          </a:p>
        </p:txBody>
      </p:sp>
      <p:sp>
        <p:nvSpPr>
          <p:cNvPr id="6" name="TextBox 5"/>
          <p:cNvSpPr txBox="1"/>
          <p:nvPr/>
        </p:nvSpPr>
        <p:spPr>
          <a:xfrm>
            <a:off x="482600" y="1879599"/>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[POV] ҮСХ, Дэлхийн банк: Mongolia Poverty Update 2022, 2024 онд нийтэлсэн;</a:t>
            </a:r>
          </a:p>
          <a:p>
            <a:pPr>
              <a:lnSpc>
                <a:spcPts val="1393"/>
              </a:lnSpc>
              <a:spcBef>
                <a:spcPts val="0"/>
              </a:spcBef>
              <a:spcAft>
                <a:spcPts val="0"/>
              </a:spcAft>
              <a:defRPr sz="1040" b="0">
                <a:solidFill>
                  <a:srgbClr val="16243B"/>
                </a:solidFill>
                <a:latin typeface="DejaVu Sans"/>
              </a:defRPr>
            </a:pPr>
            <a:r>
              <a:t>үндэсний ядуурлын түвшин</a:t>
            </a:r>
          </a:p>
        </p:txBody>
      </p:sp>
      <p:sp>
        <p:nvSpPr>
          <p:cNvPr id="7" name="Rectangle 6">
            <a:hlinkClick r:id="rId2"/>
          </p:cNvPr>
          <p:cNvSpPr/>
          <p:nvPr/>
        </p:nvSpPr>
        <p:spPr>
          <a:xfrm>
            <a:off x="482600" y="1879599"/>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600" y="25019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[GROOT] Government of the Republic of South Africa v Grootboom [2000] ZACC</a:t>
            </a:r>
          </a:p>
          <a:p>
            <a:pPr>
              <a:lnSpc>
                <a:spcPts val="1393"/>
              </a:lnSpc>
              <a:spcBef>
                <a:spcPts val="0"/>
              </a:spcBef>
              <a:spcAft>
                <a:spcPts val="0"/>
              </a:spcAft>
              <a:defRPr sz="1040" b="0">
                <a:solidFill>
                  <a:srgbClr val="16243B"/>
                </a:solidFill>
                <a:latin typeface="DejaVu Sans"/>
              </a:defRPr>
            </a:pPr>
            <a:r>
              <a:t>19 — 2000.10.04</a:t>
            </a:r>
          </a:p>
        </p:txBody>
      </p:sp>
      <p:sp>
        <p:nvSpPr>
          <p:cNvPr id="9" name="Rectangle 8">
            <a:hlinkClick r:id="rId3"/>
          </p:cNvPr>
          <p:cNvSpPr/>
          <p:nvPr/>
        </p:nvSpPr>
        <p:spPr>
          <a:xfrm>
            <a:off x="482600" y="25019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600" y="31242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[TAC] Minister of Health v Treatment Action Campaign (No 2) [2002] ZACC 15 —</a:t>
            </a:r>
          </a:p>
          <a:p>
            <a:pPr>
              <a:lnSpc>
                <a:spcPts val="1393"/>
              </a:lnSpc>
              <a:spcBef>
                <a:spcPts val="0"/>
              </a:spcBef>
              <a:spcAft>
                <a:spcPts val="0"/>
              </a:spcAft>
              <a:defRPr sz="1040" b="0">
                <a:solidFill>
                  <a:srgbClr val="16243B"/>
                </a:solidFill>
                <a:latin typeface="DejaVu Sans"/>
              </a:defRPr>
            </a:pPr>
            <a:r>
              <a:t>2002.07.05</a:t>
            </a:r>
          </a:p>
        </p:txBody>
      </p:sp>
      <p:sp>
        <p:nvSpPr>
          <p:cNvPr id="11" name="Rectangle 10">
            <a:hlinkClick r:id="rId4"/>
          </p:cNvPr>
          <p:cNvSpPr/>
          <p:nvPr/>
        </p:nvSpPr>
        <p:spPr>
          <a:xfrm>
            <a:off x="482600" y="31242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2600" y="37465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[GER] BVerfG, 1 BvL 1/09, 1 BvL 3/09, 1 BvL 4/09 — 2010.02.09, амьжиргааны</a:t>
            </a:r>
          </a:p>
          <a:p>
            <a:pPr>
              <a:lnSpc>
                <a:spcPts val="1393"/>
              </a:lnSpc>
              <a:spcBef>
                <a:spcPts val="0"/>
              </a:spcBef>
              <a:spcAft>
                <a:spcPts val="0"/>
              </a:spcAft>
              <a:defRPr sz="1040" b="0">
                <a:solidFill>
                  <a:srgbClr val="16243B"/>
                </a:solidFill>
                <a:latin typeface="DejaVu Sans"/>
              </a:defRPr>
            </a:pPr>
            <a:r>
              <a:t>доод баталгаа</a:t>
            </a:r>
          </a:p>
        </p:txBody>
      </p:sp>
      <p:sp>
        <p:nvSpPr>
          <p:cNvPr id="13" name="Rectangle 12">
            <a:hlinkClick r:id="rId5"/>
          </p:cNvPr>
          <p:cNvSpPr/>
          <p:nvPr/>
        </p:nvSpPr>
        <p:spPr>
          <a:xfrm>
            <a:off x="482600" y="37465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8400" y="1879599"/>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[FIN] Kela: Финландын суурь орлогын туршилт, 2017–2018; эцсийн үр дүн</a:t>
            </a:r>
          </a:p>
          <a:p>
            <a:pPr>
              <a:lnSpc>
                <a:spcPts val="1393"/>
              </a:lnSpc>
              <a:spcBef>
                <a:spcPts val="0"/>
              </a:spcBef>
              <a:spcAft>
                <a:spcPts val="0"/>
              </a:spcAft>
              <a:defRPr sz="1040" b="0">
                <a:solidFill>
                  <a:srgbClr val="16243B"/>
                </a:solidFill>
                <a:latin typeface="DejaVu Sans"/>
              </a:defRPr>
            </a:pPr>
            <a:r>
              <a:t>2020</a:t>
            </a:r>
          </a:p>
        </p:txBody>
      </p:sp>
      <p:sp>
        <p:nvSpPr>
          <p:cNvPr id="15" name="Rectangle 14">
            <a:hlinkClick r:id="rId6"/>
          </p:cNvPr>
          <p:cNvSpPr/>
          <p:nvPr/>
        </p:nvSpPr>
        <p:spPr>
          <a:xfrm>
            <a:off x="6248400" y="1879599"/>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48400" y="25019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[BRA] Бразил: Lei nº 10.836 — 2004.01.09; Lei nº 14.601 — 2023.06.19</a:t>
            </a:r>
          </a:p>
        </p:txBody>
      </p:sp>
      <p:sp>
        <p:nvSpPr>
          <p:cNvPr id="17" name="Rectangle 16">
            <a:hlinkClick r:id="rId7"/>
          </p:cNvPr>
          <p:cNvSpPr/>
          <p:nvPr/>
        </p:nvSpPr>
        <p:spPr>
          <a:xfrm>
            <a:off x="6248400" y="25019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48400" y="31242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[GC3] CESCR, Ерөнхий тайлбар №3 — 1990.12.14; улсын үүрэг, доод цөм</a:t>
            </a:r>
          </a:p>
          <a:p>
            <a:pPr>
              <a:lnSpc>
                <a:spcPts val="1393"/>
              </a:lnSpc>
              <a:spcBef>
                <a:spcPts val="0"/>
              </a:spcBef>
              <a:spcAft>
                <a:spcPts val="0"/>
              </a:spcAft>
              <a:defRPr sz="1040" b="0">
                <a:solidFill>
                  <a:srgbClr val="16243B"/>
                </a:solidFill>
                <a:latin typeface="DejaVu Sans"/>
              </a:defRPr>
            </a:pPr>
            <a:r>
              <a:t>шаардлага</a:t>
            </a:r>
          </a:p>
        </p:txBody>
      </p:sp>
      <p:sp>
        <p:nvSpPr>
          <p:cNvPr id="19" name="Rectangle 18">
            <a:hlinkClick r:id="rId8"/>
          </p:cNvPr>
          <p:cNvSpPr/>
          <p:nvPr/>
        </p:nvSpPr>
        <p:spPr>
          <a:xfrm>
            <a:off x="6248400" y="31242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8400" y="3746500"/>
            <a:ext cx="5410200" cy="533400"/>
          </a:xfrm>
          <a:prstGeom prst="rect">
            <a:avLst/>
          </a:prstGeom>
          <a:noFill/>
        </p:spPr>
        <p:txBody>
          <a:bodyPr wrap="none" lIns="0" rIns="0" tIns="0" bIns="0">
            <a:spAutoFit/>
          </a:bodyPr>
          <a:lstStyle/>
          <a:p>
            <a:pPr>
              <a:lnSpc>
                <a:spcPts val="1393"/>
              </a:lnSpc>
              <a:spcBef>
                <a:spcPts val="0"/>
              </a:spcBef>
              <a:spcAft>
                <a:spcPts val="0"/>
              </a:spcAft>
              <a:defRPr sz="1040" b="0">
                <a:solidFill>
                  <a:srgbClr val="16243B"/>
                </a:solidFill>
                <a:latin typeface="DejaVu Sans"/>
              </a:defRPr>
            </a:pPr>
            <a:r>
              <a:t>[SDG] НҮБ, A/RES/70/1 — 2015.09.25, Тогтвортой хөгжлийн зорилго</a:t>
            </a:r>
          </a:p>
        </p:txBody>
      </p:sp>
      <p:sp>
        <p:nvSpPr>
          <p:cNvPr id="21" name="Rectangle 20">
            <a:hlinkClick r:id="rId9"/>
          </p:cNvPr>
          <p:cNvSpPr/>
          <p:nvPr/>
        </p:nvSpPr>
        <p:spPr>
          <a:xfrm>
            <a:off x="6248400" y="3746500"/>
            <a:ext cx="5410200" cy="5334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82600" y="5880100"/>
            <a:ext cx="11226800" cy="419100"/>
          </a:xfrm>
          <a:prstGeom prst="roundRect">
            <a:avLst>
              <a:gd name="adj" fmla="val 8000"/>
            </a:avLst>
          </a:prstGeom>
          <a:solidFill>
            <a:srgbClr val="FFF5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000" y="5981700"/>
            <a:ext cx="10922000" cy="266700"/>
          </a:xfrm>
          <a:prstGeom prst="rect">
            <a:avLst/>
          </a:prstGeom>
          <a:noFill/>
        </p:spPr>
        <p:txBody>
          <a:bodyPr wrap="none" lIns="0" rIns="0" tIns="0" bIns="0">
            <a:spAutoFit/>
          </a:bodyPr>
          <a:lstStyle/>
          <a:p>
            <a:pPr>
              <a:lnSpc>
                <a:spcPts val="1366"/>
              </a:lnSpc>
              <a:spcBef>
                <a:spcPts val="0"/>
              </a:spcBef>
              <a:spcAft>
                <a:spcPts val="0"/>
              </a:spcAft>
              <a:defRPr sz="1019" b="1">
                <a:solidFill>
                  <a:srgbClr val="16243B"/>
                </a:solidFill>
                <a:latin typeface="DejaVu Sans"/>
              </a:defRPr>
            </a:pPr>
            <a:r>
              <a:t>Хязгаарлалт: албан ёсны сайтуудад шууд нэвтрэхийг орчны сүлжээ хаасан; эхүүдийг онлайн дахин тулгаж баталгаажуулаагүй.</a:t>
            </a:r>
          </a:p>
        </p:txBody>
      </p:sp>
      <p:sp>
        <p:nvSpPr>
          <p:cNvPr id="24" name="TextBox 23"/>
          <p:cNvSpPr txBox="1"/>
          <p:nvPr/>
        </p:nvSpPr>
        <p:spPr>
          <a:xfrm>
            <a:off x="482600" y="6451600"/>
            <a:ext cx="10287000" cy="215900"/>
          </a:xfrm>
          <a:prstGeom prst="rect">
            <a:avLst/>
          </a:prstGeom>
          <a:noFill/>
        </p:spPr>
        <p:txBody>
          <a:bodyPr wrap="none" lIns="0" rIns="0" tIns="0" bIns="0">
            <a:spAutoFit/>
          </a:bodyPr>
          <a:lstStyle/>
          <a:p>
            <a:pPr>
              <a:lnSpc>
                <a:spcPts val="1112"/>
              </a:lnSpc>
              <a:spcBef>
                <a:spcPts val="0"/>
              </a:spcBef>
              <a:spcAft>
                <a:spcPts val="0"/>
              </a:spcAft>
              <a:defRPr sz="830" b="0">
                <a:solidFill>
                  <a:srgbClr val="53657D"/>
                </a:solidFill>
                <a:latin typeface="DejaVu Sans"/>
              </a:defRPr>
            </a:pPr>
            <a:r>
              <a:t>Эх сурвалжийн дэлгэрэнгүй жагсаалт • Илтгэгчийн тайлбарыг үзнэ үү</a:t>
            </a:r>
          </a:p>
        </p:txBody>
      </p:sp>
      <p:sp>
        <p:nvSpPr>
          <p:cNvPr id="25" name="TextBox 24"/>
          <p:cNvSpPr txBox="1"/>
          <p:nvPr/>
        </p:nvSpPr>
        <p:spPr>
          <a:xfrm>
            <a:off x="11176000" y="6413500"/>
            <a:ext cx="533400" cy="254000"/>
          </a:xfrm>
          <a:prstGeom prst="rect">
            <a:avLst/>
          </a:prstGeom>
          <a:noFill/>
        </p:spPr>
        <p:txBody>
          <a:bodyPr wrap="none" lIns="0" rIns="0" tIns="0" bIns="0">
            <a:spAutoFit/>
          </a:bodyPr>
          <a:lstStyle/>
          <a:p>
            <a:pPr>
              <a:lnSpc>
                <a:spcPts val="1206"/>
              </a:lnSpc>
              <a:spcBef>
                <a:spcPts val="0"/>
              </a:spcBef>
              <a:spcAft>
                <a:spcPts val="0"/>
              </a:spcAft>
              <a:defRPr sz="900" b="1">
                <a:solidFill>
                  <a:srgbClr val="53657D"/>
                </a:solidFill>
                <a:latin typeface="DejaVu Sans"/>
              </a:defRPr>
            </a:pPr>
            <a:r>
              <a:t>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dc:title>
  <dc:subject>МУИС • Хүний эрх, нийгмийн тэгш боломж</dc:subject>
  <dc:creator>Б. Саранчимэг; Ш. Түвшинбаяр; Б. Энхзаяа</dc:creator>
  <cp:keywords>МУИС, хүний эрх, ядуурал, хууль, конвенц</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