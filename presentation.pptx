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Илтгэлийн үндсэн санаа: нийгэм, эдийн засгийн байр суурь нь хүний нэр төр, эрхийн үнэ цэнийг бууруулах үндэслэл биш. “Доод давхраа” гэдэг нэр томьёог хүнийг үнэлсэн утгаар бус нийгмийн бүтцийн шинжилгээний утгаар хэрэглэнэ.</a:t>
            </a:r>
          </a:p>
          <a:p/>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"cover",</a:t>
            </a:r>
          </a:p>
          <a:p>
            <a:r>
              <a:t>  "section": "МУИС • ОЮУТНЫ ИЛТГЭЛ",</a:t>
            </a:r>
          </a:p>
          <a:p>
            <a:r>
              <a:t>  "title": "Нийгмийн доод давхраа\nба хүний эрх",</a:t>
            </a:r>
          </a:p>
          <a:p>
            <a:r>
              <a:t>  "sub": "Ядуурал • Тэгш боломж • Эрх зүйн хамгаалалт",</a:t>
            </a:r>
          </a:p>
          <a:p>
            <a:r>
              <a:t>  "people": "Оюутнууд: Б. Саранчимэг\nШ. Түвшинбаяр\nБ. Энхзаяа\n\nБагш: Б. Тамир",</a:t>
            </a:r>
          </a:p>
          <a:p>
            <a:r>
              <a:t>  "sources": [</a:t>
            </a:r>
          </a:p>
          <a:p>
            <a:r>
              <a:t>    "ҮХ",</a:t>
            </a:r>
          </a:p>
          <a:p>
            <a:r>
              <a:t>    "UDHR"</a:t>
            </a:r>
          </a:p>
          <a:p>
            <a:r>
              <a:t>  ]</a:t>
            </a:r>
          </a:p>
          <a:p>
            <a:r>
              <a:t>}</a:t>
            </a:r>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Илтгэл гурван түвшнийг ялгана: эрх зүйн стандарт, бодит хүртээмж, хэрэгжүүлэх механизм. Статистик нь асуудлын хүрээг, шүүхийн шийдвэр нь эрхийн хэрэгжилтийг, улсын харьцуулалт нь бодлогын сонголтыг тайлбарлана.</a:t>
            </a:r>
          </a:p>
          <a:p/>
          <a:p>
            <a:r>
              <a:t>Гол байр суурь: халамжийн асуудлыг эрх, хүртээмж, хариуцлагатай холбож үзнэ.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"01 / АСУУДЛЫГ ТОДОРХОЙЛОХ",</a:t>
            </a:r>
          </a:p>
          <a:p>
            <a:r>
              <a:t>  "title": "Энэ илтгэл ямар асуултад хариулах вэ?",</a:t>
            </a:r>
          </a:p>
          <a:p>
            <a:r>
              <a:t>  "cards": [</a:t>
            </a:r>
          </a:p>
          <a:p>
            <a:r>
              <a:t>    [</a:t>
            </a:r>
          </a:p>
          <a:p>
            <a:r>
              <a:t>      "01  Нөхцөл",</a:t>
            </a:r>
          </a:p>
          <a:p>
            <a:r>
              <a:t>      "Ядуурал хүний эрхээ бодитоор эдлэх боломжийг хэрхэн хязгаарладаг вэ?"</a:t>
            </a:r>
          </a:p>
          <a:p>
            <a:r>
              <a:t>    ],</a:t>
            </a:r>
          </a:p>
          <a:p>
            <a:r>
              <a:t>    [</a:t>
            </a:r>
          </a:p>
          <a:p>
            <a:r>
              <a:t>      "02  Баталгаа",</a:t>
            </a:r>
          </a:p>
          <a:p>
            <a:r>
              <a:t>      "Монголын хууль ба олон улсын баримт бичиг ямар хамгаалалт тогтоодог вэ?"</a:t>
            </a:r>
          </a:p>
          <a:p>
            <a:r>
              <a:t>    ],</a:t>
            </a:r>
          </a:p>
          <a:p>
            <a:r>
              <a:t>    [</a:t>
            </a:r>
          </a:p>
          <a:p>
            <a:r>
              <a:t>      "03  Шийдэл",</a:t>
            </a:r>
          </a:p>
          <a:p>
            <a:r>
              <a:t>      "Шүүхийн кейс, бусад орны туршлагаас Монголд юу хэрэгжүүлж болох вэ?"</a:t>
            </a:r>
          </a:p>
          <a:p>
            <a:r>
              <a:t>    ]</a:t>
            </a:r>
          </a:p>
          <a:p>
            <a:r>
              <a:t>  ],</a:t>
            </a:r>
          </a:p>
          <a:p>
            <a:r>
              <a:t>  "take": "Гол байр суурь: халамжийн асуудлыг эрх, хүртээмж, хариуцлагатай холбож үзнэ.",</a:t>
            </a:r>
          </a:p>
          <a:p>
            <a:r>
              <a:t>  "sources": [</a:t>
            </a:r>
          </a:p>
          <a:p>
            <a:r>
              <a:t>    "ҮХ",</a:t>
            </a:r>
          </a:p>
          <a:p>
            <a:r>
              <a:t>    "ICESCR"</a:t>
            </a:r>
          </a:p>
          <a:p>
            <a:r>
              <a:t>  ]</a:t>
            </a:r>
          </a:p>
          <a:p>
            <a:r>
              <a:t>}</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Бага орлоготой бүх хүн ижил нөхцөлтэй биш. Өрхийн хэмжээ, асаргааны ачаалал, газар зүйн байршил, хөгжлийн бэрхшээл зэрэг нь ижил орлоготой хүмүүсийн бодит боломжийг өөрчилдөг. UDHR-ийн 1, 2 дугаар зүйл нэр төр ба ялгаварлан гадуурхахгүй байх зарчмын суурь болно.</a:t>
            </a:r>
          </a:p>
          <a:p/>
          <a:p>
            <a:r>
              <a:t>Цаашид “бага орлоготой”, “ядууралд өртсөн”, “эмзэг нөхцөлтэй” гэсэн тодорхой үг хэрэглэнэ.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"01 / НЭР ТОМЬЁО",</a:t>
            </a:r>
          </a:p>
          <a:p>
            <a:r>
              <a:t>  "title": "“Доод давхраа” гэдэг нь хүний үнэ цэнэ биш",</a:t>
            </a:r>
          </a:p>
          <a:p>
            <a:r>
              <a:t>  "cards": [</a:t>
            </a:r>
          </a:p>
          <a:p>
            <a:r>
              <a:t>    [</a:t>
            </a:r>
          </a:p>
          <a:p>
            <a:r>
              <a:t>      "Эдийн засгийн байр суурь",</a:t>
            </a:r>
          </a:p>
          <a:p>
            <a:r>
              <a:t>      "Орлого, хөрөнгө, тогтвортой ажлын боломж бага; эдийн засгийн цочролд өртөх эрсдэл өндөр."</a:t>
            </a:r>
          </a:p>
          <a:p>
            <a:r>
              <a:t>    ],</a:t>
            </a:r>
          </a:p>
          <a:p>
            <a:r>
              <a:t>    [</a:t>
            </a:r>
          </a:p>
          <a:p>
            <a:r>
              <a:t>      "Нийгмийн боломж",</a:t>
            </a:r>
          </a:p>
          <a:p>
            <a:r>
              <a:t>      "Чанартай боловсрол, эрүүл мэнд, орон сууц, мэдээлэлд хүрэх боломж харилцан адилгүй."</a:t>
            </a:r>
          </a:p>
          <a:p>
            <a:r>
              <a:t>    ],</a:t>
            </a:r>
          </a:p>
          <a:p>
            <a:r>
              <a:t>    [</a:t>
            </a:r>
          </a:p>
          <a:p>
            <a:r>
              <a:t>      "Эрхийн субъект",</a:t>
            </a:r>
          </a:p>
          <a:p>
            <a:r>
              <a:t>      "Орлогоос үл хамааран хүн бүр ижил нэр төртэй, эрх эдлэгч. Ядуу хүнийг буруутгах нь бүтцийн шалтгааныг бүдгэрүүлдэг."</a:t>
            </a:r>
          </a:p>
          <a:p>
            <a:r>
              <a:t>    ]</a:t>
            </a:r>
          </a:p>
          <a:p>
            <a:r>
              <a:t>  ],</a:t>
            </a:r>
          </a:p>
          <a:p>
            <a:r>
              <a:t>  "take": "Цаашид “бага орлоготой”, “ядууралд өртсөн”, “эмзэг нөхцөлтэй” гэсэн тодорхой үг хэрэглэнэ.",</a:t>
            </a:r>
          </a:p>
          <a:p>
            <a:r>
              <a:t>  "sources": [</a:t>
            </a:r>
          </a:p>
          <a:p>
            <a:r>
              <a:t>    "UDHR",</a:t>
            </a:r>
          </a:p>
          <a:p>
            <a:r>
              <a:t>    "ҮХ"</a:t>
            </a:r>
          </a:p>
          <a:p>
            <a:r>
              <a:t>  ]</a:t>
            </a:r>
          </a:p>
          <a:p>
            <a:r>
              <a:t>}</a:t>
            </a:r>
          </a:p>
          <a:p/>
          <a:p>
            <a:r>
              <a:t>ЭХ СУРВАЛЖ:</a:t>
            </a:r>
          </a:p>
          <a:p>
            <a:r>
              <a:t>[UDHR] Хүний эрхийн түгээмэл тунхаглал — 1948.12.10</a:t>
            </a:r>
          </a:p>
          <a:p>
            <a:r>
              <a:t>https://www.ohchr.org/en/human-rights/universal-declaration/translations/mongolian</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Үндэсний ядуурлын хувь, олон улсын ам.долларын босго, олон хэмжээст ядуурлын индекс нь өөр аргачлалтай. Эдгээрийг нэг графикт шууд ижил хэмжүүр мэт харьцуулж болохгүй. Өрхийн хэрэглээнд суурилсан ядуурал нь бэлэн мөнгөн орлоготой яг адил ойлголт биш.</a:t>
            </a:r>
          </a:p>
          <a:p/>
          <a:p>
            <a:r>
              <a:t>Нэг үзүүлэлт бүх асуудлыг тайлбарлахгүй. Орлого, үйлчилгээний хүртээмж, эрхийн хамгаалалтыг хамт үнэлнэ.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"01 / ХЭМЖИЛТ",</a:t>
            </a:r>
          </a:p>
          <a:p>
            <a:r>
              <a:t>  "title": "Ядуурлыг орлогоор л хэмжиж болохгүй",</a:t>
            </a:r>
          </a:p>
          <a:p>
            <a:r>
              <a:t>  "cards": [</a:t>
            </a:r>
          </a:p>
          <a:p>
            <a:r>
              <a:t>    [</a:t>
            </a:r>
          </a:p>
          <a:p>
            <a:r>
              <a:t>      "Мөнгөн ядуурал",</a:t>
            </a:r>
          </a:p>
          <a:p>
            <a:r>
              <a:t>      "Хэрэглээ эсвэл орлого тогтоосон босгоос доогуур байх. Үндэсний босго нь тухайн улсын нөхцөлд тулгуурлана."</a:t>
            </a:r>
          </a:p>
          <a:p>
            <a:r>
              <a:t>    ],</a:t>
            </a:r>
          </a:p>
          <a:p>
            <a:r>
              <a:t>    [</a:t>
            </a:r>
          </a:p>
          <a:p>
            <a:r>
              <a:t>      "Олон хэмжээст хомсдол",</a:t>
            </a:r>
          </a:p>
          <a:p>
            <a:r>
              <a:t>      "Боловсрол, эрүүл мэнд, ундны ус, ариун цэвэр, орон сууцны дутагдлыг хамтад нь харна."</a:t>
            </a:r>
          </a:p>
          <a:p>
            <a:r>
              <a:t>    ],</a:t>
            </a:r>
          </a:p>
          <a:p>
            <a:r>
              <a:t>    [</a:t>
            </a:r>
          </a:p>
          <a:p>
            <a:r>
              <a:t>      "Нийгмийн гадуурхал",</a:t>
            </a:r>
          </a:p>
          <a:p>
            <a:r>
              <a:t>      "Баримт бичиг, тээвэр, хэл, цахим ур чадвар, ялгаварлал зэргээс үйлчилгээ авч чадахгүй болох."</a:t>
            </a:r>
          </a:p>
          <a:p>
            <a:r>
              <a:t>    ]</a:t>
            </a:r>
          </a:p>
          <a:p>
            <a:r>
              <a:t>  ],</a:t>
            </a:r>
          </a:p>
          <a:p>
            <a:r>
              <a:t>  "take": "Нэг үзүүлэлт бүх асуудлыг тайлбарлахгүй. Орлого, үйлчилгээний хүртээмж, эрхийн хамгаалалтыг хамт үнэлнэ.",</a:t>
            </a:r>
          </a:p>
          <a:p>
            <a:r>
              <a:t>  "sources": [</a:t>
            </a:r>
          </a:p>
          <a:p>
            <a:r>
              <a:t>    "POV",</a:t>
            </a:r>
          </a:p>
          <a:p>
            <a:r>
              <a:t>    "SDG"</a:t>
            </a:r>
          </a:p>
          <a:p>
            <a:r>
              <a:t>  ]</a:t>
            </a:r>
          </a:p>
          <a:p>
            <a:r>
              <a:t>}</a:t>
            </a:r>
          </a:p>
          <a:p/>
          <a:p>
            <a:r>
              <a:t>ЭХ СУРВАЛЖ:</a:t>
            </a:r>
          </a:p>
          <a:p>
            <a:r>
              <a:t>[POV] ҮСХ, Дэлхийн банк: Mongolia Poverty Update 2022, 2024 онд нийтэлсэн; үндэсний ядуурлын түвшин</a:t>
            </a:r>
          </a:p>
          <a:p>
            <a:r>
              <a:t>https://www.worldbank.org/en/country/mongolia/publication</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ҮСХ–Дэлхийн банкны үндэсний ядуурлын тооцоолол: 2016 онд 29.6%, 2018 онд 28.4%, 2020 онд 27.8%, 2022 онд 27.1%. 2016–2022 оны өөрчлөлт нь 2.5 нэгж хувь; “2.5 хувиар буурсан” гэж нэрлэхгүй. Эдгээр нь түүхэн тоон цуваа бөгөөд 2026 оны өнөөгийн ядуурлын түвшин гэж тайлбарлахгүй. Улс хоорондын харьцуулалт хийхэд ижил босго, ижил аргачлал шаардлагатай.</a:t>
            </a:r>
          </a:p>
          <a:p/>
          <a:p>
            <a:r>
              <a:t>2022 онд 27.1% буюу ойролцоогоор 4 хүн тутмын 1 нь үндэсний ядуурлын босгоос доогуур хэрэглээтэй.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"chart",</a:t>
            </a:r>
          </a:p>
          <a:p>
            <a:r>
              <a:t>  "section": "01 / МОНГОЛЫН НӨХЦӨЛ",</a:t>
            </a:r>
          </a:p>
          <a:p>
            <a:r>
              <a:t>  "title": "Ядуурал буурсан ч хамрах хүрээ өндөр хэвээр",</a:t>
            </a:r>
          </a:p>
          <a:p>
            <a:r>
              <a:t>  "values": [</a:t>
            </a:r>
          </a:p>
          <a:p>
            <a:r>
              <a:t>    29.6,</a:t>
            </a:r>
          </a:p>
          <a:p>
            <a:r>
              <a:t>    28.4,</a:t>
            </a:r>
          </a:p>
          <a:p>
            <a:r>
              <a:t>    27.8,</a:t>
            </a:r>
          </a:p>
          <a:p>
            <a:r>
              <a:t>    27.1</a:t>
            </a:r>
          </a:p>
          <a:p>
            <a:r>
              <a:t>  ],</a:t>
            </a:r>
          </a:p>
          <a:p>
            <a:r>
              <a:t>  "labels": [</a:t>
            </a:r>
          </a:p>
          <a:p>
            <a:r>
              <a:t>    "2016",</a:t>
            </a:r>
          </a:p>
          <a:p>
            <a:r>
              <a:t>    "2018",</a:t>
            </a:r>
          </a:p>
          <a:p>
            <a:r>
              <a:t>    "2020",</a:t>
            </a:r>
          </a:p>
          <a:p>
            <a:r>
              <a:t>    "2022"</a:t>
            </a:r>
          </a:p>
          <a:p>
            <a:r>
              <a:t>  ],</a:t>
            </a:r>
          </a:p>
          <a:p>
            <a:r>
              <a:t>  "take": "2022 онд 27.1% буюу ойролцоогоор 4 хүн тутмын 1 нь үндэсний ядуурлын босгоос доогуур хэрэглээтэй.",</a:t>
            </a:r>
          </a:p>
          <a:p>
            <a:r>
              <a:t>  "sources": [</a:t>
            </a:r>
          </a:p>
          <a:p>
            <a:r>
              <a:t>    "POV"</a:t>
            </a:r>
          </a:p>
          <a:p>
            <a:r>
              <a:t>  ]</a:t>
            </a:r>
          </a:p>
          <a:p>
            <a:r>
              <a:t>}</a:t>
            </a:r>
          </a:p>
          <a:p/>
          <a:p>
            <a:r>
              <a:t>ЭХ СУРВАЛЖ:</a:t>
            </a:r>
          </a:p>
          <a:p>
            <a:r>
              <a:t>[POV] ҮСХ, Дэлхийн банк: Mongolia Poverty Update 2022, 2024 онд нийтэлсэн; үндэсний ядуурлын түвшин</a:t>
            </a:r>
          </a:p>
          <a:p>
            <a:r>
              <a:t>https://www.worldbank.org/en/country/mongolia/publication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бол тайлбарлах загвар; тоон шалтгаант нөлөөг нотолсон график биш. Нэг удаагийн тэтгэмж өрхийн бүх асуудлыг шийдэхгүй. Үйлчилгээний төлбөрөөс гадна очих зардал, хүлээх хугацаа, асаргааны үүрэг зэрэг далд зардал эрхийн хүртээмжид нөлөөлнө.</a:t>
            </a:r>
          </a:p>
          <a:p/>
          <a:p>
            <a:r>
              <a:t>Гинжин холбоог таслах арга: суурь үйлчилгээ + орлогын хамгаалалт + эрхээ шаардах боломж.</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"flow",</a:t>
            </a:r>
          </a:p>
          <a:p>
            <a:r>
              <a:t>  "section": "01 / ШАЛТГААН БА ҮР ДАГАВАР",</a:t>
            </a:r>
          </a:p>
          <a:p>
            <a:r>
              <a:t>  "title": "Ядуурал ба эрхийн зөрчил бие биеэ бэхжүүлдэг",</a:t>
            </a:r>
          </a:p>
          <a:p>
            <a:r>
              <a:t>  "steps": [</a:t>
            </a:r>
          </a:p>
          <a:p>
            <a:r>
              <a:t>    [</a:t>
            </a:r>
          </a:p>
          <a:p>
            <a:r>
              <a:t>      "Орлогын эрсдэл",</a:t>
            </a:r>
          </a:p>
          <a:p>
            <a:r>
              <a:t>      "Ажлын тогтворгүй байдал\nҮнэ, өрийн дарамт"</a:t>
            </a:r>
          </a:p>
          <a:p>
            <a:r>
              <a:t>    ],</a:t>
            </a:r>
          </a:p>
          <a:p>
            <a:r>
              <a:t>    [</a:t>
            </a:r>
          </a:p>
          <a:p>
            <a:r>
              <a:t>      "Үйлчилгээний саад",</a:t>
            </a:r>
          </a:p>
          <a:p>
            <a:r>
              <a:t>      "Тээврийн зардал\nБаримт бичиг, хүртээмж"</a:t>
            </a:r>
          </a:p>
          <a:p>
            <a:r>
              <a:t>    ],</a:t>
            </a:r>
          </a:p>
          <a:p>
            <a:r>
              <a:t>    [</a:t>
            </a:r>
          </a:p>
          <a:p>
            <a:r>
              <a:t>      "Боломж хумигдах",</a:t>
            </a:r>
          </a:p>
          <a:p>
            <a:r>
              <a:t>      "Хичээл тасалдах\nЭмчилгээ хойшлох"</a:t>
            </a:r>
          </a:p>
          <a:p>
            <a:r>
              <a:t>    ],</a:t>
            </a:r>
          </a:p>
          <a:p>
            <a:r>
              <a:t>    [</a:t>
            </a:r>
          </a:p>
          <a:p>
            <a:r>
              <a:t>      "Эмзэг байдал",</a:t>
            </a:r>
          </a:p>
          <a:p>
            <a:r>
              <a:t>      "Ур чадвар, эрүүл мэнд доройтох\nОрлого дахин буурах"</a:t>
            </a:r>
          </a:p>
          <a:p>
            <a:r>
              <a:t>    ]</a:t>
            </a:r>
          </a:p>
          <a:p>
            <a:r>
              <a:t>  ],</a:t>
            </a:r>
          </a:p>
          <a:p>
            <a:r>
              <a:t>  "take": "Гинжин холбоог таслах арга: суурь үйлчилгээ + орлогын хамгаалалт + эрхээ шаардах боломж.",</a:t>
            </a:r>
          </a:p>
          <a:p>
            <a:r>
              <a:t>  "sources": [</a:t>
            </a:r>
          </a:p>
          <a:p>
            <a:r>
              <a:t>    "ICESCR",</a:t>
            </a:r>
          </a:p>
          <a:p>
            <a:r>
              <a:t>    "CRC"</a:t>
            </a:r>
          </a:p>
          <a:p>
            <a:r>
              <a:t>  ]</a:t>
            </a:r>
          </a:p>
          <a:p>
            <a:r>
              <a:t>}</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[CRC] Хүүхдийн эрхийн тухай конвенц — 1989.11.20; хүчин төгөлдөр: 1990.09.02</a:t>
            </a:r>
          </a:p>
          <a:p>
            <a:r>
              <a:t>https://www.ohchr.org/en/instruments-mechanisms/instruments/convention-rights-child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Хүний эрхийн хандлагын гол ялгаа нь үүрэг хүлээгч, хариуцлага, гомдол шийдвэрлэх механизмыг тодорхой болгодогт оршино. Эрх эдлэх нь бүх үйлчилгээг ямар ч нөхцөлгүй, үнэ төлбөргүй олгоно гэсэн үг биш; хууль ёсны, үндэслэлтэй, ялгаварлаагүй зохицуулалт шаардлагатай.</a:t>
            </a:r>
          </a:p>
          <a:p/>
          <a:p>
            <a:r>
              <a:t>Хандив, сайн дурын тусламж нь төрийн хуулиар хүлээсэн үүргийг орлохгүй.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"02 / ХҮНИЙ ЭРХИЙН СУУРЬ",</a:t>
            </a:r>
          </a:p>
          <a:p>
            <a:r>
              <a:t>  "title": "Эрхийн хандлага: тусламж хүсэгчээс эрх эдлэгч рүү",</a:t>
            </a:r>
          </a:p>
          <a:p>
            <a:r>
              <a:t>  "cards": [</a:t>
            </a:r>
          </a:p>
          <a:p>
            <a:r>
              <a:t>    [</a:t>
            </a:r>
          </a:p>
          <a:p>
            <a:r>
              <a:t>      "Хүн бүр эрх эдэлнэ",</a:t>
            </a:r>
          </a:p>
          <a:p>
            <a:r>
              <a:t>      "Хүний эрхийн түгээмэл тунхаглал, 1948.12.10: 1 дүгээр зүйл — нэр төр, эрхийн тэгш байдал; 2 — ялгаварлахгүй байх."</a:t>
            </a:r>
          </a:p>
          <a:p>
            <a:r>
              <a:t>    ],</a:t>
            </a:r>
          </a:p>
          <a:p>
            <a:r>
              <a:t>    [</a:t>
            </a:r>
          </a:p>
          <a:p>
            <a:r>
              <a:t>      "Улс үүрэг хүлээнэ",</a:t>
            </a:r>
          </a:p>
          <a:p>
            <a:r>
              <a:t>      "ICESCR, 1966.12.16: 2.1 — нөөц бололцоогоо дээд хэмжээгээр ашиглан эрхийг дэвшилттэй хэрэгжүүлэх."</a:t>
            </a:r>
          </a:p>
          <a:p>
            <a:r>
              <a:t>    ],</a:t>
            </a:r>
          </a:p>
          <a:p>
            <a:r>
              <a:t>    [</a:t>
            </a:r>
          </a:p>
          <a:p>
            <a:r>
              <a:t>      "Шийдвэрийг хянуулна",</a:t>
            </a:r>
          </a:p>
          <a:p>
            <a:r>
              <a:t>      "Үндсэн хууль, 1992.01.13: 16.12 — өргөдөл, гомдол; 16.14 — шүүхээр хамгаалуулах, хууль зүйн туслалцаа."</a:t>
            </a:r>
          </a:p>
          <a:p>
            <a:r>
              <a:t>    ]</a:t>
            </a:r>
          </a:p>
          <a:p>
            <a:r>
              <a:t>  ],</a:t>
            </a:r>
          </a:p>
          <a:p>
            <a:r>
              <a:t>  "take": "Хандив, сайн дурын тусламж нь төрийн хуулиар хүлээсэн үүргийг орлохгүй.",</a:t>
            </a:r>
          </a:p>
          <a:p>
            <a:r>
              <a:t>  "sources": [</a:t>
            </a:r>
          </a:p>
          <a:p>
            <a:r>
              <a:t>    "UDHR",</a:t>
            </a:r>
          </a:p>
          <a:p>
            <a:r>
              <a:t>    "ICESCR",</a:t>
            </a:r>
          </a:p>
          <a:p>
            <a:r>
              <a:t>    "ҮХ"</a:t>
            </a:r>
          </a:p>
          <a:p>
            <a:r>
              <a:t>  ]</a:t>
            </a:r>
          </a:p>
          <a:p>
            <a:r>
              <a:t>}</a:t>
            </a:r>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Үндсэн хууль 1992 оны 1 дүгээр сарын 13-нд батлагдаж, 1992 оны 2 дугаар сарын 12-ноос хүчин төгөлдөр болсон. Батлагдсан огноо, хүчин төгөлдөр болсон огноо хоёрыг ялгана. 16.7-д төрөөс бүх нийтийн ерөнхий боловсролыг төлбөргүй олгох тухай, 16.6-д эмнэлгийн төлбөргүй тусламжийн болзол, журмыг хуулиар тогтоох тухай зохицуулдаг.</a:t>
            </a:r>
          </a:p>
          <a:p/>
          <a:p>
            <a:r>
              <a:t>Энд болон бусад слайдад хуулийн агуулгыг хураангуйлсан; үгчилсэн эшлэл биш.</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"02 / МОНГОЛЫН ЭРХ ЗҮЙ",</a:t>
            </a:r>
          </a:p>
          <a:p>
            <a:r>
              <a:t>  "title": "Үндсэн хууль: орлогоос үл хамаарах баталгаа",</a:t>
            </a:r>
          </a:p>
          <a:p>
            <a:r>
              <a:t>  "headers": [</a:t>
            </a:r>
          </a:p>
          <a:p>
            <a:r>
              <a:t>    "Заалт • 1992.01.13",</a:t>
            </a:r>
          </a:p>
          <a:p>
            <a:r>
              <a:t>    "Агуулгын товч тайлбар",</a:t>
            </a:r>
          </a:p>
          <a:p>
            <a:r>
              <a:t>    "Бодит хэрэглээ"</a:t>
            </a:r>
          </a:p>
          <a:p>
            <a:r>
              <a:t>  ],</a:t>
            </a:r>
          </a:p>
          <a:p>
            <a:r>
              <a:t>  "rows": [</a:t>
            </a:r>
          </a:p>
          <a:p>
            <a:r>
              <a:t>    [</a:t>
            </a:r>
          </a:p>
          <a:p>
            <a:r>
              <a:t>      "14.1; 14.2",</a:t>
            </a:r>
          </a:p>
          <a:p>
            <a:r>
              <a:t>      "Хуулийн өмнө эрх тэгш; хөрөнгө чинээ зэрэг үндэслэлээр ялгаварлахгүй",</a:t>
            </a:r>
          </a:p>
          <a:p>
            <a:r>
              <a:t>      "Үйлчилгээний шалгуур хүнийг дорд үзэж болохгүй"</a:t>
            </a:r>
          </a:p>
          <a:p>
            <a:r>
              <a:t>    ],</a:t>
            </a:r>
          </a:p>
          <a:p>
            <a:r>
              <a:t>    [</a:t>
            </a:r>
          </a:p>
          <a:p>
            <a:r>
              <a:t>      "16.4",</a:t>
            </a:r>
          </a:p>
          <a:p>
            <a:r>
              <a:t>      "Ажил, хөдөлмөрөө сонгох; хөдөлмөрийн аятай нөхцөл; цалин",</a:t>
            </a:r>
          </a:p>
          <a:p>
            <a:r>
              <a:t>      "Аюулгүй ажил, хуульд нийцсэн хөлс"</a:t>
            </a:r>
          </a:p>
          <a:p>
            <a:r>
              <a:t>    ],</a:t>
            </a:r>
          </a:p>
          <a:p>
            <a:r>
              <a:t>    [</a:t>
            </a:r>
          </a:p>
          <a:p>
            <a:r>
              <a:t>      "16.5",</a:t>
            </a:r>
          </a:p>
          <a:p>
            <a:r>
              <a:t>      "Хуульд заасан нөхцөлд эд, мөнгөний тусламж авах",</a:t>
            </a:r>
          </a:p>
          <a:p>
            <a:r>
              <a:t>      "Өндөр нас, хөдөлмөрийн чадвар алдалт зэрэг"</a:t>
            </a:r>
          </a:p>
          <a:p>
            <a:r>
              <a:t>    ],</a:t>
            </a:r>
          </a:p>
          <a:p>
            <a:r>
              <a:t>    [</a:t>
            </a:r>
          </a:p>
          <a:p>
            <a:r>
              <a:t>      "16.6; 16.7",</a:t>
            </a:r>
          </a:p>
          <a:p>
            <a:r>
              <a:t>      "Эрүүл мэндээ хамгаалуулах; сурч боловсрох",</a:t>
            </a:r>
          </a:p>
          <a:p>
            <a:r>
              <a:t>      "Төлбөргүй үйлчилгээний хүрээг хууль тогтооно"</a:t>
            </a:r>
          </a:p>
          <a:p>
            <a:r>
              <a:t>    ],</a:t>
            </a:r>
          </a:p>
          <a:p>
            <a:r>
              <a:t>    [</a:t>
            </a:r>
          </a:p>
          <a:p>
            <a:r>
              <a:t>      "19.1",</a:t>
            </a:r>
          </a:p>
          <a:p>
            <a:r>
              <a:t>      "Эдийн засаг, нийгэм, хууль зүйн баталгааг бүрдүүлэх төрийн үүрэг",</a:t>
            </a:r>
          </a:p>
          <a:p>
            <a:r>
              <a:t>      "Эрхийн хэрэгжилтийг төсөв, бодлогоор хангах"</a:t>
            </a:r>
          </a:p>
          <a:p>
            <a:r>
              <a:t>    ]</a:t>
            </a:r>
          </a:p>
          <a:p>
            <a:r>
              <a:t>  ],</a:t>
            </a:r>
          </a:p>
          <a:p>
            <a:r>
              <a:t>  "take": "Энд болон бусад слайдад хуулийн агуулгыг хураангуйлсан; үгчилсэн эшлэл биш.",</a:t>
            </a:r>
          </a:p>
          <a:p>
            <a:r>
              <a:t>  "sources": [</a:t>
            </a:r>
          </a:p>
          <a:p>
            <a:r>
              <a:t>    "ҮХ"</a:t>
            </a:r>
          </a:p>
          <a:p>
            <a:r>
              <a:t>  ]</a:t>
            </a:r>
          </a:p>
          <a:p>
            <a:r>
              <a:t>}</a:t>
            </a:r>
          </a:p>
          <a:p/>
          <a:p>
            <a:r>
              <a:t>ЭХ СУРВАЛЖ:</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Хөдөлмөрийн тухай хуулийн шинэчилсэн найруулга 2021.07.02-нд батлагдаж 2022.01.01-нээс мөрдөгдсөн. Нийгмийн халамжийн тусламж нь төрлөөсөө хамааран өөр өөр шалгууртай; ядуу хүн бүр бүх тэтгэмжийг автоматаар авахгүй. Хуулийн тодорхой заалтыг бодит хэрэгт хэрэглэхийн өмнө хүчин төгөлдөр нэгтгэсэн эхийг шалгах шаардлагатай.</a:t>
            </a:r>
          </a:p>
          <a:p/>
          <a:p>
            <a:r>
              <a:t>Батлагдсан он нь сүүлийн нэмэлт, өөрчлөлтийн он гэсэн үг биш. Одоогийн найруулгыг Legalinfo-оос нягтална.</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"02 / САЛБАРЫН ХУУЛЬ",</a:t>
            </a:r>
          </a:p>
          <a:p>
            <a:r>
              <a:t>  "title": "Эрхийг хэрэгжүүлэх дотоодын гол хуулиуд",</a:t>
            </a:r>
          </a:p>
          <a:p>
            <a:r>
              <a:t>  "headers": [</a:t>
            </a:r>
          </a:p>
          <a:p>
            <a:r>
              <a:t>    "Хууль • баталсан огноо",</a:t>
            </a:r>
          </a:p>
          <a:p>
            <a:r>
              <a:t>    "Холбогдох зохицуулалт",</a:t>
            </a:r>
          </a:p>
          <a:p>
            <a:r>
              <a:t>    "Хэрэгжилтийг шалгах асуулт"</a:t>
            </a:r>
          </a:p>
          <a:p>
            <a:r>
              <a:t>  ],</a:t>
            </a:r>
          </a:p>
          <a:p>
            <a:r>
              <a:t>  "rows": [</a:t>
            </a:r>
          </a:p>
          <a:p>
            <a:r>
              <a:t>    [</a:t>
            </a:r>
          </a:p>
          <a:p>
            <a:r>
              <a:t>      "Хөдөлмөрийн тухай\n2021.07.02",</a:t>
            </a:r>
          </a:p>
          <a:p>
            <a:r>
              <a:t>      "6 дугаар зүйл: хөдөлмөрт ялгаварлан гадуурхахыг хориглох",</a:t>
            </a:r>
          </a:p>
          <a:p>
            <a:r>
              <a:t>      "Сонгон шалгаруулалт, цалин тэгш үү?"</a:t>
            </a:r>
          </a:p>
          <a:p>
            <a:r>
              <a:t>    ],</a:t>
            </a:r>
          </a:p>
          <a:p>
            <a:r>
              <a:t>    [</a:t>
            </a:r>
          </a:p>
          <a:p>
            <a:r>
              <a:t>      "Нийгмийн халамжийн тухай\n2012.01.19",</a:t>
            </a:r>
          </a:p>
          <a:p>
            <a:r>
              <a:t>      "Нийгмийн халамжийн тэтгэвэр, тэтгэмж, үйлчилгээ",</a:t>
            </a:r>
          </a:p>
          <a:p>
            <a:r>
              <a:t>      "Хуулийн шалгуур хангасан хүнд хүрч байна уу?"</a:t>
            </a:r>
          </a:p>
          <a:p>
            <a:r>
              <a:t>    ],</a:t>
            </a:r>
          </a:p>
          <a:p>
            <a:r>
              <a:t>    [</a:t>
            </a:r>
          </a:p>
          <a:p>
            <a:r>
              <a:t>      "Боловсролын ерөнхий хууль\n2023.07.07",</a:t>
            </a:r>
          </a:p>
          <a:p>
            <a:r>
              <a:t>      "Боловсролын тэгш боломж, хүртээмжийн зохицуулалт",</a:t>
            </a:r>
          </a:p>
          <a:p>
            <a:r>
              <a:t>      "Төлбөрөөс гаднах саадыг арилгасан уу?"</a:t>
            </a:r>
          </a:p>
          <a:p>
            <a:r>
              <a:t>    ],</a:t>
            </a:r>
          </a:p>
          <a:p>
            <a:r>
              <a:t>    [</a:t>
            </a:r>
          </a:p>
          <a:p>
            <a:r>
              <a:t>      "Хөгжлийн бэрхшээлтэй хүний эрхийн тухай\n2016.02.05",</a:t>
            </a:r>
          </a:p>
          <a:p>
            <a:r>
              <a:t>      "Ялгаварлалгүй оролцоо, хүртээмжийн зохицуулалт",</a:t>
            </a:r>
          </a:p>
          <a:p>
            <a:r>
              <a:t>      "Орчин, мэдээлэл, үйлчилгээ хүртээмжтэй юу?"</a:t>
            </a:r>
          </a:p>
          <a:p>
            <a:r>
              <a:t>    ]</a:t>
            </a:r>
          </a:p>
          <a:p>
            <a:r>
              <a:t>  ],</a:t>
            </a:r>
          </a:p>
          <a:p>
            <a:r>
              <a:t>  "take": "Батлагдсан он нь сүүлийн нэмэлт, өөрчлөлтийн он гэсэн үг биш. Одоогийн найруулгыг Legalinfo-оос нягтална.",</a:t>
            </a:r>
          </a:p>
          <a:p>
            <a:r>
              <a:t>  "sources": [</a:t>
            </a:r>
          </a:p>
          <a:p>
            <a:r>
              <a:t>    "ХТ",</a:t>
            </a:r>
          </a:p>
          <a:p>
            <a:r>
              <a:t>    "НХ",</a:t>
            </a:r>
          </a:p>
          <a:p>
            <a:r>
              <a:t>    "БЕХ",</a:t>
            </a:r>
          </a:p>
          <a:p>
            <a:r>
              <a:t>    "ХБХ"</a:t>
            </a:r>
          </a:p>
          <a:p>
            <a:r>
              <a:t>  ]</a:t>
            </a:r>
          </a:p>
          <a:p>
            <a:r>
              <a:t>}</a:t>
            </a:r>
          </a:p>
          <a:p/>
          <a:p>
            <a:r>
              <a:t>ЭХ СУРВАЛЖ:</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Тунхаглал, олон улсын гэрээ, бодлогын зорилго нь эрх зүйн өөр шинжтэй. Монгол Улс тухайн гэрээгээр ямар үүрэг хүлээснийг тайлбарлахдаа нэгдэн орсон байдал, хүчин төгөлдөр үйлчлэл, тайлбар болон нэмэлт протоколын статусыг тусад нь шалгана. Энэ слайд нэгдэн орсон огноог мэдээлээгүй.</a:t>
            </a:r>
          </a:p>
          <a:p/>
          <a:p>
            <a:r>
              <a:t>Огноонууд нь олон улсын баримт бичгийг баталсан өдөр; Монгол Улс нэгдсэн огноо биш.</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"timeline",</a:t>
            </a:r>
          </a:p>
          <a:p>
            <a:r>
              <a:t>  "section": "03 / ОЛОН УЛСЫН СТАНДАРТ",</a:t>
            </a:r>
          </a:p>
          <a:p>
            <a:r>
              <a:t>  "title": "Олон улсын эрх зүйн гол үе шатууд",</a:t>
            </a:r>
          </a:p>
          <a:p>
            <a:r>
              <a:t>  "events": [</a:t>
            </a:r>
          </a:p>
          <a:p>
            <a:r>
              <a:t>    [</a:t>
            </a:r>
          </a:p>
          <a:p>
            <a:r>
              <a:t>      "1948.12.10",</a:t>
            </a:r>
          </a:p>
          <a:p>
            <a:r>
              <a:t>      "Түгээмэл тунхаглал",</a:t>
            </a:r>
          </a:p>
          <a:p>
            <a:r>
              <a:t>      "Хүн бүрийн нэр төр, суурь эрх"</a:t>
            </a:r>
          </a:p>
          <a:p>
            <a:r>
              <a:t>    ],</a:t>
            </a:r>
          </a:p>
          <a:p>
            <a:r>
              <a:t>    [</a:t>
            </a:r>
          </a:p>
          <a:p>
            <a:r>
              <a:t>      "1966.12.16",</a:t>
            </a:r>
          </a:p>
          <a:p>
            <a:r>
              <a:t>      "Хоёр олон улсын пакт",</a:t>
            </a:r>
          </a:p>
          <a:p>
            <a:r>
              <a:t>      "Иргэний ба нийгэм, эдийн засгийн эрх"</a:t>
            </a:r>
          </a:p>
          <a:p>
            <a:r>
              <a:t>    ],</a:t>
            </a:r>
          </a:p>
          <a:p>
            <a:r>
              <a:t>    [</a:t>
            </a:r>
          </a:p>
          <a:p>
            <a:r>
              <a:t>      "1989.11.20",</a:t>
            </a:r>
          </a:p>
          <a:p>
            <a:r>
              <a:t>      "Хүүхдийн эрхийн конвенц",</a:t>
            </a:r>
          </a:p>
          <a:p>
            <a:r>
              <a:t>      "Хүүхдийн хамгаалалт, хөгжил"</a:t>
            </a:r>
          </a:p>
          <a:p>
            <a:r>
              <a:t>    ],</a:t>
            </a:r>
          </a:p>
          <a:p>
            <a:r>
              <a:t>    [</a:t>
            </a:r>
          </a:p>
          <a:p>
            <a:r>
              <a:t>      "2006.12.13",</a:t>
            </a:r>
          </a:p>
          <a:p>
            <a:r>
              <a:t>      "ХБХ-ийн эрхийн конвенц",</a:t>
            </a:r>
          </a:p>
          <a:p>
            <a:r>
              <a:t>      "Хүртээмж ба тэгш оролцоо"</a:t>
            </a:r>
          </a:p>
          <a:p>
            <a:r>
              <a:t>    ],</a:t>
            </a:r>
          </a:p>
          <a:p>
            <a:r>
              <a:t>    [</a:t>
            </a:r>
          </a:p>
          <a:p>
            <a:r>
              <a:t>      "2015.09.25",</a:t>
            </a:r>
          </a:p>
          <a:p>
            <a:r>
              <a:t>      "ТХЗ • 2030 хөтөлбөр",</a:t>
            </a:r>
          </a:p>
          <a:p>
            <a:r>
              <a:t>      "Ядуурал, тэгш бус байдлыг бууруулах"</a:t>
            </a:r>
          </a:p>
          <a:p>
            <a:r>
              <a:t>    ]</a:t>
            </a:r>
          </a:p>
          <a:p>
            <a:r>
              <a:t>  ],</a:t>
            </a:r>
          </a:p>
          <a:p>
            <a:r>
              <a:t>  "take": "Огноонууд нь олон улсын баримт бичгийг баталсан өдөр; Монгол Улс нэгдсэн огноо биш.",</a:t>
            </a:r>
          </a:p>
          <a:p>
            <a:r>
              <a:t>  "sources": [</a:t>
            </a:r>
          </a:p>
          <a:p>
            <a:r>
              <a:t>    "UDHR",</a:t>
            </a:r>
          </a:p>
          <a:p>
            <a:r>
              <a:t>    "ICESCR",</a:t>
            </a:r>
          </a:p>
          <a:p>
            <a:r>
              <a:t>    "ICCPR",</a:t>
            </a:r>
          </a:p>
          <a:p>
            <a:r>
              <a:t>    "CRC",</a:t>
            </a:r>
          </a:p>
          <a:p>
            <a:r>
              <a:t>    "CRPD",</a:t>
            </a:r>
          </a:p>
          <a:p>
            <a:r>
              <a:t>    "SDG"</a:t>
            </a:r>
          </a:p>
          <a:p>
            <a:r>
              <a:t>  ]</a:t>
            </a:r>
          </a:p>
          <a:p>
            <a:r>
              <a:t>}</a:t>
            </a:r>
          </a:p>
          <a:p/>
          <a:p>
            <a:r>
              <a:t>ЭХ СУРВАЛЖ:</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[CRPD] Хөгжлийн бэрхшээлтэй хүмүүсийн эрхийн тухай конвенц — 2006.12.13; хүчин төгөлдөр: 2008.05.03</a:t>
            </a:r>
          </a:p>
          <a:p>
            <a:r>
              <a:t>https://www.ohchr.org/en/instruments-mechanisms/instruments/convention-rights-persons-disabilities</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Тунхаглалыг НҮБ-ын Ерөнхий Ассамблей 217 A (III) тогтоолоор баталсан. Энэ баримт бичгийн бүх заалтыг дангаар нь “шууд хэрэгжих олон улсын гэрээний хууль” гэж тайлбарлаж болохгүй. Хожмын гэрээ, үндэсний хууль, шүүхийн практикт үзүүлсэн нөлөөг нь тайлбарлана.</a:t>
            </a:r>
          </a:p>
          <a:p/>
          <a:p>
            <a:r>
              <a:t>Түгээмэл тунхаглал нь гэрээ биш; хүний эрхийн нийтлэг стандартын суурь баримт бичиг.</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"03 / ТҮГЭЭМЭЛ ТУНХАГЛАЛ",</a:t>
            </a:r>
          </a:p>
          <a:p>
            <a:r>
              <a:t>  "title": "1948.12.10 • Нэр төртэй амьдрах суурь стандарт",</a:t>
            </a:r>
          </a:p>
          <a:p>
            <a:r>
              <a:t>  "headers": [</a:t>
            </a:r>
          </a:p>
          <a:p>
            <a:r>
              <a:t>    "UDHR-ийн зүйл",</a:t>
            </a:r>
          </a:p>
          <a:p>
            <a:r>
              <a:t>    "Хамгаалж буй эрх",</a:t>
            </a:r>
          </a:p>
          <a:p>
            <a:r>
              <a:t>    "Ядууралтай холбоо"</a:t>
            </a:r>
          </a:p>
          <a:p>
            <a:r>
              <a:t>  ],</a:t>
            </a:r>
          </a:p>
          <a:p>
            <a:r>
              <a:t>  "rows": [</a:t>
            </a:r>
          </a:p>
          <a:p>
            <a:r>
              <a:t>    [</a:t>
            </a:r>
          </a:p>
          <a:p>
            <a:r>
              <a:t>      "1, 2",</a:t>
            </a:r>
          </a:p>
          <a:p>
            <a:r>
              <a:t>      "Эрх тэгш байдал; ялгаварлан гадуурхахгүй байх",</a:t>
            </a:r>
          </a:p>
          <a:p>
            <a:r>
              <a:t>      "Бага орлогыг доромжлох үндэслэл болгохгүй"</a:t>
            </a:r>
          </a:p>
          <a:p>
            <a:r>
              <a:t>    ],</a:t>
            </a:r>
          </a:p>
          <a:p>
            <a:r>
              <a:t>    [</a:t>
            </a:r>
          </a:p>
          <a:p>
            <a:r>
              <a:t>      "22",</a:t>
            </a:r>
          </a:p>
          <a:p>
            <a:r>
              <a:t>      "Нийгмийн хамгаалал",</a:t>
            </a:r>
          </a:p>
          <a:p>
            <a:r>
              <a:t>      "Эрсдэлд орсон үед баталгаатай дэмжлэг"</a:t>
            </a:r>
          </a:p>
          <a:p>
            <a:r>
              <a:t>    ],</a:t>
            </a:r>
          </a:p>
          <a:p>
            <a:r>
              <a:t>    [</a:t>
            </a:r>
          </a:p>
          <a:p>
            <a:r>
              <a:t>      "23",</a:t>
            </a:r>
          </a:p>
          <a:p>
            <a:r>
              <a:t>      "Хөдөлмөр; шударга, таатай цалин хөлс",</a:t>
            </a:r>
          </a:p>
          <a:p>
            <a:r>
              <a:t>      "Ажилтай ч ядуурах эрсдэлийг авч үзнэ"</a:t>
            </a:r>
          </a:p>
          <a:p>
            <a:r>
              <a:t>    ],</a:t>
            </a:r>
          </a:p>
          <a:p>
            <a:r>
              <a:t>    [</a:t>
            </a:r>
          </a:p>
          <a:p>
            <a:r>
              <a:t>      "25",</a:t>
            </a:r>
          </a:p>
          <a:p>
            <a:r>
              <a:t>      "Зохистой амьжиргаа; хоол, орон байр, эрүүл мэнд",</a:t>
            </a:r>
          </a:p>
          <a:p>
            <a:r>
              <a:t>      "Амьдралын суурь хэрэгцээг эрхтэй холбох"</a:t>
            </a:r>
          </a:p>
          <a:p>
            <a:r>
              <a:t>    ],</a:t>
            </a:r>
          </a:p>
          <a:p>
            <a:r>
              <a:t>    [</a:t>
            </a:r>
          </a:p>
          <a:p>
            <a:r>
              <a:t>      "26",</a:t>
            </a:r>
          </a:p>
          <a:p>
            <a:r>
              <a:t>      "Боловсрол",</a:t>
            </a:r>
          </a:p>
          <a:p>
            <a:r>
              <a:t>      "Бага шатны боловсрол үнэ төлбөргүй, заавал байх"</a:t>
            </a:r>
          </a:p>
          <a:p>
            <a:r>
              <a:t>    ]</a:t>
            </a:r>
          </a:p>
          <a:p>
            <a:r>
              <a:t>  ],</a:t>
            </a:r>
          </a:p>
          <a:p>
            <a:r>
              <a:t>  "take": "Түгээмэл тунхаглал нь гэрээ биш; хүний эрхийн нийтлэг стандартын суурь баримт бичиг.",</a:t>
            </a:r>
          </a:p>
          <a:p>
            <a:r>
              <a:t>  "sources": [</a:t>
            </a:r>
          </a:p>
          <a:p>
            <a:r>
              <a:t>    "UDHR"</a:t>
            </a:r>
          </a:p>
          <a:p>
            <a:r>
              <a:t>  ]</a:t>
            </a:r>
          </a:p>
          <a:p>
            <a:r>
              <a:t>}</a:t>
            </a:r>
          </a:p>
          <a:p/>
          <a:p>
            <a:r>
              <a:t>ЭХ СУРВАЛЖ:</a:t>
            </a:r>
          </a:p>
          <a:p>
            <a:r>
              <a:t>[UDHR] Хүний эрхийн түгээмэл тунхаглал — 1948.12.10</a:t>
            </a:r>
          </a:p>
          <a:p>
            <a:r>
              <a:t>https://www.ohchr.org/en/human-rights/universal-declaration/translations/mongolian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ICESCR-ийн 2.1-д улс дангаараа болон олон улсын тусламж, хамтын ажиллагаагаар нөөц боломжоо дээд хэмжээгээр ашиглан арга хэмжээ авахыг заасан. CESCR-ийн Ерөнхий тайлбар №3 (1990.12.14) нь даруй авах арга хэмжээ болон эрхийн наад захын цөм үүргийг тайлбарладаг. Ерөнхий тайлбар нь пактын өөрийнх нь шинэ зүйл биш.</a:t>
            </a:r>
          </a:p>
          <a:p/>
          <a:p>
            <a:r>
              <a:t>Хүчин төгөлдөр болсон: 1976.01.03. Нөөц хязгаарлагдмал ч бодит алхам хийх үүрэг хэвээр.</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"03 / ЭДИЙН ЗАСАГ, НИЙГМИЙН ЭРХ",</a:t>
            </a:r>
          </a:p>
          <a:p>
            <a:r>
              <a:t>  "title": "1966.12.16 • ICESCR ямар хамгаалалт тогтоодог вэ?",</a:t>
            </a:r>
          </a:p>
          <a:p>
            <a:r>
              <a:t>  "headers": [</a:t>
            </a:r>
          </a:p>
          <a:p>
            <a:r>
              <a:t>    "Зүйл",</a:t>
            </a:r>
          </a:p>
          <a:p>
            <a:r>
              <a:t>    "Эрхийн агуулга",</a:t>
            </a:r>
          </a:p>
          <a:p>
            <a:r>
              <a:t>    "Бодлогын жишээ"</a:t>
            </a:r>
          </a:p>
          <a:p>
            <a:r>
              <a:t>  ],</a:t>
            </a:r>
          </a:p>
          <a:p>
            <a:r>
              <a:t>  "rows": [</a:t>
            </a:r>
          </a:p>
          <a:p>
            <a:r>
              <a:t>    [</a:t>
            </a:r>
          </a:p>
          <a:p>
            <a:r>
              <a:t>      "2.1; 2.2",</a:t>
            </a:r>
          </a:p>
          <a:p>
            <a:r>
              <a:t>      "Дэвшилттэй хэрэгжилт; ялгаварлалгүй байдал",</a:t>
            </a:r>
          </a:p>
          <a:p>
            <a:r>
              <a:t>      "Нөөц ба хэрэгжилтийн ахицыг тайлагнах"</a:t>
            </a:r>
          </a:p>
          <a:p>
            <a:r>
              <a:t>    ],</a:t>
            </a:r>
          </a:p>
          <a:p>
            <a:r>
              <a:t>    [</a:t>
            </a:r>
          </a:p>
          <a:p>
            <a:r>
              <a:t>      "6; 7",</a:t>
            </a:r>
          </a:p>
          <a:p>
            <a:r>
              <a:t>      "Хөдөлмөрлөх; шударга, таатай нөхцөл",</a:t>
            </a:r>
          </a:p>
          <a:p>
            <a:r>
              <a:t>      "Аюулгүй ажлын байр, зохистой цалин"</a:t>
            </a:r>
          </a:p>
          <a:p>
            <a:r>
              <a:t>    ],</a:t>
            </a:r>
          </a:p>
          <a:p>
            <a:r>
              <a:t>    [</a:t>
            </a:r>
          </a:p>
          <a:p>
            <a:r>
              <a:t>      "9",</a:t>
            </a:r>
          </a:p>
          <a:p>
            <a:r>
              <a:t>      "Нийгмийн хамгаалал, нийгмийн даатгал",</a:t>
            </a:r>
          </a:p>
          <a:p>
            <a:r>
              <a:t>      "Өндөр нас, ажилгүйдэл, бусад эрсдэлийн хамгаалалт"</a:t>
            </a:r>
          </a:p>
          <a:p>
            <a:r>
              <a:t>    ],</a:t>
            </a:r>
          </a:p>
          <a:p>
            <a:r>
              <a:t>    [</a:t>
            </a:r>
          </a:p>
          <a:p>
            <a:r>
              <a:t>      "11",</a:t>
            </a:r>
          </a:p>
          <a:p>
            <a:r>
              <a:t>      "Зохистой амьжиргаа; өлсгөлөнгөөс ангид байх",</a:t>
            </a:r>
          </a:p>
          <a:p>
            <a:r>
              <a:t>      "Хоол хүнс, хувцас, орон байрны бодлого"</a:t>
            </a:r>
          </a:p>
          <a:p>
            <a:r>
              <a:t>    ],</a:t>
            </a:r>
          </a:p>
          <a:p>
            <a:r>
              <a:t>    [</a:t>
            </a:r>
          </a:p>
          <a:p>
            <a:r>
              <a:t>      "12; 13",</a:t>
            </a:r>
          </a:p>
          <a:p>
            <a:r>
              <a:t>      "Эрүүл мэнд; боловсрол",</a:t>
            </a:r>
          </a:p>
          <a:p>
            <a:r>
              <a:t>      "Хүртээмжтэй анхан шатны тусламж, боловсрол"</a:t>
            </a:r>
          </a:p>
          <a:p>
            <a:r>
              <a:t>    ]</a:t>
            </a:r>
          </a:p>
          <a:p>
            <a:r>
              <a:t>  ],</a:t>
            </a:r>
          </a:p>
          <a:p>
            <a:r>
              <a:t>  "take": "Хүчин төгөлдөр болсон: 1976.01.03. Нөөц хязгаарлагдмал ч бодит алхам хийх үүрэг хэвээр.",</a:t>
            </a:r>
          </a:p>
          <a:p>
            <a:r>
              <a:t>  "sources": [</a:t>
            </a:r>
          </a:p>
          <a:p>
            <a:r>
              <a:t>    "ICESCR",</a:t>
            </a:r>
          </a:p>
          <a:p>
            <a:r>
              <a:t>    "GC3"</a:t>
            </a:r>
          </a:p>
          <a:p>
            <a:r>
              <a:t>  ]</a:t>
            </a:r>
          </a:p>
          <a:p>
            <a:r>
              <a:t>}</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ICCPR нь Иргэний болон улс төрийн эрхийн тухай олон улсын пактын товчлол. 14.3(d)-ийн үнэ төлбөргүй хууль зүйн туслалцааны нөхцөл нь эрүүгийн яллагдагчид хамаардаг; бүх иргэний болон захиргааны маргаанд автоматаар үнэ төлбөргүй өмгөөлөгч олгоно гэж тайлбарлаж болохгүй. 25 дугаар зүйлийн оролцооны эрх нь иргэдэд хамаарах тусгай зохицуулалт. 26 дугаар зүйл дэх тэгш хамгаалалт болон 2.3 дахь үр нөлөөтэй эрх сэргээх арга хэрэгсэл нь хүртээмжтэй хамгаалалтын үндэс болдог.</a:t>
            </a:r>
          </a:p>
          <a:p/>
          <a:p>
            <a:r>
              <a:t>Хүчин төгөлдөр: 1976.03.23. Орлогоос үл хамаарах хамгаалалт нь нийгмийн эрхээ шаардах боломжийг дэмжинэ.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"03 / ИРГЭНИЙ БОЛОН УЛС ТӨРИЙН ЭРХ",</a:t>
            </a:r>
          </a:p>
          <a:p>
            <a:r>
              <a:t>  "title": "1966.12.16 • Ядуу хүн ч дуу хоолой, хамгаалалттай",</a:t>
            </a:r>
          </a:p>
          <a:p>
            <a:r>
              <a:t>  "cards": [</a:t>
            </a:r>
          </a:p>
          <a:p>
            <a:r>
              <a:t>    [</a:t>
            </a:r>
          </a:p>
          <a:p>
            <a:r>
              <a:t>      "Хуулийн өмнө тэгш",</a:t>
            </a:r>
          </a:p>
          <a:p>
            <a:r>
              <a:t>      "ICCPR-ийн 26 дугаар зүйл: хүн бүр хуулийн өмнө тэгш; эд хөрөнгө болон бусад байдлаар ялгаварлахгүй, тэгш хамгаалуулах."</a:t>
            </a:r>
          </a:p>
          <a:p>
            <a:r>
              <a:t>    ],</a:t>
            </a:r>
          </a:p>
          <a:p>
            <a:r>
              <a:t>    [</a:t>
            </a:r>
          </a:p>
          <a:p>
            <a:r>
              <a:t>      "Шүүхэд хүрэх боломж",</a:t>
            </a:r>
          </a:p>
          <a:p>
            <a:r>
              <a:t>      "14.1 — шүүхийн өмнө тэгш байх.\n14.3(d) — эрүүгийн хэрэгт шударга ёсны шаардлагаар, төлбөрийн чадваргүй бол үнэ төлбөргүй өмгөөлөл."</a:t>
            </a:r>
          </a:p>
          <a:p>
            <a:r>
              <a:t>    ],</a:t>
            </a:r>
          </a:p>
          <a:p>
            <a:r>
              <a:t>    [</a:t>
            </a:r>
          </a:p>
          <a:p>
            <a:r>
              <a:t>      "Оролцох эрх",</a:t>
            </a:r>
          </a:p>
          <a:p>
            <a:r>
              <a:t>      "25 дугаар зүйл: иргэд төрийн хэрэгт оролцох, сонгох, сонгогдох боломжтой. Ядуурал нь иргэний дуу хоолойг үгүйсгэх үндэслэл биш."</a:t>
            </a:r>
          </a:p>
          <a:p>
            <a:r>
              <a:t>    ]</a:t>
            </a:r>
          </a:p>
          <a:p>
            <a:r>
              <a:t>  ],</a:t>
            </a:r>
          </a:p>
          <a:p>
            <a:r>
              <a:t>  "take": "Хүчин төгөлдөр: 1976.03.23. Орлогоос үл хамаарах хамгаалалт нь нийгмийн эрхээ шаардах боломжийг дэмжинэ.",</a:t>
            </a:r>
          </a:p>
          <a:p>
            <a:r>
              <a:t>  "sources": [</a:t>
            </a:r>
          </a:p>
          <a:p>
            <a:r>
              <a:t>    "ICCPR"</a:t>
            </a:r>
          </a:p>
          <a:p>
            <a:r>
              <a:t>  ]</a:t>
            </a:r>
          </a:p>
          <a:p>
            <a:r>
              <a:t>}</a:t>
            </a:r>
          </a:p>
          <a:p/>
          <a:p>
            <a:r>
              <a:t>ЭХ СУРВАЛЖ:</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Хүндэтгэх–хамгаалах–хангах нь хүний эрхийн үүргийг задлан тайлбарлах нийтлэг хүрээ. Пактын бүх үүрэг нэгэн зэрэг бүрэн үр дүнд хүрэх шаардлага гэсэн үг биш. Харин ялгаварлан гадуурхахгүй байх, бодитой зорилтот арга хэмжээ авах зэрэг үүргийг зөвхөн ирээдүйд хойшлуулж болохгүй.</a:t>
            </a:r>
          </a:p>
          <a:p/>
          <a:p>
            <a:r>
              <a:t>“Төсөв хүрэхгүй” гэдэг тайлбар нь ялгаварлал, дур зоргын шийдвэрийг зөвтгөхгүй.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"03 / ТӨРИЙН ҮҮРЭГ",</a:t>
            </a:r>
          </a:p>
          <a:p>
            <a:r>
              <a:t>  "title": "Төрийн үүргийг гурван түвшинд шалгана",</a:t>
            </a:r>
          </a:p>
          <a:p>
            <a:r>
              <a:t>  "cards": [</a:t>
            </a:r>
          </a:p>
          <a:p>
            <a:r>
              <a:t>    [</a:t>
            </a:r>
          </a:p>
          <a:p>
            <a:r>
              <a:t>      "Хүндэтгэх",</a:t>
            </a:r>
          </a:p>
          <a:p>
            <a:r>
              <a:t>      "Төр өөрөө эрхэд үндэслэлгүй халдахгүй. Жишээ: хууль ёсны хамгаалалтгүй албадан нүүлгэхээс зайлсхийх."</a:t>
            </a:r>
          </a:p>
          <a:p>
            <a:r>
              <a:t>    ],</a:t>
            </a:r>
          </a:p>
          <a:p>
            <a:r>
              <a:t>    [</a:t>
            </a:r>
          </a:p>
          <a:p>
            <a:r>
              <a:t>      "Хамгаалах",</a:t>
            </a:r>
          </a:p>
          <a:p>
            <a:r>
              <a:t>      "Гуравдагч этгээдийн зөрчлөөс хамгаална. Жишээ: ажил олгогчийн ялгаварлал, аюултай нөхцөлд хяналт тавих."</a:t>
            </a:r>
          </a:p>
          <a:p>
            <a:r>
              <a:t>    ],</a:t>
            </a:r>
          </a:p>
          <a:p>
            <a:r>
              <a:t>    [</a:t>
            </a:r>
          </a:p>
          <a:p>
            <a:r>
              <a:t>      "Хангах",</a:t>
            </a:r>
          </a:p>
          <a:p>
            <a:r>
              <a:t>      "Хууль, төсөв, үйлчилгээ, хүртээмжийг бүрдүүлнэ. Жишээ: анхан шатны тусламж, нийгмийн хамгаалалд бодит хүрэх боломж."</a:t>
            </a:r>
          </a:p>
          <a:p>
            <a:r>
              <a:t>    ]</a:t>
            </a:r>
          </a:p>
          <a:p>
            <a:r>
              <a:t>  ],</a:t>
            </a:r>
          </a:p>
          <a:p>
            <a:r>
              <a:t>  "take": "“Төсөв хүрэхгүй” гэдэг тайлбар нь ялгаварлал, дур зоргын шийдвэрийг зөвтгөхгүй.",</a:t>
            </a:r>
          </a:p>
          <a:p>
            <a:r>
              <a:t>  "sources": [</a:t>
            </a:r>
          </a:p>
          <a:p>
            <a:r>
              <a:t>    "ICESCR",</a:t>
            </a:r>
          </a:p>
          <a:p>
            <a:r>
              <a:t>    "GC3"</a:t>
            </a:r>
          </a:p>
          <a:p>
            <a:r>
              <a:t>  ]</a:t>
            </a:r>
          </a:p>
          <a:p>
            <a:r>
              <a:t>}</a:t>
            </a:r>
          </a:p>
          <a:p/>
          <a:p>
            <a:r>
              <a:t>ЭХ СУРВАЛЖ:</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[GC3] CESCR, Ерөнхий тайлбар №3 — 1990.12.14; улсын үүрэг, доод цөм шаардлага</a:t>
            </a:r>
          </a:p>
          <a:p>
            <a:r>
              <a:t>https://www.ohchr.org/en/documents/general-comments-and-recommendations/general-comment-no-3-nature-states-parties-obligations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Ядуурал, хүйс, хөгжлийн бэрхшээл, оршин суугаа газар зэрэг хүчин зүйл давхцахад үйлчилгээний саад нэмэгдэж болно. Гэхдээ эдгээр бүлгийн бүх хүнийг автоматаар “ядуу” гэж ангилахгүй. Хэрэгцээний бодит үнэлгээ, хувийн сонголт, оролцоог хүндэтгэх нь чухал.</a:t>
            </a:r>
          </a:p>
          <a:p/>
          <a:p>
            <a:r>
              <a:t>Нэг хүнд хэд хэдэн саад давхцаж болно. Ижил үйлчилгээ бүх хүнд ижил үр дүн өгөхгүй.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"03 / ОГТЛОЛЦСОН ЭМЗЭГ БАЙДАЛ",</a:t>
            </a:r>
          </a:p>
          <a:p>
            <a:r>
              <a:t>  "title": "Хүүхэд, эмэгтэйчүүд, хөгжлийн бэрхшээлтэй хүн",</a:t>
            </a:r>
          </a:p>
          <a:p>
            <a:r>
              <a:t>  "headers": [</a:t>
            </a:r>
          </a:p>
          <a:p>
            <a:r>
              <a:t>    "Конвенц • баталсан өдөр",</a:t>
            </a:r>
          </a:p>
          <a:p>
            <a:r>
              <a:t>    "Холбогдох зүйл",</a:t>
            </a:r>
          </a:p>
          <a:p>
            <a:r>
              <a:t>    "Ямар саадыг шийдэх вэ?"</a:t>
            </a:r>
          </a:p>
          <a:p>
            <a:r>
              <a:t>  ],</a:t>
            </a:r>
          </a:p>
          <a:p>
            <a:r>
              <a:t>  "rows": [</a:t>
            </a:r>
          </a:p>
          <a:p>
            <a:r>
              <a:t>    [</a:t>
            </a:r>
          </a:p>
          <a:p>
            <a:r>
              <a:t>      "CRC • 1989.11.20",</a:t>
            </a:r>
          </a:p>
          <a:p>
            <a:r>
              <a:t>      "2 — ялгаварлахгүй; 3 — дээд ашиг сонирхол; 26, 27 — хамгаалал, амьжиргаа",</a:t>
            </a:r>
          </a:p>
          <a:p>
            <a:r>
              <a:t>      "Өрхийн ядуурлаас шалтгаалсан хүүхдийн хомсдол"</a:t>
            </a:r>
          </a:p>
          <a:p>
            <a:r>
              <a:t>    ],</a:t>
            </a:r>
          </a:p>
          <a:p>
            <a:r>
              <a:t>    [</a:t>
            </a:r>
          </a:p>
          <a:p>
            <a:r>
              <a:t>      "CEDAW • 1979.12.18",</a:t>
            </a:r>
          </a:p>
          <a:p>
            <a:r>
              <a:t>      "11 — хөдөлмөр; 12 — эрүүл мэнд; 14 — хөдөөгийн эмэгтэйчүүд",</a:t>
            </a:r>
          </a:p>
          <a:p>
            <a:r>
              <a:t>      "Асаргааны ачаалал, ажлын ба үйлчилгээний тэгш бус байдал"</a:t>
            </a:r>
          </a:p>
          <a:p>
            <a:r>
              <a:t>    ],</a:t>
            </a:r>
          </a:p>
          <a:p>
            <a:r>
              <a:t>    [</a:t>
            </a:r>
          </a:p>
          <a:p>
            <a:r>
              <a:t>      "CRPD • 2006.12.13",</a:t>
            </a:r>
          </a:p>
          <a:p>
            <a:r>
              <a:t>      "9 — хүртээмж; 24 — боловсрол; 27 — ажил; 28 — амьжиргаа, хамгаалал",</a:t>
            </a:r>
          </a:p>
          <a:p>
            <a:r>
              <a:t>      "Биеийн орчин, мэдээлэл, ажилд оролцох саад"</a:t>
            </a:r>
          </a:p>
          <a:p>
            <a:r>
              <a:t>    ]</a:t>
            </a:r>
          </a:p>
          <a:p>
            <a:r>
              <a:t>  ],</a:t>
            </a:r>
          </a:p>
          <a:p>
            <a:r>
              <a:t>  "take": "Нэг хүнд хэд хэдэн саад давхцаж болно. Ижил үйлчилгээ бүх хүнд ижил үр дүн өгөхгүй.",</a:t>
            </a:r>
          </a:p>
          <a:p>
            <a:r>
              <a:t>  "sources": [</a:t>
            </a:r>
          </a:p>
          <a:p>
            <a:r>
              <a:t>    "CRC",</a:t>
            </a:r>
          </a:p>
          <a:p>
            <a:r>
              <a:t>    "CEDAW",</a:t>
            </a:r>
          </a:p>
          <a:p>
            <a:r>
              <a:t>    "CRPD"</a:t>
            </a:r>
          </a:p>
          <a:p>
            <a:r>
              <a:t>  ]</a:t>
            </a:r>
          </a:p>
          <a:p>
            <a:r>
              <a:t>}</a:t>
            </a:r>
          </a:p>
          <a:p/>
          <a:p>
            <a:r>
              <a:t>ЭХ СУРВАЛЖ:</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слайдын эрсдэлийн жагсаалт нь Монгол дахь давтамжийг хэмжсэн статистик биш. Хөдөлмөрийн харилцаа байгаа эсэх, гэрээний төрөл, даатгалын үүргийг бодит баримтаар тогтооно. Хамгийн бага цалингийн хувьсах хэмжээг баталгаажаагүй тул энд дурдаагүй.</a:t>
            </a:r>
          </a:p>
          <a:p/>
          <a:p>
            <a:r>
              <a:t>Шийдэл: зохистой нөхцөл + хэрэгжих хяналт + ажилтны гомдол гаргах аюулгүй боломж.</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"04 / ХӨДӨЛМӨР",</a:t>
            </a:r>
          </a:p>
          <a:p>
            <a:r>
              <a:t>  "title": "Ажилтай байх нь дангаараа ядуурлаас хамгаалахгүй",</a:t>
            </a:r>
          </a:p>
          <a:p>
            <a:r>
              <a:t>  "cards": [</a:t>
            </a:r>
          </a:p>
          <a:p>
            <a:r>
              <a:t>    [</a:t>
            </a:r>
          </a:p>
          <a:p>
            <a:r>
              <a:t>      "Эрхийн тулгуур",</a:t>
            </a:r>
          </a:p>
          <a:p>
            <a:r>
              <a:t>      "Үндсэн хууль • 1992.01.13: 16.4.\nХөдөлмөрийн тухай хууль • 2021.07.02: 6 дугаар зүйл.\nICESCR • 1966.12.16: 6, 7 дугаар зүйл."</a:t>
            </a:r>
          </a:p>
          <a:p>
            <a:r>
              <a:t>    ],</a:t>
            </a:r>
          </a:p>
          <a:p>
            <a:r>
              <a:t>    [</a:t>
            </a:r>
          </a:p>
          <a:p>
            <a:r>
              <a:t>      "Эрсдэлийн цэг",</a:t>
            </a:r>
          </a:p>
          <a:p>
            <a:r>
              <a:t>      "Бага цалин, тогтворгүй цаг, албан бус ажил; хөдөлмөрийн аюулгүй байдал; даатгалын хамрагдалтын тасалдал."</a:t>
            </a:r>
          </a:p>
          <a:p>
            <a:r>
              <a:t>    ],</a:t>
            </a:r>
          </a:p>
          <a:p>
            <a:r>
              <a:t>    [</a:t>
            </a:r>
          </a:p>
          <a:p>
            <a:r>
              <a:t>      "Шалгах баримт",</a:t>
            </a:r>
          </a:p>
          <a:p>
            <a:r>
              <a:t>      "Гэрээ, ажлын цагийн бүртгэл, цалин олголт, даатгалын мэдээлэл. Хууль ёсны шаардлагыг ажилтанд ойлгомжтой тайлбарлах."</a:t>
            </a:r>
          </a:p>
          <a:p>
            <a:r>
              <a:t>    ]</a:t>
            </a:r>
          </a:p>
          <a:p>
            <a:r>
              <a:t>  ],</a:t>
            </a:r>
          </a:p>
          <a:p>
            <a:r>
              <a:t>  "take": "Шийдэл: зохистой нөхцөл + хэрэгжих хяналт + ажилтны гомдол гаргах аюулгүй боломж.",</a:t>
            </a:r>
          </a:p>
          <a:p>
            <a:r>
              <a:t>  "sources": [</a:t>
            </a:r>
          </a:p>
          <a:p>
            <a:r>
              <a:t>    "ҮХ",</a:t>
            </a:r>
          </a:p>
          <a:p>
            <a:r>
              <a:t>    "ХТ",</a:t>
            </a:r>
          </a:p>
          <a:p>
            <a:r>
              <a:t>    "ICESCR"</a:t>
            </a:r>
          </a:p>
          <a:p>
            <a:r>
              <a:t>  ]</a:t>
            </a:r>
          </a:p>
          <a:p>
            <a:r>
              <a:t>}</a:t>
            </a:r>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Бага орлоготой хүүхэд бүр сургууль завсарддаг гэж ерөнхийлөхгүй. Шалгах асуулт нь орлогын ялгаанаас шалтгаалан ямар зардал суралцах боломжийг хязгаарлаж байгааг тогтоох юм. Боловсролын ерөнхий хуулийн хамгийн сүүлийн заалтыг хэрэглэхийн өмнө Legalinfo дахь нэгтгэсэн эхийг шалгана.</a:t>
            </a:r>
          </a:p>
          <a:p/>
          <a:p>
            <a:r>
              <a:t>Элсэлтээс гадна ирц, төгсөлт, сурлагын ахиц, гомдол шийдвэрлэлтийг хэмжинэ.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"04 / БОЛОВСРОЛ",</a:t>
            </a:r>
          </a:p>
          <a:p>
            <a:r>
              <a:t>  "title": "Төлбөргүй сургууль ≠ зардалгүй суралцах",</a:t>
            </a:r>
          </a:p>
          <a:p>
            <a:r>
              <a:t>  "cards": [</a:t>
            </a:r>
          </a:p>
          <a:p>
            <a:r>
              <a:t>    [</a:t>
            </a:r>
          </a:p>
          <a:p>
            <a:r>
              <a:t>      "Баталгаа",</a:t>
            </a:r>
          </a:p>
          <a:p>
            <a:r>
              <a:t>      "Үндсэн хууль • 1992.01.13: 16.7.\nБоловсролын ерөнхий хууль • 2023.07.07.\nCRC • 1989.11.20: 28 дугаар зүйл."</a:t>
            </a:r>
          </a:p>
          <a:p>
            <a:r>
              <a:t>    ],</a:t>
            </a:r>
          </a:p>
          <a:p>
            <a:r>
              <a:t>    [</a:t>
            </a:r>
          </a:p>
          <a:p>
            <a:r>
              <a:t>      "Далд саад",</a:t>
            </a:r>
          </a:p>
          <a:p>
            <a:r>
              <a:t>      "Тээвэр, хэрэгсэл, дотуур байр, интернет, төхөөрөмжийн зардал; асаргаа, хөдөлмөрийн ачаалал."</a:t>
            </a:r>
          </a:p>
          <a:p>
            <a:r>
              <a:t>    ],</a:t>
            </a:r>
          </a:p>
          <a:p>
            <a:r>
              <a:t>    [</a:t>
            </a:r>
          </a:p>
          <a:p>
            <a:r>
              <a:t>      "Хэрэгжүүлэх арга",</a:t>
            </a:r>
          </a:p>
          <a:p>
            <a:r>
              <a:t>      "Сургуулиас завсардах эрсдэлийг эрт илрүүлэх; хэрэгцээнд нийцсэн дэмжлэг; хүртээмжтэй сургалтын орчин."</a:t>
            </a:r>
          </a:p>
          <a:p>
            <a:r>
              <a:t>    ]</a:t>
            </a:r>
          </a:p>
          <a:p>
            <a:r>
              <a:t>  ],</a:t>
            </a:r>
          </a:p>
          <a:p>
            <a:r>
              <a:t>  "take": "Элсэлтээс гадна ирц, төгсөлт, сурлагын ахиц, гомдол шийдвэрлэлтийг хэмжинэ.",</a:t>
            </a:r>
          </a:p>
          <a:p>
            <a:r>
              <a:t>  "sources": [</a:t>
            </a:r>
          </a:p>
          <a:p>
            <a:r>
              <a:t>    "ҮХ",</a:t>
            </a:r>
          </a:p>
          <a:p>
            <a:r>
              <a:t>    "БЕХ",</a:t>
            </a:r>
          </a:p>
          <a:p>
            <a:r>
              <a:t>    "CRC"</a:t>
            </a:r>
          </a:p>
          <a:p>
            <a:r>
              <a:t>  ]</a:t>
            </a:r>
          </a:p>
          <a:p>
            <a:r>
              <a:t>}</a:t>
            </a:r>
          </a:p>
          <a:p/>
          <a:p>
            <a:r>
              <a:t>ЭХ СУРВАЛЖ:</a:t>
            </a:r>
          </a:p>
          <a:p>
            <a:r>
              <a:t>[ҮХ] Монгол Улсын Үндсэн хууль — 1992.01.13</a:t>
            </a:r>
          </a:p>
          <a:p>
            <a:r>
              <a:t>https://legalinfo.mn/mn/detail/367</a:t>
            </a:r>
          </a:p>
          <a:p>
            <a:r>
              <a:t>[БЕХ] Боловсролын ерөнхий хууль /шинэчилсэн найруулга/ — 2023.07.07</a:t>
            </a:r>
          </a:p>
          <a:p>
            <a:r>
              <a:t>https://legalinfo.mn</a:t>
            </a:r>
          </a:p>
          <a:p>
            <a:r>
              <a:t>[CRC] Хүүхдийн эрхийн тухай конвенц — 1989.11.20; хүчин төгөлдөр: 1990.09.02</a:t>
            </a:r>
          </a:p>
          <a:p>
            <a:r>
              <a:t>https://www.ohchr.org/en/instruments-mechanisms/instruments/convention-rights-child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Үндсэн хуулийн 16.2-ыг тусдаа орон сууц үнэгүй авах эрх гэж тайлбарлахгүй. ICESCR-ийн 11 дүгээр зүйл дэх зохистой орон байр нь үйлчилгээ, аюулгүй байдал, амьдрах нөхцөлтэй холбоотой. Эмнэлгийн тусламжийн төлбөргүй хүрээ нь дотоодын хуулиар тогтоогдоно.</a:t>
            </a:r>
          </a:p>
          <a:p/>
          <a:p>
            <a:r>
              <a:t>Эрхийг зөвхөн барилга, орны тоогоор биш бодит хэрэглэгчийн боломж, үр дүнгээр үнэлнэ.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"04 / ЭРҮҮЛ МЭНД, ОРОН БАЙР",</a:t>
            </a:r>
          </a:p>
          <a:p>
            <a:r>
              <a:t>  "title": "Эрүүл орчин ба үйлчилгээ нь суурь боломж",</a:t>
            </a:r>
          </a:p>
          <a:p>
            <a:r>
              <a:t>  "cards": [</a:t>
            </a:r>
          </a:p>
          <a:p>
            <a:r>
              <a:t>    [</a:t>
            </a:r>
          </a:p>
          <a:p>
            <a:r>
              <a:t>      "Эрүүл мэнд",</a:t>
            </a:r>
          </a:p>
          <a:p>
            <a:r>
              <a:t>      "Үндсэн хууль • 1992.01.13: 16.6.\nICESCR • 1966.12.16: 12 дугаар зүйл.\nТусламж авах зардал, зай, хугацааг хамтад нь үнэлнэ."</a:t>
            </a:r>
          </a:p>
          <a:p>
            <a:r>
              <a:t>    ],</a:t>
            </a:r>
          </a:p>
          <a:p>
            <a:r>
              <a:t>    [</a:t>
            </a:r>
          </a:p>
          <a:p>
            <a:r>
              <a:t>      "Орчин, орон байр",</a:t>
            </a:r>
          </a:p>
          <a:p>
            <a:r>
              <a:t>      "Үндсэн хууль: 16.2 — эрүүл, аюулгүй орчин.\nICESCR: 11 — зохистой амьжиргаа, орон байр.\nУс, дулаан, ариун цэвэр, аюулгүй байдлыг харна."</a:t>
            </a:r>
          </a:p>
          <a:p>
            <a:r>
              <a:t>    ],</a:t>
            </a:r>
          </a:p>
          <a:p>
            <a:r>
              <a:t>    [</a:t>
            </a:r>
          </a:p>
          <a:p>
            <a:r>
              <a:t>      "Хүртээмж",</a:t>
            </a:r>
          </a:p>
          <a:p>
            <a:r>
              <a:t>      "Үйлчилгээ байгаа эсэх → очиж чадах эсэх → төлж чадах эсэх → чанартай эсэх.\nБүртгэл, хөгжлийн бэрхшээл, тээврийн саадыг илрүүлнэ."</a:t>
            </a:r>
          </a:p>
          <a:p>
            <a:r>
              <a:t>    ]</a:t>
            </a:r>
          </a:p>
          <a:p>
            <a:r>
              <a:t>  ],</a:t>
            </a:r>
          </a:p>
          <a:p>
            <a:r>
              <a:t>  "take": "Эрхийг зөвхөн барилга, орны тоогоор биш бодит хэрэглэгчийн боломж, үр дүнгээр үнэлнэ.",</a:t>
            </a:r>
          </a:p>
          <a:p>
            <a:r>
              <a:t>  "sources": [</a:t>
            </a:r>
          </a:p>
          <a:p>
            <a:r>
              <a:t>    "ҮХ",</a:t>
            </a:r>
          </a:p>
          <a:p>
            <a:r>
              <a:t>    "ICESCR"</a:t>
            </a:r>
          </a:p>
          <a:p>
            <a:r>
              <a:t>  ]</a:t>
            </a:r>
          </a:p>
          <a:p>
            <a:r>
              <a:t>}</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Халамж ба нийгмийн даатгал нь санхүүжилт, шимтгэл, эрх үүсэх нөхцөлөөр ялгаатай. Тэтгэмжийн хэмжээ, эрх үүсэх нас, орлогын босго нь өөрчлөгдөж болох тул баталгаажаагүй дүн оруулаагүй. Жагсаалтад ил тод байдал гэдэг нь өрхийн эмзэг мэдээллийг олон нийтэд дэлгэнэ гэсэн үг биш.</a:t>
            </a:r>
          </a:p>
          <a:p/>
          <a:p>
            <a:r>
              <a:t>Зорилтот дэмжлэгийн үр ашгийг хүний нэр төр, хувийн мэдээллийн хамгаалалттай хамт үнэлнэ.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"04 / НИЙГМИЙН ХАМГААЛАЛ",</a:t>
            </a:r>
          </a:p>
          <a:p>
            <a:r>
              <a:t>  "title": "Халамжийн шийдвэр ил тод, хянуулах боломжтой байх",</a:t>
            </a:r>
          </a:p>
          <a:p>
            <a:r>
              <a:t>  "cards": [</a:t>
            </a:r>
          </a:p>
          <a:p>
            <a:r>
              <a:t>    [</a:t>
            </a:r>
          </a:p>
          <a:p>
            <a:r>
              <a:t>      "Хуулийн үндэс",</a:t>
            </a:r>
          </a:p>
          <a:p>
            <a:r>
              <a:t>      "Үндсэн хууль • 1992.01.13: 16.5.\nНийгмийн халамжийн тухай хууль • 2012.01.19.\nICESCR • 1966.12.16: 9 дүгээр зүйл."</a:t>
            </a:r>
          </a:p>
          <a:p>
            <a:r>
              <a:t>    ],</a:t>
            </a:r>
          </a:p>
          <a:p>
            <a:r>
              <a:t>    [</a:t>
            </a:r>
          </a:p>
          <a:p>
            <a:r>
              <a:t>      "Хоёр төрлийн алдаа",</a:t>
            </a:r>
          </a:p>
          <a:p>
            <a:r>
              <a:t>      "Хасагдлын алдаа: шаардлага хангасан хүн дэмжлэгээс үлдэх.\nХамрагдлын алдаа: шаардлага хангахгүй хүн хамрагдах."</a:t>
            </a:r>
          </a:p>
          <a:p>
            <a:r>
              <a:t>    ],</a:t>
            </a:r>
          </a:p>
          <a:p>
            <a:r>
              <a:t>    [</a:t>
            </a:r>
          </a:p>
          <a:p>
            <a:r>
              <a:t>      "Сайн ажиллагаа",</a:t>
            </a:r>
          </a:p>
          <a:p>
            <a:r>
              <a:t>      "Ойлгомжтой шалгуур; мэдээллээ засуулах боломж; үндэслэл бүхий шийдвэр; гомдол гаргах хүртээмжтэй суваг."</a:t>
            </a:r>
          </a:p>
          <a:p>
            <a:r>
              <a:t>    ]</a:t>
            </a:r>
          </a:p>
          <a:p>
            <a:r>
              <a:t>  ],</a:t>
            </a:r>
          </a:p>
          <a:p>
            <a:r>
              <a:t>  "take": "Зорилтот дэмжлэгийн үр ашгийг хүний нэр төр, хувийн мэдээллийн хамгаалалттай хамт үнэлнэ.",</a:t>
            </a:r>
          </a:p>
          <a:p>
            <a:r>
              <a:t>  "sources": [</a:t>
            </a:r>
          </a:p>
          <a:p>
            <a:r>
              <a:t>    "ҮХ",</a:t>
            </a:r>
          </a:p>
          <a:p>
            <a:r>
              <a:t>    "НХ",</a:t>
            </a:r>
          </a:p>
          <a:p>
            <a:r>
              <a:t>    "ICESCR"</a:t>
            </a:r>
          </a:p>
          <a:p>
            <a:r>
              <a:t>  ]</a:t>
            </a:r>
          </a:p>
          <a:p>
            <a:r>
              <a:t>}</a:t>
            </a:r>
          </a:p>
          <a:p/>
          <a:p>
            <a:r>
              <a:t>ЭХ СУРВАЛЖ:</a:t>
            </a:r>
          </a:p>
          <a:p>
            <a:r>
              <a:t>[ҮХ] Монгол Улсын Үндсэн хууль — 1992.01.13</a:t>
            </a:r>
          </a:p>
          <a:p>
            <a:r>
              <a:t>https://legalinfo.mn/mn/detail/367</a:t>
            </a:r>
          </a:p>
          <a:p>
            <a:r>
              <a:t>[НХ] Нийгмийн халамжийн тухай хууль /шинэчилсэн найруулга/ — 2012.01.19</a:t>
            </a:r>
          </a:p>
          <a:p>
            <a:r>
              <a:t>https://legalinfo.mn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Хэргийн бүтэн нэр: Government of the Republic of South Africa and Others v Grootboom and Others. Үндсэн хуулийн шүүхийн шийдвэр: 2000.10.04. 26(2)-ын хүрээнд боломжит нөөцөд тулгуурласан үндэслэлтэй арга хэмжээ авах үүргийг тайлбарласан. Энэхүү шийдвэр Монголын шүүхэд шууд заавал дагах прецедент биш.</a:t>
            </a:r>
          </a:p>
          <a:p/>
          <a:p>
            <a:r>
              <a:t>Шүүх хүн бүрд нэн даруй байшин олгох ерөнхий шийдвэр гаргаагүй; бодлогын үндэслэлтэй байдлыг хянасан.</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"case",</a:t>
            </a:r>
          </a:p>
          <a:p>
            <a:r>
              <a:t>  "section": "05 / БОДИТ КЕЙС 01",</a:t>
            </a:r>
          </a:p>
          <a:p>
            <a:r>
              <a:t>  "title": "Өмнөд Африк: орон байрны бодлого хэнийг орхив?",</a:t>
            </a:r>
          </a:p>
          <a:p>
            <a:r>
              <a:t>  "date": "2000.10.04 • Grootboom • [2000] ZACC 19",</a:t>
            </a:r>
          </a:p>
          <a:p>
            <a:r>
              <a:t>  "facts": "Орон байргүй, хүнд нөхцөлд амьдарч байсан иргэд төрийн орон сууцны хөтөлбөр яаралтай хэрэгцээг нь хангахгүй байгааг шүүхэд маргасан.",</a:t>
            </a:r>
          </a:p>
          <a:p>
            <a:r>
              <a:t>  "rule": "Өмнөд Африкийн Үндсэн хууль • 1996.12.10 (гарын үсэг зурсан); 26 дугаар зүйл. Шүүх бодлого нь онцгой гачигдалтай хүмүүсийн яаралтай хэрэгцээг бодитой тусгах ёстой гэж үзсэн.",</a:t>
            </a:r>
          </a:p>
          <a:p>
            <a:r>
              <a:t>  "lesson": "Монголд авах санаа: урт хугацааны орон сууцны бодлогын хажуугаар түр хамгаалах байр, ус, ариун цэвэр зэрэг яаралтай хэрэгцээг тусад нь шийдэх.",</a:t>
            </a:r>
          </a:p>
          <a:p>
            <a:r>
              <a:t>  "take": "Шүүх хүн бүрд нэн даруй байшин олгох ерөнхий шийдвэр гаргаагүй; бодлогын үндэслэлтэй байдлыг хянасан.",</a:t>
            </a:r>
          </a:p>
          <a:p>
            <a:r>
              <a:t>  "sources": [</a:t>
            </a:r>
          </a:p>
          <a:p>
            <a:r>
              <a:t>    "GROOT"</a:t>
            </a:r>
          </a:p>
          <a:p>
            <a:r>
              <a:t>  ]</a:t>
            </a:r>
          </a:p>
          <a:p>
            <a:r>
              <a:t>}</a:t>
            </a:r>
          </a:p>
          <a:p/>
          <a:p>
            <a:r>
              <a:t>ЭХ СУРВАЛЖ:</a:t>
            </a:r>
          </a:p>
          <a:p>
            <a:r>
              <a:t>[GROOT] Government of the Republic of South Africa v Grootboom [2000] ZACC 19 — 2000.10.04</a:t>
            </a:r>
          </a:p>
          <a:p>
            <a:r>
              <a:t>https://www.saflii.org/za/cases/ZACC/2000/19.html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Хэргийн нэр: Minister of Health and Others v Treatment Action Campaign and Others (No 2). 2002.07.05. Шийдвэрийг бүх эмийг хүн бүрд үнэ төлбөргүй олгох тухай ерөнхий шийдвэр гэж тайлбарлахгүй. Гол асуудал нь эхээс хүүхдэд ХДХВ дамжихаас сэргийлэх эмийн хүртээмжид тавьсан тодорхой хязгаарлалт байв.</a:t>
            </a:r>
          </a:p>
          <a:p/>
          <a:p>
            <a:r>
              <a:t>Эрүүл мэндийн бодлогын сонголт нь эрхийн хүртээмжийг үндэслэлгүй хязгаарлаж болохгүй.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"case",</a:t>
            </a:r>
          </a:p>
          <a:p>
            <a:r>
              <a:t>  "section": "05 / БОДИТ КЕЙС 02",</a:t>
            </a:r>
          </a:p>
          <a:p>
            <a:r>
              <a:t>  "title": "Өмнөд Африк: эхээс хүүхдэд ХДХВ дамжихаас сэргийлэх",</a:t>
            </a:r>
          </a:p>
          <a:p>
            <a:r>
              <a:t>  "date": "2002.07.05 • Treatment Action Campaign • [2002] ZACC 15",</a:t>
            </a:r>
          </a:p>
          <a:p>
            <a:r>
              <a:t>  "facts": "Невирапин эмийг улсын эрүүл мэндийн салбарт зөвхөн сонгосон туршилтын цэгүүдээр хязгаарласан бодлого нь бусад эмнэлгийн эх, хүүхдийн хүртээмжийг хааж байв.",</a:t>
            </a:r>
          </a:p>
          <a:p>
            <a:r>
              <a:t>  "rule": "Өмнөд Африкийн Үндсэн хууль • 1996.12.10 (гарын үсэг зурсан); 27 дугаар зүйл. Шүүх эмнэлгийн шаардлага хангасан газруудад хэрэглэхэд саад болсон хязгаарлалтыг арилгахыг даалгасан.",</a:t>
            </a:r>
          </a:p>
          <a:p>
            <a:r>
              <a:t>  "lesson": "Монголд авах санаа: бодлогын хязгаарлалт нь нотолгоонд суурилсан уу, орлогогүй иргэдэд ямар бодит нөлөө үзүүлж байна вэ гэдгийг хянах.",</a:t>
            </a:r>
          </a:p>
          <a:p>
            <a:r>
              <a:t>  "take": "Эрүүл мэндийн бодлогын сонголт нь эрхийн хүртээмжийг үндэслэлгүй хязгаарлаж болохгүй.",</a:t>
            </a:r>
          </a:p>
          <a:p>
            <a:r>
              <a:t>  "sources": [</a:t>
            </a:r>
          </a:p>
          <a:p>
            <a:r>
              <a:t>    "TAC"</a:t>
            </a:r>
          </a:p>
          <a:p>
            <a:r>
              <a:t>  ]</a:t>
            </a:r>
          </a:p>
          <a:p>
            <a:r>
              <a:t>}</a:t>
            </a:r>
          </a:p>
          <a:p/>
          <a:p>
            <a:r>
              <a:t>ЭХ СУРВАЛЖ:</a:t>
            </a:r>
          </a:p>
          <a:p>
            <a:r>
              <a:t>[TAC] Minister of Health v Treatment Action Campaign (No 2) [2002] ZACC 15 — 2002.07.05</a:t>
            </a:r>
          </a:p>
          <a:p>
            <a:r>
              <a:t>https://www.saflii.org/za/cases/ZACC/2002/15.html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Германы Холбооны Үндсэн хуулийн шүүхийн 2010.02.09-ний шийдвэр, нэгтгэсэн хэргүүд: 1 BvL 1/09, 1 BvL 3/09, 1 BvL 4/09. Хамгаалалт нь бие махбодын амьжиргаанаас гадна нийгэм, соёл, улс төрийн амьдралд наад захын оролцоог хамарна. Германы үндэсний баталгааг Монголд шууд үйлчлэх хууль мэт хэрэглэхгүй.</a:t>
            </a:r>
          </a:p>
          <a:p/>
          <a:p>
            <a:r>
              <a:t>Шүүх нэг “зөв” мөнгөн дүн тогтоохоос илүү тооцооллын арга, үндэслэл, баталгааг шаардсан.</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"case",</a:t>
            </a:r>
          </a:p>
          <a:p>
            <a:r>
              <a:t>  "section": "05 / БОДИТ КЕЙС 03",</a:t>
            </a:r>
          </a:p>
          <a:p>
            <a:r>
              <a:t>  "title": "Герман: амьжиргааны доод хэмжээг яаж тооцох вэ?",</a:t>
            </a:r>
          </a:p>
          <a:p>
            <a:r>
              <a:t>  "date": "2010.02.09 • BVerfG • 1 BvL 1/09 нар",</a:t>
            </a:r>
          </a:p>
          <a:p>
            <a:r>
              <a:t>  "facts": "Hartz IV тогтолцооны зарим суурь тэтгэмж, ялангуяа хүүхдийн хэрэгцээний тооцоолол нь ил тод, бодит үндэслэлтэй эсэх талаар маргасан.",</a:t>
            </a:r>
          </a:p>
          <a:p>
            <a:r>
              <a:t>  "rule": "Германы Үндсэн хууль • 1949.05.23; 1(1) ба 20(1). Хүний нэр төр ба нийгмийн төрийн зарчмаас амьжиргааны наад захын баталгааг тайлбарласан.",</a:t>
            </a:r>
          </a:p>
          <a:p>
            <a:r>
              <a:t>  "lesson": "Монголд авах санаа: тэтгэмжийн хэмжээг зөвхөн улс төрийн сонголтоор бус бодит хэрэгцээ, ойлгомжтой аргачлал, тогтмол шинэчлэлээр үндэслэх.",</a:t>
            </a:r>
          </a:p>
          <a:p>
            <a:r>
              <a:t>  "take": "Шүүх нэг “зөв” мөнгөн дүн тогтоохоос илүү тооцооллын арга, үндэслэл, баталгааг шаардсан.",</a:t>
            </a:r>
          </a:p>
          <a:p>
            <a:r>
              <a:t>  "sources": [</a:t>
            </a:r>
          </a:p>
          <a:p>
            <a:r>
              <a:t>    "GER"</a:t>
            </a:r>
          </a:p>
          <a:p>
            <a:r>
              <a:t>  ]</a:t>
            </a:r>
          </a:p>
          <a:p>
            <a:r>
              <a:t>}</a:t>
            </a:r>
          </a:p>
          <a:p/>
          <a:p>
            <a:r>
              <a:t>ЭХ СУРВАЛЖ:</a:t>
            </a:r>
          </a:p>
          <a:p>
            <a:r>
              <a:t>[GER] BVerfG, 1 BvL 1/09, 1 BvL 3/09, 1 BvL 4/09 — 2010.02.09, амьжиргааны доод баталгаа</a:t>
            </a:r>
          </a:p>
          <a:p>
            <a:r>
              <a:t>https://www.bundesverfassungsgericht.de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Улс орнуудын төсвийн чадавх, хүн ам, институц, хөдөлмөрийн зах зээл өөр. Иймээс нэг орны тэтгэмжийн хэмжээг ханшаар хөрвүүлээд шууд хуулбарлах нь хангалтгүй. Харьцуулах нэгж нь эрхийн баталгаа, хэрэгжүүлэх механизм, хамрагдалт, гомдол, үр дүн байх ёстой.</a:t>
            </a:r>
          </a:p>
          <a:p/>
          <a:p>
            <a:r>
              <a:t>Энэ хүснэгт бол бодлогын харьцуулалт; улсын “хүний эрхийн чансаа” биш.</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"06 / УЛС ОРНУУДЫН ХАРЬЦУУЛАЛТ",</a:t>
            </a:r>
          </a:p>
          <a:p>
            <a:r>
              <a:t>  "title": "Ижил зорилго, өөр өөр хэрэгсэл",</a:t>
            </a:r>
          </a:p>
          <a:p>
            <a:r>
              <a:t>  "headers": [</a:t>
            </a:r>
          </a:p>
          <a:p>
            <a:r>
              <a:t>    "Улс • жишээ",</a:t>
            </a:r>
          </a:p>
          <a:p>
            <a:r>
              <a:t>    "Хамгаалалтын хэрэгсэл",</a:t>
            </a:r>
          </a:p>
          <a:p>
            <a:r>
              <a:t>    "Давуу тал / анхаарах зүйл"</a:t>
            </a:r>
          </a:p>
          <a:p>
            <a:r>
              <a:t>  ],</a:t>
            </a:r>
          </a:p>
          <a:p>
            <a:r>
              <a:t>  "rows": [</a:t>
            </a:r>
          </a:p>
          <a:p>
            <a:r>
              <a:t>    [</a:t>
            </a:r>
          </a:p>
          <a:p>
            <a:r>
              <a:t>      "Монгол • Үндсэн хууль 1992.01.13",</a:t>
            </a:r>
          </a:p>
          <a:p>
            <a:r>
              <a:t>      "Үндсэн эрх + хуульд заасан халамж, үйлчилгээ",</a:t>
            </a:r>
          </a:p>
          <a:p>
            <a:r>
              <a:t>      "Шалгуур ба бодит хүртээмжийг уялдуулах"</a:t>
            </a:r>
          </a:p>
          <a:p>
            <a:r>
              <a:t>    ],</a:t>
            </a:r>
          </a:p>
          <a:p>
            <a:r>
              <a:t>    [</a:t>
            </a:r>
          </a:p>
          <a:p>
            <a:r>
              <a:t>      "Өмнөд Африк • 1996.12.10\n(гарын үсэг зурсан)",</a:t>
            </a:r>
          </a:p>
          <a:p>
            <a:r>
              <a:t>      "Нийгмийн эрхийн хэрэгжилтэд шүүхийн хяналт",</a:t>
            </a:r>
          </a:p>
          <a:p>
            <a:r>
              <a:t>      "Бодлого гачигдалтай хүмүүсийг орхисон эсэх"</a:t>
            </a:r>
          </a:p>
          <a:p>
            <a:r>
              <a:t>    ],</a:t>
            </a:r>
          </a:p>
          <a:p>
            <a:r>
              <a:t>    [</a:t>
            </a:r>
          </a:p>
          <a:p>
            <a:r>
              <a:t>      "Герман • 1949.05.23",</a:t>
            </a:r>
          </a:p>
          <a:p>
            <a:r>
              <a:t>      "Нэр төрд нийцэх амьжиргааны доод баталгаа",</a:t>
            </a:r>
          </a:p>
          <a:p>
            <a:r>
              <a:t>      "Тэтгэмжийн тооцоолол үндэслэлтэй байх"</a:t>
            </a:r>
          </a:p>
          <a:p>
            <a:r>
              <a:t>    ],</a:t>
            </a:r>
          </a:p>
          <a:p>
            <a:r>
              <a:t>    [</a:t>
            </a:r>
          </a:p>
          <a:p>
            <a:r>
              <a:t>      "Финланд • 2017–2018 туршилт",</a:t>
            </a:r>
          </a:p>
          <a:p>
            <a:r>
              <a:t>      "Нөхцөл багатай тогтмол мөнгөн дэмжлэг",</a:t>
            </a:r>
          </a:p>
          <a:p>
            <a:r>
              <a:t>      "Туршилтын үр дүнг бүх хүн амд шууд дүгнэхгүй"</a:t>
            </a:r>
          </a:p>
          <a:p>
            <a:r>
              <a:t>    ],</a:t>
            </a:r>
          </a:p>
          <a:p>
            <a:r>
              <a:t>    [</a:t>
            </a:r>
          </a:p>
          <a:p>
            <a:r>
              <a:t>      "Бразил • хууль 2023.06.19",</a:t>
            </a:r>
          </a:p>
          <a:p>
            <a:r>
              <a:t>      "Bolsa Família: зорилтот орлогын дэмжлэг",</a:t>
            </a:r>
          </a:p>
          <a:p>
            <a:r>
              <a:t>      "Боловсрол, эрүүл мэндийн үйлчилгээтэй холбох"</a:t>
            </a:r>
          </a:p>
          <a:p>
            <a:r>
              <a:t>    ]</a:t>
            </a:r>
          </a:p>
          <a:p>
            <a:r>
              <a:t>  ],</a:t>
            </a:r>
          </a:p>
          <a:p>
            <a:r>
              <a:t>  "take": "Энэ хүснэгт бол бодлогын харьцуулалт; улсын “хүний эрхийн чансаа” биш.",</a:t>
            </a:r>
          </a:p>
          <a:p>
            <a:r>
              <a:t>  "sources": [</a:t>
            </a:r>
          </a:p>
          <a:p>
            <a:r>
              <a:t>    "ҮХ",</a:t>
            </a:r>
          </a:p>
          <a:p>
            <a:r>
              <a:t>    "GROOT",</a:t>
            </a:r>
          </a:p>
          <a:p>
            <a:r>
              <a:t>    "GER",</a:t>
            </a:r>
          </a:p>
          <a:p>
            <a:r>
              <a:t>    "FIN",</a:t>
            </a:r>
          </a:p>
          <a:p>
            <a:r>
              <a:t>    "BRA"</a:t>
            </a:r>
          </a:p>
          <a:p>
            <a:r>
              <a:t>  ]</a:t>
            </a:r>
          </a:p>
          <a:p>
            <a:r>
              <a:t>}</a:t>
            </a:r>
          </a:p>
          <a:p/>
          <a:p>
            <a:r>
              <a:t>ЭХ СУРВАЛЖ:</a:t>
            </a:r>
          </a:p>
          <a:p>
            <a:r>
              <a:t>[ҮХ] Монгол Улсын Үндсэн хууль — 1992.01.13</a:t>
            </a:r>
          </a:p>
          <a:p>
            <a:r>
              <a:t>https://legalinfo.mn/mn/detail/367</a:t>
            </a:r>
          </a:p>
          <a:p>
            <a:r>
              <a:t>[GROOT] Government of the Republic of South Africa v Grootboom [2000] ZACC 19 — 2000.10.04</a:t>
            </a:r>
          </a:p>
          <a:p>
            <a:r>
              <a:t>https://www.saflii.org/za/cases/ZACC/2000/19.html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нь Финландын бүх хүн амд хэрэгжүүлсэн байнгын суурь орлого биш, сонгосон ажилгүй хүмүүсийг хамарсан туршилт. Сайн сайхан байдлын хэсэг нь асуумжийн хариунд тулгуурласан тул ажиглагдсан бүх ялгааг мөнгөний шалтгаант нөлөө гэж дүгнэхгүй. Ажил эрхлэлтийн хэмжээг нарийвчлан тайлбарлахад туршилтын жил, хяналтын бүлэг, бодлогын өөрчлөлтийг салгана.</a:t>
            </a:r>
          </a:p>
          <a:p/>
          <a:p>
            <a:r>
              <a:t>Сургамж: мөнгөн дэмжлэгийн нөлөөг зөвхөн ажилд орсон тоогоор биш хүний амьдралын чанараар үнэлнэ.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"06 / ФИНЛАНДЫН ТУРШИЛТ",</a:t>
            </a:r>
          </a:p>
          <a:p>
            <a:r>
              <a:t>  "title": "Финланд: орлогын баталгаа ба сайн сайхан байдал",</a:t>
            </a:r>
          </a:p>
          <a:p>
            <a:r>
              <a:t>  "cards": [</a:t>
            </a:r>
          </a:p>
          <a:p>
            <a:r>
              <a:t>    [</a:t>
            </a:r>
          </a:p>
          <a:p>
            <a:r>
              <a:t>      "Загвар • 2017–2018",</a:t>
            </a:r>
          </a:p>
          <a:p>
            <a:r>
              <a:t>      "2,000 ажилгүй хүн; сар бүр €560. Туршилтын мөнгө нь ажилд орох эсэхээс хамааран зогсохгүй байхаар загварчилсан."</a:t>
            </a:r>
          </a:p>
          <a:p>
            <a:r>
              <a:t>    ],</a:t>
            </a:r>
          </a:p>
          <a:p>
            <a:r>
              <a:t>    [</a:t>
            </a:r>
          </a:p>
          <a:p>
            <a:r>
              <a:t>      "Юуг ажигласан бэ?",</a:t>
            </a:r>
          </a:p>
          <a:p>
            <a:r>
              <a:t>      "Kela-ийн 2020 оны тайланд амьдралын сэтгэл ханамж, эдийн засгийн аюулгүй байдлын үнэлгээ илүү сайн байсныг мэдээлсэн."</a:t>
            </a:r>
          </a:p>
          <a:p>
            <a:r>
              <a:t>    ],</a:t>
            </a:r>
          </a:p>
          <a:p>
            <a:r>
              <a:t>    [</a:t>
            </a:r>
          </a:p>
          <a:p>
            <a:r>
              <a:t>      "Хязгаарлалт",</a:t>
            </a:r>
          </a:p>
          <a:p>
            <a:r>
              <a:t>      "Ажил эрхлэлтийн нөлөө хязгаарлагдмал; хоёр дахь жилд бусад бодлогын өөрчлөлт нөлөөлсөн. Судалгааны хариу өгөх ялгааг ч харгалзана."</a:t>
            </a:r>
          </a:p>
          <a:p>
            <a:r>
              <a:t>    ]</a:t>
            </a:r>
          </a:p>
          <a:p>
            <a:r>
              <a:t>  ],</a:t>
            </a:r>
          </a:p>
          <a:p>
            <a:r>
              <a:t>  "take": "Сургамж: мөнгөн дэмжлэгийн нөлөөг зөвхөн ажилд орсон тоогоор биш хүний амьдралын чанараар үнэлнэ.",</a:t>
            </a:r>
          </a:p>
          <a:p>
            <a:r>
              <a:t>  "sources": [</a:t>
            </a:r>
          </a:p>
          <a:p>
            <a:r>
              <a:t>    "FIN"</a:t>
            </a:r>
          </a:p>
          <a:p>
            <a:r>
              <a:t>  ]</a:t>
            </a:r>
          </a:p>
          <a:p>
            <a:r>
              <a:t>}</a:t>
            </a:r>
          </a:p>
          <a:p/>
          <a:p>
            <a:r>
              <a:t>ЭХ СУРВАЛЖ:</a:t>
            </a:r>
          </a:p>
          <a:p>
            <a:r>
              <a:t>[FIN] Kela: Финландын суурь орлогын туршилт, 2017–2018; эцсийн үр дүн 2020</a:t>
            </a:r>
          </a:p>
          <a:p>
            <a:r>
              <a:t>https://www.kela.fi/basic-income-experiment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Bolsa Família нь бүх хүнд ижил мөнгө олгодог суурь орлого биш. Өрхийн бүрэлдэхүүн, орлого, хөтөлбөрийн тухайн үеийн журмаас хамаарах зохицуулалттай. Ядуурал буурсан хувь, өгөөжийн тоон дүнг баталгаажуулаагүй тул энэ слайдад шалтгаант үр дүнгийн тоо оруулаагүй.</a:t>
            </a:r>
          </a:p>
          <a:p/>
          <a:p>
            <a:r>
              <a:t>Монголд авах санаа: тэтгэмжийг үйлчилгээтэй холбохдоо тухайн үйлчилгээ бодитоор хүрдэг эсэхийг шалгана.</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"06 / БРАЗИЛЫН ЖИШЭЭ",</a:t>
            </a:r>
          </a:p>
          <a:p>
            <a:r>
              <a:t>  "title": "Bolsa Família: орлого ба үйлчилгээг холбох нь",</a:t>
            </a:r>
          </a:p>
          <a:p>
            <a:r>
              <a:t>  "cards": [</a:t>
            </a:r>
          </a:p>
          <a:p>
            <a:r>
              <a:t>    [</a:t>
            </a:r>
          </a:p>
          <a:p>
            <a:r>
              <a:t>      "Эрх зүйн огноо",</a:t>
            </a:r>
          </a:p>
          <a:p>
            <a:r>
              <a:t>      "Анхны хөтөлбөрийн хууль: №10.836 • 2004.01.09.\nШинэ хууль: №14.601 • 2023.06.19."</a:t>
            </a:r>
          </a:p>
          <a:p>
            <a:r>
              <a:t>    ],</a:t>
            </a:r>
          </a:p>
          <a:p>
            <a:r>
              <a:t>    [</a:t>
            </a:r>
          </a:p>
          <a:p>
            <a:r>
              <a:t>      "Бодлогын механизм",</a:t>
            </a:r>
          </a:p>
          <a:p>
            <a:r>
              <a:t>      "Бага орлоготой өрхөд мөнгөн дэмжлэг олгож, хүүхдийн боловсрол, эрүүл мэндийн хяналттай холбоотой нөхцөлүүдийг ашигладаг."</a:t>
            </a:r>
          </a:p>
          <a:p>
            <a:r>
              <a:t>    ],</a:t>
            </a:r>
          </a:p>
          <a:p>
            <a:r>
              <a:t>    [</a:t>
            </a:r>
          </a:p>
          <a:p>
            <a:r>
              <a:t>      "Эрхийн шүүлтүүр",</a:t>
            </a:r>
          </a:p>
          <a:p>
            <a:r>
              <a:t>      "Сургууль, эмнэлэг нь өөрөө хүртээмжгүй бол өрхийг дангаар буруутгаж болохгүй. Бүртгэл шинэчлэх, тайлбар авах, гомдол гаргах боломж чухал."</a:t>
            </a:r>
          </a:p>
          <a:p>
            <a:r>
              <a:t>    ]</a:t>
            </a:r>
          </a:p>
          <a:p>
            <a:r>
              <a:t>  ],</a:t>
            </a:r>
          </a:p>
          <a:p>
            <a:r>
              <a:t>  "take": "Монголд авах санаа: тэтгэмжийг үйлчилгээтэй холбохдоо тухайн үйлчилгээ бодитоор хүрдэг эсэхийг шалгана.",</a:t>
            </a:r>
          </a:p>
          <a:p>
            <a:r>
              <a:t>  "sources": [</a:t>
            </a:r>
          </a:p>
          <a:p>
            <a:r>
              <a:t>    "BRA"</a:t>
            </a:r>
          </a:p>
          <a:p>
            <a:r>
              <a:t>  ]</a:t>
            </a:r>
          </a:p>
          <a:p>
            <a:r>
              <a:t>}</a:t>
            </a:r>
          </a:p>
          <a:p/>
          <a:p>
            <a:r>
              <a:t>ЭХ СУРВАЛЖ:</a:t>
            </a:r>
          </a:p>
          <a:p>
            <a:r>
              <a:t>[BRA] Бразил: Lei nº 10.836 — 2004.01.09; Lei nº 14.601 — 2023.06.19</a:t>
            </a:r>
          </a:p>
          <a:p>
            <a:r>
              <a:t>https://www.planalto.gov.br/ccivil_03/_ato2023-2026/2023/lei/l14601.htm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Хэрэгжилтийн үзүүлэлт бүр тодорхой эх үүсвэр, суурь түвшин, хэмжих хугацаа, хариуцах байгууллагатай байх шаардлагатай. Эмзэг бүлгийн мэдээллийг орлого, хүйс, байршил, хөгжлийн бэрхшээлээр задалж болох ч нууцлал, жижиг бүлгийг таних эрсдэлийг тооцно. Тоон зорилтот хувь нь суурь мэдээлэлгүй тул зохиогоогүй.</a:t>
            </a:r>
          </a:p>
          <a:p/>
          <a:p>
            <a:r>
              <a:t>Эдгээр нь илтгэлийн бодлогын санал; одоо хүчин төгөлдөр хуульд бүгд заасан гэсэн үг биш.</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"table",</a:t>
            </a:r>
          </a:p>
          <a:p>
            <a:r>
              <a:t>  "section": "07 / МОНГОЛД ХЭРЭГЖҮҮЛЭХ САНАЛ",</a:t>
            </a:r>
          </a:p>
          <a:p>
            <a:r>
              <a:t>  "title": "Эрхийг бодит болгох таван чиглэл",</a:t>
            </a:r>
          </a:p>
          <a:p>
            <a:r>
              <a:t>  "headers": [</a:t>
            </a:r>
          </a:p>
          <a:p>
            <a:r>
              <a:t>    "Санал",</a:t>
            </a:r>
          </a:p>
          <a:p>
            <a:r>
              <a:t>    "Хэрэгжүүлэх жишээ",</a:t>
            </a:r>
          </a:p>
          <a:p>
            <a:r>
              <a:t>    "Үр дүнг хэмжих үзүүлэлт"</a:t>
            </a:r>
          </a:p>
          <a:p>
            <a:r>
              <a:t>  ],</a:t>
            </a:r>
          </a:p>
          <a:p>
            <a:r>
              <a:t>  "rows": [</a:t>
            </a:r>
          </a:p>
          <a:p>
            <a:r>
              <a:t>    [</a:t>
            </a:r>
          </a:p>
          <a:p>
            <a:r>
              <a:t>      "1. Нэг цэгийн хүртээмж",</a:t>
            </a:r>
          </a:p>
          <a:p>
            <a:r>
              <a:t>      "Халамж, бүртгэл, хууль зүйн мэдээллийг холбох",</a:t>
            </a:r>
          </a:p>
          <a:p>
            <a:r>
              <a:t>      "Хүсэлт шийдвэрлэх хугацаа; давтан очилт"</a:t>
            </a:r>
          </a:p>
          <a:p>
            <a:r>
              <a:t>    ],</a:t>
            </a:r>
          </a:p>
          <a:p>
            <a:r>
              <a:t>    [</a:t>
            </a:r>
          </a:p>
          <a:p>
            <a:r>
              <a:t>      "2. Гомдлын бодит механизм",</a:t>
            </a:r>
          </a:p>
          <a:p>
            <a:r>
              <a:t>      "Шийдвэрийн үндэслэл, хянуулах сувгийг мэдээлэх",</a:t>
            </a:r>
          </a:p>
          <a:p>
            <a:r>
              <a:t>      "Хугацаандаа шийдсэн гомдлын хувь"</a:t>
            </a:r>
          </a:p>
          <a:p>
            <a:r>
              <a:t>    ],</a:t>
            </a:r>
          </a:p>
          <a:p>
            <a:r>
              <a:t>    [</a:t>
            </a:r>
          </a:p>
          <a:p>
            <a:r>
              <a:t>      "3. Суурь үйлчилгээний саад бууруулах",</a:t>
            </a:r>
          </a:p>
          <a:p>
            <a:r>
              <a:t>      "Тээвэр, хүртээмж, сургалтын далд зардлын дэмжлэг",</a:t>
            </a:r>
          </a:p>
          <a:p>
            <a:r>
              <a:t>      "Хичээлийн ирц; үйлчилгээ тасалдсан тохиолдол"</a:t>
            </a:r>
          </a:p>
          <a:p>
            <a:r>
              <a:t>    ],</a:t>
            </a:r>
          </a:p>
          <a:p>
            <a:r>
              <a:t>    [</a:t>
            </a:r>
          </a:p>
          <a:p>
            <a:r>
              <a:t>      "4. Орлогын хамгаалал",</a:t>
            </a:r>
          </a:p>
          <a:p>
            <a:r>
              <a:t>      "Эрсдэлд тохирсон дэмжлэг, хөдөлмөрийн зуучлал",</a:t>
            </a:r>
          </a:p>
          <a:p>
            <a:r>
              <a:t>      "Хамрагдалт; эрх бүхий өрхийн хасагдлын алдаа"</a:t>
            </a:r>
          </a:p>
          <a:p>
            <a:r>
              <a:t>    ],</a:t>
            </a:r>
          </a:p>
          <a:p>
            <a:r>
              <a:t>    [</a:t>
            </a:r>
          </a:p>
          <a:p>
            <a:r>
              <a:t>      "5. Төсвийн үндэслэл, оролцоо",</a:t>
            </a:r>
          </a:p>
          <a:p>
            <a:r>
              <a:t>      "Хэрэгцээнд тулгуурласан тооцоо, иргэдийн санал",</a:t>
            </a:r>
          </a:p>
          <a:p>
            <a:r>
              <a:t>      "Нийтэлсэн аргачлал; хэрэгжилтийн тайлан"</a:t>
            </a:r>
          </a:p>
          <a:p>
            <a:r>
              <a:t>    ]</a:t>
            </a:r>
          </a:p>
          <a:p>
            <a:r>
              <a:t>  ],</a:t>
            </a:r>
          </a:p>
          <a:p>
            <a:r>
              <a:t>  "take": "Эдгээр нь илтгэлийн бодлогын санал; одоо хүчин төгөлдөр хуульд бүгд заасан гэсэн үг биш.",</a:t>
            </a:r>
          </a:p>
          <a:p>
            <a:r>
              <a:t>  "sources": [</a:t>
            </a:r>
          </a:p>
          <a:p>
            <a:r>
              <a:t>    "ҮХ",</a:t>
            </a:r>
          </a:p>
          <a:p>
            <a:r>
              <a:t>    "ICESCR",</a:t>
            </a:r>
          </a:p>
          <a:p>
            <a:r>
              <a:t>    "SDG"</a:t>
            </a:r>
          </a:p>
          <a:p>
            <a:r>
              <a:t>  ]</a:t>
            </a:r>
          </a:p>
          <a:p>
            <a:r>
              <a:t>}</a:t>
            </a:r>
          </a:p>
          <a:p/>
          <a:p>
            <a:r>
              <a:t>ЭХ СУРВАЛЖ:</a:t>
            </a:r>
          </a:p>
          <a:p>
            <a:r>
              <a:t>[ҮХ] Монгол Улсын Үндсэн хууль — 1992.01.13</a:t>
            </a:r>
          </a:p>
          <a:p>
            <a:r>
              <a:t>https://legalinfo.mn/mn/detail/367</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нь ерөнхий мэдээлэл, тодорхой хэргийн хууль зүйн зөвлөгөө биш. Бүх маргаан заавал эдгээр дөрвөн алхмыг нэг ижил дарааллаар туулна гэсэн үг биш. ХЭҮК-д хандах нь шүүхэд нэхэмжлэл гаргах хугацааг автоматаар зогсооно гэж үзэхгүй. Нууц мэдээллийг илгээхдээ хамгаалж, мэргэжлийн зөвлөгөөг эрт авах нь зүйтэй.</a:t>
            </a:r>
          </a:p>
          <a:p/>
          <a:p>
            <a:r>
              <a:t>Үндсэн хууль • 1992.01.13: 16.12, 16.14. Гомдлын төрөл бүрийн журам, хугацаа өөр.</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"flow",</a:t>
            </a:r>
          </a:p>
          <a:p>
            <a:r>
              <a:t>  "section": "07 / ЭРХЭЭ ХАМГААЛАХ",</a:t>
            </a:r>
          </a:p>
          <a:p>
            <a:r>
              <a:t>  "title": "Үйлчилгээ авах боломж хаагдвал ямар дарааллаар хандах вэ?",</a:t>
            </a:r>
          </a:p>
          <a:p>
            <a:r>
              <a:t>  "steps": [</a:t>
            </a:r>
          </a:p>
          <a:p>
            <a:r>
              <a:t>    [</a:t>
            </a:r>
          </a:p>
          <a:p>
            <a:r>
              <a:t>      "Баримтжуулах",</a:t>
            </a:r>
          </a:p>
          <a:p>
            <a:r>
              <a:t>      "Хүсэлт, хариу, огноо\nТөлбөр, холбогдох баримт"</a:t>
            </a:r>
          </a:p>
          <a:p>
            <a:r>
              <a:t>    ],</a:t>
            </a:r>
          </a:p>
          <a:p>
            <a:r>
              <a:t>    [</a:t>
            </a:r>
          </a:p>
          <a:p>
            <a:r>
              <a:t>      "Үндэслэл авах",</a:t>
            </a:r>
          </a:p>
          <a:p>
            <a:r>
              <a:t>      "Татгалзсан шалтгаан\nШалгуур, хууль зүйн үндэс"</a:t>
            </a:r>
          </a:p>
          <a:p>
            <a:r>
              <a:t>    ],</a:t>
            </a:r>
          </a:p>
          <a:p>
            <a:r>
              <a:t>    [</a:t>
            </a:r>
          </a:p>
          <a:p>
            <a:r>
              <a:t>      "Хянуулах",</a:t>
            </a:r>
          </a:p>
          <a:p>
            <a:r>
              <a:t>      "Эрх бүхий байгууллага\nХЭҮК, хууль зүйн зөвлөгөө"</a:t>
            </a:r>
          </a:p>
          <a:p>
            <a:r>
              <a:t>    ],</a:t>
            </a:r>
          </a:p>
          <a:p>
            <a:r>
              <a:t>    [</a:t>
            </a:r>
          </a:p>
          <a:p>
            <a:r>
              <a:t>      "Шүүхээр хамгаалах",</a:t>
            </a:r>
          </a:p>
          <a:p>
            <a:r>
              <a:t>      "Маргааны харьяаллыг тогтоох\nХугацаа, журмыг нягтлах"</a:t>
            </a:r>
          </a:p>
          <a:p>
            <a:r>
              <a:t>    ]</a:t>
            </a:r>
          </a:p>
          <a:p>
            <a:r>
              <a:t>  ],</a:t>
            </a:r>
          </a:p>
          <a:p>
            <a:r>
              <a:t>  "take": "Үндсэн хууль • 1992.01.13: 16.12, 16.14. Гомдлын төрөл бүрийн журам, хугацаа өөр.",</a:t>
            </a:r>
          </a:p>
          <a:p>
            <a:r>
              <a:t>  "sources": [</a:t>
            </a:r>
          </a:p>
          <a:p>
            <a:r>
              <a:t>    "ҮХ"</a:t>
            </a:r>
          </a:p>
          <a:p>
            <a:r>
              <a:t>  ]</a:t>
            </a:r>
          </a:p>
          <a:p>
            <a:r>
              <a:t>}</a:t>
            </a:r>
          </a:p>
          <a:p/>
          <a:p>
            <a:r>
              <a:t>ЭХ СУРВАЛЖ:</a:t>
            </a:r>
          </a:p>
          <a:p>
            <a:r>
              <a:t>[ҮХ] Монгол Улсын Үндсэн хууль — 1992.01.13</a:t>
            </a:r>
          </a:p>
          <a:p>
            <a:r>
              <a:t>https://legalinfo.mn/mn/detail/367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Дүгнэлтийг гурван асуудалтай холбож хэлнэ: мөнгөний дэмжлэг, чанартай суурь үйлчилгээ, эрхээ хамгаалах механизм. Шүүхийн кейсүүд нь бодлого хэрэгжүүлж байгаа эсэхээс гадна хэнийг орхиж байгааг хянах шаардлагатайг харуулдаг.</a:t>
            </a:r>
          </a:p>
          <a:p/>
          <a:p>
            <a:r>
              <a:t>Хэлэлцүүлэг: Монголд хамгийн түрүүнд аль саадыг арилгавал иргэдийн эрхийн бодит боломж нэмэгдэх вэ?</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"cards",</a:t>
            </a:r>
          </a:p>
          <a:p>
            <a:r>
              <a:t>  "section": "08 / ДҮГНЭЛТ",</a:t>
            </a:r>
          </a:p>
          <a:p>
            <a:r>
              <a:t>  "title": "Нэр төртэй амьдрал бол бодлогын гол шалгуур",</a:t>
            </a:r>
          </a:p>
          <a:p>
            <a:r>
              <a:t>  "cards": [</a:t>
            </a:r>
          </a:p>
          <a:p>
            <a:r>
              <a:t>    [</a:t>
            </a:r>
          </a:p>
          <a:p>
            <a:r>
              <a:t>      "01  Эрх тэгш",</a:t>
            </a:r>
          </a:p>
          <a:p>
            <a:r>
              <a:t>      "Орлого бага байх нь хүний эрх, нэр төрийг бууруулахгүй. Ялгаварлалгүй байдал бол суурь шаардлага."</a:t>
            </a:r>
          </a:p>
          <a:p>
            <a:r>
              <a:t>    ],</a:t>
            </a:r>
          </a:p>
          <a:p>
            <a:r>
              <a:t>    [</a:t>
            </a:r>
          </a:p>
          <a:p>
            <a:r>
              <a:t>      "02  Бодит хүртээмж",</a:t>
            </a:r>
          </a:p>
          <a:p>
            <a:r>
              <a:t>      "Хуулийн заалт нь төсөв, үйлчилгээ, мэдээлэл, орчны хүртээмжээр дамжин бодит боломж болно."</a:t>
            </a:r>
          </a:p>
          <a:p>
            <a:r>
              <a:t>    ],</a:t>
            </a:r>
          </a:p>
          <a:p>
            <a:r>
              <a:t>    [</a:t>
            </a:r>
          </a:p>
          <a:p>
            <a:r>
              <a:t>      "03  Хариуцлага",</a:t>
            </a:r>
          </a:p>
          <a:p>
            <a:r>
              <a:t>      "Тооцоолол ил тод, шийдвэр үндэслэлтэй, гомдол хянуулах боломжтой үед хамгаалалт үр дүнтэй."</a:t>
            </a:r>
          </a:p>
          <a:p>
            <a:r>
              <a:t>    ]</a:t>
            </a:r>
          </a:p>
          <a:p>
            <a:r>
              <a:t>  ],</a:t>
            </a:r>
          </a:p>
          <a:p>
            <a:r>
              <a:t>  "take": "Хэлэлцүүлэг: Монголд хамгийн түрүүнд аль саадыг арилгавал иргэдийн эрхийн бодит боломж нэмэгдэх вэ?",</a:t>
            </a:r>
          </a:p>
          <a:p>
            <a:r>
              <a:t>  "sources": [</a:t>
            </a:r>
          </a:p>
          <a:p>
            <a:r>
              <a:t>    "ҮХ",</a:t>
            </a:r>
          </a:p>
          <a:p>
            <a:r>
              <a:t>    "UDHR",</a:t>
            </a:r>
          </a:p>
          <a:p>
            <a:r>
              <a:t>    "ICESCR"</a:t>
            </a:r>
          </a:p>
          <a:p>
            <a:r>
              <a:t>  ]</a:t>
            </a:r>
          </a:p>
          <a:p>
            <a:r>
              <a:t>}</a:t>
            </a:r>
          </a:p>
          <a:p/>
          <a:p>
            <a:r>
              <a:t>ЭХ СУРВАЛЖ:</a:t>
            </a:r>
          </a:p>
          <a:p>
            <a:r>
              <a:t>[ҮХ] Монгол Улсын Үндсэн хууль — 1992.01.13</a:t>
            </a:r>
          </a:p>
          <a:p>
            <a:r>
              <a:t>https://legalinfo.mn/mn/detail/367</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Огноонууд нь баримт бичгийн батлагдсан огноо. Хуулийн агуулгыг сургалтын зориулалтаар хураангуйлсан бөгөөд үгчилсэн эшлэл биш. Монголын хуулийн хамгийн сүүлийн нэмэлт, өөрчлөлт, тухайн хэрэгт хэрэглэх найруулгыг албан ёсны нэгтгэсэн эхээс дахин нягтална.</a:t>
            </a:r>
          </a:p>
          <a:p/>
          <a:p>
            <a:r>
              <a:t>Албан ёсны эх: legalinfo.mn • ohchr.org. Слайдын тайлбар хэсэгт холбогдох эх сурвалжийн холбоос бий.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"refs",</a:t>
            </a:r>
          </a:p>
          <a:p>
            <a:r>
              <a:t>  "section": "09 / ЭХ СУРВАЛЖ • 1/2",</a:t>
            </a:r>
          </a:p>
          <a:p>
            <a:r>
              <a:t>  "title": "Монголын хууль ба олон улсын баримт бичиг",</a:t>
            </a:r>
          </a:p>
          <a:p>
            <a:r>
              <a:t>  "refs": [</a:t>
            </a:r>
          </a:p>
          <a:p>
            <a:r>
              <a:t>    "ҮХ",</a:t>
            </a:r>
          </a:p>
          <a:p>
            <a:r>
              <a:t>    "ХТ",</a:t>
            </a:r>
          </a:p>
          <a:p>
            <a:r>
              <a:t>    "НХ",</a:t>
            </a:r>
          </a:p>
          <a:p>
            <a:r>
              <a:t>    "БЕХ",</a:t>
            </a:r>
          </a:p>
          <a:p>
            <a:r>
              <a:t>    "ХБХ",</a:t>
            </a:r>
          </a:p>
          <a:p>
            <a:r>
              <a:t>    "UDHR",</a:t>
            </a:r>
          </a:p>
          <a:p>
            <a:r>
              <a:t>    "ICESCR",</a:t>
            </a:r>
          </a:p>
          <a:p>
            <a:r>
              <a:t>    "ICCPR",</a:t>
            </a:r>
          </a:p>
          <a:p>
            <a:r>
              <a:t>    "CRC",</a:t>
            </a:r>
          </a:p>
          <a:p>
            <a:r>
              <a:t>    "CEDAW",</a:t>
            </a:r>
          </a:p>
          <a:p>
            <a:r>
              <a:t>    "CRPD"</a:t>
            </a:r>
          </a:p>
          <a:p>
            <a:r>
              <a:t>  ],</a:t>
            </a:r>
          </a:p>
          <a:p>
            <a:r>
              <a:t>  "take": "Албан ёсны эх: legalinfo.mn • ohchr.org. Слайдын тайлбар хэсэгт холбогдох эх сурвалжийн холбоос бий.",</a:t>
            </a:r>
          </a:p>
          <a:p>
            <a:r>
              <a:t>  "sources": []</a:t>
            </a:r>
          </a:p>
          <a:p>
            <a:r>
              <a:t>}</a:t>
            </a:r>
          </a:p>
          <a:p/>
          <a:p>
            <a:r>
              <a:t>ЭХ СУРВАЛЖ:</a:t>
            </a:r>
          </a:p>
          <a:p>
            <a:r>
              <a:t>[ҮХ] Монгол Улсын Үндсэн хууль — 1992.01.13</a:t>
            </a:r>
          </a:p>
          <a:p>
            <a:r>
              <a:t>https://legalinfo.mn/mn/detail/367</a:t>
            </a:r>
          </a:p>
          <a:p>
            <a:r>
              <a:t>[ХТ] Хөдөлмөрийн тухай хууль /шинэчилсэн найруулга/ — 2021.07.02</a:t>
            </a:r>
          </a:p>
          <a:p>
            <a:r>
              <a:t>https://legalinfo.mn</a:t>
            </a:r>
          </a:p>
          <a:p>
            <a:r>
              <a:t>[НХ] Нийгмийн халамжийн тухай хууль /шинэчилсэн найруулга/ — 2012.01.19</a:t>
            </a:r>
          </a:p>
          <a:p>
            <a:r>
              <a:t>https://legalinfo.mn</a:t>
            </a:r>
          </a:p>
          <a:p>
            <a:r>
              <a:t>[БЕХ] Боловсролын ерөнхий хууль /шинэчилсэн найруулга/ — 2023.07.07</a:t>
            </a:r>
          </a:p>
          <a:p>
            <a:r>
              <a:t>https://legalinfo.mn</a:t>
            </a:r>
          </a:p>
          <a:p>
            <a:r>
              <a:t>[ХБХ] Хөгжлийн бэрхшээлтэй хүний эрхийн тухай хууль — 2016.02.05</a:t>
            </a:r>
          </a:p>
          <a:p>
            <a:r>
              <a:t>https://legalinfo.mn</a:t>
            </a:r>
          </a:p>
          <a:p>
            <a:r>
              <a:t>[UDHR] Хүний эрхийн түгээмэл тунхаглал — 1948.12.10</a:t>
            </a:r>
          </a:p>
          <a:p>
            <a:r>
              <a:t>https://www.ohchr.org/en/human-rights/universal-declaration/translations/mongolian</a:t>
            </a:r>
          </a:p>
          <a:p>
            <a:r>
              <a:t>[ICESCR] Эдийн засаг, нийгэм, соёлын эрхийн тухай олон улсын пакт — 1966.12.16; хүчин төгөлдөр: 1976.01.03</a:t>
            </a:r>
          </a:p>
          <a:p>
            <a:r>
              <a:t>https://www.ohchr.org/en/instruments-mechanisms/instruments/international-covenant-economic-social-and-cultural-rights</a:t>
            </a:r>
          </a:p>
          <a:p>
            <a:r>
              <a:t>[ICCPR] Иргэний болон улс төрийн эрхийн тухай олон улсын пакт — 1966.12.16; хүчин төгөлдөр: 1976.03.23</a:t>
            </a:r>
          </a:p>
          <a:p>
            <a:r>
              <a:t>https://www.ohchr.org/en/instruments-mechanisms/instruments/international-covenant-civil-and-political-rights</a:t>
            </a:r>
          </a:p>
          <a:p>
            <a:r>
              <a:t>[CRC] Хүүхдийн эрхийн тухай конвенц — 1989.11.20; хүчин төгөлдөр: 1990.09.02</a:t>
            </a:r>
          </a:p>
          <a:p>
            <a:r>
              <a:t>https://www.ohchr.org/en/instruments-mechanisms/instruments/convention-rights-child</a:t>
            </a:r>
          </a:p>
          <a:p>
            <a:r>
              <a:t>[CEDAW] Эмэгтэйчүүдийг алагчлах бүх хэлбэрийг устгах тухай конвенц — 1979.12.18; хүчин төгөлдөр: 1981.09.03</a:t>
            </a:r>
          </a:p>
          <a:p>
            <a:r>
              <a:t>https://www.ohchr.org/en/instruments-mechanisms/instruments/convention-elimination-all-forms-discrimination-against-women</a:t>
            </a:r>
          </a:p>
          <a:p>
            <a:r>
              <a:t>[CRPD] Хөгжлийн бэрхшээлтэй хүмүүсийн эрхийн тухай конвенц — 2006.12.13; хүчин төгөлдөр: 2008.05.03</a:t>
            </a:r>
          </a:p>
          <a:p>
            <a:r>
              <a:t>https://www.ohchr.org/en/instruments-mechanisms/instruments/convention-rights-persons-disabilities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Судалгааны тоо, кейсийн огноо, хэрэг дугаар нь нийтэд түгээмэл мэдээлэгдсэн баримтад тулгуурласан. Энэ орчинд эх сурвалжийн сайтуудад хандахад 403 хариу ирсэн тул сүүлийн хувилбарыг онлайн нягталсан гэж үзэхгүй. Ядуурлын график 2016–2022 оны түүхэн өгөгдөл; 2026 оны түвшин биш. Эндхүү эх сурвалжийн холбоосын зарим нь байгууллагын хайлт/нийтлэлийн нүүр хуудас тул баримт бичгийн гарчиг, огноо, хэрэг дугаараар хайна. Материалыг ашиглахын өмнө хууль, статистикийн анхдагч эхийг нягтлахыг зөвлөж байна.</a:t>
            </a:r>
          </a:p>
          <a:p/>
          <a:p>
            <a:r>
              <a:t>Хязгаарлалт: албан ёсны сайтуудад шууд нэвтрэхийг орчны сүлжээ хаасан; эхүүдийг онлайн дахин тулгаж баталгаажуулаагүй.</a:t>
            </a:r>
          </a:p>
          <a:p/>
          <a:p>
            <a:r>
              <a:t>Энэ слайдын 3D орчин нь AI-гаар үүсгэсэн концепц дүрслэл. Бодит хэргийн оролцогч, барилга, байршлын гэрэл зураг биш.</a:t>
            </a:r>
          </a:p>
          <a:p/>
          <a:p>
            <a:r>
              <a:t>Слайдын дэлгэрэнгүй агуулга:</a:t>
            </a:r>
          </a:p>
          <a:p>
            <a:r>
              <a:t>{</a:t>
            </a:r>
          </a:p>
          <a:p>
            <a:r>
              <a:t>  "k": "refs",</a:t>
            </a:r>
          </a:p>
          <a:p>
            <a:r>
              <a:t>  "section": "09 / ЭХ СУРВАЛЖ • 2/2",</a:t>
            </a:r>
          </a:p>
          <a:p>
            <a:r>
              <a:t>  "title": "Судалгаа, шүүхийн кейс ба мэдээллийн тайлбар",</a:t>
            </a:r>
          </a:p>
          <a:p>
            <a:r>
              <a:t>  "refs": [</a:t>
            </a:r>
          </a:p>
          <a:p>
            <a:r>
              <a:t>    "POV",</a:t>
            </a:r>
          </a:p>
          <a:p>
            <a:r>
              <a:t>    "GROOT",</a:t>
            </a:r>
          </a:p>
          <a:p>
            <a:r>
              <a:t>    "TAC",</a:t>
            </a:r>
          </a:p>
          <a:p>
            <a:r>
              <a:t>    "GER",</a:t>
            </a:r>
          </a:p>
          <a:p>
            <a:r>
              <a:t>    "FIN",</a:t>
            </a:r>
          </a:p>
          <a:p>
            <a:r>
              <a:t>    "BRA",</a:t>
            </a:r>
          </a:p>
          <a:p>
            <a:r>
              <a:t>    "GC3",</a:t>
            </a:r>
          </a:p>
          <a:p>
            <a:r>
              <a:t>    "SDG"</a:t>
            </a:r>
          </a:p>
          <a:p>
            <a:r>
              <a:t>  ],</a:t>
            </a:r>
          </a:p>
          <a:p>
            <a:r>
              <a:t>  "take": "Хязгаарлалт: албан ёсны сайтуудад шууд нэвтрэхийг орчны сүлжээ хаасан; эхүүдийг онлайн дахин тулгаж баталгаажуулаагүй.",</a:t>
            </a:r>
          </a:p>
          <a:p>
            <a:r>
              <a:t>  "sources": []</a:t>
            </a:r>
          </a:p>
          <a:p>
            <a:r>
              <a:t>}</a:t>
            </a:r>
          </a:p>
          <a:p/>
          <a:p>
            <a:r>
              <a:t>ЭХ СУРВАЛЖ:</a:t>
            </a:r>
          </a:p>
          <a:p>
            <a:r>
              <a:t>[POV] ҮСХ, Дэлхийн банк: Mongolia Poverty Update 2022, 2024 онд нийтэлсэн; үндэсний ядуурлын түвшин</a:t>
            </a:r>
          </a:p>
          <a:p>
            <a:r>
              <a:t>https://www.worldbank.org/en/country/mongolia/publication</a:t>
            </a:r>
          </a:p>
          <a:p>
            <a:r>
              <a:t>[GROOT] Government of the Republic of South Africa v Grootboom [2000] ZACC 19 — 2000.10.04</a:t>
            </a:r>
          </a:p>
          <a:p>
            <a:r>
              <a:t>https://www.saflii.org/za/cases/ZACC/2000/19.html</a:t>
            </a:r>
          </a:p>
          <a:p>
            <a:r>
              <a:t>[TAC] Minister of Health v Treatment Action Campaign (No 2) [2002] ZACC 15 — 2002.07.05</a:t>
            </a:r>
          </a:p>
          <a:p>
            <a:r>
              <a:t>https://www.saflii.org/za/cases/ZACC/2002/15.html</a:t>
            </a:r>
          </a:p>
          <a:p>
            <a:r>
              <a:t>[GER] BVerfG, 1 BvL 1/09, 1 BvL 3/09, 1 BvL 4/09 — 2010.02.09, амьжиргааны доод баталгаа</a:t>
            </a:r>
          </a:p>
          <a:p>
            <a:r>
              <a:t>https://www.bundesverfassungsgericht.de</a:t>
            </a:r>
          </a:p>
          <a:p>
            <a:r>
              <a:t>[FIN] Kela: Финландын суурь орлогын туршилт, 2017–2018; эцсийн үр дүн 2020</a:t>
            </a:r>
          </a:p>
          <a:p>
            <a:r>
              <a:t>https://www.kela.fi/basic-income-experiment</a:t>
            </a:r>
          </a:p>
          <a:p>
            <a:r>
              <a:t>[BRA] Бразил: Lei nº 10.836 — 2004.01.09; Lei nº 14.601 — 2023.06.19</a:t>
            </a:r>
          </a:p>
          <a:p>
            <a:r>
              <a:t>https://www.planalto.gov.br/ccivil_03/_ato2023-2026/2023/lei/l14601.htm</a:t>
            </a:r>
          </a:p>
          <a:p>
            <a:r>
              <a:t>[GC3] CESCR, Ерөнхий тайлбар №3 — 1990.12.14; улсын үүрэг, доод цөм шаардлага</a:t>
            </a:r>
          </a:p>
          <a:p>
            <a:r>
              <a:t>https://www.ohchr.org/en/documents/general-comments-and-recommendations/general-comment-no-3-nature-states-parties-obligations</a:t>
            </a:r>
          </a:p>
          <a:p>
            <a:r>
              <a:t>[SDG] НҮБ, A/RES/70/1 — 2015.09.25, Тогтвортой хөгжлийн зорилго</a:t>
            </a:r>
          </a:p>
          <a:p>
            <a:r>
              <a:t>https://sdgs.un.org/2030agenda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0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0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03"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04"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05"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06"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07"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08"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09"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10"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1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1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13"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14"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15"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16"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17"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18"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19"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20"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2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22"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23"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24"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25"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26"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27"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28"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29"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inematic 3D scene — slide 30"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Нийгмийн доод давхраа ба хүний эрх — Cinematic 3D Edition</dc:title>
  <dc:subject>МУИС • Фотореалистик 3D дүрслэл • Дизайн хадгалах үндсэн хувилбар</dc:subject>
  <dc:creator>Б. Саранчимэг · Ш. Түвшинбаяр · Б. Энхзаяа</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