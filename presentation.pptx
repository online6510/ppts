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Хүн амын эзлэх хувь (%)</c:v>
                </c:pt>
              </c:strCache>
            </c:strRef>
          </c:tx>
          <c:dPt>
            <c:idx val="0"/>
            <c:spPr>
              <a:solidFill>
                <a:srgbClr val="17375E"/>
              </a:solidFill>
              <a:ln>
                <a:noFill/>
              </a:ln>
            </c:spPr>
          </c:dPt>
          <c:dPt>
            <c:idx val="1"/>
            <c:spPr>
              <a:solidFill>
                <a:srgbClr val="D4AD49"/>
              </a:solidFill>
              <a:ln>
                <a:noFill/>
              </a:ln>
            </c:spPr>
          </c:dPt>
          <c:cat>
            <c:strRef>
              <c:f>Sheet1!$A$2:$A$3</c:f>
              <c:strCache>
                <c:ptCount val="2"/>
                <c:pt idx="0">
                  <c:v>Ядуурлын босгоос
доогуур</c:v>
                </c:pt>
                <c:pt idx="1">
                  <c:v>Бусад</c:v>
                </c:pt>
              </c:strCache>
            </c:strRef>
          </c:cat>
          <c:val>
            <c:numRef>
              <c:f>Sheet1!$B$2:$B$3</c:f>
              <c:numCache>
                <c:formatCode>General</c:formatCode>
                <c:ptCount val="2"/>
                <c:pt idx="0">
                  <c:v>27.1</c:v>
                </c:pt>
                <c:pt idx="1">
                  <c:v>72.9</c:v>
                </c:pt>
              </c:numCache>
            </c:numRef>
          </c:val>
        </c:ser>
        <c:dLbls>
          <c:numFmt formatCode="0.0&quot;%&quot;" sourceLinked="0"/>
          <c:txPr>
            <a:bodyPr/>
            <a:lstStyle/>
            <a:p>
              <a:pPr>
                <a:defRPr sz="1800" b="1">
                  <a:latin typeface="Times New Roman"/>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val="0"/>
        <c:axPos val="b"/>
        <c:majorTickMark val="out"/>
        <c:minorTickMark val="none"/>
        <c:tickLblPos val="nextTo"/>
        <c:spPr>
          <a:ln>
            <a:solidFill>
              <a:srgbClr val="CFD8E1"/>
            </a:solidFill>
          </a:ln>
        </c:spPr>
        <c:txPr>
          <a:bodyPr/>
          <a:lstStyle/>
          <a:p>
            <a:pPr>
              <a:defRPr sz="1500">
                <a:solidFill>
                  <a:srgbClr val="15191E"/>
                </a:solidFill>
                <a:latin typeface="Times New Roman"/>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CFD8E1"/>
              </a:solidFill>
            </a:ln>
          </c:spPr>
        </c:majorGridlines>
        <c:majorTickMark val="out"/>
        <c:minorTickMark val="none"/>
        <c:tickLblPos val="nextTo"/>
        <c:spPr>
          <a:ln>
            <a:solidFill>
              <a:srgbClr val="CFD8E1"/>
            </a:solidFill>
          </a:ln>
        </c:spPr>
        <c:txPr>
          <a:bodyPr/>
          <a:lstStyle/>
          <a:p>
            <a:pPr>
              <a:defRPr sz="1300">
                <a:solidFill>
                  <a:srgbClr val="53616E"/>
                </a:solidFill>
                <a:latin typeface="Times New Roman"/>
              </a:defRPr>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Амьдралын сэтгэл ханамж (оноо)</c:v>
                </c:pt>
              </c:strCache>
            </c:strRef>
          </c:tx>
          <c:dPt>
            <c:idx val="0"/>
            <c:spPr>
              <a:solidFill>
                <a:srgbClr val="17375E"/>
              </a:solidFill>
              <a:ln>
                <a:noFill/>
              </a:ln>
            </c:spPr>
          </c:dPt>
          <c:dPt>
            <c:idx val="1"/>
            <c:spPr>
              <a:solidFill>
                <a:srgbClr val="D4AD49"/>
              </a:solidFill>
              <a:ln>
                <a:noFill/>
              </a:ln>
            </c:spPr>
          </c:dPt>
          <c:cat>
            <c:strRef>
              <c:f>Sheet1!$A$2:$A$3</c:f>
              <c:strCache>
                <c:ptCount val="2"/>
                <c:pt idx="0">
                  <c:v>Дэмжлэг авсан
бүлэг</c:v>
                </c:pt>
                <c:pt idx="1">
                  <c:v>Харьцуулах
бүлэг</c:v>
                </c:pt>
              </c:strCache>
            </c:strRef>
          </c:cat>
          <c:val>
            <c:numRef>
              <c:f>Sheet1!$B$2:$B$3</c:f>
              <c:numCache>
                <c:formatCode>General</c:formatCode>
                <c:ptCount val="2"/>
                <c:pt idx="0">
                  <c:v>7.3</c:v>
                </c:pt>
                <c:pt idx="1">
                  <c:v>6.8</c:v>
                </c:pt>
              </c:numCache>
            </c:numRef>
          </c:val>
        </c:ser>
        <c:dLbls>
          <c:numFmt formatCode="0.0" sourceLinked="0"/>
          <c:txPr>
            <a:bodyPr/>
            <a:lstStyle/>
            <a:p>
              <a:pPr>
                <a:defRPr sz="1800" b="1">
                  <a:latin typeface="Times New Roman"/>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val="0"/>
        <c:axPos val="b"/>
        <c:majorTickMark val="out"/>
        <c:minorTickMark val="none"/>
        <c:tickLblPos val="nextTo"/>
        <c:spPr>
          <a:ln>
            <a:solidFill>
              <a:srgbClr val="CFD8E1"/>
            </a:solidFill>
          </a:ln>
        </c:spPr>
        <c:txPr>
          <a:bodyPr/>
          <a:lstStyle/>
          <a:p>
            <a:pPr>
              <a:defRPr sz="1500">
                <a:solidFill>
                  <a:srgbClr val="15191E"/>
                </a:solidFill>
                <a:latin typeface="Times New Roman"/>
              </a:defRPr>
            </a:pPr>
          </a:p>
        </c:txPr>
        <c:crossAx val="-2113994440"/>
        <c:crosses val="autoZero"/>
        <c:auto val="1"/>
        <c:lblAlgn val="ctr"/>
        <c:lblOffset val="100"/>
        <c:noMultiLvlLbl val="0"/>
      </c:catAx>
      <c:valAx>
        <c:axId val="-2113994440"/>
        <c:scaling>
          <c:max val="10.0"/>
          <c:min val="0.0"/>
        </c:scaling>
        <c:delete val="0"/>
        <c:axPos val="l"/>
        <c:majorGridlines>
          <c:spPr>
            <a:ln>
              <a:solidFill>
                <a:srgbClr val="CFD8E1"/>
              </a:solidFill>
            </a:ln>
          </c:spPr>
        </c:majorGridlines>
        <c:majorTickMark val="out"/>
        <c:minorTickMark val="none"/>
        <c:tickLblPos val="nextTo"/>
        <c:spPr>
          <a:ln>
            <a:solidFill>
              <a:srgbClr val="CFD8E1"/>
            </a:solidFill>
          </a:ln>
        </c:spPr>
        <c:txPr>
          <a:bodyPr/>
          <a:lstStyle/>
          <a:p>
            <a:pPr>
              <a:defRPr sz="1300">
                <a:solidFill>
                  <a:srgbClr val="53616E"/>
                </a:solidFill>
                <a:latin typeface="Times New Roman"/>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Сайн байцгаана уу. Бид нийгмийн орлого, боломжийн ялгаа хүний эрхээ бодитоор эдлэхэд хэрхэн нөлөөлдгийг онол, хууль, судалгаа, бодит шүүхийн хэрэгт тулгуурлан тайлбарлана.</a:t>
            </a:r>
          </a:p>
          <a:p/>
          <a:p>
            <a:r>
              <a:t>ҮНДСЭН ТАЙЛБАР</a:t>
            </a:r>
          </a:p>
          <a:p>
            <a:r>
              <a:t>Оюутнууд: Б. Саранчимэг, Ш. Түвшинбаяр, Б. Энхзаяа</a:t>
            </a:r>
          </a:p>
          <a:p>
            <a:r>
              <a:t>Багш: Б. Тамир</a:t>
            </a:r>
          </a:p>
          <a:p/>
          <a:p>
            <a:r>
              <a:t>ЭХ СУРВАЛЖ</a:t>
            </a:r>
          </a:p>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сэдвийг сонгосон шалтгаан нь хуульд ижил эрхтэй гэж заасан ч хүмүүс тэр эрхээ бодитоор эдлэх боломж адилгүй байгаатай холбоотой. Үйлчилгээний төлбөрөөс гадна зай, тээвэр, мэдээллийн саад байдгийг онцлоно.</a:t>
            </a:r>
          </a:p>
          <a:p/>
          <a:p>
            <a:r>
              <a:t>ҮНДСЭН ТАЙЛБАР</a:t>
            </a:r>
          </a:p>
          <a:p>
            <a:r>
              <a:t>Хүний эрх хүн бүрд адил хамаарах боловч түүнийг бодитоор эдлэх боломж нийгмийн нөхцөлөөс шалтгаалан ялгаатай байдаг. Орлого хүрэлцэхгүй, ажил тогтворгүй, сургууль болон эмнэлэгт хүрэхэд зардал ихтэй байх нь бага орлоготой иргэдэд нэмэлт саад учруулдаг. Иймээс ядуурлыг зөвхөн тухайн хүний мөнгөний дутагдал гэж үзэх нь хангалтгүй. Хуулиар баталгаажсан эрх бодит амьдралд хэрхэн хэрэгжиж байгааг орлого, үйлчилгээний хүртээмж, эрхээ хамгаалуулах боломжтой нь холбон судлах шаардлагатай.</a:t>
            </a:r>
          </a:p>
          <a:p/>
          <a:p>
            <a:r>
              <a:t>ЭХ СУРВАЛЖ</a:t>
            </a:r>
          </a:p>
          <a:p>
            <a:r>
              <a:t>[ҮХ] Монгол Улсын Үндсэн хууль. Баталсан: 1992.01.13.</a:t>
            </a:r>
          </a:p>
          <a:p>
            <a:r>
              <a:t>https://legalinfo.mn/mn/detail/367</a:t>
            </a:r>
          </a:p>
          <a:p>
            <a:r>
              <a:t>[Сэн] Sen, A. (1999). Development as Freedom. Oxford: Oxford University Press.</a:t>
            </a:r>
          </a:p>
          <a:p>
            <a:r>
              <a:t>https://global.oup.com/academic/product/development-as-freedom-9780192893307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Дарааллыг товч танилцуулна: онол, хууль, судалгаа, шүүхийн хэрэг, санал. Энэ нь шинэ анхдагч судалгаа биш, нийтлэгдсэн эхүүдэд тулгуурласан сургалтын шинжилгээ юм.</a:t>
            </a:r>
          </a:p>
          <a:p/>
          <a:p>
            <a:r>
              <a:t>ҮНДСЭН ТАЙЛБАР</a:t>
            </a:r>
          </a:p>
          <a:p>
            <a:r>
              <a:t>Илтгэлийн зорилго нь нийгмийн эмзэг нөхцөлтэй иргэдийн эрхээ эдлэхэд тулгардаг саадыг онол, эрх зүй, судалгааны баримтаар тайлбарлахад оршино. Үүний хүрээнд нийгмийн давхраажилт, шударга ёс, бодит боломжийн талаарх онолыг авч үзэж, Монголын хууль болон олон улсын баримт бичгийн холбогдох зохицуулалтыг харьцуулна. Мөн Монголын ядуурлын тооцоолол, Финландын орлогын туршилт, гадаадын шүүхийн шийдвэрээс авах сургамжийг нэгтгэн Монголд хэрэгжүүлэх санал дэвшүүлнэ.</a:t>
            </a:r>
          </a:p>
          <a:p/>
          <a:p>
            <a:r>
              <a:t>ЭХ СУРВАЛЖ</a:t>
            </a:r>
          </a:p>
          <a:p>
            <a:r>
              <a:t>[ҮХ] Монгол Улсын Үндсэн хууль. Баталсан: 1992.01.13.</a:t>
            </a:r>
          </a:p>
          <a:p>
            <a:r>
              <a:t>https://legalinfo.mn/mn/detail/367</a:t>
            </a:r>
          </a:p>
          <a:p>
            <a:r>
              <a:t>[МОН-2022] ҮСХ, Дэлхийн банк. Монгол Улсын 2022 оны ядуурлын тооцоолол; Өрхийн нийгэм, эдийн засгийн судалгаа, 2022.</a:t>
            </a:r>
          </a:p>
          <a:p>
            <a:r>
              <a:t>https://www.1212.mn</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Марксын хувьд өмч, хөдөлмөрийн харилцаа чухал. Веберийн хувьд эдийн засгаас гадна нэр хүнд, эрх мэдлийн ялгаа бий. “Орлого бага учраас хүн үнэ цэн багатай” гэсэн дүгнэлт эдгээр онолоос гарахгүй.</a:t>
            </a:r>
          </a:p>
          <a:p/>
          <a:p>
            <a:r>
              <a:t>ҮНДСЭН ТАЙЛБАР</a:t>
            </a:r>
          </a:p>
          <a:p>
            <a:r>
              <a:t>Нийгмийн давхраажилт нь хүмүүс орлого, өмч, эрх мэдэл, нэр хүндийн хувьд ялгаатай байр суурь эзлэхийг тайлбарладаг. Маркс үйлдвэрлэлийн хэрэгслийг эзэмших байдал, хөдөлмөрийн харилцааг ангийн ялгааны гол үндэс гэж үзсэн. Вебер эдийн засгийн ангиас гадна нийгмийн байр суурь, улс төрийн эрх мэдлийг ялган авч үзсэн. Эдгээр хандлагаас бага орлоготой байдлыг зөвхөн хувь хүний сонголтоор бус, нөөц ба боломжийн хуваарилалттай холбон ойлгож болно. Энд “доод давхраа” гэх нэр томьёо нь хүний үнэ цэнийг үнэлсэн утгагүй.</a:t>
            </a:r>
          </a:p>
          <a:p/>
          <a:p>
            <a:r>
              <a:t>ЭХ СУРВАЛЖ</a:t>
            </a:r>
          </a:p>
          <a:p>
            <a:r>
              <a:t>[Маркс] Marx, K. (1867). Das Kapital. Band I. Hamburg: Otto Meissner.</a:t>
            </a:r>
          </a:p>
          <a:p>
            <a:r>
              <a:t>https://www.marxists.org/archive/marx/works/1867-c1/</a:t>
            </a:r>
          </a:p>
          <a:p>
            <a:r>
              <a:t>[Вебер] Weber, M. (1922). Wirtschaft und Gesellschaft. Tübingen: J. C. B. Mohr.</a:t>
            </a:r>
          </a:p>
          <a:p>
            <a:r>
              <a:t>https://archive.org/search?query=Weber+Wirtschaft+und+Gesellschaft+1922</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Тэгш эрх ба нөхцөлд тохирсон дэмжлэгийг ялгаж тайлбарлана. Ялгааны зарчмыг бүх тэгш бус байдлыг зөвтгөнө гэж тайлбарлахгүй; шударга боломж зэрэг бусад шаардлага хамт үйлчилнэ.</a:t>
            </a:r>
          </a:p>
          <a:p/>
          <a:p>
            <a:r>
              <a:t>ҮНДСЭН ТАЙЛБАР</a:t>
            </a:r>
          </a:p>
          <a:p>
            <a:r>
              <a:t>Роулсын шударга ёсны онол тэгш үндсэн эрх чөлөө, боломжийн шударга тэгш байдлыг чухалчилдаг. Түүний ялгааны зарчмаар нийгэм, эдийн засгийн тэгш бус байдал нь хамгийн таагүй нөхцөлтэй хүмүүсийн ашиг сонирхолд нийцэж байх шаардлагатай. Энэ хандлага нь нөөцийг хүн бүрд ижил хэмжээгээр өгөхөөс гадна хэнд ямар саад тулгарч байгааг харгалзах үндэслэл болдог. Иймээс нийгмийн бодлогыг үнэлэхдээ нийт өсөлтөөр хязгаарлахгүйгээр хамгийн бага боломжтой хүмүүсийн нөхцөл сайжирсан эсэхийг асуух хэрэгтэй.</a:t>
            </a:r>
          </a:p>
          <a:p/>
          <a:p>
            <a:r>
              <a:t>ЭХ СУРВАЛЖ</a:t>
            </a:r>
          </a:p>
          <a:p>
            <a:r>
              <a:t>[Роулс] Rawls, J. (1971). A Theory of Justice. Cambridge, MA: Harvard University Press.</a:t>
            </a:r>
          </a:p>
          <a:p>
            <a:r>
              <a:t>https://www.hup.harvard.edu/books/9780674000780</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Ижил орлоготой ч эмнэлгээс хол амьдардаг хүн илүү их тээврийн зардал гаргана гэсэн тайлбарын жишээ ашиглана. Чадавх гэдгийг зөвхөн ажлын ур чадвар гэж ойлгуулахгүй; бодит боломж гэсэн өргөн утгатай.</a:t>
            </a:r>
          </a:p>
          <a:p/>
          <a:p>
            <a:r>
              <a:t>ҮНДСЭН ТАЙЛБАР</a:t>
            </a:r>
          </a:p>
          <a:p>
            <a:r>
              <a:t>Сэний чадавхын хандлага хүний амьдралыг зөвхөн орлогоор бус, үнэ цэнтэй гэж үзсэн амьдралаа сонгож, хэрэгжүүлэх бодит боломжоор үнэлдэг. Ижил орлоготой хоёр хүн эрүүл мэнд, хөгжлийн бэрхшээл, байршлын ялгаанаас шалтгаалан өөр өөр боломжтой байж болно. Тиймээс орлого нь зорилго бус, амьдралын боломжийг нэмэгдүүлэх нэг хэрэгсэл юм. Энэ хандлагаар боловсрол, эрүүл мэнд, хүртээмжтэй орчин, нийгмийн оролцоог хамтад нь сайжруулах нь ядуурал болон эрхийн хэрэгжилтийн асуудлыг шийдэхэд чухал.</a:t>
            </a:r>
          </a:p>
          <a:p/>
          <a:p>
            <a:r>
              <a:t>ЭХ СУРВАЛЖ</a:t>
            </a:r>
          </a:p>
          <a:p>
            <a:r>
              <a:t>[Сэн] Sen, A. (1999). Development as Freedom. Oxford: Oxford University Press.</a:t>
            </a:r>
          </a:p>
          <a:p>
            <a:r>
              <a:t>https://global.oup.com/academic/product/development-as-freedom-9780192893307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Ядуу болон эмзэг гэсэн хоёр ойлголт ижил биш. Ядуурлын босгоос дээш гарсан нь бүх эрсдэл арилсан гэсэн үг биш. Дараах графикийн “бусад” бүлгийг эмзэг бус гэж нэрлэхгүй.</a:t>
            </a:r>
          </a:p>
          <a:p/>
          <a:p>
            <a:r>
              <a:t>ҮНДСЭН ТАЙЛБАР</a:t>
            </a:r>
          </a:p>
          <a:p>
            <a:r>
              <a:t>Мөнгөн ядуурал нь өрхийн хэрэглээ эсвэл орлогыг тодорхой босготой харьцуулсан хэмжүүр юм. Харин эмзэг байдал нь өвчлөл, ажилгүйдэл, үнийн өсөлт зэрэг өөрчлөлтөд өртөж, амьжиргаа доройтох эрсдэлийг илэрхийлнэ. Ядуу биш өрх ч эмзэг байж болно. Үйлчилгээний хүртээмж гэдэг нь үйлчилгээ байгаа эсэхээс гадна тухайн хүн түүнд очих, зардлыг нь даах, чанартай тусламж авах боломжийг хамарна. Иймээс ядуурлыг бууруулах бодлого орлогын дэмжлэгийг суурь үйлчилгээ, эрхийн хамгаалалттай уялдуулах шаардлагатай.</a:t>
            </a:r>
          </a:p>
          <a:p/>
          <a:p>
            <a:r>
              <a:t>ЭХ СУРВАЛЖ</a:t>
            </a:r>
          </a:p>
          <a:p>
            <a:r>
              <a:t>[Сэн] Sen, A. (1999). Development as Freedom. Oxford: Oxford University Press.</a:t>
            </a:r>
          </a:p>
          <a:p>
            <a:r>
              <a:t>https://global.oup.com/academic/product/development-as-freedom-9780192893307</a:t>
            </a:r>
          </a:p>
          <a:p>
            <a:r>
              <a:t>[МОН-2022] ҮСХ, Дэлхийн банк. Монгол Улсын 2022 оны ядуурлын тооцоолол; Өрхийн нийгэм, эдийн засгийн судалгаа, 2022.</a:t>
            </a:r>
          </a:p>
          <a:p>
            <a:r>
              <a:t>https://www.1212.mn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хууль 1992.01.13-нд батлагдаж, 1992.02.12-ноос хүчин төгөлдөр болсон. Хүснэгт нь үгчилсэн эшлэл биш. 16.6 дахь төлбөргүй тусламжийн болзол, 16.7 дахь төрөөс олгох төлбөргүй ерөнхий боловсролын хүрээг ялгана.</a:t>
            </a:r>
          </a:p>
          <a:p/>
          <a:p>
            <a:r>
              <a:t>ҮНДСЭН ТАЙЛБАР</a:t>
            </a:r>
          </a:p>
          <a:p/>
          <a:p>
            <a:r>
              <a:t>14.1; 14.2 | Хуулийн өмнөх тэгш байдал; хөрөнгө чинээгээр ялгаварлахгүй. | Бага орлоготой хүнийг дорд үзэж, ялгаварлаж болохгүй.</a:t>
            </a:r>
          </a:p>
          <a:p>
            <a:r>
              <a:t>16.5 | Хуульд заасан тохиолдолд эд, мөнгөний тусламж авах эрх. | Нийгмийн дэмжлэгийн эрх үүсэх нөхцөлийг хууль тогтооно.</a:t>
            </a:r>
          </a:p>
          <a:p>
            <a:r>
              <a:t>16.6; 16.7 | Эрүүл мэндээ хамгаалуулах, сурч боловсрох эрх. | Үйлчилгээнд бодитоор хүрэх боломж чухал.</a:t>
            </a:r>
          </a:p>
          <a:p>
            <a:r>
              <a:t>19.1 | Эрхийн эдийн засаг, нийгэм, хууль зүйн баталгааг бүрдүүлэх үүрэг. | Төр хэрэгжилтийг бодлого, төсөв, зохицуулалтаар хангана.</a:t>
            </a:r>
          </a:p>
          <a:p/>
          <a:p>
            <a:r>
              <a:t>ЭХ СУРВАЛЖ</a:t>
            </a:r>
          </a:p>
          <a:p>
            <a:r>
              <a:t>[ҮХ] Монгол Улсын Үндсэн хууль. Баталсан: 1992.01.13.</a:t>
            </a:r>
          </a:p>
          <a:p>
            <a:r>
              <a:t>https://legalinfo.mn/mn/detail/367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Хөдөлмөрийн хуулийн шинэчилсэн найруулга 2022.01.01-нээс мөрдөгдсөн. Халамж, нийгмийн даатгал хоёр ялгаатай. Халамжийн хуулийн тодорхой тэтгэмжийн одоогийн дүн, шалгуурыг баталгаажаагүй тул оруулаагүй.</a:t>
            </a:r>
          </a:p>
          <a:p/>
          <a:p>
            <a:r>
              <a:t>ҮНДСЭН ТАЙЛБАР</a:t>
            </a:r>
          </a:p>
          <a:p/>
          <a:p>
            <a:r>
              <a:t>Хөдөлмөрийн тухай</a:t>
            </a:r>
          </a:p>
          <a:p>
            <a:r>
              <a:t>2021.07.02 | 6 дугаар зүйл: хөдөлмөрт ялгаварлан гадуурхахыг хориглоно. | Ажилд авах, ажиллуулах үед тэгш хандах шаардлага.</a:t>
            </a:r>
          </a:p>
          <a:p>
            <a:r>
              <a:t>Нийгмийн халамжийн тухай</a:t>
            </a:r>
          </a:p>
          <a:p>
            <a:r>
              <a:t>2012.01.19 | Халамжийн тэтгэвэр, тэтгэмж, үйлчилгээний зохицуулалт. | Тусламжийн төрөл бүрд хуульд заасан нөхцөл үйлчилнэ.</a:t>
            </a:r>
          </a:p>
          <a:p>
            <a:r>
              <a:t>Үндсэн хууль</a:t>
            </a:r>
          </a:p>
          <a:p>
            <a:r>
              <a:t>1992.01.13 | 16.4 — хөдөлмөр; 16.5 — эд, мөнгөний тусламж. | Ажлын нөхцөл, орлогын эрсдэлийн хамгаалалтын суурь.</a:t>
            </a:r>
          </a:p>
          <a:p/>
          <a:p>
            <a:r>
              <a:t>ЭХ СУРВАЛЖ</a:t>
            </a:r>
          </a:p>
          <a:p>
            <a:r>
              <a:t>[ХТ] Хөдөлмөрийн тухай хууль, шинэчилсэн найруулга. 2021.07.02.</a:t>
            </a:r>
          </a:p>
          <a:p>
            <a:r>
              <a:t>https://legalinfo.mn</a:t>
            </a:r>
          </a:p>
          <a:p>
            <a:r>
              <a:t>[НХ] Нийгмийн халамжийн тухай хууль, шинэчилсэн найруулга. 2012.01.19.</a:t>
            </a:r>
          </a:p>
          <a:p>
            <a:r>
              <a:t>https://legalinfo.mn</a:t>
            </a:r>
          </a:p>
          <a:p>
            <a:r>
              <a:t>[ҮХ] Монгол Улсын Үндсэн хууль. Баталсан: 1992.01.13.</a:t>
            </a:r>
          </a:p>
          <a:p>
            <a:r>
              <a:t>https://legalinfo.mn/mn/detail/367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Бүх шатны боловсрол, бүх эмчилгээг автоматаар үнэ төлбөргүй гэж тайлбарлахгүй. Хүснэгт дэх сүүлийн багана нь илтгэлийн шинжилгээ, хуулийн үгчилсэн заалт биш.</a:t>
            </a:r>
          </a:p>
          <a:p/>
          <a:p>
            <a:r>
              <a:t>ҮНДСЭН ТАЙЛБАР</a:t>
            </a:r>
          </a:p>
          <a:p/>
          <a:p>
            <a:r>
              <a:t>Үндсэн хууль</a:t>
            </a:r>
          </a:p>
          <a:p>
            <a:r>
              <a:t>1992.01.13 | 16.6 — эрүүл мэндээ хамгаалуулах, эмнэлгийн тусламж авах. | Төлбөргүй тусламжийн болзол, журмыг хуулиар тогтооно.</a:t>
            </a:r>
          </a:p>
          <a:p>
            <a:r>
              <a:t>Үндсэн хууль</a:t>
            </a:r>
          </a:p>
          <a:p>
            <a:r>
              <a:t>1992.01.13 | 16.7 — сурч боловсрох; төрөөс ерөнхий боловсролыг төлбөргүй олгох. | Унаа, хэрэгсэл, байр зэрэг нэмэлт зардал саад болж болно.</a:t>
            </a:r>
          </a:p>
          <a:p>
            <a:r>
              <a:t>Боловсролын ерөнхий хууль</a:t>
            </a:r>
          </a:p>
          <a:p>
            <a:r>
              <a:t>2023.07.07 | Боловсролын харилцаа, тэгш боломж, хүртээмжийн зохицуулалт. | Элсэлтээс гадна ирц, төгсөлт, суралцах орчныг үнэлнэ.</a:t>
            </a:r>
          </a:p>
          <a:p/>
          <a:p>
            <a:r>
              <a:t>ЭХ СУРВАЛЖ</a:t>
            </a:r>
          </a:p>
          <a:p>
            <a:r>
              <a:t>[ҮХ] Монгол Улсын Үндсэн хууль. Баталсан: 1992.01.13.</a:t>
            </a:r>
          </a:p>
          <a:p>
            <a:r>
              <a:t>https://legalinfo.mn/mn/detail/367</a:t>
            </a:r>
          </a:p>
          <a:p>
            <a:r>
              <a:t>[БЕХ] Боловсролын ерөнхий хууль, шинэчилсэн найруулга. 2023.07.07.</a:t>
            </a:r>
          </a:p>
          <a:p>
            <a:r>
              <a:t>https://legalinfo.mn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 нь олон улсын гэрээ биш. НҮБ-ын Ерөнхий Ассамблейн 217 A (III) тогтоолоор батлагдсан нийтлэг стандартын суурь баримт бичиг юм.</a:t>
            </a:r>
          </a:p>
          <a:p/>
          <a:p>
            <a:r>
              <a:t>ҮНДСЭН ТАЙЛБАР</a:t>
            </a:r>
          </a:p>
          <a:p/>
          <a:p>
            <a:r>
              <a:t>1; 2 | Нэр төр, эрхийн тэгш байдал; ялгаварлалгүй байх. | Орлого нь хүний эрхийн үнэ цэнийг өөрчлөхгүй.</a:t>
            </a:r>
          </a:p>
          <a:p>
            <a:r>
              <a:t>22 | Нийгмийн хамгаалал. | Эрсдэлд орсон үед хамгаалалт эдлэх.</a:t>
            </a:r>
          </a:p>
          <a:p>
            <a:r>
              <a:t>23 | Хөдөлмөр, шударга бөгөөд таатай нөхцөл. | Ажилтай байх төдийгүй зохистой нөхцөл чухал.</a:t>
            </a:r>
          </a:p>
          <a:p>
            <a:r>
              <a:t>25; 26 | Зохистой амьжиргаа; боловсрол. | Хоол, байр, эрүүл мэнд, суралцах боломж.</a:t>
            </a:r>
          </a:p>
          <a:p/>
          <a:p>
            <a:r>
              <a:t>ЭХ СУРВАЛЖ</a:t>
            </a:r>
          </a:p>
          <a:p>
            <a:r>
              <a:t>[UDHR] НҮБ. Хүний эрхийн түгээмэл тунхаглал. 1948.12.10; 217 A (III).</a:t>
            </a:r>
          </a:p>
          <a:p>
            <a:r>
              <a:t>https://www.ohchr.org/en/human-rights/universal-declaration/translations/mongolian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ЭЗНСЭ-ийн пакт 1976.01.03, ИУТЭ-ийн пакт 1976.03.23-нд хүчин төгөлдөр болсон. 25 дугаар зүйл иргэдэд хамаарна. 14.3(d)-ийн үнэ төлбөргүй өмгөөлөл нь эрүүгийн хэрэгт тодорхой нөхцөлтэй; бүх маргаанд автоматаар хамаарахгүй.</a:t>
            </a:r>
          </a:p>
          <a:p/>
          <a:p>
            <a:r>
              <a:t>ҮНДСЭН ТАЙЛБАР</a:t>
            </a:r>
          </a:p>
          <a:p/>
          <a:p>
            <a:r>
              <a:t>Эдийн засаг, нийгэм, соёлын эрхийн пакт | 2.1; 2.2 | Нөөцөө дээд хэмжээгээр ашиглан ахиц гаргах; ялгаварлахгүй байх.</a:t>
            </a:r>
          </a:p>
          <a:p>
            <a:r>
              <a:t>Мөн пакт | 6; 7; 9; 11; 12; 13 | Хөдөлмөр, хамгаалал, амьжиргаа, эрүүл мэнд, боловсрол.</a:t>
            </a:r>
          </a:p>
          <a:p>
            <a:r>
              <a:t>Иргэний болон улс төрийн эрхийн пакт | 14; 25; 26 | Шүүхийн өмнө тэгш байх; иргэний оролцоо; хуулийн тэгш хамгаалалт.</a:t>
            </a:r>
          </a:p>
          <a:p/>
          <a:p>
            <a:r>
              <a:t>ЭХ СУРВАЛЖ</a:t>
            </a:r>
          </a:p>
          <a:p>
            <a:r>
              <a:t>[ICESCR] НҮБ. Эдийн засаг, нийгэм, соёлын эрхийн тухай олон улсын пакт. 1966.12.16; хүчин төгөлдөр: 1976.01.03.</a:t>
            </a:r>
          </a:p>
          <a:p>
            <a:r>
              <a:t>https://www.ohchr.org/en/instruments-mechanisms/instruments/international-covenant-economic-social-and-cultural-rights</a:t>
            </a:r>
          </a:p>
          <a:p>
            <a:r>
              <a:t>[ICCPR] НҮБ. Иргэний болон улс төрийн эрхийн тухай олон улсын пакт. 1966.12.16; хүчин төгөлдөр: 1976.03.23.</a:t>
            </a:r>
          </a:p>
          <a:p>
            <a:r>
              <a:t>https://www.ohchr.org/en/instruments-mechanisms/instruments/international-covenant-civil-and-political-rights</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Эдгээр бүлгийн бүх хүнийг ядуу гэж үзэхгүй. Орлогын хүндрэл дээр асаргаа, хол байршил зэрэг саад давхцаж болохыг тайлбарлана. Конвенцын баталсан өдөр нь Монгол Улс нэгдсэн өдөр биш.</a:t>
            </a:r>
          </a:p>
          <a:p/>
          <a:p>
            <a:r>
              <a:t>ҮНДСЭН ТАЙЛБАР</a:t>
            </a:r>
          </a:p>
          <a:p/>
          <a:p>
            <a:r>
              <a:t>Хүүхдийн эрхийн тухай</a:t>
            </a:r>
          </a:p>
          <a:p>
            <a:r>
              <a:t>1989.11.20 | 2; 3 | Ялгаварлахгүй байх; хүүхдийн дээд ашиг сонирхлыг харгалзах.</a:t>
            </a:r>
          </a:p>
          <a:p>
            <a:r>
              <a:t>Мөн конвенц | 26; 27; 28 | Нийгмийн хамгаалал, зохистой амьжиргаа, боловсрол.</a:t>
            </a:r>
          </a:p>
          <a:p>
            <a:r>
              <a:t>Эмэгтэйчүүдийг алагчлах бүх хэлбэрийг устгах тухай</a:t>
            </a:r>
          </a:p>
          <a:p>
            <a:r>
              <a:t>1979.12.18 | 11; 12; 14 | Хөдөлмөр, эрүүл мэнд; хөдөөгийн эмэгтэйчүүдийн эрх.</a:t>
            </a:r>
          </a:p>
          <a:p/>
          <a:p>
            <a:r>
              <a:t>ЭХ СУРВАЛЖ</a:t>
            </a:r>
          </a:p>
          <a:p>
            <a:r>
              <a:t>[CRC] НҮБ. Хүүхдийн эрхийн тухай конвенц. 1989.11.20.</a:t>
            </a:r>
          </a:p>
          <a:p>
            <a:r>
              <a:t>https://www.ohchr.org/en/instruments-mechanisms/instruments/convention-rights-child</a:t>
            </a:r>
          </a:p>
          <a:p>
            <a:r>
              <a:t>[CEDAW] НҮБ. Эмэгтэйчүүдийг алагчлах бүх хэлбэрийг устгах тухай конвенц. 1979.12.18.</a:t>
            </a:r>
          </a:p>
          <a:p>
            <a:r>
              <a:t>https://www.ohchr.org/en/instruments-mechanisms/instruments/convention-elimination-all-forms-discrimination-against-women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Налуу замгүй барилга нь үйлчилгээ нээлттэй гэсэн зарлалтай ч бодит саад болдог гэсэн тайлбарын жишээ ашиглана. 2006 оны конвенц 2008.05.03-нд хүчин төгөлдөр болсон.</a:t>
            </a:r>
          </a:p>
          <a:p/>
          <a:p>
            <a:r>
              <a:t>ҮНДСЭН ТАЙЛБАР</a:t>
            </a:r>
          </a:p>
          <a:p/>
          <a:p>
            <a:r>
              <a:t>Хөгжлийн бэрхшээлтэй хүмүүсийн эрхийн конвенц</a:t>
            </a:r>
          </a:p>
          <a:p>
            <a:r>
              <a:t>2006.12.13 | 9 | Орчин, мэдээлэл, үйлчилгээний хүртээмж.</a:t>
            </a:r>
          </a:p>
          <a:p>
            <a:r>
              <a:t>Мөн конвенц | 24; 27; 28 | Боловсрол, хөдөлмөр, зохистой амьжиргаа ба хамгаалал.</a:t>
            </a:r>
          </a:p>
          <a:p>
            <a:r>
              <a:t>Монголын Хөгжлийн бэрхшээлтэй хүний эрхийн тухай хууль</a:t>
            </a:r>
          </a:p>
          <a:p>
            <a:r>
              <a:t>2016.02.05 | Дотоодын зохицуулалт | Ялгаварлалгүй оролцоо, хүртээмжийн эрх зүйн үндэс.</a:t>
            </a:r>
          </a:p>
          <a:p/>
          <a:p>
            <a:r>
              <a:t>ЭХ СУРВАЛЖ</a:t>
            </a:r>
          </a:p>
          <a:p>
            <a:r>
              <a:t>[CRPD] НҮБ. Хөгжлийн бэрхшээлтэй хүмүүсийн эрхийн тухай конвенц. 2006.12.13.</a:t>
            </a:r>
          </a:p>
          <a:p>
            <a:r>
              <a:t>https://www.ohchr.org/en/instruments-mechanisms/instruments/convention-rights-persons-disabilities</a:t>
            </a:r>
          </a:p>
          <a:p>
            <a:r>
              <a:t>[ХБХ] Хөгжлийн бэрхшээлтэй хүний эрхийн тухай хууль. 2016.02.05.</a:t>
            </a:r>
          </a:p>
          <a:p>
            <a:r>
              <a:t>https://legalinfo.mn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Мэдээллийн он: 2022. Байршил: Монгол Улс, улсын хэмжээнд. Гүйцэтгэгч: ҮСХ; арга зүйн хамтын ажиллагаа: Дэлхийн банк. ӨНЭЗС-ийн хэрэглээний мэдээлэл, түүврийн жинг ашигласан тооцоолол. Баталгаажаагүй түүврийн хэмжээ, яг нийтэлсэн өдрийг зориудаар таагаагүй. 2022 нь өгөгдлийн он бөгөөд нийтлэлийн он гэж тэмдэглээгүй.</a:t>
            </a:r>
          </a:p>
          <a:p/>
          <a:p>
            <a:r>
              <a:t>ҮНДСЭН ТАЙЛБАР</a:t>
            </a:r>
          </a:p>
          <a:p>
            <a:r>
              <a:t>Үндэсний статистикийн хороо Дэлхийн банктай хамтран 2022 оны Өрхийн нийгэм, эдийн засгийн судалгааны мэдээлэлд тулгуурлан ядуурлыг тооцоолсон. Судалгааны хамрах хүрээ нь Монгол Улсын өрхүүд бөгөөд үр дүнг хүн амын түвшинд жинлэн тооцдог. Өрхийн хэрэглээний мэдээллийг цуглуулж, хэрэглээг үндэсний ядуурлын босготой харьцуулсан. Энэ тооцооллоор 2022 онд хүн амын 27.1 хувь нь босгоос доогуур хэрэглээтэй байжээ. Энэ нь түүхэн тооцоолол болохоос 2026 оны түвшин биш.</a:t>
            </a:r>
          </a:p>
          <a:p/>
          <a:p>
            <a:r>
              <a:t>ЭХ СУРВАЛЖ</a:t>
            </a:r>
          </a:p>
          <a:p>
            <a:r>
              <a:t>[МОН-2022] ҮСХ, Дэлхийн банк. Монгол Улсын 2022 оны ядуурлын тооцоолол; Өрхийн нийгэм, эдийн засгийн судалгаа, 2022.</a:t>
            </a:r>
          </a:p>
          <a:p>
            <a:r>
              <a:t>https://www.1212.mn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График 2022 оны бүтэц харуулна. 72.9 хувь нь тусдаа судалгааны шинэ үзүүлэлт биш, нийтээс хассан үлдэгдэл. Өөр аргачлалтай онуудыг шууд харьцуулаагүй. Хэвтээ тэнхлэгт бүлэг, босоо тэнхлэгт хүн амын хувь, 0–100 хязгаартай.</a:t>
            </a:r>
          </a:p>
          <a:p/>
          <a:p>
            <a:r>
              <a:t>ҮНДСЭН ТАЙЛБАР</a:t>
            </a:r>
          </a:p>
          <a:p>
            <a:r>
              <a:t>Хүн амын 27.1 хувь нь үндэсний ядуурлын босгоос доогуур хэрэглээтэй байна. Үлдэх 72.9 хувийг 100 − 27.1 гэсэн тооцоогоор гаргав. Босгоос дээш хэрэглээтэй байх нь өвчлөл, ажилгүйдэл зэрэг эрсдэлгүй гэсэн үг биш.</a:t>
            </a:r>
          </a:p>
          <a:p/>
          <a:p>
            <a:r>
              <a:t>ЭХ СУРВАЛЖ</a:t>
            </a:r>
          </a:p>
          <a:p>
            <a:r>
              <a:t>[МОН-2022] ҮСХ, Дэлхийн банк. Монгол Улсын 2022 оны ядуурлын тооцоолол; Өрхийн нийгэм, эдийн засгийн судалгаа, 2022.</a:t>
            </a:r>
          </a:p>
          <a:p>
            <a:r>
              <a:t>https://www.1212.mn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Хэзээ: 2017–2018; асуумж 2018; тайлан 2020. Хаана: Финланд. Хэн: Kela болон хамтран ажилласан судлаачид. 2020 оны үнэлгээний редакторууд: Olli Kangas, Signe Jauhiainen, Miska Simanainen, Minna Ylikännö. Санамсаргүй сонголт нь эрх бүхий ажилгүй хүмүүсийн хүрээнд; нийт иргэдээс авсан түүвэр биш.</a:t>
            </a:r>
          </a:p>
          <a:p/>
          <a:p>
            <a:r>
              <a:t>ҮНДСЭН ТАЙЛБАР</a:t>
            </a:r>
          </a:p>
          <a:p>
            <a:r>
              <a:t>Финландын нийгмийн даатгалын байгууллага Kela болон хамтран ажилласан судлаачид 2017–2018 онд суурь орлогын туршилт хэрэгжүүлсэн. Эрх бүхий ажилгүй хүмүүсээс санамсаргүй сонгосон 2,000 хүнд сар бүр 560 евро олгож, ажилд орсон ч энэ төлбөрийг үргэлжлүүлсэн. Үр дүнг захиргааны бүртгэл болон асуумжаар үнэлж, харьцуулах бүлэгтэй жишсэн. Kela 2020 оны тавдугаар сарын 6-нд гол үр дүнг танилцуулсан. Энэ нь нийт хүн амыг хамарсан байнгын хөтөлбөр биш юм.</a:t>
            </a:r>
          </a:p>
          <a:p/>
          <a:p>
            <a:r>
              <a:t>ЭХ СУРВАЛЖ</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[ФИН-ТАЙЛАН] Kangas, O., Jauhiainen, S., Simanainen, M., &amp; Ylikännö, M. (eds.). (2020). Suomen perustulokokeilun arviointi. Финландын Нийгмийн асуудал, эрүүл мэндийн яам.</a:t>
            </a:r>
          </a:p>
          <a:p>
            <a:r>
              <a:t>https://julkaisut.valtioneuvosto.fi</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ба 6.8 нь 0–10 шатлалын дундаж оноо; хувь биш. Зөрүү 0.5 оноо. Судалгааны асуумжийн хариу өгсөн хүмүүсийн үзүүлэлт бөгөөд нийт хүн амын үр дүн биш. Санамсаргүй туршилт боловч асуумжийн сонгогдол, бодлогын өөрчлөлт нь тайлбарт хамаарна. Цахим эхийг энэ орчноос шууд нягталж чадаагүй тул ашиглахын өмнө Kela-ийн анхдагч тайлантай тулгана.</a:t>
            </a:r>
          </a:p>
          <a:p/>
          <a:p>
            <a:r>
              <a:t>ҮНДСЭН ТАЙЛБАР</a:t>
            </a:r>
          </a:p>
          <a:p>
            <a:r>
              <a:t>Амьдралын сэтгэл ханамжийн дундаж үнэлгээ дэмжлэг авсан бүлэгт 7.3, харьцуулах бүлэгт 6.8 оноо байв. Үнэлгээний шатлал 0–10. Ажил эрхлэлтэд үзүүлсэн нөлөө хязгаарлагдмал байсан. Асуумжийн хариу өгөх ялгаа болон бусад бодлогын өөрчлөлтөөс шалтгаалан бүх ялгааг зөвхөн мөнгөний нөлөө гэж дүгнэхгүй.</a:t>
            </a:r>
          </a:p>
          <a:p/>
          <a:p>
            <a:r>
              <a:t>ЭХ СУРВАЛЖ</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[ФИН-ТАЙЛАН] Kangas, O., Jauhiainen, S., Simanainen, M., &amp; Ylikännö, M. (eds.). (2020). Suomen perustulokokeilun arviointi. Финландын Нийгмийн асуудал, эрүүл мэндийн яам.</a:t>
            </a:r>
          </a:p>
          <a:p>
            <a:r>
              <a:t>https://julkaisut.valtioneuvosto.fi</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Монголын хувь болон Финландын оноог нэг ижил хэмжүүр мэт зэрэгцүүлж чансаа тогтоохгүй. Хамрах хүн ам, арга, хугацаа, хэмжих нэгжийг тус тус тайлбарлана.</a:t>
            </a:r>
          </a:p>
          <a:p/>
          <a:p>
            <a:r>
              <a:t>ҮНДСЭН ТАЙЛБАР</a:t>
            </a:r>
          </a:p>
          <a:p/>
          <a:p>
            <a:r>
              <a:t>Монголын тооцоолол</a:t>
            </a:r>
          </a:p>
          <a:p>
            <a:r>
              <a:t>2022 | Үндэсний босгоос доогуур хэрэглээтэй хүн амын эзлэх хувь. | 2026 оны түвшин; ядуурлын бүх шалтгааны нотолгоо.</a:t>
            </a:r>
          </a:p>
          <a:p>
            <a:r>
              <a:t>Финландын туршилт</a:t>
            </a:r>
          </a:p>
          <a:p>
            <a:r>
              <a:t>2017–2018; тайлан 2020 | Орлогын дэмжлэгийн үеийн ажил эрхлэлт, өөрсдийн үнэлсэн сайн сайхан байдал. | Бүх хүн амд ижил үр дүн гарна; бүх ялгаа зөвхөн мөнгөнөөс болсон.</a:t>
            </a:r>
          </a:p>
          <a:p/>
          <a:p>
            <a:r>
              <a:t>ЭХ СУРВАЛЖ</a:t>
            </a:r>
          </a:p>
          <a:p>
            <a:r>
              <a:t>[МОН-2022] ҮСХ, Дэлхийн банк. Монгол Улсын 2022 оны ядуурлын тооцоолол; Өрхийн нийгэм, эдийн засгийн судалгаа, 2022.</a:t>
            </a:r>
          </a:p>
          <a:p>
            <a:r>
              <a:t>https://www.1212.mn</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 [2000] ZACC 19, шийдвэр 2000.10.04. Өмнөд Африкийн Үндсэн хууль, 1996, 26 дугаар зүйл. Монголд шууд заавал дагах прецедент биш. Бодлогын үндэслэлтэй байдал, онцгой хэрэгцээг орхигдуулахгүй байх гэсэн сургамжтай.</a:t>
            </a:r>
          </a:p>
          <a:p/>
          <a:p>
            <a:r>
              <a:t>ҮНДСЭН ТАЙЛБАР</a:t>
            </a:r>
          </a:p>
          <a:p>
            <a:r>
              <a:t>Өмнөд Африкийн Үндсэн хуулийн шүүх Grootboom хэрэгт төрийн орон сууцны бодлого хамгийн хүнд нөхцөлд байгаа хүмүүсийн яаралтай хэрэгцээг хангалттай тусгаагүйг авч үзсэн. 1996 оны Үндсэн хуулийн 26 дугаар зүйлд тулгуурлан бодлого нь боломжит нөөцөд нийцсэн, үндэслэлтэй байх бөгөөд онцгой гачигдалтай хүмүүсийн хэрэгцээг орхигдуулж болохгүй гэж тайлбарласан. Шүүх хүн бүрд нэн даруй байшин олгох шийдвэр гаргаагүй. Энэ хэрэг урт хугацааны бодлогын зэрэгцээ яаралтай дэмжлэг шаардлагатайг харуулдаг.</a:t>
            </a:r>
          </a:p>
          <a:p/>
          <a:p>
            <a:r>
              <a:t>ЭХ СУРВАЛЖ</a:t>
            </a:r>
          </a:p>
          <a:p>
            <a:r>
              <a:t>[GROOT] Government of the Republic of South Africa v Grootboom [2000] ZACC 19. Шийдвэр: 2000.10.04.</a:t>
            </a:r>
          </a:p>
          <a:p>
            <a:r>
              <a:t>https://www.saflii.org/za/cases/ZACC/2000/19.html</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 [2002] ZACC 15 (No 2). Шийдвэр 2002.07.05. Үндсэн хууль 1996, 27 дугаар зүйл. Тодорхой эмчилгээний хүртээмжийн хязгаарлалтыг хянасан болохоос бүх эрүүл мэндийн бодлогыг ижил байдлаар шийдээгүй.</a:t>
            </a:r>
          </a:p>
          <a:p/>
          <a:p>
            <a:r>
              <a:t>ҮНДСЭН ТАЙЛБАР</a:t>
            </a:r>
          </a:p>
          <a:p>
            <a:r>
              <a:t>Энэ хэрэгт ХДХВ эхээс хүүхдэд дамжихаас сэргийлэх невирапин эмийг зөвхөн сонгосон туршилтын цэгүүдэд хэрэглэхээр хязгаарласан бодлогыг маргасан. Шүүх 1996 оны Үндсэн хуулийн 27 дугаар зүйлд тулгуурлан шаардлага хангасан бусад эмнэлэгт эм хэрэглэхэд саад болсон хязгаарлалтыг арилгахыг даалгасан. Гол сургамж нь эмчилгээ авах боломжийг хязгаарлах бодлого бодит үндэслэлтэй байх ёстой гэсэн шаардлага юм. Шийдвэр нь бүх эмийг бүх хүнд үнэ төлбөргүй олгох тухай байгаагүй.</a:t>
            </a:r>
          </a:p>
          <a:p/>
          <a:p>
            <a:r>
              <a:t>ЭХ СУРВАЛЖ</a:t>
            </a:r>
          </a:p>
          <a:p>
            <a:r>
              <a:t>[TAC] Minister of Health v Treatment Action Campaign (No 2) [2002] ZACC 15. Шийдвэр: 2002.07.05.</a:t>
            </a:r>
          </a:p>
          <a:p>
            <a:r>
              <a:t>https://www.saflii.org/za/cases/ZACC/2002/15.html</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Германы Үндсэн хууль 1949.05.23. Шийдвэр: 1 BvL 1/09, 1 BvL 3/09, 1 BvL 4/09, 2010.02.09. Монголд шууд үйлчлэх үндэсний зохицуулалт биш. Тэтгэмжийн бодит хэрэгцээ, ил тод аргачлал гэсэн харьцуулсан сургамжтай.</a:t>
            </a:r>
          </a:p>
          <a:p/>
          <a:p>
            <a:r>
              <a:t>ҮНДСЭН ТАЙЛБАР</a:t>
            </a:r>
          </a:p>
          <a:p>
            <a:r>
              <a:t>Германы Холбооны Үндсэн хуулийн шүүх Hartz IV тогтолцооны суурь тэтгэмж, ялангуяа хүүхдийн хэрэгцээг хэрхэн тооцсонтой холбоотой маргааныг шийдвэрлэсэн. Германы 1949 оны Үндсэн хуулийн 1(1), 20(1) дэх хүний нэр төр, нийгмийн төрийн зарчмаас наад захын амьжиргааны баталгааг тайлбарлаж, тооцоолол ил тод, бодит хэрэгцээнд үндэслэсэн байхыг шаардсан. Энэ нь нэг тодорхой мөнгөн дүнгээс илүү түүнийг гаргасан аргачлал, үндэслэл чухал болохыг харуулдаг.</a:t>
            </a:r>
          </a:p>
          <a:p/>
          <a:p>
            <a:r>
              <a:t>ЭХ СУРВАЛЖ</a:t>
            </a:r>
          </a:p>
          <a:p>
            <a:r>
              <a:t>[ГЕР] BVerfG. 1 BvL 1/09, 1 BvL 3/09, 1 BvL 4/09. Шийдвэр: 2010.02.09.</a:t>
            </a:r>
          </a:p>
          <a:p>
            <a:r>
              <a:t>https://www.bundesverfassungsgericht.de</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слайд бодлогын тайлбар болохоос шинэ судалгааны үр дүн биш. Ядуурлыг хэдэн хувиар бууруулсан гэх баталгаажаагүй тоо оруулаагүй. Бүх нийтийн суурь орлогоос ялгаатай зорилтот хөтөлбөр.</a:t>
            </a:r>
          </a:p>
          <a:p/>
          <a:p>
            <a:r>
              <a:t>ҮНДСЭН ТАЙЛБАР</a:t>
            </a:r>
          </a:p>
          <a:p>
            <a:r>
              <a:t>Бразилын Bolsa Família хөтөлбөр нь бага орлоготой өрхөд мөнгөн дэмжлэг олгож, хүүхдийн боловсрол, эрүүл мэндийн хяналттай холбоотой нөхцөл ашигладаг. Анхны хөтөлбөрийн хууль №10.836 нь 2004 оны нэгдүгээр сарын 9-нд, шинэ хууль №14.601 нь 2023 оны зургадугаар сарын 19-нд батлагдсан. Энэ жишээ орлогын дэмжлэгийг суурь үйлчилгээтэй уялдуулахыг харуулна. Гэхдээ үйлчилгээ өөрөө хүртээмжгүй байхад зөвхөн өрхөд хариуцлага тохоохгүй, үйлчилгээний саадыг хамтад нь шийдэх шаардлагатай.</a:t>
            </a:r>
          </a:p>
          <a:p/>
          <a:p>
            <a:r>
              <a:t>ЭХ СУРВАЛЖ</a:t>
            </a:r>
          </a:p>
          <a:p>
            <a:r>
              <a:t>[БРА] Бразил. Lei nº 10.836, 2004.01.09; Lei nº 14.601, 2023.06.19. Bolsa Família.</a:t>
            </a:r>
          </a:p>
          <a:p>
            <a:r>
              <a:t>https://www.planalto.gov.br/ccivil_03/_ato2023-2026/2023/lei/l14601.htm</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улсын чансаа биш. Хүн ам, төсөв, байгууллагын чадавх, хөдөлмөрийн зах зээлийн ялгааг тооцож байж бодлогыг нутагшуулна.</a:t>
            </a:r>
          </a:p>
          <a:p/>
          <a:p>
            <a:r>
              <a:t>ҮНДСЭН ТАЙЛБАР</a:t>
            </a:r>
          </a:p>
          <a:p/>
          <a:p>
            <a:r>
              <a:t>Монгол — Үндсэн хууль, 1992 | Хууль, халамж, суурь үйлчилгээ. | Эрхийн баталгааг бодит хүртээмжтэй холбох.</a:t>
            </a:r>
          </a:p>
          <a:p>
            <a:r>
              <a:t>Өмнөд Африк — Үндсэн хууль, 1996 | Нийгмийн эрхийн бодлогод шүүхийн хяналт. | Яаралтай хэрэгцээг бодлогод тусгах.</a:t>
            </a:r>
          </a:p>
          <a:p>
            <a:r>
              <a:t>Герман — Үндсэн хууль, 1949 | Амьжиргааны доод баталгаа. | Тэтгэмжийн тооцооллыг үндэслэлтэй болгох.</a:t>
            </a:r>
          </a:p>
          <a:p>
            <a:r>
              <a:t>Финланд — туршилт, 2017–2018 | Бодлогын туршилт, үр дүнгийн үнэлгээ. | Дэмжлэгийн нөлөөг олон үзүүлэлтээр хэмжих.</a:t>
            </a:r>
          </a:p>
          <a:p>
            <a:r>
              <a:t>Бразил — хууль, 2023 | Мөнгө ба үйлчилгээний уялдаа. | Дэмжлэгийн нөхцөлийг хүртээмжтэй уялдуулах.</a:t>
            </a:r>
          </a:p>
          <a:p/>
          <a:p>
            <a:r>
              <a:t>ЭХ СУРВАЛЖ</a:t>
            </a:r>
          </a:p>
          <a:p>
            <a:r>
              <a:t>[ҮХ] Монгол Улсын Үндсэн хууль. Баталсан: 1992.01.13.</a:t>
            </a:r>
          </a:p>
          <a:p>
            <a:r>
              <a:t>https://legalinfo.mn/mn/detail/367</a:t>
            </a:r>
          </a:p>
          <a:p>
            <a:r>
              <a:t>[GROOT] Government of the Republic of South Africa v Grootboom [2000] ZACC 19. Шийдвэр: 2000.10.04.</a:t>
            </a:r>
          </a:p>
          <a:p>
            <a:r>
              <a:t>https://www.saflii.org/za/cases/ZACC/2000/19.html</a:t>
            </a:r>
          </a:p>
          <a:p>
            <a:r>
              <a:t>[ГЕР] BVerfG. 1 BvL 1/09, 1 BvL 3/09, 1 BvL 4/09. Шийдвэр: 2010.02.09.</a:t>
            </a:r>
          </a:p>
          <a:p>
            <a:r>
              <a:t>https://www.bundesverfassungsgericht.de</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[БРА] Бразил. Lei nº 10.836, 2004.01.09; Lei nº 14.601, 2023.06.19. Bolsa Família.</a:t>
            </a:r>
          </a:p>
          <a:p>
            <a:r>
              <a:t>https://www.planalto.gov.br/ccivil_03/_ato2023-2026/2023/lei/l14601.htm</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Зохиомол тайлбарын жишээг бодит судалгааны кейс гэж танилцуулахгүй. Нэг жишээг сонгож, ямар эрх, ямар саад, ямар боломжит арга хэмжээ байгааг холбоно.</a:t>
            </a:r>
          </a:p>
          <a:p/>
          <a:p>
            <a:r>
              <a:t>ҮНДСЭН ТАЙЛБАР</a:t>
            </a:r>
          </a:p>
          <a:p>
            <a:r>
              <a:t>Бага орлоготой өрхийн хүүхэд төлбөргүй ерөнхий боловсролд хамрагдсан ч тээвэр, хэрэгсэл, интернетийн зардлаас шалтгаалан хичээлдээ тогтмол оролцоход хүндрэлтэй байж болно. Үүнтэй адил эмнэлгийн тусламж авах эрхтэй хүн хол байршил, тээврийн зардал, барилгын хүртээмжээс болж тусламжаа хойшлуулж болно. Эдгээр нь тодорхой нэртэй бодит хэрэг биш, онол ба эрх зүйн холбоог ойлгуулах тайлбарын жишээ юм. Гол асуудал нь хуульд заасан эрхийг өдөр тутам ашиглах нөхцөлийг бүрдүүлэхэд оршино.</a:t>
            </a:r>
          </a:p>
          <a:p/>
          <a:p>
            <a:r>
              <a:t>ЭХ СУРВАЛЖ</a:t>
            </a:r>
          </a:p>
          <a:p>
            <a:r>
              <a:t>[ҮХ] Монгол Улсын Үндсэн хууль. Баталсан: 1992.01.13.</a:t>
            </a:r>
          </a:p>
          <a:p>
            <a:r>
              <a:t>https://legalinfo.mn/mn/detail/367</a:t>
            </a:r>
          </a:p>
          <a:p>
            <a:r>
              <a:t>[Сэн] Sen, A. (1999). Development as Freedom. Oxford: Oxford University Press.</a:t>
            </a:r>
          </a:p>
          <a:p>
            <a:r>
              <a:t>https://global.oup.com/academic/product/development-as-freedom-9780192893307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илтгэлийн санал. Бүгд хуулийн үгчилсэн заалт гэсэн үг биш. Суурь мэдээлэлгүй тоон зорилт зохиогоогүй; хэмжих чиглэлийг л нэрлэсэн.</a:t>
            </a:r>
          </a:p>
          <a:p/>
          <a:p>
            <a:r>
              <a:t>ҮНДСЭН ТАЙЛБАР</a:t>
            </a:r>
          </a:p>
          <a:p>
            <a:r>
              <a:t>Нэгдүгээрт, үйлчилгээнд хүрэхэд саад болж буй тээвэр, мэдээлэл, барилгын хүртээмжийг сайжруулах хэрэгтэй. Хоёрдугаарт, орлогын эрсдэлд тохирсон дэмжлэгийг хөдөлмөр эрхлэх болон суурь үйлчилгээ авах боломжтой уялдуулах шаардлагатай. Гуравдугаарт, иргэн шийдвэрийн шалтгааныг мэдэх, буруу мэдээллээ засуулах, гомдлоо хянуулах боломжийг нэмэгдүүлэх нь зүйтэй. Үр дүнг зарцуулсан мөнгөнөөс гадна үйлчилгээ авах хугацаа, дэмжлэгийн хамрагдалт, гомдол шийдвэрлэлтийн үзүүлэлтээр үнэлж болно.</a:t>
            </a:r>
          </a:p>
          <a:p/>
          <a:p>
            <a:r>
              <a:t>ЭХ СУРВАЛЖ</a:t>
            </a:r>
          </a:p>
          <a:p>
            <a:r>
              <a:t>[ҮХ] Монгол Улсын Үндсэн хууль. Баталсан: 1992.01.13.</a:t>
            </a:r>
          </a:p>
          <a:p>
            <a:r>
              <a:t>https://legalinfo.mn/mn/detail/367</a:t>
            </a:r>
          </a:p>
          <a:p>
            <a:r>
              <a:t>[Сэн] Sen, A. (1999). Development as Freedom. Oxford: Oxford University Press.</a:t>
            </a:r>
          </a:p>
          <a:p>
            <a:r>
              <a:t>https://global.oup.com/academic/product/development-as-freedom-9780192893307</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Бүх маргаан заавал ижил дарааллаар шийдэгдэхгүй. ХЭҮК-д хандах нь шүүхийн хугацааг автоматаар зогсооно гэсэн үг биш. Энэ нь тодорхой хэрэгт өгсөн хууль зүйн зөвлөгөө биш.</a:t>
            </a:r>
          </a:p>
          <a:p/>
          <a:p>
            <a:r>
              <a:t>ҮНДСЭН ТАЙЛБАР</a:t>
            </a:r>
          </a:p>
          <a:p/>
          <a:p>
            <a:r>
              <a:t>Баримтаа хадгалах | Хүсэлт, хариу, огноо, төлбөрийн баримтыг цуглуулах. | Хувийн болон эмзэг мэдээллээ хамгаалах.</a:t>
            </a:r>
          </a:p>
          <a:p>
            <a:r>
              <a:t>Шалтгааныг тодруулах | Ямар шалгуур, хуулийн заалтаар шийдсэнийг асуух. | Бичгээр өгсөн үндэслэлийг хадгалах.</a:t>
            </a:r>
          </a:p>
          <a:p>
            <a:r>
              <a:t>Хянуулах арга замаа мэдэх | Эрх бүхий байгууллагаас мэдээлэл, хууль зүйн зөвлөгөө авах. | Маргааны төрөл, журмыг тодруулах.</a:t>
            </a:r>
          </a:p>
          <a:p>
            <a:r>
              <a:t>Шүүхийн журмыг нягтлах | Харьяалал, нэхэмжлэл гаргах хугацааг шалгах. | Өөр байгууллагад гомдол гаргаснаар хугацаа зогсоно гэж үзэхгүй.</a:t>
            </a:r>
          </a:p>
          <a:p/>
          <a:p>
            <a:r>
              <a:t>ЭХ СУРВАЛЖ</a:t>
            </a:r>
          </a:p>
          <a:p>
            <a:r>
              <a:t>[ҮХ] Монгол Улсын Үндсэн хууль. Баталсан: 1992.01.13.</a:t>
            </a:r>
          </a:p>
          <a:p>
            <a:r>
              <a:t>https://legalinfo.mn/mn/detail/367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дүгнэлтийг гурван өгүүлбэрээр тайлбарлана: хүн бүр тэгш эрхтэй; бодит хүртээмж хэрэгтэй; шийдвэр хариуцлагатай байх ёстой. Сонсогчдоос Монголд аль саадыг түрүүлж бууруулах шаардлагатайг асууж болно.</a:t>
            </a:r>
          </a:p>
          <a:p/>
          <a:p>
            <a:r>
              <a:t>ҮНДСЭН ТАЙЛБАР</a:t>
            </a:r>
          </a:p>
          <a:p>
            <a:r>
              <a:t>Нийгмийн байр суурь, орлогын ялгаа хүний нэр төр, үндсэн эрхийг бууруулахгүй. Гэвч эрхийг хуульд баталгаажуулах нь дангаараа хангалтгүй бөгөөд сургууль, эмнэлэг, нийгмийн дэмжлэгт бодитоор хүрэх нөхцөл шаардлагатай. Онолын хандлагууд боломжийн хуваарилалт, хамгийн таагүй нөхцөлтэй хүмүүсийн хэрэгцээг анхааруулдаг. Судалгаа, шүүхийн жишээнүүдээс орлогын дэмжлэг, хүртээмжтэй үйлчилгээ, үндэслэлтэй шийдвэр, хянуулах боломжийг хамтад нь хөгжүүлэх шаардлага харагдаж байна.</a:t>
            </a:r>
          </a:p>
          <a:p/>
          <a:p>
            <a:r>
              <a:t>ЭХ СУРВАЛЖ</a:t>
            </a:r>
          </a:p>
          <a:p>
            <a:r>
              <a:t>[ҮХ] Монгол Улсын Үндсэн хууль. Баталсан: 1992.01.13.</a:t>
            </a:r>
          </a:p>
          <a:p>
            <a:r>
              <a:t>https://legalinfo.mn/mn/detail/367</a:t>
            </a:r>
          </a:p>
          <a:p>
            <a:r>
              <a:t>[Роулс] Rawls, J. (1971). A Theory of Justice. Cambridge, MA: Harvard University Press.</a:t>
            </a:r>
          </a:p>
          <a:p>
            <a:r>
              <a:t>https://www.hup.harvard.edu/books/9780674000780</a:t>
            </a:r>
          </a:p>
          <a:p>
            <a:r>
              <a:t>[Сэн] Sen, A. (1999). Development as Freedom. Oxford: Oxford University Press.</a:t>
            </a:r>
          </a:p>
          <a:p>
            <a:r>
              <a:t>https://global.oup.com/academic/product/development-as-freedom-9780192893307</a:t>
            </a:r>
          </a:p>
          <a:p>
            <a:r>
              <a:t>[GROOT] Government of the Republic of South Africa v Grootboom [2000] ZACC 19. Шийдвэр: 2000.10.04.</a:t>
            </a:r>
          </a:p>
          <a:p>
            <a:r>
              <a:t>https://www.saflii.org/za/cases/ZACC/2000/19.html</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Хуулийн тайлбарууд нь хураангуй бөгөөд үгчилсэн эшлэл биш. Баталсан огноо, хүчин төгөлдөр болсон огноо, Монгол Улс нэгдсэн огноог ялгана. Албан ёсны зарим сайтад сүлжээний хязгаарлалттай байсан тул 2026 оны сүүлийн найруулгыг онлайн тулгаж баталгаажуулаагүй.</a:t>
            </a:r>
          </a:p>
          <a:p/>
          <a:p>
            <a:r>
              <a:t>ҮНДСЭН ТАЙЛБАР</a:t>
            </a:r>
          </a:p>
          <a:p/>
          <a:p/>
          <a:p>
            <a:r>
              <a:t>ЭХ СУРВАЛЖ</a:t>
            </a:r>
          </a:p>
          <a:p>
            <a:r>
              <a:t>[ҮХ] Монгол Улсын Үндсэн хууль. Баталсан: 1992.01.13.</a:t>
            </a:r>
          </a:p>
          <a:p>
            <a:r>
              <a:t>https://legalinfo.mn/mn/detail/367</a:t>
            </a:r>
          </a:p>
          <a:p>
            <a:r>
              <a:t>[ХТ] Хөдөлмөрийн тухай хууль, шинэчилсэн найруулга. 2021.07.02.</a:t>
            </a:r>
          </a:p>
          <a:p>
            <a:r>
              <a:t>https://legalinfo.mn</a:t>
            </a:r>
          </a:p>
          <a:p>
            <a:r>
              <a:t>[НХ] Нийгмийн халамжийн тухай хууль, шинэчилсэн найруулга. 2012.01.19.</a:t>
            </a:r>
          </a:p>
          <a:p>
            <a:r>
              <a:t>https://legalinfo.mn</a:t>
            </a:r>
          </a:p>
          <a:p>
            <a:r>
              <a:t>[БЕХ] Боловсролын ерөнхий хууль, шинэчилсэн найруулга. 2023.07.07.</a:t>
            </a:r>
          </a:p>
          <a:p>
            <a:r>
              <a:t>https://legalinfo.mn</a:t>
            </a:r>
          </a:p>
          <a:p>
            <a:r>
              <a:t>[ХБХ] Хөгжлийн бэрхшээлтэй хүний эрхийн тухай хууль. 2016.02.05.</a:t>
            </a:r>
          </a:p>
          <a:p>
            <a:r>
              <a:t>https://legalinfo.mn</a:t>
            </a:r>
          </a:p>
          <a:p>
            <a:r>
              <a:t>[UDHR] НҮБ. Хүний эрхийн түгээмэл тунхаглал. 1948.12.10; 217 A (III).</a:t>
            </a:r>
          </a:p>
          <a:p>
            <a:r>
              <a:t>https://www.ohchr.org/en/human-rights/universal-declaration/translations/mongolian</a:t>
            </a:r>
          </a:p>
          <a:p>
            <a:r>
              <a:t>[ICESCR] НҮБ. Эдийн засаг, нийгэм, соёлын эрхийн тухай олон улсын пакт. 1966.12.16; хүчин төгөлдөр: 1976.01.03.</a:t>
            </a:r>
          </a:p>
          <a:p>
            <a:r>
              <a:t>https://www.ohchr.org/en/instruments-mechanisms/instruments/international-covenant-economic-social-and-cultural-rights</a:t>
            </a:r>
          </a:p>
          <a:p>
            <a:r>
              <a:t>[ICCPR] НҮБ. Иргэний болон улс төрийн эрхийн тухай олон улсын пакт. 1966.12.16; хүчин төгөлдөр: 1976.03.23.</a:t>
            </a:r>
          </a:p>
          <a:p>
            <a:r>
              <a:t>https://www.ohchr.org/en/instruments-mechanisms/instruments/international-covenant-civil-and-political-rights</a:t>
            </a:r>
          </a:p>
          <a:p>
            <a:r>
              <a:t>[CRC] НҮБ. Хүүхдийн эрхийн тухай конвенц. 1989.11.20.</a:t>
            </a:r>
          </a:p>
          <a:p>
            <a:r>
              <a:t>https://www.ohchr.org/en/instruments-mechanisms/instruments/convention-rights-child</a:t>
            </a:r>
          </a:p>
          <a:p>
            <a:r>
              <a:t>[CEDAW] НҮБ. Эмэгтэйчүүдийг алагчлах бүх хэлбэрийг устгах тухай конвенц. 1979.12.18.</a:t>
            </a:r>
          </a:p>
          <a:p>
            <a:r>
              <a:t>https://www.ohchr.org/en/instruments-mechanisms/instruments/convention-elimination-all-forms-discrimination-against-women</a:t>
            </a:r>
          </a:p>
          <a:p>
            <a:r>
              <a:t>[CRPD] НҮБ. Хөгжлийн бэрхшээлтэй хүмүүсийн эрхийн тухай конвенц. 2006.12.13.</a:t>
            </a:r>
          </a:p>
          <a:p>
            <a:r>
              <a:t>https://www.ohchr.org/en/instruments-mechanisms/instruments/convention-rights-persons-disabilities</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Онолын бүтээлийн анхны хэвлэгдсэн он, судалгааны мэдээлэл цуглуулсан хугацаа, тайлан нийтэлсэн оныг тус тус тэмдэглэсэн. Монголын 2022 оны өгөгдлийг нийтлэлийн огноо гэж нэрлээгүй. Судалгааны нарийвчилсан үр дүн, хуулийн хүчин төгөлдөр эхийг ашиглахын өмнө анхдагч эхтэй дахин тулгана.</a:t>
            </a:r>
          </a:p>
          <a:p/>
          <a:p>
            <a:r>
              <a:t>ҮНДСЭН ТАЙЛБАР</a:t>
            </a:r>
          </a:p>
          <a:p/>
          <a:p/>
          <a:p>
            <a:r>
              <a:t>ЭХ СУРВАЛЖ</a:t>
            </a:r>
          </a:p>
          <a:p>
            <a:r>
              <a:t>[Маркс] Marx, K. (1867). Das Kapital. Band I. Hamburg: Otto Meissner.</a:t>
            </a:r>
          </a:p>
          <a:p>
            <a:r>
              <a:t>https://www.marxists.org/archive/marx/works/1867-c1/</a:t>
            </a:r>
          </a:p>
          <a:p>
            <a:r>
              <a:t>[Вебер] Weber, M. (1922). Wirtschaft und Gesellschaft. Tübingen: J. C. B. Mohr.</a:t>
            </a:r>
          </a:p>
          <a:p>
            <a:r>
              <a:t>https://archive.org/search?query=Weber+Wirtschaft+und+Gesellschaft+1922</a:t>
            </a:r>
          </a:p>
          <a:p>
            <a:r>
              <a:t>[Роулс] Rawls, J. (1971). A Theory of Justice. Cambridge, MA: Harvard University Press.</a:t>
            </a:r>
          </a:p>
          <a:p>
            <a:r>
              <a:t>https://www.hup.harvard.edu/books/9780674000780</a:t>
            </a:r>
          </a:p>
          <a:p>
            <a:r>
              <a:t>[Сэн] Sen, A. (1999). Development as Freedom. Oxford: Oxford University Press.</a:t>
            </a:r>
          </a:p>
          <a:p>
            <a:r>
              <a:t>https://global.oup.com/academic/product/development-as-freedom-9780192893307</a:t>
            </a:r>
          </a:p>
          <a:p>
            <a:r>
              <a:t>[МОН-2022] ҮСХ, Дэлхийн банк. Монгол Улсын 2022 оны ядуурлын тооцоолол; Өрхийн нийгэм, эдийн засгийн судалгаа, 2022.</a:t>
            </a:r>
          </a:p>
          <a:p>
            <a:r>
              <a:t>https://www.1212.mn</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[ФИН-ТАЙЛАН] Kangas, O., Jauhiainen, S., Simanainen, M., &amp; Ylikännö, M. (eds.). (2020). Suomen perustulokokeilun arviointi. Финландын Нийгмийн асуудал, эрүүл мэндийн яам.</a:t>
            </a:r>
          </a:p>
          <a:p>
            <a:r>
              <a:t>https://julkaisut.valtioneuvosto.fi</a:t>
            </a:r>
          </a:p>
          <a:p>
            <a:r>
              <a:t>[GROOT] Government of the Republic of South Africa v Grootboom [2000] ZACC 19. Шийдвэр: 2000.10.04.</a:t>
            </a:r>
          </a:p>
          <a:p>
            <a:r>
              <a:t>https://www.saflii.org/za/cases/ZACC/2000/19.html</a:t>
            </a:r>
          </a:p>
          <a:p>
            <a:r>
              <a:t>[TAC] Minister of Health v Treatment Action Campaign (No 2) [2002] ZACC 15. Шийдвэр: 2002.07.05.</a:t>
            </a:r>
          </a:p>
          <a:p>
            <a:r>
              <a:t>https://www.saflii.org/za/cases/ZACC/2002/15.html</a:t>
            </a:r>
          </a:p>
          <a:p>
            <a:r>
              <a:t>[ГЕР] BVerfG. 1 BvL 1/09, 1 BvL 3/09, 1 BvL 4/09. Шийдвэр: 2010.02.09.</a:t>
            </a:r>
          </a:p>
          <a:p>
            <a:r>
              <a:t>https://www.bundesverfassungsgericht.de</a:t>
            </a:r>
          </a:p>
          <a:p>
            <a:r>
              <a:t>[БРА] Бразил. Lei nº 10.836, 2004.01.09; Lei nº 14.601, 2023.06.19. Bolsa Família.</a:t>
            </a:r>
          </a:p>
          <a:p>
            <a:r>
              <a:t>https://www.planalto.gov.br/ccivil_03/_ato2023-2026/2023/lei/l14601.htm</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egalinfo.mn/mn/detail/367" TargetMode="External"/><Relationship Id="rId3" Type="http://schemas.openxmlformats.org/officeDocument/2006/relationships/hyperlink" Target="https://legalinfo.mn" TargetMode="External"/><Relationship Id="rId4" Type="http://schemas.openxmlformats.org/officeDocument/2006/relationships/hyperlink" Target="https://www.ohchr.org/en/human-rights/universal-declaration/translations/mongolian" TargetMode="External"/><Relationship Id="rId5" Type="http://schemas.openxmlformats.org/officeDocument/2006/relationships/hyperlink" Target="https://www.ohchr.org/en/instruments-mechanisms/instruments/international-covenant-economic-social-and-cultural-rights" TargetMode="External"/><Relationship Id="rId6" Type="http://schemas.openxmlformats.org/officeDocument/2006/relationships/hyperlink" Target="https://www.ohchr.org/en/instruments-mechanisms/instruments/international-covenant-civil-and-political-rights" TargetMode="External"/><Relationship Id="rId7" Type="http://schemas.openxmlformats.org/officeDocument/2006/relationships/hyperlink" Target="https://www.ohchr.org/en/instruments-mechanisms/instruments/convention-rights-child" TargetMode="External"/><Relationship Id="rId8" Type="http://schemas.openxmlformats.org/officeDocument/2006/relationships/hyperlink" Target="https://www.ohchr.org/en/instruments-mechanisms/instruments/convention-elimination-all-forms-discrimination-against-women" TargetMode="External"/><Relationship Id="rId9" Type="http://schemas.openxmlformats.org/officeDocument/2006/relationships/hyperlink" Target="https://www.ohchr.org/en/instruments-mechanisms/instruments/convention-rights-persons-disabilities" TargetMode="Externa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arxists.org/archive/marx/works/1867-c1/" TargetMode="External"/><Relationship Id="rId3" Type="http://schemas.openxmlformats.org/officeDocument/2006/relationships/hyperlink" Target="https://archive.org/search?query=Weber+Wirtschaft+und+Gesellschaft+1922" TargetMode="External"/><Relationship Id="rId4" Type="http://schemas.openxmlformats.org/officeDocument/2006/relationships/hyperlink" Target="https://www.hup.harvard.edu/books/9780674000780" TargetMode="External"/><Relationship Id="rId5" Type="http://schemas.openxmlformats.org/officeDocument/2006/relationships/hyperlink" Target="https://global.oup.com/academic/product/development-as-freedom-9780192893307" TargetMode="External"/><Relationship Id="rId6" Type="http://schemas.openxmlformats.org/officeDocument/2006/relationships/hyperlink" Target="https://www.1212.mn" TargetMode="External"/><Relationship Id="rId7" Type="http://schemas.openxmlformats.org/officeDocument/2006/relationships/hyperlink" Target="https://www.kela.fi/news/results-of-the-basic-income-experiment-small-employment-effects-better-perceived-economic-security-and-mental-wellbeing" TargetMode="External"/><Relationship Id="rId8" Type="http://schemas.openxmlformats.org/officeDocument/2006/relationships/hyperlink" Target="https://julkaisut.valtioneuvosto.fi" TargetMode="External"/><Relationship Id="rId9" Type="http://schemas.openxmlformats.org/officeDocument/2006/relationships/hyperlink" Target="https://www.saflii.org/za/cases/ZACC/2000/19.html" TargetMode="External"/><Relationship Id="rId10" Type="http://schemas.openxmlformats.org/officeDocument/2006/relationships/hyperlink" Target="https://www.saflii.org/za/cases/ZACC/2002/15.html" TargetMode="External"/><Relationship Id="rId11" Type="http://schemas.openxmlformats.org/officeDocument/2006/relationships/hyperlink" Target="https://www.bundesverfassungsgericht.de" TargetMode="External"/><Relationship Id="rId12" Type="http://schemas.openxmlformats.org/officeDocument/2006/relationships/hyperlink" Target="https://www.planalto.gov.br/ccivil_03/_ato2023-2026/2023/lei/l14601.htm" TargetMode="External"/><Relationship Id="rId1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791700" y="609600"/>
            <a:ext cx="1885950" cy="5419725"/>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791700" y="609600"/>
            <a:ext cx="66675" cy="5419725"/>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550" y="1057275"/>
            <a:ext cx="8658225" cy="523874"/>
          </a:xfrm>
          <a:prstGeom prst="rect">
            <a:avLst/>
          </a:prstGeom>
          <a:noFill/>
        </p:spPr>
        <p:txBody>
          <a:bodyPr wrap="square" tIns="0" rIns="0" bIns="0" lIns="0">
            <a:spAutoFit/>
          </a:bodyPr>
          <a:lstStyle/>
          <a:p>
            <a:pPr algn="l">
              <a:lnSpc>
                <a:spcPts val="2697"/>
              </a:lnSpc>
              <a:spcBef>
                <a:spcPts val="0"/>
              </a:spcBef>
              <a:spcAft>
                <a:spcPts val="0"/>
              </a:spcAft>
              <a:defRPr sz="2175" b="1">
                <a:solidFill>
                  <a:srgbClr val="17375E"/>
                </a:solidFill>
                <a:latin typeface="Times New Roman"/>
              </a:defRPr>
            </a:pPr>
            <a:r>
              <a:t>МОНГОЛ УЛСЫН ИХ СУРГУУЛЬ</a:t>
            </a:r>
          </a:p>
        </p:txBody>
      </p:sp>
      <p:sp>
        <p:nvSpPr>
          <p:cNvPr id="9" name="TextBox 8"/>
          <p:cNvSpPr txBox="1"/>
          <p:nvPr/>
        </p:nvSpPr>
        <p:spPr>
          <a:xfrm>
            <a:off x="590550" y="2143125"/>
            <a:ext cx="8524875" cy="1676400"/>
          </a:xfrm>
          <a:prstGeom prst="rect">
            <a:avLst/>
          </a:prstGeom>
          <a:noFill/>
        </p:spPr>
        <p:txBody>
          <a:bodyPr wrap="square" tIns="0" rIns="0" bIns="0" lIns="0">
            <a:spAutoFit/>
          </a:bodyPr>
          <a:lstStyle/>
          <a:p>
            <a:pPr algn="l">
              <a:lnSpc>
                <a:spcPts val="5394"/>
              </a:lnSpc>
              <a:spcBef>
                <a:spcPts val="0"/>
              </a:spcBef>
              <a:spcAft>
                <a:spcPts val="0"/>
              </a:spcAft>
              <a:defRPr sz="4350" b="1">
                <a:solidFill>
                  <a:srgbClr val="17375E"/>
                </a:solidFill>
                <a:latin typeface="Times New Roman"/>
              </a:defRPr>
            </a:pPr>
            <a:r>
              <a:t>Нийгмийн доод давхраа ба хүний эрх</a:t>
            </a:r>
          </a:p>
        </p:txBody>
      </p:sp>
      <p:sp>
        <p:nvSpPr>
          <p:cNvPr id="10" name="TextBox 9"/>
          <p:cNvSpPr txBox="1"/>
          <p:nvPr/>
        </p:nvSpPr>
        <p:spPr>
          <a:xfrm>
            <a:off x="590550" y="4248150"/>
            <a:ext cx="8381999" cy="1085850"/>
          </a:xfrm>
          <a:prstGeom prst="rect">
            <a:avLst/>
          </a:prstGeom>
          <a:noFill/>
        </p:spPr>
        <p:txBody>
          <a:bodyPr wrap="square" tIns="0" rIns="0" bIns="0" lIns="0">
            <a:spAutoFit/>
          </a:bodyPr>
          <a:lstStyle/>
          <a:p>
            <a:pPr algn="l">
              <a:lnSpc>
                <a:spcPts val="2697"/>
              </a:lnSpc>
              <a:spcBef>
                <a:spcPts val="0"/>
              </a:spcBef>
              <a:spcAft>
                <a:spcPts val="870"/>
              </a:spcAft>
              <a:defRPr sz="2175" b="0">
                <a:solidFill>
                  <a:srgbClr val="15191E"/>
                </a:solidFill>
                <a:latin typeface="Times New Roman"/>
              </a:defRPr>
            </a:pPr>
            <a:r>
              <a:t>Оюутнууд: Б. Саранчимэг, Ш. Түвшинбаяр, Б. Энхзаяа</a:t>
            </a:r>
          </a:p>
          <a:p>
            <a:pPr algn="l">
              <a:lnSpc>
                <a:spcPts val="2697"/>
              </a:lnSpc>
              <a:spcBef>
                <a:spcPts val="0"/>
              </a:spcBef>
              <a:spcAft>
                <a:spcPts val="0"/>
              </a:spcAft>
              <a:defRPr sz="2175" b="0">
                <a:solidFill>
                  <a:srgbClr val="15191E"/>
                </a:solidFill>
                <a:latin typeface="Times New Roman"/>
              </a:defRPr>
            </a:pPr>
            <a:r>
              <a:t>Багш: Б. Тамир</a:t>
            </a:r>
          </a:p>
        </p:txBody>
      </p:sp>
      <p:sp>
        <p:nvSpPr>
          <p:cNvPr id="11" name="TextBox 10"/>
          <p:cNvSpPr txBox="1"/>
          <p:nvPr/>
        </p:nvSpPr>
        <p:spPr>
          <a:xfrm>
            <a:off x="590550" y="5581650"/>
            <a:ext cx="8096249" cy="314325"/>
          </a:xfrm>
          <a:prstGeom prst="rect">
            <a:avLst/>
          </a:prstGeom>
          <a:noFill/>
        </p:spPr>
        <p:txBody>
          <a:bodyPr wrap="square" tIns="0" rIns="0" bIns="0" lIns="0">
            <a:spAutoFit/>
          </a:bodyPr>
          <a:lstStyle/>
          <a:p>
            <a:pPr algn="l">
              <a:lnSpc>
                <a:spcPts val="2139"/>
              </a:lnSpc>
              <a:spcBef>
                <a:spcPts val="0"/>
              </a:spcBef>
              <a:spcAft>
                <a:spcPts val="0"/>
              </a:spcAft>
              <a:defRPr sz="1725" b="0">
                <a:solidFill>
                  <a:srgbClr val="53616E"/>
                </a:solidFill>
                <a:latin typeface="Times New Roman"/>
              </a:defRPr>
            </a:pPr>
            <a:r>
              <a:t>Эрх зүй • Онол • Судалгаа • Харьцуулалт</a:t>
            </a:r>
          </a:p>
        </p:txBody>
      </p:sp>
      <p:sp>
        <p:nvSpPr>
          <p:cNvPr id="12" name="Rectangle 11"/>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МУИС • Оюутны илтгэл</a:t>
            </a:r>
          </a:p>
        </p:txBody>
      </p:sp>
      <p:sp>
        <p:nvSpPr>
          <p:cNvPr id="14" name="TextBox 13"/>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Сэдвийн үндэслэл</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Ядуурал ба хүний эрхийн бодит хэрэгжилт</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Хүний эрх хүн бүрд адил хамаарах боловч түүнийг бодитоор эдлэх боломж нийгмийн нөхцөлөөс шалтгаалан ялгаатай байдаг. Орлого хүрэлцэхгүй, ажил тогтворгүй, сургууль болон эмнэлэгт хүрэхэд зардал ихтэй байх нь бага орлоготой иргэдэд нэмэлт саад учруулдаг. Иймээс ядуурлыг зөвхөн тухайн хүний мөнгөний дутагдал гэж үзэх нь хангалтгүй. Хуулиар баталгаажсан эрх бодит амьдралд хэрхэн хэрэгжиж байгааг орлого, үйлчилгээний хүртээмж, эрхээ хамгаалуулах боломжтой нь холбон судлах шаардлагатай.</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Сэн</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Зорилго, хамрах хүрээ</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Илтгэлээр авч үзэх асуудал</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Илтгэлийн зорилго нь нийгмийн эмзэг нөхцөлтэй иргэдийн эрхээ эдлэхэд тулгардаг саадыг онол, эрх зүй, судалгааны баримтаар тайлбарлахад оршино. Үүний хүрээнд нийгмийн давхраажилт, шударга ёс, бодит боломжийн талаарх онолыг авч үзэж, Монголын хууль болон олон улсын баримт бичгийн холбогдох зохицуулалтыг харьцуулна. Мөн Монголын ядуурлын тооцоолол, Финландын орлогын туршилт, гадаадын шүүхийн шийдвэрээс авах сургамжийг нэгтгэн Монголд хэрэгжүүлэх санал дэвшүүлнэ.</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МОН-2022; ФИН-2020</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Онолын үндэс: нийгмийн давхраажилт</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К. Маркс (1867), М. Вебер (1922)</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Нийгмийн давхраажилт нь хүмүүс орлого, өмч, эрх мэдэл, нэр хүндийн хувьд ялгаатай байр суурь эзлэхийг тайлбарладаг. Маркс үйлдвэрлэлийн хэрэгслийг эзэмших байдал, хөдөлмөрийн харилцааг ангийн ялгааны гол үндэс гэж үзсэн. Вебер эдийн засгийн ангиас гадна нийгмийн байр суурь, улс төрийн эрх мэдлийг ялган авч үзсэн. Эдгээр хандлагаас бага орлоготой байдлыг зөвхөн хувь хүний сонголтоор бус, нөөц ба боломжийн хуваарилалттай холбон ойлгож болно. Энд “доод давхраа” гэх нэр томьёо нь хүний үнэ цэнийг үнэлсэн утгагүй.</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Маркс; Вебер</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Онолын үндэс: шударга ёс</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Ж. Роулс — A Theory of Justice, 1971</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Роулсын шударга ёсны онол тэгш үндсэн эрх чөлөө, боломжийн шударга тэгш байдлыг чухалчилдаг. Түүний ялгааны зарчмаар нийгэм, эдийн засгийн тэгш бус байдал нь хамгийн таагүй нөхцөлтэй хүмүүсийн ашиг сонирхолд нийцэж байх шаардлагатай. Энэ хандлага нь нөөцийг хүн бүрд ижил хэмжээгээр өгөхөөс гадна хэнд ямар саад тулгарч байгааг харгалзах үндэслэл болдог. Иймээс нийгмийн бодлогыг үнэлэхдээ нийт өсөлтөөр хязгаарлахгүйгээр хамгийн бага боломжтой хүмүүсийн нөхцөл сайжирсан эсэхийг асуух хэрэгтэй.</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Роулс</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Онолын үндэс: чадавхын хандлага</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А. Сэн — Development as Freedom, 1999</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Сэний чадавхын хандлага хүний амьдралыг зөвхөн орлогоор бус, үнэ цэнтэй гэж үзсэн амьдралаа сонгож, хэрэгжүүлэх бодит боломжоор үнэлдэг. Ижил орлоготой хоёр хүн эрүүл мэнд, хөгжлийн бэрхшээл, байршлын ялгаанаас шалтгаалан өөр өөр боломжтой байж болно. Тиймээс орлого нь зорилго бус, амьдралын боломжийг нэмэгдүүлэх нэг хэрэгсэл юм. Энэ хандлагаар боловсрол, эрүүл мэнд, хүртээмжтэй орчин, нийгмийн оролцоог хамтад нь сайжруулах нь ядуурал болон эрхийн хэрэгжилтийн асуудлыг шийдэхэд чухал.</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Сэн</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Гол ойлголтуудын холбоо</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Ядуурал, эмзэг байдал, эрхийн хүртээмж</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Мөнгөн ядуурал нь өрхийн хэрэглээ эсвэл орлогыг тодорхой босготой харьцуулсан хэмжүүр юм. Харин эмзэг байдал нь өвчлөл, ажилгүйдэл, үнийн өсөлт зэрэг өөрчлөлтөд өртөж, амьжиргаа доройтох эрсдэлийг илэрхийлнэ. Ядуу биш өрх ч эмзэг байж болно. Үйлчилгээний хүртээмж гэдэг нь үйлчилгээ байгаа эсэхээс гадна тухайн хүн түүнд очих, зардлыг нь даах, чанартай тусламж авах боломжийг хамарна. Иймээс ядуурлыг бууруулах бодлого орлогын дэмжлэгийг суурь үйлчилгээ, эрхийн хамгаалалттай уялдуулах шаардлагатай.</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Сэн; МОН-2022</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Монголын эрх зүйн үндэс</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Монгол Улсын Үндсэн хууль — 1992.01.13</a:t>
            </a:r>
          </a:p>
        </p:txBody>
      </p:sp>
      <p:graphicFrame>
        <p:nvGraphicFramePr>
          <p:cNvPr id="8" name="Table 7"/>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706755">
                <a:tc>
                  <a:txBody>
                    <a:bodyPr/>
                    <a:lstStyle/>
                    <a:p>
                      <a:pPr algn="just">
                        <a:lnSpc>
                          <a:spcPts val="2139"/>
                        </a:lnSpc>
                        <a:spcAft>
                          <a:spcPts val="690"/>
                        </a:spcAft>
                        <a:defRPr sz="1725" b="1">
                          <a:solidFill>
                            <a:srgbClr val="FFFFFF"/>
                          </a:solidFill>
                          <a:latin typeface="Times New Roman"/>
                        </a:defRPr>
                      </a:pPr>
                      <a:r>
                        <a:t>Заалт</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Агуулгын хураангуй</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Сэдэвтэй холбогдох утга</a:t>
                      </a:r>
                    </a:p>
                  </a:txBody>
                  <a:tcPr marL="104775" marR="104775" marT="85725" marB="76200" anchor="t">
                    <a:solidFill>
                      <a:srgbClr val="17375E"/>
                    </a:solidFill>
                  </a:tcPr>
                </a:tc>
              </a:tr>
              <a:tr h="706755">
                <a:tc>
                  <a:txBody>
                    <a:bodyPr/>
                    <a:lstStyle/>
                    <a:p>
                      <a:pPr algn="just">
                        <a:lnSpc>
                          <a:spcPts val="2185"/>
                        </a:lnSpc>
                        <a:spcAft>
                          <a:spcPts val="705"/>
                        </a:spcAft>
                        <a:defRPr sz="1762" b="0">
                          <a:solidFill>
                            <a:srgbClr val="15191E"/>
                          </a:solidFill>
                          <a:latin typeface="Times New Roman"/>
                        </a:defRPr>
                      </a:pPr>
                      <a:r>
                        <a:t>14.1; 14.2</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Хуулийн өмнөх тэгш байдал; хөрөнгө чинээгээр ялгаварлахгүй.</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Бага орлоготой хүнийг дорд үзэж, ялгаварлаж болохгүй.</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16.5</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Хуульд заасан тохиолдолд эд, мөнгөний тусламж авах эрх.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Нийгмийн дэмжлэгийн эрх үүсэх нөхцөлийг хууль тогтооно.</a:t>
                      </a:r>
                    </a:p>
                  </a:txBody>
                  <a:tcPr marL="104775" marR="104775" marT="85725" marB="76200" anchor="t">
                    <a:solidFill>
                      <a:srgbClr val="FFFFFF"/>
                    </a:solidFill>
                  </a:tcPr>
                </a:tc>
              </a:tr>
              <a:tr h="706755">
                <a:tc>
                  <a:txBody>
                    <a:bodyPr/>
                    <a:lstStyle/>
                    <a:p>
                      <a:pPr algn="just">
                        <a:lnSpc>
                          <a:spcPts val="2185"/>
                        </a:lnSpc>
                        <a:spcAft>
                          <a:spcPts val="705"/>
                        </a:spcAft>
                        <a:defRPr sz="1762" b="0">
                          <a:solidFill>
                            <a:srgbClr val="15191E"/>
                          </a:solidFill>
                          <a:latin typeface="Times New Roman"/>
                        </a:defRPr>
                      </a:pPr>
                      <a:r>
                        <a:t>16.6; 16.7</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Эрүүл мэндээ хамгаалуулах, сурч боловсрох эрх.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Үйлчилгээнд бодитоор хүрэх боломж чухал.</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19.1</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Эрхийн эдийн засаг, нийгэм, хууль зүйн баталгааг бүрдүүлэх үүрэг.</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Төр хэрэгжилтийг бодлого, төсөв, зохицуулалтаар хангана.</a:t>
                      </a:r>
                    </a:p>
                  </a:txBody>
                  <a:tcPr marL="104775" marR="104775" marT="85725" marB="76200" anchor="t">
                    <a:solidFill>
                      <a:srgbClr val="FFFFFF"/>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Хөдөлмөр, нийгмийн хамгаалал</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Хуулийн нэр, баталсан огноо, зохицуулалтын хүрээ</a:t>
            </a:r>
          </a:p>
        </p:txBody>
      </p:sp>
      <p:graphicFrame>
        <p:nvGraphicFramePr>
          <p:cNvPr id="8" name="Table 7"/>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Хууль,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Холбогдох зохицуулалт</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Тайлбар</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Хөдөлмөрийн тухай</a:t>
                      </a:r>
                    </a:p>
                    <a:p>
                      <a:pPr algn="just">
                        <a:lnSpc>
                          <a:spcPts val="2185"/>
                        </a:lnSpc>
                        <a:spcAft>
                          <a:spcPts val="705"/>
                        </a:spcAft>
                        <a:defRPr sz="1762" b="0">
                          <a:solidFill>
                            <a:srgbClr val="15191E"/>
                          </a:solidFill>
                          <a:latin typeface="Times New Roman"/>
                        </a:defRPr>
                      </a:pPr>
                      <a:r>
                        <a:t>2021.07.02</a:t>
                      </a:r>
                    </a:p>
                  </a:txBody>
                  <a:tcPr marL="104775" marR="104775" marT="85725" marB="76200" anchor="t">
                    <a:solidFill>
                      <a:srgbClr val="F0F4F8"/>
                    </a:solidFill>
                  </a:tcPr>
                </a:tc>
                <a:tc>
                  <a:txBody>
                    <a:bodyPr/>
                    <a:lstStyle/>
                    <a:p>
                      <a:pPr algn="just">
                        <a:lnSpc>
                          <a:spcPts val="2162"/>
                        </a:lnSpc>
                        <a:spcAft>
                          <a:spcPts val="697"/>
                        </a:spcAft>
                        <a:defRPr sz="1743" b="0">
                          <a:solidFill>
                            <a:srgbClr val="15191E"/>
                          </a:solidFill>
                          <a:latin typeface="Times New Roman"/>
                        </a:defRPr>
                      </a:pPr>
                      <a:r>
                        <a:t>6 дугаар зүйл: хөдөлмөрт ялгаварлан гадуурхахыг хориглоно.</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Ажилд авах, ажиллуулах үед тэгш хандах шаардлага.</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Нийгмийн халамжийн тухай</a:t>
                      </a:r>
                    </a:p>
                    <a:p>
                      <a:pPr algn="just">
                        <a:lnSpc>
                          <a:spcPts val="2185"/>
                        </a:lnSpc>
                        <a:spcAft>
                          <a:spcPts val="705"/>
                        </a:spcAft>
                        <a:defRPr sz="1762" b="0">
                          <a:solidFill>
                            <a:srgbClr val="15191E"/>
                          </a:solidFill>
                          <a:latin typeface="Times New Roman"/>
                        </a:defRPr>
                      </a:pPr>
                      <a:r>
                        <a:t>2012.01.19</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Халамжийн тэтгэвэр, тэтгэмж, үйлчилгээний зохицуулалт.</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Тусламжийн төрөл бүрд хуульд заасан нөхцөл үйлчилнэ.</a:t>
                      </a:r>
                    </a:p>
                  </a:txBody>
                  <a:tcPr marL="104775" marR="104775" marT="85725" marB="76200" anchor="t">
                    <a:solidFill>
                      <a:srgbClr val="FFFFFF"/>
                    </a:solidFill>
                  </a:tcPr>
                </a:tc>
              </a:tr>
              <a:tr h="883443">
                <a:tc>
                  <a:txBody>
                    <a:bodyPr/>
                    <a:lstStyle/>
                    <a:p>
                      <a:pPr algn="just">
                        <a:lnSpc>
                          <a:spcPts val="2185"/>
                        </a:lnSpc>
                        <a:spcAft>
                          <a:spcPts val="705"/>
                        </a:spcAft>
                        <a:defRPr sz="1762" b="0">
                          <a:solidFill>
                            <a:srgbClr val="15191E"/>
                          </a:solidFill>
                          <a:latin typeface="Times New Roman"/>
                        </a:defRPr>
                      </a:pPr>
                      <a:r>
                        <a:t>Үндсэн хууль</a:t>
                      </a:r>
                    </a:p>
                    <a:p>
                      <a:pPr algn="just">
                        <a:lnSpc>
                          <a:spcPts val="2185"/>
                        </a:lnSpc>
                        <a:spcAft>
                          <a:spcPts val="705"/>
                        </a:spcAft>
                        <a:defRPr sz="1762" b="0">
                          <a:solidFill>
                            <a:srgbClr val="15191E"/>
                          </a:solidFill>
                          <a:latin typeface="Times New Roman"/>
                        </a:defRPr>
                      </a:pPr>
                      <a:r>
                        <a:t>1992.01.13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16.4 — хөдөлмөр; 16.5 — эд, мөнгөний тусламж.</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Ажлын нөхцөл, орлогын эрсдэлийн хамгаалалтын суурь.</a:t>
                      </a:r>
                    </a:p>
                  </a:txBody>
                  <a:tcPr marL="104775" marR="104775" marT="85725" marB="76200" anchor="t">
                    <a:solidFill>
                      <a:srgbClr val="F0F4F8"/>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ХТ; НХ; ҮХ</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09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Боловсрол, эрүүл мэндийн эрх</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Баталгаа ба бодит хүртээмж</a:t>
            </a:r>
          </a:p>
        </p:txBody>
      </p:sp>
      <p:graphicFrame>
        <p:nvGraphicFramePr>
          <p:cNvPr id="8" name="Table 7"/>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Эх, баталсан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Заалт / зохицуулалт</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Хэрэгжилтийн асуудал</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Үндсэн хууль</a:t>
                      </a:r>
                    </a:p>
                    <a:p>
                      <a:pPr algn="just">
                        <a:lnSpc>
                          <a:spcPts val="2185"/>
                        </a:lnSpc>
                        <a:spcAft>
                          <a:spcPts val="705"/>
                        </a:spcAft>
                        <a:defRPr sz="1762" b="0">
                          <a:solidFill>
                            <a:srgbClr val="15191E"/>
                          </a:solidFill>
                          <a:latin typeface="Times New Roman"/>
                        </a:defRPr>
                      </a:pPr>
                      <a:r>
                        <a:t>1992.01.13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16.6 — эрүүл мэндээ хамгаалуулах, эмнэлгийн тусламж авах.</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Төлбөргүй тусламжийн болзол, журмыг хуулиар тогтооно.</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Үндсэн хууль</a:t>
                      </a:r>
                    </a:p>
                    <a:p>
                      <a:pPr algn="just">
                        <a:lnSpc>
                          <a:spcPts val="2185"/>
                        </a:lnSpc>
                        <a:spcAft>
                          <a:spcPts val="705"/>
                        </a:spcAft>
                        <a:defRPr sz="1762" b="0">
                          <a:solidFill>
                            <a:srgbClr val="15191E"/>
                          </a:solidFill>
                          <a:latin typeface="Times New Roman"/>
                        </a:defRPr>
                      </a:pPr>
                      <a:r>
                        <a:t>1992.01.13</a:t>
                      </a:r>
                    </a:p>
                  </a:txBody>
                  <a:tcPr marL="104775" marR="104775" marT="85725" marB="76200" anchor="t">
                    <a:solidFill>
                      <a:srgbClr val="FFFFFF"/>
                    </a:solidFill>
                  </a:tcPr>
                </a:tc>
                <a:tc>
                  <a:txBody>
                    <a:bodyPr/>
                    <a:lstStyle/>
                    <a:p>
                      <a:pPr algn="just">
                        <a:lnSpc>
                          <a:spcPts val="1976"/>
                        </a:lnSpc>
                        <a:spcAft>
                          <a:spcPts val="637"/>
                        </a:spcAft>
                        <a:defRPr sz="1593" b="0">
                          <a:solidFill>
                            <a:srgbClr val="15191E"/>
                          </a:solidFill>
                          <a:latin typeface="Times New Roman"/>
                        </a:defRPr>
                      </a:pPr>
                      <a:r>
                        <a:t>16.7 — сурч боловсрох; төрөөс ерөнхий боловсролыг төлбөргүй олгох.</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Унаа, хэрэгсэл, байр зэрэг нэмэлт зардал саад болж болно.</a:t>
                      </a:r>
                    </a:p>
                  </a:txBody>
                  <a:tcPr marL="104775" marR="104775" marT="85725" marB="76200" anchor="t">
                    <a:solidFill>
                      <a:srgbClr val="FFFFFF"/>
                    </a:solidFill>
                  </a:tcPr>
                </a:tc>
              </a:tr>
              <a:tr h="883443">
                <a:tc>
                  <a:txBody>
                    <a:bodyPr/>
                    <a:lstStyle/>
                    <a:p>
                      <a:pPr algn="just">
                        <a:lnSpc>
                          <a:spcPts val="2185"/>
                        </a:lnSpc>
                        <a:spcAft>
                          <a:spcPts val="705"/>
                        </a:spcAft>
                        <a:defRPr sz="1762" b="0">
                          <a:solidFill>
                            <a:srgbClr val="15191E"/>
                          </a:solidFill>
                          <a:latin typeface="Times New Roman"/>
                        </a:defRPr>
                      </a:pPr>
                      <a:r>
                        <a:t>Боловсролын ерөнхий хууль</a:t>
                      </a:r>
                    </a:p>
                    <a:p>
                      <a:pPr algn="just">
                        <a:lnSpc>
                          <a:spcPts val="2185"/>
                        </a:lnSpc>
                        <a:spcAft>
                          <a:spcPts val="705"/>
                        </a:spcAft>
                        <a:defRPr sz="1762" b="0">
                          <a:solidFill>
                            <a:srgbClr val="15191E"/>
                          </a:solidFill>
                          <a:latin typeface="Times New Roman"/>
                        </a:defRPr>
                      </a:pPr>
                      <a:r>
                        <a:t>2023.07.07</a:t>
                      </a:r>
                    </a:p>
                  </a:txBody>
                  <a:tcPr marL="104775" marR="104775" marT="85725" marB="76200" anchor="t">
                    <a:solidFill>
                      <a:srgbClr val="F0F4F8"/>
                    </a:solidFill>
                  </a:tcPr>
                </a:tc>
                <a:tc>
                  <a:txBody>
                    <a:bodyPr/>
                    <a:lstStyle/>
                    <a:p>
                      <a:pPr algn="just">
                        <a:lnSpc>
                          <a:spcPts val="2162"/>
                        </a:lnSpc>
                        <a:spcAft>
                          <a:spcPts val="697"/>
                        </a:spcAft>
                        <a:defRPr sz="1743" b="0">
                          <a:solidFill>
                            <a:srgbClr val="15191E"/>
                          </a:solidFill>
                          <a:latin typeface="Times New Roman"/>
                        </a:defRPr>
                      </a:pPr>
                      <a:r>
                        <a:t>Боловсролын харилцаа, тэгш боломж, хүртээмжийн зохицуулалт.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Элсэлтээс гадна ирц, төгсөлт, суралцах орчныг үнэлнэ.</a:t>
                      </a:r>
                    </a:p>
                  </a:txBody>
                  <a:tcPr marL="104775" marR="104775" marT="85725" marB="76200" anchor="t">
                    <a:solidFill>
                      <a:srgbClr val="F0F4F8"/>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БЕХ</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Хүний эрхийн түгээмэл тунхаглал</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НҮБ-аас баталсан: 1948.12.10</a:t>
            </a:r>
          </a:p>
        </p:txBody>
      </p:sp>
      <p:graphicFrame>
        <p:nvGraphicFramePr>
          <p:cNvPr id="8" name="Table 7"/>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706755">
                <a:tc>
                  <a:txBody>
                    <a:bodyPr/>
                    <a:lstStyle/>
                    <a:p>
                      <a:pPr algn="just">
                        <a:lnSpc>
                          <a:spcPts val="2139"/>
                        </a:lnSpc>
                        <a:spcAft>
                          <a:spcPts val="690"/>
                        </a:spcAft>
                        <a:defRPr sz="1725" b="1">
                          <a:solidFill>
                            <a:srgbClr val="FFFFFF"/>
                          </a:solidFill>
                          <a:latin typeface="Times New Roman"/>
                        </a:defRPr>
                      </a:pPr>
                      <a:r>
                        <a:t>Зүйл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Тунхагласан эрх</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Ядууралтай холбогдох утга</a:t>
                      </a:r>
                    </a:p>
                  </a:txBody>
                  <a:tcPr marL="104775" marR="104775" marT="85725" marB="76200" anchor="t">
                    <a:solidFill>
                      <a:srgbClr val="17375E"/>
                    </a:solidFill>
                  </a:tcPr>
                </a:tc>
              </a:tr>
              <a:tr h="706755">
                <a:tc>
                  <a:txBody>
                    <a:bodyPr/>
                    <a:lstStyle/>
                    <a:p>
                      <a:pPr algn="just">
                        <a:lnSpc>
                          <a:spcPts val="2185"/>
                        </a:lnSpc>
                        <a:spcAft>
                          <a:spcPts val="705"/>
                        </a:spcAft>
                        <a:defRPr sz="1762" b="0">
                          <a:solidFill>
                            <a:srgbClr val="15191E"/>
                          </a:solidFill>
                          <a:latin typeface="Times New Roman"/>
                        </a:defRPr>
                      </a:pPr>
                      <a:r>
                        <a:t>1; 2</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Нэр төр, эрхийн тэгш байдал; ялгаварлалгүй байх.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Орлого нь хүний эрхийн үнэ цэнийг өөрчлөхгүй.</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22</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Нийгмийн хамгаалал.</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Эрсдэлд орсон үед хамгаалалт эдлэх.</a:t>
                      </a:r>
                    </a:p>
                  </a:txBody>
                  <a:tcPr marL="104775" marR="104775" marT="85725" marB="76200" anchor="t">
                    <a:solidFill>
                      <a:srgbClr val="FFFFFF"/>
                    </a:solidFill>
                  </a:tcPr>
                </a:tc>
              </a:tr>
              <a:tr h="706755">
                <a:tc>
                  <a:txBody>
                    <a:bodyPr/>
                    <a:lstStyle/>
                    <a:p>
                      <a:pPr algn="just">
                        <a:lnSpc>
                          <a:spcPts val="2185"/>
                        </a:lnSpc>
                        <a:spcAft>
                          <a:spcPts val="705"/>
                        </a:spcAft>
                        <a:defRPr sz="1762" b="0">
                          <a:solidFill>
                            <a:srgbClr val="15191E"/>
                          </a:solidFill>
                          <a:latin typeface="Times New Roman"/>
                        </a:defRPr>
                      </a:pPr>
                      <a:r>
                        <a:t>23</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Хөдөлмөр, шударга бөгөөд таатай нөхцөл.</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Ажилтай байх төдийгүй зохистой нөхцөл чухал.</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25; 26</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Зохистой амьжиргаа; боловсрол.</a:t>
                      </a:r>
                    </a:p>
                  </a:txBody>
                  <a:tcPr marL="104775" marR="104775" marT="85725" marB="76200" anchor="t">
                    <a:solidFill>
                      <a:srgbClr val="FFFFFF"/>
                    </a:solidFill>
                  </a:tcPr>
                </a:tc>
                <a:tc>
                  <a:txBody>
                    <a:bodyPr/>
                    <a:lstStyle/>
                    <a:p>
                      <a:pPr algn="just">
                        <a:lnSpc>
                          <a:spcPts val="2139"/>
                        </a:lnSpc>
                        <a:spcAft>
                          <a:spcPts val="690"/>
                        </a:spcAft>
                        <a:defRPr sz="1725" b="0">
                          <a:solidFill>
                            <a:srgbClr val="15191E"/>
                          </a:solidFill>
                          <a:latin typeface="Times New Roman"/>
                        </a:defRPr>
                      </a:pPr>
                      <a:r>
                        <a:t>Хоол, байр, эрүүл мэнд, суралцах боломж.</a:t>
                      </a:r>
                    </a:p>
                  </a:txBody>
                  <a:tcPr marL="104775" marR="104775" marT="85725" marB="76200" anchor="t">
                    <a:solidFill>
                      <a:srgbClr val="FFFFFF"/>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UDHR</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Хоёр олон улсын пакт</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Баталсан огноо: 1966.12.16</a:t>
            </a:r>
          </a:p>
        </p:txBody>
      </p:sp>
      <p:graphicFrame>
        <p:nvGraphicFramePr>
          <p:cNvPr id="8" name="Table 7"/>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Баримт бичиг</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Холбогдох зүйл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Агуулгын хураангуй</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Эдийн засаг, нийгэм, соёлын эрхийн пакт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2.1; 2.2</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Нөөцөө дээд хэмжээгээр ашиглан ахиц гаргах; ялгаварлахгүй байх.</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Мөн пакт</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6; 7; 9; 11; 12; 13</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Хөдөлмөр, хамгаалал, амьжиргаа, эрүүл мэнд, боловсрол.</a:t>
                      </a:r>
                    </a:p>
                  </a:txBody>
                  <a:tcPr marL="104775" marR="104775" marT="85725" marB="76200" anchor="t">
                    <a:solidFill>
                      <a:srgbClr val="FFFFFF"/>
                    </a:solidFill>
                  </a:tcPr>
                </a:tc>
              </a:tr>
              <a:tr h="883443">
                <a:tc>
                  <a:txBody>
                    <a:bodyPr/>
                    <a:lstStyle/>
                    <a:p>
                      <a:pPr algn="just">
                        <a:lnSpc>
                          <a:spcPts val="2185"/>
                        </a:lnSpc>
                        <a:spcAft>
                          <a:spcPts val="705"/>
                        </a:spcAft>
                        <a:defRPr sz="1762" b="0">
                          <a:solidFill>
                            <a:srgbClr val="15191E"/>
                          </a:solidFill>
                          <a:latin typeface="Times New Roman"/>
                        </a:defRPr>
                      </a:pPr>
                      <a:r>
                        <a:t>Иргэний болон улс төрийн эрхийн пакт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14; 25; 26</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Шүүхийн өмнө тэгш байх; иргэний оролцоо; хуулийн тэгш хамгаалалт.</a:t>
                      </a:r>
                    </a:p>
                  </a:txBody>
                  <a:tcPr marL="104775" marR="104775" marT="85725" marB="76200" anchor="t">
                    <a:solidFill>
                      <a:srgbClr val="F0F4F8"/>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ICESCR; ICCPR</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Хүүхэд, эмэгтэйчүүдийн эрх</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Конвенцын баталсан огноо ба гол зохицуулалт</a:t>
            </a:r>
          </a:p>
        </p:txBody>
      </p:sp>
      <p:graphicFrame>
        <p:nvGraphicFramePr>
          <p:cNvPr id="8" name="Table 7"/>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Конвенц,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Зүйл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Сэдэвтэй холбогдох агуулга</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Хүүхдийн эрхийн тухай</a:t>
                      </a:r>
                    </a:p>
                    <a:p>
                      <a:pPr algn="just">
                        <a:lnSpc>
                          <a:spcPts val="2185"/>
                        </a:lnSpc>
                        <a:spcAft>
                          <a:spcPts val="705"/>
                        </a:spcAft>
                        <a:defRPr sz="1762" b="0">
                          <a:solidFill>
                            <a:srgbClr val="15191E"/>
                          </a:solidFill>
                          <a:latin typeface="Times New Roman"/>
                        </a:defRPr>
                      </a:pPr>
                      <a:r>
                        <a:t>1989.11.20</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2; 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Ялгаварлахгүй байх; хүүхдийн дээд ашиг сонирхлыг харгалзах.</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Мөн конвенц</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26; 27; 28</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Нийгмийн хамгаалал, зохистой амьжиргаа, боловсрол.</a:t>
                      </a:r>
                    </a:p>
                  </a:txBody>
                  <a:tcPr marL="104775" marR="104775" marT="85725" marB="76200" anchor="t">
                    <a:solidFill>
                      <a:srgbClr val="FFFFFF"/>
                    </a:solidFill>
                  </a:tcPr>
                </a:tc>
              </a:tr>
              <a:tr h="883443">
                <a:tc>
                  <a:txBody>
                    <a:bodyPr/>
                    <a:lstStyle/>
                    <a:p>
                      <a:pPr algn="just">
                        <a:lnSpc>
                          <a:spcPts val="1674"/>
                        </a:lnSpc>
                        <a:spcAft>
                          <a:spcPts val="540"/>
                        </a:spcAft>
                        <a:defRPr sz="1350" b="0">
                          <a:solidFill>
                            <a:srgbClr val="15191E"/>
                          </a:solidFill>
                          <a:latin typeface="Times New Roman"/>
                        </a:defRPr>
                      </a:pPr>
                      <a:r>
                        <a:t>Эмэгтэйчүүдийг алагчлах бүх хэлбэрийг устгах тухай</a:t>
                      </a:r>
                    </a:p>
                    <a:p>
                      <a:pPr algn="just">
                        <a:lnSpc>
                          <a:spcPts val="1674"/>
                        </a:lnSpc>
                        <a:spcAft>
                          <a:spcPts val="540"/>
                        </a:spcAft>
                        <a:defRPr sz="1350" b="0">
                          <a:solidFill>
                            <a:srgbClr val="15191E"/>
                          </a:solidFill>
                          <a:latin typeface="Times New Roman"/>
                        </a:defRPr>
                      </a:pPr>
                      <a:r>
                        <a:t>1979.12.18</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11; 12; 14</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Хөдөлмөр, эрүүл мэнд; хөдөөгийн эмэгтэйчүүдийн эрх.</a:t>
                      </a:r>
                    </a:p>
                  </a:txBody>
                  <a:tcPr marL="104775" marR="104775" marT="85725" marB="76200" anchor="t">
                    <a:solidFill>
                      <a:srgbClr val="F0F4F8"/>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CRC; CEDAW</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Хөгжлийн бэрхшээлтэй хүний эрх</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Олон улсын ба Монголын зохицуулалт</a:t>
            </a:r>
          </a:p>
        </p:txBody>
      </p:sp>
      <p:graphicFrame>
        <p:nvGraphicFramePr>
          <p:cNvPr id="8" name="Table 7"/>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Эх,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Зүйл / чиглэл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Агуулгын хураангуй</a:t>
                      </a:r>
                    </a:p>
                  </a:txBody>
                  <a:tcPr marL="104775" marR="104775" marT="85725" marB="76200" anchor="t">
                    <a:solidFill>
                      <a:srgbClr val="17375E"/>
                    </a:solidFill>
                  </a:tcPr>
                </a:tc>
              </a:tr>
              <a:tr h="883443">
                <a:tc>
                  <a:txBody>
                    <a:bodyPr/>
                    <a:lstStyle/>
                    <a:p>
                      <a:pPr algn="just">
                        <a:lnSpc>
                          <a:spcPts val="1674"/>
                        </a:lnSpc>
                        <a:spcAft>
                          <a:spcPts val="540"/>
                        </a:spcAft>
                        <a:defRPr sz="1350" b="0">
                          <a:solidFill>
                            <a:srgbClr val="15191E"/>
                          </a:solidFill>
                          <a:latin typeface="Times New Roman"/>
                        </a:defRPr>
                      </a:pPr>
                      <a:r>
                        <a:t>Хөгжлийн бэрхшээлтэй хүмүүсийн эрхийн конвенц</a:t>
                      </a:r>
                    </a:p>
                    <a:p>
                      <a:pPr algn="just">
                        <a:lnSpc>
                          <a:spcPts val="1674"/>
                        </a:lnSpc>
                        <a:spcAft>
                          <a:spcPts val="540"/>
                        </a:spcAft>
                        <a:defRPr sz="1350" b="0">
                          <a:solidFill>
                            <a:srgbClr val="15191E"/>
                          </a:solidFill>
                          <a:latin typeface="Times New Roman"/>
                        </a:defRPr>
                      </a:pPr>
                      <a:r>
                        <a:t>2006.12.13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9</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Орчин, мэдээлэл, үйлчилгээний хүртээмж.</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Мөн конвенц</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24; 27; 28</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Боловсрол, хөдөлмөр, зохистой амьжиргаа ба хамгаалал.</a:t>
                      </a:r>
                    </a:p>
                  </a:txBody>
                  <a:tcPr marL="104775" marR="104775" marT="85725" marB="76200" anchor="t">
                    <a:solidFill>
                      <a:srgbClr val="FFFFFF"/>
                    </a:solidFill>
                  </a:tcPr>
                </a:tc>
              </a:tr>
              <a:tr h="883443">
                <a:tc>
                  <a:txBody>
                    <a:bodyPr/>
                    <a:lstStyle/>
                    <a:p>
                      <a:pPr algn="just">
                        <a:lnSpc>
                          <a:spcPts val="1674"/>
                        </a:lnSpc>
                        <a:spcAft>
                          <a:spcPts val="540"/>
                        </a:spcAft>
                        <a:defRPr sz="1350" b="0">
                          <a:solidFill>
                            <a:srgbClr val="15191E"/>
                          </a:solidFill>
                          <a:latin typeface="Times New Roman"/>
                        </a:defRPr>
                      </a:pPr>
                      <a:r>
                        <a:t>Монголын Хөгжлийн бэрхшээлтэй хүний эрхийн тухай хууль</a:t>
                      </a:r>
                    </a:p>
                    <a:p>
                      <a:pPr algn="just">
                        <a:lnSpc>
                          <a:spcPts val="1674"/>
                        </a:lnSpc>
                        <a:spcAft>
                          <a:spcPts val="540"/>
                        </a:spcAft>
                        <a:defRPr sz="1350" b="0">
                          <a:solidFill>
                            <a:srgbClr val="15191E"/>
                          </a:solidFill>
                          <a:latin typeface="Times New Roman"/>
                        </a:defRPr>
                      </a:pPr>
                      <a:r>
                        <a:t>2016.02.05</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Дотоодын зохицуулалт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Ялгаварлалгүй оролцоо, хүртээмжийн эрх зүйн үндэс.</a:t>
                      </a:r>
                    </a:p>
                  </a:txBody>
                  <a:tcPr marL="104775" marR="104775" marT="85725" marB="76200" anchor="t">
                    <a:solidFill>
                      <a:srgbClr val="F0F4F8"/>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CRPD; ХБХ</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Судалгаа 1: Монголын ядуурлын тооцоолол</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Хэн, хэзээ, хаана, ямар аргаар хийсэн бэ?</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Үндэсний статистикийн хороо Дэлхийн банктай хамтран 2022 оны Өрхийн нийгэм, эдийн засгийн судалгааны мэдээлэлд тулгуурлан ядуурлыг тооцоолсон. Судалгааны хамрах хүрээ нь Монгол Улсын өрхүүд бөгөөд үр дүнг хүн амын түвшинд жинлэн тооцдог. Өрхийн хэрэглээний мэдээллийг цуглуулж, хэрэглээг үндэсний ядуурлын босготой харьцуулсан. Энэ тооцооллоор 2022 онд хүн амын 27.1 хувь нь босгоос доогуур хэрэглээтэй байжээ. Энэ нь түүхэн тооцоолол болохоос 2026 оны түвшин биш.</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МОН-2022</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Судалгаа 1-ийн үр дүн</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Монгол Улс, 2022 он — үндэсний ядуурлын босго</a:t>
            </a:r>
          </a:p>
        </p:txBody>
      </p:sp>
      <p:sp>
        <p:nvSpPr>
          <p:cNvPr id="8" name="TextBox 7"/>
          <p:cNvSpPr txBox="1"/>
          <p:nvPr/>
        </p:nvSpPr>
        <p:spPr>
          <a:xfrm>
            <a:off x="514350" y="2409825"/>
            <a:ext cx="4552950" cy="304800"/>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847975"/>
            <a:ext cx="4552950" cy="2990850"/>
          </a:xfrm>
          <a:prstGeom prst="rect">
            <a:avLst/>
          </a:prstGeom>
          <a:noFill/>
        </p:spPr>
        <p:txBody>
          <a:bodyPr wrap="square" tIns="0" rIns="0" bIns="0" lIns="0">
            <a:spAutoFit/>
          </a:bodyPr>
          <a:lstStyle/>
          <a:p>
            <a:pPr algn="just">
              <a:lnSpc>
                <a:spcPts val="2511"/>
              </a:lnSpc>
              <a:spcBef>
                <a:spcPts val="0"/>
              </a:spcBef>
              <a:spcAft>
                <a:spcPts val="0"/>
              </a:spcAft>
              <a:defRPr sz="2025" b="0">
                <a:solidFill>
                  <a:srgbClr val="15191E"/>
                </a:solidFill>
                <a:latin typeface="Times New Roman"/>
              </a:defRPr>
            </a:pPr>
            <a:r>
              <a:t>Хүн амын 27.1 хувь нь үндэсний ядуурлын босгоос доогуур хэрэглээтэй байна. Үлдэх 72.9 хувийг 100 − 27.1 гэсэн тооцоогоор гаргав. Босгоос дээш хэрэглээтэй байх нь өвчлөл, ажилгүйдэл зэрэг эрсдэлгүй гэсэн үг биш.</a:t>
            </a:r>
          </a:p>
        </p:txBody>
      </p:sp>
      <p:graphicFrame>
        <p:nvGraphicFramePr>
          <p:cNvPr id="10" name="Chart 9"/>
          <p:cNvGraphicFramePr>
            <a:graphicFrameLocks noGrp="1"/>
          </p:cNvGraphicFramePr>
          <p:nvPr/>
        </p:nvGraphicFramePr>
        <p:xfrm>
          <a:off x="5629275" y="2600325"/>
          <a:ext cx="6048375" cy="3190875"/>
        </p:xfrm>
        <a:graphic>
          <a:graphicData uri="http://schemas.openxmlformats.org/drawingml/2006/chart">
            <c:chart xmlns:c="http://schemas.openxmlformats.org/drawingml/2006/chart" r:id="rId2"/>
          </a:graphicData>
        </a:graphic>
      </p:graphicFrame>
      <p:sp>
        <p:nvSpPr>
          <p:cNvPr id="11" name="TextBox 10"/>
          <p:cNvSpPr txBox="1"/>
          <p:nvPr/>
        </p:nvSpPr>
        <p:spPr>
          <a:xfrm>
            <a:off x="5724525" y="2314575"/>
            <a:ext cx="5810250" cy="276225"/>
          </a:xfrm>
          <a:prstGeom prst="rect">
            <a:avLst/>
          </a:prstGeom>
          <a:noFill/>
        </p:spPr>
        <p:txBody>
          <a:bodyPr wrap="square" tIns="0" rIns="0" bIns="0" lIns="0">
            <a:spAutoFit/>
          </a:bodyPr>
          <a:lstStyle/>
          <a:p>
            <a:pPr algn="l">
              <a:lnSpc>
                <a:spcPts val="2046"/>
              </a:lnSpc>
              <a:spcBef>
                <a:spcPts val="0"/>
              </a:spcBef>
              <a:spcAft>
                <a:spcPts val="0"/>
              </a:spcAft>
              <a:defRPr sz="1650" b="1">
                <a:solidFill>
                  <a:srgbClr val="17375E"/>
                </a:solidFill>
                <a:latin typeface="Times New Roman"/>
              </a:defRPr>
            </a:pPr>
            <a:r>
              <a:t>Хүн амын эзлэх хувь (%)</a:t>
            </a:r>
          </a:p>
        </p:txBody>
      </p:sp>
      <p:sp>
        <p:nvSpPr>
          <p:cNvPr id="12" name="Rectangle 11"/>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МОН-2022</a:t>
            </a:r>
          </a:p>
        </p:txBody>
      </p:sp>
      <p:sp>
        <p:nvSpPr>
          <p:cNvPr id="14" name="TextBox 13"/>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Судалгаа 2: Финландын суурь орлогын туршилт</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Финланд, 2017–2018; үнэлгээний үр дүнг 2020 онд нийтэлсэн</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Финландын нийгмийн даатгалын байгууллага Kela болон хамтран ажилласан судлаачид 2017–2018 онд суурь орлогын туршилт хэрэгжүүлсэн. Эрх бүхий ажилгүй хүмүүсээс санамсаргүй сонгосон 2,000 хүнд сар бүр 560 евро олгож, ажилд орсон ч энэ төлбөрийг үргэлжлүүлсэн. Үр дүнг захиргааны бүртгэл болон асуумжаар үнэлж, харьцуулах бүлэгтэй жишсэн. Kela 2020 оны тавдугаар сарын 6-нд гол үр дүнг танилцуулсан. Энэ нь нийт хүн амыг хамарсан байнгын хөтөлбөр биш юм.</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ФИН-2020; ФИН-ТАЙЛАН</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Судалгаа 2-ын үр дүн</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Амьдралын сэтгэл ханамж — асуумжид хариулсан хүмүүс</a:t>
            </a:r>
          </a:p>
        </p:txBody>
      </p:sp>
      <p:sp>
        <p:nvSpPr>
          <p:cNvPr id="8" name="TextBox 7"/>
          <p:cNvSpPr txBox="1"/>
          <p:nvPr/>
        </p:nvSpPr>
        <p:spPr>
          <a:xfrm>
            <a:off x="514350" y="2409825"/>
            <a:ext cx="4552950" cy="304800"/>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847975"/>
            <a:ext cx="4552950" cy="2990850"/>
          </a:xfrm>
          <a:prstGeom prst="rect">
            <a:avLst/>
          </a:prstGeom>
          <a:noFill/>
        </p:spPr>
        <p:txBody>
          <a:bodyPr wrap="square" tIns="0" rIns="0" bIns="0" lIns="0">
            <a:spAutoFit/>
          </a:bodyPr>
          <a:lstStyle/>
          <a:p>
            <a:pPr algn="just">
              <a:lnSpc>
                <a:spcPts val="2511"/>
              </a:lnSpc>
              <a:spcBef>
                <a:spcPts val="0"/>
              </a:spcBef>
              <a:spcAft>
                <a:spcPts val="0"/>
              </a:spcAft>
              <a:defRPr sz="2025" b="0">
                <a:solidFill>
                  <a:srgbClr val="15191E"/>
                </a:solidFill>
                <a:latin typeface="Times New Roman"/>
              </a:defRPr>
            </a:pPr>
            <a:r>
              <a:t>Амьдралын сэтгэл ханамжийн дундаж үнэлгээ дэмжлэг авсан бүлэгт 7.3, харьцуулах бүлэгт 6.8 оноо байв. Үнэлгээний шатлал 0–10. Ажил эрхлэлтэд үзүүлсэн нөлөө хязгаарлагдмал байсан. Асуумжийн хариу өгөх ялгаа болон бусад бодлогын өөрчлөлтөөс шалтгаалан бүх ялгааг зөвхөн мөнгөний нөлөө гэж дүгнэхгүй.</a:t>
            </a:r>
          </a:p>
        </p:txBody>
      </p:sp>
      <p:graphicFrame>
        <p:nvGraphicFramePr>
          <p:cNvPr id="10" name="Chart 9"/>
          <p:cNvGraphicFramePr>
            <a:graphicFrameLocks noGrp="1"/>
          </p:cNvGraphicFramePr>
          <p:nvPr/>
        </p:nvGraphicFramePr>
        <p:xfrm>
          <a:off x="5629275" y="2600325"/>
          <a:ext cx="6048375" cy="3190875"/>
        </p:xfrm>
        <a:graphic>
          <a:graphicData uri="http://schemas.openxmlformats.org/drawingml/2006/chart">
            <c:chart xmlns:c="http://schemas.openxmlformats.org/drawingml/2006/chart" r:id="rId2"/>
          </a:graphicData>
        </a:graphic>
      </p:graphicFrame>
      <p:sp>
        <p:nvSpPr>
          <p:cNvPr id="11" name="TextBox 10"/>
          <p:cNvSpPr txBox="1"/>
          <p:nvPr/>
        </p:nvSpPr>
        <p:spPr>
          <a:xfrm>
            <a:off x="5724525" y="2314575"/>
            <a:ext cx="5810250" cy="276225"/>
          </a:xfrm>
          <a:prstGeom prst="rect">
            <a:avLst/>
          </a:prstGeom>
          <a:noFill/>
        </p:spPr>
        <p:txBody>
          <a:bodyPr wrap="square" tIns="0" rIns="0" bIns="0" lIns="0">
            <a:spAutoFit/>
          </a:bodyPr>
          <a:lstStyle/>
          <a:p>
            <a:pPr algn="l">
              <a:lnSpc>
                <a:spcPts val="2046"/>
              </a:lnSpc>
              <a:spcBef>
                <a:spcPts val="0"/>
              </a:spcBef>
              <a:spcAft>
                <a:spcPts val="0"/>
              </a:spcAft>
              <a:defRPr sz="1650" b="1">
                <a:solidFill>
                  <a:srgbClr val="17375E"/>
                </a:solidFill>
                <a:latin typeface="Times New Roman"/>
              </a:defRPr>
            </a:pPr>
            <a:r>
              <a:t>Дундаж оноо (0–10)</a:t>
            </a:r>
          </a:p>
        </p:txBody>
      </p:sp>
      <p:sp>
        <p:nvSpPr>
          <p:cNvPr id="12" name="Rectangle 11"/>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ФИН-2020; ФИН-ТАЙЛАН</a:t>
            </a:r>
          </a:p>
        </p:txBody>
      </p:sp>
      <p:sp>
        <p:nvSpPr>
          <p:cNvPr id="14" name="TextBox 13"/>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Судалгааны үр дүнг хэрхэн тайлбарлах вэ?</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Аргачлал, хэмжүүр, хязгаарлалтыг ялгах нь</a:t>
            </a:r>
          </a:p>
        </p:txBody>
      </p:sp>
      <p:graphicFrame>
        <p:nvGraphicFramePr>
          <p:cNvPr id="8" name="Table 7"/>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1177925">
                <a:tc>
                  <a:txBody>
                    <a:bodyPr/>
                    <a:lstStyle/>
                    <a:p>
                      <a:pPr algn="just">
                        <a:lnSpc>
                          <a:spcPts val="2139"/>
                        </a:lnSpc>
                        <a:spcAft>
                          <a:spcPts val="690"/>
                        </a:spcAft>
                        <a:defRPr sz="1725" b="1">
                          <a:solidFill>
                            <a:srgbClr val="FFFFFF"/>
                          </a:solidFill>
                          <a:latin typeface="Times New Roman"/>
                        </a:defRPr>
                      </a:pPr>
                      <a:r>
                        <a:t>Судалгаа</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Юуг хэмжсэн бэ?</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Юуг дүгнэж болохгүй вэ?</a:t>
                      </a:r>
                    </a:p>
                  </a:txBody>
                  <a:tcPr marL="104775" marR="104775" marT="85725" marB="76200" anchor="t">
                    <a:solidFill>
                      <a:srgbClr val="17375E"/>
                    </a:solidFill>
                  </a:tcPr>
                </a:tc>
              </a:tr>
              <a:tr h="1177925">
                <a:tc>
                  <a:txBody>
                    <a:bodyPr/>
                    <a:lstStyle/>
                    <a:p>
                      <a:pPr algn="just">
                        <a:lnSpc>
                          <a:spcPts val="2185"/>
                        </a:lnSpc>
                        <a:spcAft>
                          <a:spcPts val="705"/>
                        </a:spcAft>
                        <a:defRPr sz="1762" b="0">
                          <a:solidFill>
                            <a:srgbClr val="15191E"/>
                          </a:solidFill>
                          <a:latin typeface="Times New Roman"/>
                        </a:defRPr>
                      </a:pPr>
                      <a:r>
                        <a:t>Монголын тооцоолол</a:t>
                      </a:r>
                    </a:p>
                    <a:p>
                      <a:pPr algn="just">
                        <a:lnSpc>
                          <a:spcPts val="2185"/>
                        </a:lnSpc>
                        <a:spcAft>
                          <a:spcPts val="705"/>
                        </a:spcAft>
                        <a:defRPr sz="1762" b="0">
                          <a:solidFill>
                            <a:srgbClr val="15191E"/>
                          </a:solidFill>
                          <a:latin typeface="Times New Roman"/>
                        </a:defRPr>
                      </a:pPr>
                      <a:r>
                        <a:t>2022</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Үндэсний босгоос доогуур хэрэглээтэй хүн амын эзлэх хувь.</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2026 оны түвшин; ядуурлын бүх шалтгааны нотолгоо.</a:t>
                      </a:r>
                    </a:p>
                  </a:txBody>
                  <a:tcPr marL="104775" marR="104775" marT="85725" marB="76200" anchor="t">
                    <a:solidFill>
                      <a:srgbClr val="F0F4F8"/>
                    </a:solidFill>
                  </a:tcPr>
                </a:tc>
              </a:tr>
              <a:tr h="1177925">
                <a:tc>
                  <a:txBody>
                    <a:bodyPr/>
                    <a:lstStyle/>
                    <a:p>
                      <a:pPr algn="just">
                        <a:lnSpc>
                          <a:spcPts val="2185"/>
                        </a:lnSpc>
                        <a:spcAft>
                          <a:spcPts val="705"/>
                        </a:spcAft>
                        <a:defRPr sz="1762" b="0">
                          <a:solidFill>
                            <a:srgbClr val="15191E"/>
                          </a:solidFill>
                          <a:latin typeface="Times New Roman"/>
                        </a:defRPr>
                      </a:pPr>
                      <a:r>
                        <a:t>Финландын туршилт</a:t>
                      </a:r>
                    </a:p>
                    <a:p>
                      <a:pPr algn="just">
                        <a:lnSpc>
                          <a:spcPts val="2185"/>
                        </a:lnSpc>
                        <a:spcAft>
                          <a:spcPts val="705"/>
                        </a:spcAft>
                        <a:defRPr sz="1762" b="0">
                          <a:solidFill>
                            <a:srgbClr val="15191E"/>
                          </a:solidFill>
                          <a:latin typeface="Times New Roman"/>
                        </a:defRPr>
                      </a:pPr>
                      <a:r>
                        <a:t>2017–2018; тайлан 2020</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Орлогын дэмжлэгийн үеийн ажил эрхлэлт, өөрсдийн үнэлсэн сайн сайхан байдал.</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Бүх хүн амд ижил үр дүн гарна; бүх ялгаа зөвхөн мөнгөнөөс болсон.</a:t>
                      </a:r>
                    </a:p>
                  </a:txBody>
                  <a:tcPr marL="104775" marR="104775" marT="85725" marB="76200" anchor="t">
                    <a:solidFill>
                      <a:srgbClr val="FFFFFF"/>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МОН-2022; ФИН-2020</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Бодит хэрэг 1: орон байрны эрх</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Өмнөд Африк — Grootboom, 2000.10.04</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Өмнөд Африкийн Үндсэн хуулийн шүүх Grootboom хэрэгт төрийн орон сууцны бодлого хамгийн хүнд нөхцөлд байгаа хүмүүсийн яаралтай хэрэгцээг хангалттай тусгаагүйг авч үзсэн. 1996 оны Үндсэн хуулийн 26 дугаар зүйлд тулгуурлан бодлого нь боломжит нөөцөд нийцсэн, үндэслэлтэй байх бөгөөд онцгой гачигдалтай хүмүүсийн хэрэгцээг орхигдуулж болохгүй гэж тайлбарласан. Шүүх хүн бүрд нэн даруй байшин олгох шийдвэр гаргаагүй. Энэ хэрэг урт хугацааны бодлогын зэрэгцээ яаралтай дэмжлэг шаардлагатайг харуулдаг.</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GROOT</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Бодит хэрэг 2: эмчилгээний хүртээмж</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Өмнөд Африк — Treatment Action Campaign, 2002.07.05</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Энэ хэрэгт ХДХВ эхээс хүүхдэд дамжихаас сэргийлэх невирапин эмийг зөвхөн сонгосон туршилтын цэгүүдэд хэрэглэхээр хязгаарласан бодлогыг маргасан. Шүүх 1996 оны Үндсэн хуулийн 27 дугаар зүйлд тулгуурлан шаардлага хангасан бусад эмнэлэгт эм хэрэглэхэд саад болсон хязгаарлалтыг арилгахыг даалгасан. Гол сургамж нь эмчилгээ авах боломжийг хязгаарлах бодлого бодит үндэслэлтэй байх ёстой гэсэн шаардлага юм. Шийдвэр нь бүх эмийг бүх хүнд үнэ төлбөргүй олгох тухай байгаагүй.</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TAC</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Бодит хэрэг 3: тэтгэмжийн үндэслэл</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Герман — Холбооны Үндсэн хуулийн шүүх, 2010.02.09</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Германы Холбооны Үндсэн хуулийн шүүх Hartz IV тогтолцооны суурь тэтгэмж, ялангуяа хүүхдийн хэрэгцээг хэрхэн тооцсонтой холбоотой маргааныг шийдвэрлэсэн. Германы 1949 оны Үндсэн хуулийн 1(1), 20(1) дэх хүний нэр төр, нийгмийн төрийн зарчмаас наад захын амьжиргааны баталгааг тайлбарлаж, тооцоолол ил тод, бодит хэрэгцээнд үндэслэсэн байхыг шаардсан. Энэ нь нэг тодорхой мөнгөн дүнгээс илүү түүнийг гаргасан аргачлал, үндэслэл чухал болохыг харуулдаг.</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ГЕР</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Бразилын бодлогын жишээ</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Bolsa Família — 2004, 2023 оны хуулиуд</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Бразилын Bolsa Família хөтөлбөр нь бага орлоготой өрхөд мөнгөн дэмжлэг олгож, хүүхдийн боловсрол, эрүүл мэндийн хяналттай холбоотой нөхцөл ашигладаг. Анхны хөтөлбөрийн хууль №10.836 нь 2004 оны нэгдүгээр сарын 9-нд, шинэ хууль №14.601 нь 2023 оны зургадугаар сарын 19-нд батлагдсан. Энэ жишээ орлогын дэмжлэгийг суурь үйлчилгээтэй уялдуулахыг харуулна. Гэхдээ үйлчилгээ өөрөө хүртээмжгүй байхад зөвхөн өрхөд хариуцлага тохоохгүй, үйлчилгээний саадыг хамтад нь шийдэх шаардлагатай.</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БРА</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Улс орнуудын харьцуулалт</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Эрхийн баталгааг хэрэгжүүлэх өөр өөр арга</a:t>
            </a:r>
          </a:p>
        </p:txBody>
      </p:sp>
      <p:graphicFrame>
        <p:nvGraphicFramePr>
          <p:cNvPr id="8" name="Table 7"/>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588962">
                <a:tc>
                  <a:txBody>
                    <a:bodyPr/>
                    <a:lstStyle/>
                    <a:p>
                      <a:pPr algn="just">
                        <a:lnSpc>
                          <a:spcPts val="2139"/>
                        </a:lnSpc>
                        <a:spcAft>
                          <a:spcPts val="690"/>
                        </a:spcAft>
                        <a:defRPr sz="1725" b="1">
                          <a:solidFill>
                            <a:srgbClr val="FFFFFF"/>
                          </a:solidFill>
                          <a:latin typeface="Times New Roman"/>
                        </a:defRPr>
                      </a:pPr>
                      <a:r>
                        <a:t>Улс, эхийн он</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Гол арга</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Монголд авч үзэх санаа</a:t>
                      </a:r>
                    </a:p>
                  </a:txBody>
                  <a:tcPr marL="104775" marR="104775" marT="85725" marB="76200" anchor="t">
                    <a:solidFill>
                      <a:srgbClr val="17375E"/>
                    </a:solidFill>
                  </a:tcPr>
                </a:tc>
              </a:tr>
              <a:tr h="588962">
                <a:tc>
                  <a:txBody>
                    <a:bodyPr/>
                    <a:lstStyle/>
                    <a:p>
                      <a:pPr algn="just">
                        <a:lnSpc>
                          <a:spcPts val="2185"/>
                        </a:lnSpc>
                        <a:spcAft>
                          <a:spcPts val="705"/>
                        </a:spcAft>
                        <a:defRPr sz="1762" b="0">
                          <a:solidFill>
                            <a:srgbClr val="15191E"/>
                          </a:solidFill>
                          <a:latin typeface="Times New Roman"/>
                        </a:defRPr>
                      </a:pPr>
                      <a:r>
                        <a:t>Монгол — Үндсэн хууль, 1992</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Хууль, халамж, суурь үйлчилгээ.</a:t>
                      </a:r>
                    </a:p>
                  </a:txBody>
                  <a:tcPr marL="104775" marR="104775" marT="85725" marB="76200" anchor="t">
                    <a:solidFill>
                      <a:srgbClr val="F0F4F8"/>
                    </a:solidFill>
                  </a:tcPr>
                </a:tc>
                <a:tc>
                  <a:txBody>
                    <a:bodyPr/>
                    <a:lstStyle/>
                    <a:p>
                      <a:pPr algn="just">
                        <a:lnSpc>
                          <a:spcPts val="1999"/>
                        </a:lnSpc>
                        <a:spcAft>
                          <a:spcPts val="644"/>
                        </a:spcAft>
                        <a:defRPr sz="1612" b="0">
                          <a:solidFill>
                            <a:srgbClr val="15191E"/>
                          </a:solidFill>
                          <a:latin typeface="Times New Roman"/>
                        </a:defRPr>
                      </a:pPr>
                      <a:r>
                        <a:t>Эрхийн баталгааг бодит хүртээмжтэй холбох.</a:t>
                      </a:r>
                    </a:p>
                  </a:txBody>
                  <a:tcPr marL="104775" marR="104775" marT="85725" marB="76200" anchor="t">
                    <a:solidFill>
                      <a:srgbClr val="F0F4F8"/>
                    </a:solidFill>
                  </a:tcPr>
                </a:tc>
              </a:tr>
              <a:tr h="588962">
                <a:tc>
                  <a:txBody>
                    <a:bodyPr/>
                    <a:lstStyle/>
                    <a:p>
                      <a:pPr algn="just">
                        <a:lnSpc>
                          <a:spcPts val="1906"/>
                        </a:lnSpc>
                        <a:spcAft>
                          <a:spcPts val="615"/>
                        </a:spcAft>
                        <a:defRPr sz="1537" b="0">
                          <a:solidFill>
                            <a:srgbClr val="15191E"/>
                          </a:solidFill>
                          <a:latin typeface="Times New Roman"/>
                        </a:defRPr>
                      </a:pPr>
                      <a:r>
                        <a:t>Өмнөд Африк — Үндсэн хууль, 1996</a:t>
                      </a:r>
                    </a:p>
                  </a:txBody>
                  <a:tcPr marL="104775" marR="104775" marT="85725" marB="76200" anchor="t">
                    <a:solidFill>
                      <a:srgbClr val="FFFFFF"/>
                    </a:solidFill>
                  </a:tcPr>
                </a:tc>
                <a:tc>
                  <a:txBody>
                    <a:bodyPr/>
                    <a:lstStyle/>
                    <a:p>
                      <a:pPr algn="just">
                        <a:lnSpc>
                          <a:spcPts val="1697"/>
                        </a:lnSpc>
                        <a:spcAft>
                          <a:spcPts val="547"/>
                        </a:spcAft>
                        <a:defRPr sz="1368" b="0">
                          <a:solidFill>
                            <a:srgbClr val="15191E"/>
                          </a:solidFill>
                          <a:latin typeface="Times New Roman"/>
                        </a:defRPr>
                      </a:pPr>
                      <a:r>
                        <a:t>Нийгмийн эрхийн бодлогод шүүхийн хяналт.</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Яаралтай хэрэгцээг бодлогод тусгах.</a:t>
                      </a:r>
                    </a:p>
                  </a:txBody>
                  <a:tcPr marL="104775" marR="104775" marT="85725" marB="76200" anchor="t">
                    <a:solidFill>
                      <a:srgbClr val="FFFFFF"/>
                    </a:solidFill>
                  </a:tcPr>
                </a:tc>
              </a:tr>
              <a:tr h="588962">
                <a:tc>
                  <a:txBody>
                    <a:bodyPr/>
                    <a:lstStyle/>
                    <a:p>
                      <a:pPr algn="just">
                        <a:lnSpc>
                          <a:spcPts val="2185"/>
                        </a:lnSpc>
                        <a:spcAft>
                          <a:spcPts val="705"/>
                        </a:spcAft>
                        <a:defRPr sz="1762" b="0">
                          <a:solidFill>
                            <a:srgbClr val="15191E"/>
                          </a:solidFill>
                          <a:latin typeface="Times New Roman"/>
                        </a:defRPr>
                      </a:pPr>
                      <a:r>
                        <a:t>Герман — Үндсэн хууль, 1949</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Амьжиргааны доод баталгаа.</a:t>
                      </a:r>
                    </a:p>
                  </a:txBody>
                  <a:tcPr marL="104775" marR="104775" marT="85725" marB="76200" anchor="t">
                    <a:solidFill>
                      <a:srgbClr val="F0F4F8"/>
                    </a:solidFill>
                  </a:tcPr>
                </a:tc>
                <a:tc>
                  <a:txBody>
                    <a:bodyPr/>
                    <a:lstStyle/>
                    <a:p>
                      <a:pPr algn="just">
                        <a:lnSpc>
                          <a:spcPts val="1999"/>
                        </a:lnSpc>
                        <a:spcAft>
                          <a:spcPts val="644"/>
                        </a:spcAft>
                        <a:defRPr sz="1612" b="0">
                          <a:solidFill>
                            <a:srgbClr val="15191E"/>
                          </a:solidFill>
                          <a:latin typeface="Times New Roman"/>
                        </a:defRPr>
                      </a:pPr>
                      <a:r>
                        <a:t>Тэтгэмжийн тооцооллыг үндэслэлтэй болгох.</a:t>
                      </a:r>
                    </a:p>
                  </a:txBody>
                  <a:tcPr marL="104775" marR="104775" marT="85725" marB="76200" anchor="t">
                    <a:solidFill>
                      <a:srgbClr val="F0F4F8"/>
                    </a:solidFill>
                  </a:tcPr>
                </a:tc>
              </a:tr>
              <a:tr h="588962">
                <a:tc>
                  <a:txBody>
                    <a:bodyPr/>
                    <a:lstStyle/>
                    <a:p>
                      <a:pPr algn="just">
                        <a:lnSpc>
                          <a:spcPts val="2162"/>
                        </a:lnSpc>
                        <a:spcAft>
                          <a:spcPts val="697"/>
                        </a:spcAft>
                        <a:defRPr sz="1743" b="0">
                          <a:solidFill>
                            <a:srgbClr val="15191E"/>
                          </a:solidFill>
                          <a:latin typeface="Times New Roman"/>
                        </a:defRPr>
                      </a:pPr>
                      <a:r>
                        <a:t>Финланд — туршилт, 2017–2018</a:t>
                      </a:r>
                    </a:p>
                  </a:txBody>
                  <a:tcPr marL="104775" marR="104775" marT="85725" marB="76200" anchor="t">
                    <a:solidFill>
                      <a:srgbClr val="FFFFFF"/>
                    </a:solidFill>
                  </a:tcPr>
                </a:tc>
                <a:tc>
                  <a:txBody>
                    <a:bodyPr/>
                    <a:lstStyle/>
                    <a:p>
                      <a:pPr algn="just">
                        <a:lnSpc>
                          <a:spcPts val="1929"/>
                        </a:lnSpc>
                        <a:spcAft>
                          <a:spcPts val="622"/>
                        </a:spcAft>
                        <a:defRPr sz="1556" b="0">
                          <a:solidFill>
                            <a:srgbClr val="15191E"/>
                          </a:solidFill>
                          <a:latin typeface="Times New Roman"/>
                        </a:defRPr>
                      </a:pPr>
                      <a:r>
                        <a:t>Бодлогын туршилт, үр дүнгийн үнэлгээ.</a:t>
                      </a:r>
                    </a:p>
                  </a:txBody>
                  <a:tcPr marL="104775" marR="104775" marT="85725" marB="76200" anchor="t">
                    <a:solidFill>
                      <a:srgbClr val="FFFFFF"/>
                    </a:solidFill>
                  </a:tcPr>
                </a:tc>
                <a:tc>
                  <a:txBody>
                    <a:bodyPr/>
                    <a:lstStyle/>
                    <a:p>
                      <a:pPr algn="just">
                        <a:lnSpc>
                          <a:spcPts val="1953"/>
                        </a:lnSpc>
                        <a:spcAft>
                          <a:spcPts val="630"/>
                        </a:spcAft>
                        <a:defRPr sz="1575" b="0">
                          <a:solidFill>
                            <a:srgbClr val="15191E"/>
                          </a:solidFill>
                          <a:latin typeface="Times New Roman"/>
                        </a:defRPr>
                      </a:pPr>
                      <a:r>
                        <a:t>Дэмжлэгийн нөлөөг олон үзүүлэлтээр хэмжих.</a:t>
                      </a:r>
                    </a:p>
                  </a:txBody>
                  <a:tcPr marL="104775" marR="104775" marT="85725" marB="76200" anchor="t">
                    <a:solidFill>
                      <a:srgbClr val="FFFFFF"/>
                    </a:solidFill>
                  </a:tcPr>
                </a:tc>
              </a:tr>
              <a:tr h="588962">
                <a:tc>
                  <a:txBody>
                    <a:bodyPr/>
                    <a:lstStyle/>
                    <a:p>
                      <a:pPr algn="just">
                        <a:lnSpc>
                          <a:spcPts val="2185"/>
                        </a:lnSpc>
                        <a:spcAft>
                          <a:spcPts val="705"/>
                        </a:spcAft>
                        <a:defRPr sz="1762" b="0">
                          <a:solidFill>
                            <a:srgbClr val="15191E"/>
                          </a:solidFill>
                          <a:latin typeface="Times New Roman"/>
                        </a:defRPr>
                      </a:pPr>
                      <a:r>
                        <a:t>Бразил — хууль, 2023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Мөнгө ба үйлчилгээний уялдаа.</a:t>
                      </a:r>
                    </a:p>
                  </a:txBody>
                  <a:tcPr marL="104775" marR="104775" marT="85725" marB="76200" anchor="t">
                    <a:solidFill>
                      <a:srgbClr val="F0F4F8"/>
                    </a:solidFill>
                  </a:tcPr>
                </a:tc>
                <a:tc>
                  <a:txBody>
                    <a:bodyPr/>
                    <a:lstStyle/>
                    <a:p>
                      <a:pPr algn="just">
                        <a:lnSpc>
                          <a:spcPts val="1860"/>
                        </a:lnSpc>
                        <a:spcAft>
                          <a:spcPts val="600"/>
                        </a:spcAft>
                        <a:defRPr sz="1500" b="0">
                          <a:solidFill>
                            <a:srgbClr val="15191E"/>
                          </a:solidFill>
                          <a:latin typeface="Times New Roman"/>
                        </a:defRPr>
                      </a:pPr>
                      <a:r>
                        <a:t>Дэмжлэгийн нөхцөлийг хүртээмжтэй уялдуулах.</a:t>
                      </a:r>
                    </a:p>
                  </a:txBody>
                  <a:tcPr marL="104775" marR="104775" marT="85725" marB="76200" anchor="t">
                    <a:solidFill>
                      <a:srgbClr val="F0F4F8"/>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GROOT; ГЕР; ФИН-2020; БРА</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Монголд хамаарах асуудлын тайлбар</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Орлого ба үйлчилгээний саад давхцах нь</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Бага орлоготой өрхийн хүүхэд төлбөргүй ерөнхий боловсролд хамрагдсан ч тээвэр, хэрэгсэл, интернетийн зардлаас шалтгаалан хичээлдээ тогтмол оролцоход хүндрэлтэй байж болно. Үүнтэй адил эмнэлгийн тусламж авах эрхтэй хүн хол байршил, тээврийн зардал, барилгын хүртээмжээс болж тусламжаа хойшлуулж болно. Эдгээр нь тодорхой нэртэй бодит хэрэг биш, онол ба эрх зүйн холбоог ойлгуулах тайлбарын жишээ юм. Гол асуудал нь хуульд заасан эрхийг өдөр тутам ашиглах нөхцөлийг бүрдүүлэхэд оршино.</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Сэн</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Бодлогын санал</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Хүртээмж, орлогын хамгаалал, хариуцлага</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Нэгдүгээрт, үйлчилгээнд хүрэхэд саад болж буй тээвэр, мэдээлэл, барилгын хүртээмжийг сайжруулах хэрэгтэй. Хоёрдугаарт, орлогын эрсдэлд тохирсон дэмжлэгийг хөдөлмөр эрхлэх болон суурь үйлчилгээ авах боломжтой уялдуулах шаардлагатай. Гуравдугаарт, иргэн шийдвэрийн шалтгааныг мэдэх, буруу мэдээллээ засуулах, гомдлоо хянуулах боломжийг нэмэгдүүлэх нь зүйтэй. Үр дүнг зарцуулсан мөнгөнөөс гадна үйлчилгээ авах хугацаа, дэмжлэгийн хамрагдалт, гомдол шийдвэрлэлтийн үзүүлэлтээр үнэлж болно.</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Сэн; ФИН-2020</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Эрхээ хамгаалуулах боломж</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Үндсэн хууль — 1992.01.13; 16.12, 16.14</a:t>
            </a:r>
          </a:p>
        </p:txBody>
      </p:sp>
      <p:graphicFrame>
        <p:nvGraphicFramePr>
          <p:cNvPr id="8" name="Table 7"/>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706755">
                <a:tc>
                  <a:txBody>
                    <a:bodyPr/>
                    <a:lstStyle/>
                    <a:p>
                      <a:pPr algn="just">
                        <a:lnSpc>
                          <a:spcPts val="2139"/>
                        </a:lnSpc>
                        <a:spcAft>
                          <a:spcPts val="690"/>
                        </a:spcAft>
                        <a:defRPr sz="1725" b="1">
                          <a:solidFill>
                            <a:srgbClr val="FFFFFF"/>
                          </a:solidFill>
                          <a:latin typeface="Times New Roman"/>
                        </a:defRPr>
                      </a:pPr>
                      <a:r>
                        <a:t>Алхам</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Тайлбар</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Анхаарах зүйл</a:t>
                      </a:r>
                    </a:p>
                  </a:txBody>
                  <a:tcPr marL="104775" marR="104775" marT="85725" marB="76200" anchor="t">
                    <a:solidFill>
                      <a:srgbClr val="17375E"/>
                    </a:solidFill>
                  </a:tcPr>
                </a:tc>
              </a:tr>
              <a:tr h="706755">
                <a:tc>
                  <a:txBody>
                    <a:bodyPr/>
                    <a:lstStyle/>
                    <a:p>
                      <a:pPr algn="just">
                        <a:lnSpc>
                          <a:spcPts val="2185"/>
                        </a:lnSpc>
                        <a:spcAft>
                          <a:spcPts val="705"/>
                        </a:spcAft>
                        <a:defRPr sz="1762" b="0">
                          <a:solidFill>
                            <a:srgbClr val="15191E"/>
                          </a:solidFill>
                          <a:latin typeface="Times New Roman"/>
                        </a:defRPr>
                      </a:pPr>
                      <a:r>
                        <a:t>Баримтаа хадгалах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Хүсэлт, хариу, огноо, төлбөрийн баримтыг цуглуулах.</a:t>
                      </a:r>
                    </a:p>
                  </a:txBody>
                  <a:tcPr marL="104775" marR="104775" marT="85725" marB="76200" anchor="t">
                    <a:solidFill>
                      <a:srgbClr val="F0F4F8"/>
                    </a:solidFill>
                  </a:tcPr>
                </a:tc>
                <a:tc>
                  <a:txBody>
                    <a:bodyPr/>
                    <a:lstStyle/>
                    <a:p>
                      <a:pPr algn="just">
                        <a:lnSpc>
                          <a:spcPts val="2162"/>
                        </a:lnSpc>
                        <a:spcAft>
                          <a:spcPts val="697"/>
                        </a:spcAft>
                        <a:defRPr sz="1743" b="0">
                          <a:solidFill>
                            <a:srgbClr val="15191E"/>
                          </a:solidFill>
                          <a:latin typeface="Times New Roman"/>
                        </a:defRPr>
                      </a:pPr>
                      <a:r>
                        <a:t>Хувийн болон эмзэг мэдээллээ хамгаалах.</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Шалтгааныг тодруулах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Ямар шалгуур, хуулийн заалтаар шийдсэнийг асуух.</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Бичгээр өгсөн үндэслэлийг хадгалах.</a:t>
                      </a:r>
                    </a:p>
                  </a:txBody>
                  <a:tcPr marL="104775" marR="104775" marT="85725" marB="76200" anchor="t">
                    <a:solidFill>
                      <a:srgbClr val="FFFFFF"/>
                    </a:solidFill>
                  </a:tcPr>
                </a:tc>
              </a:tr>
              <a:tr h="706755">
                <a:tc>
                  <a:txBody>
                    <a:bodyPr/>
                    <a:lstStyle/>
                    <a:p>
                      <a:pPr algn="just">
                        <a:lnSpc>
                          <a:spcPts val="2185"/>
                        </a:lnSpc>
                        <a:spcAft>
                          <a:spcPts val="705"/>
                        </a:spcAft>
                        <a:defRPr sz="1762" b="0">
                          <a:solidFill>
                            <a:srgbClr val="15191E"/>
                          </a:solidFill>
                          <a:latin typeface="Times New Roman"/>
                        </a:defRPr>
                      </a:pPr>
                      <a:r>
                        <a:t>Хянуулах арга замаа мэдэх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Эрх бүхий байгууллагаас мэдээлэл, хууль зүйн зөвлөгөө авах.</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Маргааны төрөл, журмыг тодруулах.</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Шүүхийн журмыг нягтлах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Харьяалал, нэхэмжлэл гаргах хугацааг шалгах.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Өөр байгууллагад гомдол гаргаснаар хугацаа зогсоно гэж үзэхгүй.</a:t>
                      </a:r>
                    </a:p>
                  </a:txBody>
                  <a:tcPr marL="104775" marR="104775" marT="85725" marB="76200" anchor="t">
                    <a:solidFill>
                      <a:srgbClr val="FFFFFF"/>
                    </a:solidFill>
                  </a:tcPr>
                </a:tc>
              </a:tr>
            </a:tbl>
          </a:graphicData>
        </a:graphic>
      </p:graphicFrame>
      <p:sp>
        <p:nvSpPr>
          <p:cNvPr id="9" name="Rectangle 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a:t>
            </a:r>
          </a:p>
        </p:txBody>
      </p:sp>
      <p:sp>
        <p:nvSpPr>
          <p:cNvPr id="11" name="TextBox 1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Дүгнэлт</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Тэгш эрхийг бодит боломжтой холбох нь</a:t>
            </a:r>
          </a:p>
        </p:txBody>
      </p:sp>
      <p:sp>
        <p:nvSpPr>
          <p:cNvPr id="8" name="TextBox 7"/>
          <p:cNvSpPr txBox="1"/>
          <p:nvPr/>
        </p:nvSpPr>
        <p:spPr>
          <a:xfrm>
            <a:off x="514350" y="2333625"/>
            <a:ext cx="11163300"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9" name="TextBox 8"/>
          <p:cNvSpPr txBox="1"/>
          <p:nvPr/>
        </p:nvSpPr>
        <p:spPr>
          <a:xfrm>
            <a:off x="514350" y="2762250"/>
            <a:ext cx="11163300" cy="3114675"/>
          </a:xfrm>
          <a:prstGeom prst="rect">
            <a:avLst/>
          </a:prstGeom>
          <a:noFill/>
        </p:spPr>
        <p:txBody>
          <a:bodyPr wrap="square" tIns="0" rIns="0" bIns="0" lIns="0">
            <a:spAutoFit/>
          </a:bodyPr>
          <a:lstStyle/>
          <a:p>
            <a:pPr algn="just">
              <a:lnSpc>
                <a:spcPts val="2790"/>
              </a:lnSpc>
              <a:spcBef>
                <a:spcPts val="0"/>
              </a:spcBef>
              <a:spcAft>
                <a:spcPts val="0"/>
              </a:spcAft>
              <a:defRPr sz="2250" b="0">
                <a:solidFill>
                  <a:srgbClr val="15191E"/>
                </a:solidFill>
                <a:latin typeface="Times New Roman"/>
              </a:defRPr>
            </a:pPr>
            <a:r>
              <a:t>Нийгмийн байр суурь, орлогын ялгаа хүний нэр төр, үндсэн эрхийг бууруулахгүй. Гэвч эрхийг хуульд баталгаажуулах нь дангаараа хангалтгүй бөгөөд сургууль, эмнэлэг, нийгмийн дэмжлэгт бодитоор хүрэх нөхцөл шаардлагатай. Онолын хандлагууд боломжийн хуваарилалт, хамгийн таагүй нөхцөлтэй хүмүүсийн хэрэгцээг анхааруулдаг. Судалгаа, шүүхийн жишээнүүдээс орлогын дэмжлэг, хүртээмжтэй үйлчилгээ, үндэслэлтэй шийдвэр, хянуулах боломжийг хамтад нь хөгжүүлэх шаардлага харагдаж байна.</a:t>
            </a:r>
          </a:p>
        </p:txBody>
      </p:sp>
      <p:sp>
        <p:nvSpPr>
          <p:cNvPr id="10" name="Rectangle 9"/>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Роулс; Сэн; GROOT</a:t>
            </a:r>
          </a:p>
        </p:txBody>
      </p:sp>
      <p:sp>
        <p:nvSpPr>
          <p:cNvPr id="12" name="TextBox 11"/>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Эх сурвалж I</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Монголын хууль ба олон улсын баримт бичиг</a:t>
            </a:r>
          </a:p>
        </p:txBody>
      </p:sp>
      <p:sp>
        <p:nvSpPr>
          <p:cNvPr id="8" name="TextBox 7">
            <a:hlinkClick r:id="rId2"/>
          </p:cNvPr>
          <p:cNvSpPr txBox="1"/>
          <p:nvPr/>
        </p:nvSpPr>
        <p:spPr>
          <a:xfrm>
            <a:off x="514350" y="2419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Монгол Улсын Үндсэн хууль. Баталсан: 1992.01.13.</a:t>
            </a:r>
          </a:p>
        </p:txBody>
      </p:sp>
      <p:sp>
        <p:nvSpPr>
          <p:cNvPr id="9" name="TextBox 8">
            <a:hlinkClick r:id="rId3"/>
          </p:cNvPr>
          <p:cNvSpPr txBox="1"/>
          <p:nvPr/>
        </p:nvSpPr>
        <p:spPr>
          <a:xfrm>
            <a:off x="514350"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Хөдөлмөрийн тухай хууль, шинэчилсэн найруулга. 2021.07.02.</a:t>
            </a:r>
          </a:p>
        </p:txBody>
      </p:sp>
      <p:sp>
        <p:nvSpPr>
          <p:cNvPr id="10" name="TextBox 9">
            <a:hlinkClick r:id="rId3"/>
          </p:cNvPr>
          <p:cNvSpPr txBox="1"/>
          <p:nvPr/>
        </p:nvSpPr>
        <p:spPr>
          <a:xfrm>
            <a:off x="514350"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Нийгмийн халамжийн тухай хууль, шинэчилсэн найруулга. 2012.01.19.</a:t>
            </a:r>
          </a:p>
        </p:txBody>
      </p:sp>
      <p:sp>
        <p:nvSpPr>
          <p:cNvPr id="11" name="TextBox 10">
            <a:hlinkClick r:id="rId3"/>
          </p:cNvPr>
          <p:cNvSpPr txBox="1"/>
          <p:nvPr/>
        </p:nvSpPr>
        <p:spPr>
          <a:xfrm>
            <a:off x="514350"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Боловсролын ерөнхий хууль, шинэчилсэн найруулга. 2023.07.07.</a:t>
            </a:r>
          </a:p>
        </p:txBody>
      </p:sp>
      <p:sp>
        <p:nvSpPr>
          <p:cNvPr id="12" name="TextBox 11">
            <a:hlinkClick r:id="rId3"/>
          </p:cNvPr>
          <p:cNvSpPr txBox="1"/>
          <p:nvPr/>
        </p:nvSpPr>
        <p:spPr>
          <a:xfrm>
            <a:off x="514350"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Хөгжлийн бэрхшээлтэй хүний эрхийн тухай хууль. 2016.02.05.</a:t>
            </a:r>
          </a:p>
        </p:txBody>
      </p:sp>
      <p:sp>
        <p:nvSpPr>
          <p:cNvPr id="13" name="TextBox 12">
            <a:hlinkClick r:id="rId4"/>
          </p:cNvPr>
          <p:cNvSpPr txBox="1"/>
          <p:nvPr/>
        </p:nvSpPr>
        <p:spPr>
          <a:xfrm>
            <a:off x="514350" y="5276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Хүний эрхийн түгээмэл тунхаглал. 1948.12.10; 217 A (III).</a:t>
            </a:r>
          </a:p>
        </p:txBody>
      </p:sp>
      <p:sp>
        <p:nvSpPr>
          <p:cNvPr id="14" name="TextBox 13">
            <a:hlinkClick r:id="rId5"/>
          </p:cNvPr>
          <p:cNvSpPr txBox="1"/>
          <p:nvPr/>
        </p:nvSpPr>
        <p:spPr>
          <a:xfrm>
            <a:off x="6219825" y="2419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Эдийн засаг, нийгэм, соёлын эрхийн тухай олон улсын пакт. 1966.12.16; хүчин төгөлдөр: 1976.01.03.</a:t>
            </a:r>
          </a:p>
        </p:txBody>
      </p:sp>
      <p:sp>
        <p:nvSpPr>
          <p:cNvPr id="15" name="TextBox 14">
            <a:hlinkClick r:id="rId6"/>
          </p:cNvPr>
          <p:cNvSpPr txBox="1"/>
          <p:nvPr/>
        </p:nvSpPr>
        <p:spPr>
          <a:xfrm>
            <a:off x="6219825"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Иргэний болон улс төрийн эрхийн тухай олон улсын пакт. 1966.12.16; хүчин төгөлдөр: 1976.03.23.</a:t>
            </a:r>
          </a:p>
        </p:txBody>
      </p:sp>
      <p:sp>
        <p:nvSpPr>
          <p:cNvPr id="16" name="TextBox 15">
            <a:hlinkClick r:id="rId7"/>
          </p:cNvPr>
          <p:cNvSpPr txBox="1"/>
          <p:nvPr/>
        </p:nvSpPr>
        <p:spPr>
          <a:xfrm>
            <a:off x="6219825"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Хүүхдийн эрхийн тухай конвенц. 1989.11.20.</a:t>
            </a:r>
          </a:p>
        </p:txBody>
      </p:sp>
      <p:sp>
        <p:nvSpPr>
          <p:cNvPr id="17" name="TextBox 16">
            <a:hlinkClick r:id="rId8"/>
          </p:cNvPr>
          <p:cNvSpPr txBox="1"/>
          <p:nvPr/>
        </p:nvSpPr>
        <p:spPr>
          <a:xfrm>
            <a:off x="6219825"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Эмэгтэйчүүдийг алагчлах бүх хэлбэрийг устгах тухай конвенц. 1979.12.18.</a:t>
            </a:r>
          </a:p>
        </p:txBody>
      </p:sp>
      <p:sp>
        <p:nvSpPr>
          <p:cNvPr id="18" name="TextBox 17">
            <a:hlinkClick r:id="rId9"/>
          </p:cNvPr>
          <p:cNvSpPr txBox="1"/>
          <p:nvPr/>
        </p:nvSpPr>
        <p:spPr>
          <a:xfrm>
            <a:off x="6219825"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Хөгжлийн бэрхшээлтэй хүмүүсийн эрхийн тухай конвенц. 2006.12.13.</a:t>
            </a:r>
          </a:p>
        </p:txBody>
      </p:sp>
      <p:sp>
        <p:nvSpPr>
          <p:cNvPr id="19" name="Rectangle 1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ҮХ; ХТ; НХ; БЕХ; ХБХ; UDHR; ICESCR; ICCPR; CRC; CEDAW; CRPD</a:t>
            </a:r>
          </a:p>
        </p:txBody>
      </p:sp>
      <p:sp>
        <p:nvSpPr>
          <p:cNvPr id="21" name="TextBox 2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53616E"/>
                </a:solidFill>
                <a:latin typeface="Times New Roman"/>
              </a:defRPr>
            </a:pPr>
            <a:r>
              <a:t>МУИС  |  Нийгмийн доод давхраа ба хүний эрх</a:t>
            </a:r>
          </a:p>
        </p:txBody>
      </p:sp>
      <p:sp>
        <p:nvSpPr>
          <p:cNvPr id="4" name="Rectangle 3"/>
          <p:cNvSpPr/>
          <p:nvPr/>
        </p:nvSpPr>
        <p:spPr>
          <a:xfrm>
            <a:off x="514350" y="590550"/>
            <a:ext cx="11163300" cy="1905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17375E"/>
                </a:solidFill>
                <a:latin typeface="Times New Roman"/>
              </a:defRPr>
            </a:pPr>
            <a:r>
              <a:t>Эх сурвалж II</a:t>
            </a:r>
          </a:p>
        </p:txBody>
      </p:sp>
      <p:sp>
        <p:nvSpPr>
          <p:cNvPr id="7" name="TextBox 6"/>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53616E"/>
                </a:solidFill>
                <a:latin typeface="Times New Roman"/>
              </a:defRPr>
            </a:pPr>
            <a:r>
              <a:t>Дэд сэдэв: Онол, судалгаа, шүүхийн хэрэг, бодлогын жишээ</a:t>
            </a:r>
          </a:p>
        </p:txBody>
      </p:sp>
      <p:sp>
        <p:nvSpPr>
          <p:cNvPr id="8" name="TextBox 7">
            <a:hlinkClick r:id="rId2"/>
          </p:cNvPr>
          <p:cNvSpPr txBox="1"/>
          <p:nvPr/>
        </p:nvSpPr>
        <p:spPr>
          <a:xfrm>
            <a:off x="514350" y="2419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Marx, K. (1867). Das Kapital. Band I. Hamburg: Otto Meissner.</a:t>
            </a:r>
          </a:p>
        </p:txBody>
      </p:sp>
      <p:sp>
        <p:nvSpPr>
          <p:cNvPr id="9" name="TextBox 8">
            <a:hlinkClick r:id="rId3"/>
          </p:cNvPr>
          <p:cNvSpPr txBox="1"/>
          <p:nvPr/>
        </p:nvSpPr>
        <p:spPr>
          <a:xfrm>
            <a:off x="514350"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Weber, M. (1922). Wirtschaft und Gesellschaft. Tübingen: J. C. B. Mohr.</a:t>
            </a:r>
          </a:p>
        </p:txBody>
      </p:sp>
      <p:sp>
        <p:nvSpPr>
          <p:cNvPr id="10" name="TextBox 9">
            <a:hlinkClick r:id="rId4"/>
          </p:cNvPr>
          <p:cNvSpPr txBox="1"/>
          <p:nvPr/>
        </p:nvSpPr>
        <p:spPr>
          <a:xfrm>
            <a:off x="514350"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Rawls, J. (1971). A Theory of Justice. Cambridge, MA: Harvard University Press.</a:t>
            </a:r>
          </a:p>
        </p:txBody>
      </p:sp>
      <p:sp>
        <p:nvSpPr>
          <p:cNvPr id="11" name="TextBox 10">
            <a:hlinkClick r:id="rId5"/>
          </p:cNvPr>
          <p:cNvSpPr txBox="1"/>
          <p:nvPr/>
        </p:nvSpPr>
        <p:spPr>
          <a:xfrm>
            <a:off x="514350"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Sen, A. (1999). Development as Freedom. Oxford: Oxford University Press.</a:t>
            </a:r>
          </a:p>
        </p:txBody>
      </p:sp>
      <p:sp>
        <p:nvSpPr>
          <p:cNvPr id="12" name="TextBox 11">
            <a:hlinkClick r:id="rId6"/>
          </p:cNvPr>
          <p:cNvSpPr txBox="1"/>
          <p:nvPr/>
        </p:nvSpPr>
        <p:spPr>
          <a:xfrm>
            <a:off x="514350"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ҮСХ, Дэлхийн банк. Монгол Улсын 2022 оны ядуурлын тооцоолол; Өрхийн нийгэм, эдийн засгийн судалгаа, 2022.</a:t>
            </a:r>
          </a:p>
        </p:txBody>
      </p:sp>
      <p:sp>
        <p:nvSpPr>
          <p:cNvPr id="13" name="TextBox 12">
            <a:hlinkClick r:id="rId7"/>
          </p:cNvPr>
          <p:cNvSpPr txBox="1"/>
          <p:nvPr/>
        </p:nvSpPr>
        <p:spPr>
          <a:xfrm>
            <a:off x="514350" y="5276850"/>
            <a:ext cx="5429250" cy="523874"/>
          </a:xfrm>
          <a:prstGeom prst="rect">
            <a:avLst/>
          </a:prstGeom>
          <a:noFill/>
        </p:spPr>
        <p:txBody>
          <a:bodyPr wrap="square" tIns="0" rIns="0" bIns="0" lIns="0">
            <a:spAutoFit/>
          </a:bodyPr>
          <a:lstStyle/>
          <a:p>
            <a:pPr algn="l">
              <a:lnSpc>
                <a:spcPts val="1441"/>
              </a:lnSpc>
              <a:spcBef>
                <a:spcPts val="0"/>
              </a:spcBef>
              <a:spcAft>
                <a:spcPts val="0"/>
              </a:spcAft>
              <a:defRPr sz="1162" b="0">
                <a:solidFill>
                  <a:srgbClr val="15191E"/>
                </a:solidFill>
                <a:latin typeface="Times New Roman"/>
              </a:defRPr>
            </a:pPr>
            <a:r>
              <a:t>Kela (2020.05.06). Results of the basic income experiment: small employment effects, better perceived economic security and mental wellbeing. Туршилт: Финланд, 2017–2018.</a:t>
            </a:r>
          </a:p>
        </p:txBody>
      </p:sp>
      <p:sp>
        <p:nvSpPr>
          <p:cNvPr id="14" name="TextBox 13">
            <a:hlinkClick r:id="rId8"/>
          </p:cNvPr>
          <p:cNvSpPr txBox="1"/>
          <p:nvPr/>
        </p:nvSpPr>
        <p:spPr>
          <a:xfrm>
            <a:off x="6219825" y="2419350"/>
            <a:ext cx="5429250" cy="523874"/>
          </a:xfrm>
          <a:prstGeom prst="rect">
            <a:avLst/>
          </a:prstGeom>
          <a:noFill/>
        </p:spPr>
        <p:txBody>
          <a:bodyPr wrap="square" tIns="0" rIns="0" bIns="0" lIns="0">
            <a:spAutoFit/>
          </a:bodyPr>
          <a:lstStyle/>
          <a:p>
            <a:pPr algn="l">
              <a:lnSpc>
                <a:spcPts val="1557"/>
              </a:lnSpc>
              <a:spcBef>
                <a:spcPts val="0"/>
              </a:spcBef>
              <a:spcAft>
                <a:spcPts val="0"/>
              </a:spcAft>
              <a:defRPr sz="1256" b="0">
                <a:solidFill>
                  <a:srgbClr val="15191E"/>
                </a:solidFill>
                <a:latin typeface="Times New Roman"/>
              </a:defRPr>
            </a:pPr>
            <a:r>
              <a:t>Kangas, O., Jauhiainen, S., Simanainen, M., &amp; Ylikännö, M. (eds.). (2020). Suomen perustulokokeilun arviointi. Финландын Нийгмийн асуудал, эрүүл мэндийн яам.</a:t>
            </a:r>
          </a:p>
        </p:txBody>
      </p:sp>
      <p:sp>
        <p:nvSpPr>
          <p:cNvPr id="15" name="TextBox 14">
            <a:hlinkClick r:id="rId9"/>
          </p:cNvPr>
          <p:cNvSpPr txBox="1"/>
          <p:nvPr/>
        </p:nvSpPr>
        <p:spPr>
          <a:xfrm>
            <a:off x="6219825"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Government of the Republic of South Africa v Grootboom [2000] ZACC 19. Шийдвэр: 2000.10.04.</a:t>
            </a:r>
          </a:p>
        </p:txBody>
      </p:sp>
      <p:sp>
        <p:nvSpPr>
          <p:cNvPr id="16" name="TextBox 15">
            <a:hlinkClick r:id="rId10"/>
          </p:cNvPr>
          <p:cNvSpPr txBox="1"/>
          <p:nvPr/>
        </p:nvSpPr>
        <p:spPr>
          <a:xfrm>
            <a:off x="6219825"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Minister of Health v Treatment Action Campaign (No 2) [2002] ZACC 15. Шийдвэр: 2002.07.05.</a:t>
            </a:r>
          </a:p>
        </p:txBody>
      </p:sp>
      <p:sp>
        <p:nvSpPr>
          <p:cNvPr id="17" name="TextBox 16">
            <a:hlinkClick r:id="rId11"/>
          </p:cNvPr>
          <p:cNvSpPr txBox="1"/>
          <p:nvPr/>
        </p:nvSpPr>
        <p:spPr>
          <a:xfrm>
            <a:off x="6219825"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BVerfG. 1 BvL 1/09, 1 BvL 3/09, 1 BvL 4/09. Шийдвэр: 2010.02.09.</a:t>
            </a:r>
          </a:p>
        </p:txBody>
      </p:sp>
      <p:sp>
        <p:nvSpPr>
          <p:cNvPr id="18" name="TextBox 17">
            <a:hlinkClick r:id="rId12"/>
          </p:cNvPr>
          <p:cNvSpPr txBox="1"/>
          <p:nvPr/>
        </p:nvSpPr>
        <p:spPr>
          <a:xfrm>
            <a:off x="6219825"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Бразил. Lei nº 10.836, 2004.01.09; Lei nº 14.601, 2023.06.19. Bolsa Família.</a:t>
            </a:r>
          </a:p>
        </p:txBody>
      </p:sp>
      <p:sp>
        <p:nvSpPr>
          <p:cNvPr id="19" name="Rectangle 18"/>
          <p:cNvSpPr/>
          <p:nvPr/>
        </p:nvSpPr>
        <p:spPr>
          <a:xfrm>
            <a:off x="514350" y="6172200"/>
            <a:ext cx="11163300" cy="9525"/>
          </a:xfrm>
          <a:prstGeom prst="rect">
            <a:avLst/>
          </a:prstGeom>
          <a:solidFill>
            <a:srgbClr val="CFD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53616E"/>
                </a:solidFill>
                <a:latin typeface="Times New Roman"/>
              </a:defRPr>
            </a:pPr>
            <a:r>
              <a:t>Эх сурвалж: Маркс; Вебер; Роулс; Сэн; МОН-2022; ФИН-2020; ФИН-ТАЙЛАН; GROOT; TAC; ГЕР; БРА</a:t>
            </a:r>
          </a:p>
        </p:txBody>
      </p:sp>
      <p:sp>
        <p:nvSpPr>
          <p:cNvPr id="21" name="TextBox 20"/>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53616E"/>
                </a:solidFill>
                <a:latin typeface="Times New Roman"/>
              </a:defRPr>
            </a:pPr>
            <a: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академик хувилбар</dc:title>
  <dc:subject>МУИС • Багш: Б. Тамир • Times New Roman • Justify • 30 слайд</dc:subject>
  <dc:creator>Б. Саранчимэг; Ш. Түвшинбаяр;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