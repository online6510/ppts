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Орлого өөр байж болно. Хүний эрх ижил.</a:t>
            </a:r>
          </a:p>
          <a:p/>
          <a:p>
            <a:r>
              <a:t>ЯРИХ ТЕКСТ</a:t>
            </a:r>
          </a:p>
          <a:p>
            <a:r>
              <a:t>Сайн байцгаана уу. Бид нийгмийн доод давхраа ба хүний эрхийн холбоог тайлбарлана. Энд “доод давхраа” гэдэг нь хүний үнэ цэнийг үнэлсэн үг биш. Харин орлого, хөрөнгө, тогтвортой ажил болон үйлчилгээний боломж бага байгаа нийгмийн нөхцөлийг хэлж байна. Бид эхлээд асуудлыг ойлгож, дараа нь Монголын хууль, олон улсын баримт бичиг, бодит шүүхийн шийдвэрээр тайлбарлана. Гол санаа нь орлого бага байх нь эрх бага эдлэх үндэслэл биш юм.</a:t>
            </a:r>
          </a:p>
          <a:p/>
          <a:p>
            <a:r>
              <a:t>ДАРААГИЙН СЛАЙДТАЙ ХОЛБОХ ӨГҮҮЛБЭР</a:t>
            </a:r>
          </a:p>
          <a:p>
            <a:r>
              <a:t>Эхлээд илтгэлийнхээ дарааллыг харъя.</a:t>
            </a:r>
          </a:p>
          <a:p/>
          <a:p>
            <a:r>
              <a:t>ДЭЛГЭРЭНГҮЙ МЭДЭЭЛЭЛ</a:t>
            </a:r>
          </a:p>
          <a:p>
            <a:r>
              <a:t>Илтгэлийн үндсэн санаа: нийгэм, эдийн засгийн байр суурь нь хүний нэр төр, эрхийн үнэ цэнийг бууруулах үндэслэл биш. “Доод давхраа” гэдэг нэр томьёог хүнийг үнэлсэн утгаар бус нийгмийн бүтцийн шинжилгээний утгаар хэрэглэнэ.</a:t>
            </a:r>
          </a:p>
          <a:p/>
          <a:p/>
          <a:p>
            <a:r>
              <a:t>ЭХ СУРВАЛЖ</a:t>
            </a:r>
          </a:p>
          <a:p>
            <a:r>
              <a:t>[ҮХ] Монгол Улсын Үндсэн хууль — 1992.01.13</a:t>
            </a:r>
          </a:p>
          <a:p>
            <a:r>
              <a:t>https://legalinfo.mn/mn/detail/367</a:t>
            </a:r>
          </a:p>
          <a:p>
            <a:r>
              <a:t>[UDHR] Хүний эрхийн түгээмэл тунхаглал — 1948.12.10</a:t>
            </a:r>
          </a:p>
          <a:p>
            <a:r>
              <a:t>https://www.ohchr.org/en/human-rights/universal-declaration/translations/mongolian</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Асуудлыг ойлгоно → хуулиа харна → шийдлээ ярилцана.</a:t>
            </a:r>
          </a:p>
          <a:p/>
          <a:p>
            <a:r>
              <a:t>ЯРИХ ТЕКСТ</a:t>
            </a:r>
          </a:p>
          <a:p>
            <a:r>
              <a:t>Илтгэлийг гурван асуултаар дагаж сонсоход хялбар. Нэгдүгээрт, ядуурал гэж юу вэ, ямар боломжийг хязгаарладаг вэ гэдгийг тайлбарлана. Хоёрдугаарт, ийм нөхцөлд хүний эрхийг ямар хууль хамгаалдаг вэ гэдгийг харна. Гуравдугаарт, хуулийг бодит амьдралд яаж хэрэгжүүлж болохыг шүүхийн кейс, бусад орны бодлогоор жишээлнэ. Эдгээр гурван асуултыг холбож харвал ядуурал нь зөвхөн мөнгө бус, эрх ба бодит боломжийн асуудал болох нь харагдана.</a:t>
            </a:r>
          </a:p>
          <a:p/>
          <a:p>
            <a:r>
              <a:t>ДАРААГИЙН СЛАЙДТАЙ ХОЛБОХ ӨГҮҮЛБЭР</a:t>
            </a:r>
          </a:p>
          <a:p>
            <a:r>
              <a:t>Эхлээд “доод давхраа” гэдэг нэр томьёог зөв ойлгоё.</a:t>
            </a:r>
          </a:p>
          <a:p/>
          <a:p>
            <a:r>
              <a:t>ДЭЛГЭРЭНГҮЙ МЭДЭЭЛЭЛ</a:t>
            </a:r>
          </a:p>
          <a:p>
            <a:r>
              <a:t>Илтгэл гурван түвшнийг ялгана: эрх зүйн стандарт, бодит хүртээмж, хэрэгжүүлэх механизм. Статистик нь асуудлын хүрээг, шүүхийн шийдвэр нь эрхийн хэрэгжилтийг, улсын харьцуулалт нь бодлогын сонголтыг тайлбарлана.</a:t>
            </a:r>
          </a:p>
          <a:p>
            <a:r>
              <a:t>01  Нөхцөл: Ядуурал хүний эрхээ бодитоор эдлэх боломжийг хэрхэн хязгаарладаг вэ?</a:t>
            </a:r>
          </a:p>
          <a:p>
            <a:r>
              <a:t>02  Баталгаа: Монголын хууль ба олон улсын баримт бичиг ямар хамгаалалт тогтоодог вэ?</a:t>
            </a:r>
          </a:p>
          <a:p>
            <a:r>
              <a:t>03  Шийдэл: Шүүхийн кейс, бусад орны туршлагаас Монголд юу хэрэгжүүлж болох вэ?</a:t>
            </a:r>
          </a:p>
          <a:p/>
          <a:p>
            <a:r>
              <a:t>ЭХ СУРВАЛЖ</a:t>
            </a:r>
          </a:p>
          <a:p>
            <a:r>
              <a:t>[ҮХ] Монгол Улсын Үндсэн хууль — 1992.01.13</a:t>
            </a:r>
          </a:p>
          <a:p>
            <a:r>
              <a:t>https://legalinfo.mn/mn/detail/367</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Жишээ: ажилгүй болсон хүн эрүүл мэнд, боловсролын эрхээ алдахгүй.</a:t>
            </a:r>
          </a:p>
          <a:p/>
          <a:p>
            <a:r>
              <a:t>ЯРИХ ТЕКСТ</a:t>
            </a:r>
          </a:p>
          <a:p>
            <a:r>
              <a:t>Хүмүүсийн орлого, хөрөнгө, ажил өөр байж болно. Харин энэ ялгаа нь хүний нэр төр, үндсэн эрх өөр гэсэн үг биш. Өндөр цалинтай болон ажилгүй хоёр хүний нөхцөл ялгаатай ч хуулийн өмнөх тэгш байдал хэвээр. Иймээс бид ядуурлыг тухайн хүнийг буруутгах байдлаар бус, ямар саад түүний боломжийг хязгаарлаж байгаагаар авч үзнэ. Слайдын жишээ нь бодит судалгааны кейс биш, ойлгуулах зорилготой тайлбарын жишээ юм.</a:t>
            </a:r>
          </a:p>
          <a:p/>
          <a:p>
            <a:r>
              <a:t>ДАРААГИЙН СЛАЙДТАЙ ХОЛБОХ ӨГҮҮЛБЭР</a:t>
            </a:r>
          </a:p>
          <a:p>
            <a:r>
              <a:t>Тэгвэл ядуурлыг зөвхөн мөнгөөр хэмжихэд хангалттай юу?</a:t>
            </a:r>
          </a:p>
          <a:p/>
          <a:p>
            <a:r>
              <a:t>ДЭЛГЭРЭНГҮЙ МЭДЭЭЛЭЛ</a:t>
            </a:r>
          </a:p>
          <a:p>
            <a:r>
              <a:t>Бага орлоготой бүх хүн ижил нөхцөлтэй биш. Өрхийн хэмжээ, асаргааны ачаалал, газар зүйн байршил, хөгжлийн бэрхшээл зэрэг нь ижил орлоготой хүмүүсийн бодит боломжийг өөрчилдөг. UDHR-ийн 1, 2 дугаар зүйл нэр төр ба ялгаварлан гадуурхахгүй байх зарчмын суурь болно.</a:t>
            </a:r>
          </a:p>
          <a:p>
            <a:r>
              <a:t>Эдийн засгийн байр суурь: Орлого, хөрөнгө, тогтвортой ажлын боломж бага; эдийн засгийн цочролд өртөх эрсдэл өндөр.</a:t>
            </a:r>
          </a:p>
          <a:p>
            <a:r>
              <a:t>Нийгмийн боломж: Чанартай боловсрол, эрүүл мэнд, орон сууц, мэдээлэлд хүрэх боломж харилцан адилгүй.</a:t>
            </a:r>
          </a:p>
          <a:p>
            <a:r>
              <a:t>Эрхийн субъект: Орлогоос үл хамааран хүн бүр ижил нэр төртэй, эрх эдлэгч. Ядуу хүнийг буруутгах нь бүтцийн шалтгааныг бүдгэрүүлдэг.</a:t>
            </a:r>
          </a:p>
          <a:p/>
          <a:p>
            <a:r>
              <a:t>ЭХ СУРВАЛЖ</a:t>
            </a:r>
          </a:p>
          <a:p>
            <a:r>
              <a:t>[UDHR] Хүний эрхийн түгээмэл тунхаглал — 1948.12.10</a:t>
            </a:r>
          </a:p>
          <a:p>
            <a:r>
              <a:t>https://www.ohchr.org/en/human-rights/universal-declaration/translations/mongolian</a:t>
            </a:r>
          </a:p>
          <a:p>
            <a:r>
              <a:t>[ҮХ] Монгол Улсын Үндсэн хууль — 1992.01.13</a:t>
            </a:r>
          </a:p>
          <a:p>
            <a:r>
              <a:t>https://legalinfo.mn/mn/detail/367</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Ижил орлоготой хоёр өрхийн бодит боломж өөр байж болно.</a:t>
            </a:r>
          </a:p>
          <a:p/>
          <a:p>
            <a:r>
              <a:t>ЯРИХ ТЕКСТ</a:t>
            </a:r>
          </a:p>
          <a:p>
            <a:r>
              <a:t>Орлого бол ядуурлыг ойлгох нэг чухал хэмжүүр. Гэхдээ ижил орлоготой хоёр өрхийг төсөөлье. Нэг нь сургууль, эмнэлэгт ойр, нөгөө нь хол, тээврийн зардал өндөр байж болно. Тэгвэл ижил мөнгөөр эдлэх боломж нь өөр байна. Тиймээс орлогоос гадна үйлчилгээний хүртээмж, амьдрах нөхцөл, нийгмийн оролцоог хамтад нь харна. Энэ нь үндэсний ядуурлын хувь болон олон хэмжээст ядуурлын хэмжүүрийг хооронд нь ялгаж ойлгоход тусална.</a:t>
            </a:r>
          </a:p>
          <a:p/>
          <a:p>
            <a:r>
              <a:t>ДАРААГИЙН СЛАЙДТАЙ ХОЛБОХ ӨГҮҮЛБЭР</a:t>
            </a:r>
          </a:p>
          <a:p>
            <a:r>
              <a:t>Одоо Монголын мөнгөн ядуурлын түүхэн үзүүлэлтийг харъя.</a:t>
            </a:r>
          </a:p>
          <a:p/>
          <a:p>
            <a:r>
              <a:t>ДЭЛГЭРЭНГҮЙ МЭДЭЭЛЭЛ</a:t>
            </a:r>
          </a:p>
          <a:p>
            <a:r>
              <a:t>Үндэсний ядуурлын хувь, олон улсын ам.долларын босго, олон хэмжээст ядуурлын индекс нь өөр аргачлалтай. Эдгээрийг нэг графикт шууд ижил хэмжүүр мэт харьцуулж болохгүй. Өрхийн хэрэглээнд суурилсан ядуурал нь бэлэн мөнгөн орлоготой яг адил ойлголт биш.</a:t>
            </a:r>
          </a:p>
          <a:p>
            <a:r>
              <a:t>Мөнгөн ядуурал: Хэрэглээ эсвэл орлого тогтоосон босгоос доогуур байх. Үндэсний босго нь тухайн улсын нөхцөлд тулгуурлана.</a:t>
            </a:r>
          </a:p>
          <a:p>
            <a:r>
              <a:t>Олон хэмжээст хомсдол: Боловсрол, эрүүл мэнд, ундны ус, ариун цэвэр, орон сууцны дутагдлыг хамтад нь харна.</a:t>
            </a:r>
          </a:p>
          <a:p>
            <a:r>
              <a:t>Нийгмийн гадуурхал: Баримт бичиг, тээвэр, хэл, цахим ур чадвар, ялгаварлал зэргээс үйлчилгээ авч чадахгүй болох.</a:t>
            </a:r>
          </a:p>
          <a:p/>
          <a:p>
            <a:r>
              <a:t>ЭХ СУРВАЛЖ</a:t>
            </a:r>
          </a:p>
          <a:p>
            <a:r>
              <a:t>[POV] ҮСХ, Дэлхийн банк: Mongolia Poverty Update 2022, 2024 онд нийтэлсэн; үндэсний ядуурлын түвшин</a:t>
            </a:r>
          </a:p>
          <a:p>
            <a:r>
              <a:t>https://www.worldbank.org/en/country/mongolia/publication</a:t>
            </a:r>
          </a:p>
          <a:p>
            <a:r>
              <a:t>[SDG] НҮБ, A/RES/70/1 — 2015.09.25, Тогтвортой хөгжлийн зорилго</a:t>
            </a:r>
          </a:p>
          <a:p>
            <a:r>
              <a:t>https://sdgs.un.org/2030agenda</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27.1% — 2022 оны үзүүлэлт. 2026 оны өнөөгийн түвшин биш.</a:t>
            </a:r>
          </a:p>
          <a:p/>
          <a:p>
            <a:r>
              <a:t>ЯРИХ ТЕКСТ</a:t>
            </a:r>
          </a:p>
          <a:p>
            <a:r>
              <a:t>Энэ графикт үндэсний ядуурлын босгоор тооцсон хүн амын хувийг харуулсан. 2016 онд 29.6 хувь байсан үзүүлэлт 2022 онд 27.1 хувь болжээ. Өөрчлөлт нь 2.5 нэгж хувь. Энд “2.5 хувиар” гэж хэлэхгүй, учир нь хоёр хувийн түвшний зөрүүг нэгж хувиар илэрхийлдэг. 27.1 хувь гэдгийг энгийнээр ойролцоогоор дөрвөн хүн тутмын нэг гэж ойлгож болно. Эдгээр нь 2016–2022 оны түүхэн өгөгдөл тул өнөөгийн түвшин гэж тайлбарлахгүй.</a:t>
            </a:r>
          </a:p>
          <a:p/>
          <a:p>
            <a:r>
              <a:t>СЛАЙДЫГ ХЭРХЭН ТАЙЛБАРЛАХ ВЭ</a:t>
            </a:r>
          </a:p>
          <a:p>
            <a:r>
              <a:t>Зүүн талын 27.1%-ийг хэлнэ. Дараа нь 2016, 2022 оны хоёр баганыг заана. Дунд хоёр оныг нэг бүрчлэн уншихгүй.</a:t>
            </a:r>
          </a:p>
          <a:p/>
          <a:p>
            <a:r>
              <a:t>ДАРААГИЙН СЛАЙДТАЙ ХОЛБОХ ӨГҮҮЛБЭР</a:t>
            </a:r>
          </a:p>
          <a:p>
            <a:r>
              <a:t>Ядуурал яагаад удаан үргэлжилж болохыг дараах холбоосоор тайлбарлая.</a:t>
            </a:r>
          </a:p>
          <a:p/>
          <a:p>
            <a:r>
              <a:t>ДЭЛГЭРЭНГҮЙ МЭДЭЭЛЭЛ</a:t>
            </a:r>
          </a:p>
          <a:p>
            <a:r>
              <a:t>ҮСХ–Дэлхийн банкны үндэсний ядуурлын тооцоолол: 2016 онд 29.6%, 2018 онд 28.4%, 2020 онд 27.8%, 2022 онд 27.1%. 2016–2022 оны өөрчлөлт нь 2.5 нэгж хувь; “2.5 хувиар буурсан” гэж нэрлэхгүй. Эдгээр нь түүхэн тоон цуваа бөгөөд 2026 оны өнөөгийн ядуурлын түвшин гэж тайлбарлахгүй. Улс хоорондын харьцуулалт хийхэд ижил босго, ижил аргачлал шаардлагатай.</a:t>
            </a:r>
          </a:p>
          <a:p/>
          <a:p/>
          <a:p>
            <a:r>
              <a:t>ЭХ СУРВАЛЖ</a:t>
            </a:r>
          </a:p>
          <a:p>
            <a:r>
              <a:t>[POV] ҮСХ, Дэлхийн банк: Mongolia Poverty Update 2022, 2024 онд нийтэлсэн; үндэсний ядуурлын түвшин</a:t>
            </a:r>
          </a:p>
          <a:p>
            <a:r>
              <a:t>https://www.worldbank.org/en/country/mongolia/publication</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Энэ бол тайлбарлах схем; тоон судалгааны шалтгаант үр дүн биш.</a:t>
            </a:r>
          </a:p>
          <a:p/>
          <a:p>
            <a:r>
              <a:t>ЯРИХ ТЕКСТ</a:t>
            </a:r>
          </a:p>
          <a:p>
            <a:r>
              <a:t>Дараах нь тайлбарлах зорилготой ерөнхий холбоос. Орлого багасвал хүн эмчилгээ, тээвэр эсвэл суралцах зардлаа хойшлуулж болно. Эрүүл мэнд муудах, сургалт тасалдах нь ажлын боломжид дахин нөлөөлнө. Ингэснээр орлого сэргэхэд улам хэцүү болж болно. Бүх хүн заавал ийм замаар явна гэсэн үг биш. Харин дэмжлэгийг зөвхөн нэг удаагийн мөнгөөр бус, үйлчилгээ болон ур чадварын боломжтой холбох хэрэгтэйг энэ схем харуулж байна.</a:t>
            </a:r>
          </a:p>
          <a:p/>
          <a:p>
            <a:r>
              <a:t>ДАРААГИЙН СЛАЙДТАЙ ХОЛБОХ ӨГҮҮЛБЭР</a:t>
            </a:r>
          </a:p>
          <a:p>
            <a:r>
              <a:t>Ийм саадыг хүний эрхийн хандлагаар хэрхэн авч үзэх вэ?</a:t>
            </a:r>
          </a:p>
          <a:p/>
          <a:p>
            <a:r>
              <a:t>ДЭЛГЭРЭНГҮЙ МЭДЭЭЛЭЛ</a:t>
            </a:r>
          </a:p>
          <a:p>
            <a:r>
              <a:t>Энэ бол тайлбарлах загвар; тоон шалтгаант нөлөөг нотолсон график биш. Нэг удаагийн тэтгэмж өрхийн бүх асуудлыг шийдэхгүй. Үйлчилгээний төлбөрөөс гадна очих зардал, хүлээх хугацаа, асаргааны үүрэг зэрэг далд зардал эрхийн хүртээмжид нөлөөлнө.</a:t>
            </a:r>
          </a:p>
          <a:p/>
          <a:p/>
          <a:p>
            <a:r>
              <a:t>ЭХ СУРВАЛЖ</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[CRC] Хүүхдийн эрхийн тухай конвенц — 1989.11.20; хүчин төгөлдөр: 1990.09.02</a:t>
            </a:r>
          </a:p>
          <a:p>
            <a:r>
              <a:t>https://www.ohchr.org/en/instruments-mechanisms/instruments/convention-rights-child</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Гол ялгаа: сайн дурын тусламжаас гадна хуульд заасан үүрэг бий.</a:t>
            </a:r>
          </a:p>
          <a:p/>
          <a:p>
            <a:r>
              <a:t>ЯРИХ ТЕКСТ</a:t>
            </a:r>
          </a:p>
          <a:p>
            <a:r>
              <a:t>Хандив өгсөн хүн өөрийн хүсэл, боломжоор тусалдаг. Харин төрийн байгууллага хуульд заасан чиг үүрэг, хариуцлагатай. Тиймээс иргэн тусламж хүсэхээс гадна өөрт хамаарах үйлчилгээний шалгуур, татгалзсан шалтгаан, хянуулах боломжийг мэдэх эрхтэй. Энэ нь бүх үйлчилгээ ямар ч нөхцөлгүй, үнэгүй байна гэсэн үг биш. Харин шалгуур нь хууль ёсны, ойлгомжтой, ялгаварлаагүй байх ёстой гэсэн үг.</a:t>
            </a:r>
          </a:p>
          <a:p/>
          <a:p>
            <a:r>
              <a:t>ДАРААГИЙН СЛАЙДТАЙ ХОЛБОХ ӨГҮҮЛБЭР</a:t>
            </a:r>
          </a:p>
          <a:p>
            <a:r>
              <a:t>Энэ хандлагын суурь нь Монголын Үндсэн хуульд бий.</a:t>
            </a:r>
          </a:p>
          <a:p/>
          <a:p>
            <a:r>
              <a:t>ДЭЛГЭРЭНГҮЙ МЭДЭЭЛЭЛ</a:t>
            </a:r>
          </a:p>
          <a:p>
            <a:r>
              <a:t>Хүний эрхийн хандлагын гол ялгаа нь үүрэг хүлээгч, хариуцлага, гомдол шийдвэрлэх механизмыг тодорхой болгодогт оршино. Эрх эдлэх нь бүх үйлчилгээг ямар ч нөхцөлгүй, үнэ төлбөргүй олгоно гэсэн үг биш; хууль ёсны, үндэслэлтэй, ялгаварлаагүй зохицуулалт шаардлагатай.</a:t>
            </a:r>
          </a:p>
          <a:p>
            <a:r>
              <a:t>Хүн бүр эрх эдэлнэ: Хүний эрхийн түгээмэл тунхаглал, 1948.12.10: 1 дүгээр зүйл — нэр төр, эрхийн тэгш байдал; 2 — ялгаварлахгүй байх.</a:t>
            </a:r>
          </a:p>
          <a:p>
            <a:r>
              <a:t>Улс үүрэг хүлээнэ: ICESCR, 1966.12.16: 2.1 — нөөц бололцоогоо дээд хэмжээгээр ашиглан эрхийг дэвшилттэй хэрэгжүүлэх.</a:t>
            </a:r>
          </a:p>
          <a:p>
            <a:r>
              <a:t>Шийдвэрийг хянуулна: Үндсэн хууль, 1992.01.13: 16.12 — өргөдөл, гомдол; 16.14 — шүүхээр хамгаалуулах, хууль зүйн туслалцаа.</a:t>
            </a:r>
          </a:p>
          <a:p/>
          <a:p>
            <a:r>
              <a:t>ЭХ СУРВАЛЖ</a:t>
            </a:r>
          </a:p>
          <a:p>
            <a:r>
              <a:t>[UDHR] Хүний эрхийн түгээмэл тунхаглал — 1948.12.10</a:t>
            </a:r>
          </a:p>
          <a:p>
            <a:r>
              <a:t>https://www.ohchr.org/en/human-rights/universal-declaration/translations/mongolian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[ҮХ] Монгол Улсын Үндсэн хууль — 1992.01.13</a:t>
            </a:r>
          </a:p>
          <a:p>
            <a:r>
              <a:t>https://legalinfo.mn/mn/detail/367</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Баталгаа нь хүн бүрд хамаарна; хэрэгжүүлэх нөхцөлийг холбогдох хууль тогтооно.</a:t>
            </a:r>
          </a:p>
          <a:p/>
          <a:p>
            <a:r>
              <a:t>ЯРИХ ТЕКСТ</a:t>
            </a:r>
          </a:p>
          <a:p>
            <a:r>
              <a:t>Үндсэн хууль 1992 оны нэгдүгээр сарын 13-нд батлагдсан. Энэ слайдад дөрвөн гол баталгааг л онцолъё. Нэгдүгээрт, хөрөнгө чинээгээр ялгаварлахгүй. Хоёрдугаарт, хуульд заасан нөхцөлд нийгмийн тусламж авах боломжтой. Гуравдугаарт, эрүүл мэнд, боловсролын эрхтэй. Дөрөвдүгээрт, эрх зөрчигдвөл гомдол гаргаж, шүүхээр хамгаалуулна. Эндээс бүх үйлчилгээ автоматаар үнэгүй гэсэн дүгнэлт хийхгүй. Төлбөргүй үйлчилгээний хүрээ, тусламж авах шалгуурыг холбогдох хууль тогтоодог.</a:t>
            </a:r>
          </a:p>
          <a:p/>
          <a:p>
            <a:r>
              <a:t>ДАРААГИЙН СЛАЙДТАЙ ХОЛБОХ ӨГҮҮЛБЭР</a:t>
            </a:r>
          </a:p>
          <a:p>
            <a:r>
              <a:t>Үндсэн баталгааг салбарын хуулиуд илүү тодорхой болгодог.</a:t>
            </a:r>
          </a:p>
          <a:p/>
          <a:p>
            <a:r>
              <a:t>ДЭЛГЭРЭНГҮЙ МЭДЭЭЛЭЛ</a:t>
            </a:r>
          </a:p>
          <a:p>
            <a:r>
              <a:t>Үндсэн хууль 1992 оны 1 дүгээр сарын 13-нд батлагдаж, 1992 оны 2 дугаар сарын 12-ноос хүчин төгөлдөр болсон. Батлагдсан огноо, хүчин төгөлдөр болсон огноо хоёрыг ялгана. 16.7-д төрөөс бүх нийтийн ерөнхий боловсролыг төлбөргүй олгох тухай, 16.6-д эмнэлгийн төлбөргүй тусламжийн болзол, журмыг хуулиар тогтоох тухай зохицуулдаг.</a:t>
            </a:r>
          </a:p>
          <a:p>
            <a:r>
              <a:t>14.1; 14.2 | Хуулийн өмнө эрх тэгш; хөрөнгө чинээ зэрэг үндэслэлээр ялгаварлахгүй | Үйлчилгээний шалгуур хүнийг дорд үзэж болохгүй</a:t>
            </a:r>
          </a:p>
          <a:p>
            <a:r>
              <a:t>16.4 | Ажил, хөдөлмөрөө сонгох; хөдөлмөрийн аятай нөхцөл; цалин | Аюулгүй ажил, хуульд нийцсэн хөлс</a:t>
            </a:r>
          </a:p>
          <a:p>
            <a:r>
              <a:t>16.5 | Хуульд заасан нөхцөлд эд, мөнгөний тусламж авах | Өндөр нас, хөдөлмөрийн чадвар алдалт зэрэг</a:t>
            </a:r>
          </a:p>
          <a:p>
            <a:r>
              <a:t>16.6; 16.7 | Эрүүл мэндээ хамгаалуулах; сурч боловсрох | Төлбөргүй үйлчилгээний хүрээг хууль тогтооно</a:t>
            </a:r>
          </a:p>
          <a:p>
            <a:r>
              <a:t>19.1 | Эдийн засаг, нийгэм, хууль зүйн баталгааг бүрдүүлэх төрийн үүрэг | Эрхийн хэрэгжилтийг төсөв, бодлогоор хангах</a:t>
            </a:r>
          </a:p>
          <a:p/>
          <a:p>
            <a:r>
              <a:t>ЭХ СУРВАЛЖ</a:t>
            </a:r>
          </a:p>
          <a:p>
            <a:r>
              <a:t>[ҮХ] Монгол Улсын Үндсэн хууль — 1992.01.13</a:t>
            </a:r>
          </a:p>
          <a:p>
            <a:r>
              <a:t>https://legalinfo.mn/mn/detail/367</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Эндхүү огноо нь баталсан өдөр; сүүлийн нэмэлт, өөрчлөлтийн огноо биш.</a:t>
            </a:r>
          </a:p>
          <a:p/>
          <a:p>
            <a:r>
              <a:t>ЯРИХ ТЕКСТ</a:t>
            </a:r>
          </a:p>
          <a:p>
            <a:r>
              <a:t>Салбарын хууль гэдэг нь тухайн эрхийг бодит харилцаанд хэрхэн хэрэгжүүлэхийг зохицуулсан хууль юм. Жишээ нь, хөдөлмөрийн хууль ажилд авах, ажиллуулах үед ялгаварлахыг хориглодог. Халамжийн хууль дэмжлэгийн төрөл, эрх үүсэх нөхцөлийг тогтооно. Боловсролын болон хөгжлийн бэрхшээлтэй хүний эрхийн хуулиуд боломж, хүртээмжийг хангахад хамаарна. Хуулийн нэрийн дэргэд байгаа огноо нь тухайн хууль батлагдсан өдрийг зааж байна. Тодорхой хэрэгт ашиглах бол хамгийн сүүлийн хүчин төгөлдөр найруулгыг нягтлах шаардлагатай.</a:t>
            </a:r>
          </a:p>
          <a:p/>
          <a:p>
            <a:r>
              <a:t>ДАРААГИЙН СЛАЙДТАЙ ХОЛБОХ ӨГҮҮЛБЭР</a:t>
            </a:r>
          </a:p>
          <a:p>
            <a:r>
              <a:t>Монголын хуулиас гадна олон улсын стандарт бас үйлчилдэг.</a:t>
            </a:r>
          </a:p>
          <a:p/>
          <a:p>
            <a:r>
              <a:t>ДЭЛГЭРЭНГҮЙ МЭДЭЭЛЭЛ</a:t>
            </a:r>
          </a:p>
          <a:p>
            <a:r>
              <a:t>Хөдөлмөрийн тухай хуулийн шинэчилсэн найруулга 2021.07.02-нд батлагдаж 2022.01.01-нээс мөрдөгдсөн. Нийгмийн халамжийн тусламж нь төрлөөсөө хамааран өөр өөр шалгууртай; ядуу хүн бүр бүх тэтгэмжийг автоматаар авахгүй. Хуулийн тодорхой заалтыг бодит хэрэгт хэрэглэхийн өмнө хүчин төгөлдөр нэгтгэсэн эхийг шалгах шаардлагатай.</a:t>
            </a:r>
          </a:p>
          <a:p>
            <a:r>
              <a:t>Хөдөлмөрийн тухай</a:t>
            </a:r>
          </a:p>
          <a:p>
            <a:r>
              <a:t>2021.07.02 | 6 дугаар зүйл: хөдөлмөрт ялгаварлан гадуурхахыг хориглох | Сонгон шалгаруулалт, цалин тэгш үү?</a:t>
            </a:r>
          </a:p>
          <a:p>
            <a:r>
              <a:t>Нийгмийн халамжийн тухай</a:t>
            </a:r>
          </a:p>
          <a:p>
            <a:r>
              <a:t>2012.01.19 | Нийгмийн халамжийн тэтгэвэр, тэтгэмж, үйлчилгээ | Хуулийн шалгуур хангасан хүнд хүрч байна уу?</a:t>
            </a:r>
          </a:p>
          <a:p>
            <a:r>
              <a:t>Боловсролын ерөнхий хууль</a:t>
            </a:r>
          </a:p>
          <a:p>
            <a:r>
              <a:t>2023.07.07 | Боловсролын тэгш боломж, хүртээмжийн зохицуулалт | Төлбөрөөс гаднах саадыг арилгасан уу?</a:t>
            </a:r>
          </a:p>
          <a:p>
            <a:r>
              <a:t>Хөгжлийн бэрхшээлтэй хүний эрхийн тухай</a:t>
            </a:r>
          </a:p>
          <a:p>
            <a:r>
              <a:t>2016.02.05 | Ялгаварлалгүй оролцоо, хүртээмжийн зохицуулалт | Орчин, мэдээлэл, үйлчилгээ хүртээмжтэй юу?</a:t>
            </a:r>
          </a:p>
          <a:p/>
          <a:p>
            <a:r>
              <a:t>ЭХ СУРВАЛЖ</a:t>
            </a:r>
          </a:p>
          <a:p>
            <a:r>
              <a:t>[ХТ] Хөдөлмөрийн тухай хууль /шинэчилсэн найруулга/ — 2021.07.02</a:t>
            </a:r>
          </a:p>
          <a:p>
            <a:r>
              <a:t>https://legalinfo.mn</a:t>
            </a:r>
          </a:p>
          <a:p>
            <a:r>
              <a:t>[НХ] Нийгмийн халамжийн тухай хууль /шинэчилсэн найруулга/ — 2012.01.19</a:t>
            </a:r>
          </a:p>
          <a:p>
            <a:r>
              <a:t>https://legalinfo.mn</a:t>
            </a:r>
          </a:p>
          <a:p>
            <a:r>
              <a:t>[БЕХ] Боловсролын ерөнхий хууль /шинэчилсэн найруулга/ — 2023.07.07</a:t>
            </a:r>
          </a:p>
          <a:p>
            <a:r>
              <a:t>https://legalinfo.mn</a:t>
            </a:r>
          </a:p>
          <a:p>
            <a:r>
              <a:t>[ХБХ] Хөгжлийн бэрхшээлтэй хүний эрхийн тухай хууль — 2016.02.05</a:t>
            </a:r>
          </a:p>
          <a:p>
            <a:r>
              <a:t>https://legalinfo.mn</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Тунхаглал — нийтлэг стандарт. Гэрээ — оролцогч улсын үүрэг. ТХЗ — бодлогын зорилго.</a:t>
            </a:r>
          </a:p>
          <a:p/>
          <a:p>
            <a:r>
              <a:t>ЯРИХ ТЕКСТ</a:t>
            </a:r>
          </a:p>
          <a:p>
            <a:r>
              <a:t>Энэ хугацааны шугам дээр таван гол үе шатыг харууллаа. 1948 оны Түгээмэл тунхаглал нийтлэг суурь стандартыг тогтоосон. 1966 оны хоёр пакт болон дараагийн конвенцууд нь оролцогч улсуудын гэрээний үүргийг тодорхойлдог. Харин 2015 оны Тогтвортой хөгжлийн зорилгууд нь хөгжлийн бодлогын зорилго юм. Эдгээрийг бүгдийг ижил “хууль” гэж нэрлэхгүй. Мөн эндхүү огноо нь баримт бичгийг баталсан өдөр болохоос Монгол Улс нэгдсэн өдөр биш.</a:t>
            </a:r>
          </a:p>
          <a:p/>
          <a:p>
            <a:r>
              <a:t>ДАРААГИЙН СЛАЙДТАЙ ХОЛБОХ ӨГҮҮЛБЭР</a:t>
            </a:r>
          </a:p>
          <a:p>
            <a:r>
              <a:t>Эхлээд Түгээмэл тунхаглалын энгийн гол санааг харъя.</a:t>
            </a:r>
          </a:p>
          <a:p/>
          <a:p>
            <a:r>
              <a:t>ДЭЛГЭРЭНГҮЙ МЭДЭЭЛЭЛ</a:t>
            </a:r>
          </a:p>
          <a:p>
            <a:r>
              <a:t>Тунхаглал, олон улсын гэрээ, бодлогын зорилго нь эрх зүйн өөр шинжтэй. Монгол Улс тухайн гэрээгээр ямар үүрэг хүлээснийг тайлбарлахдаа нэгдэн орсон байдал, хүчин төгөлдөр үйлчлэл, тайлбар болон нэмэлт протоколын статусыг тусад нь шалгана. Энэ слайд нэгдэн орсон огноог мэдээлээгүй.</a:t>
            </a:r>
          </a:p>
          <a:p/>
          <a:p/>
          <a:p>
            <a:r>
              <a:t>ЭХ СУРВАЛЖ</a:t>
            </a:r>
          </a:p>
          <a:p>
            <a:r>
              <a:t>[UDHR] Хүний эрхийн түгээмэл тунхаглал — 1948.12.10</a:t>
            </a:r>
          </a:p>
          <a:p>
            <a:r>
              <a:t>https://www.ohchr.org/en/human-rights/universal-declaration/translations/mongolian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[ICCPR] Иргэний болон улс төрийн эрхийн тухай олон улсын пакт — 1966.12.16; хүчин төгөлдөр: 1976.03.23</a:t>
            </a:r>
          </a:p>
          <a:p>
            <a:r>
              <a:t>https://www.ohchr.org/en/instruments-mechanisms/instruments/international-covenant-civil-and-political-rights</a:t>
            </a:r>
          </a:p>
          <a:p>
            <a:r>
              <a:t>[CRC] Хүүхдийн эрхийн тухай конвенц — 1989.11.20; хүчин төгөлдөр: 1990.09.02</a:t>
            </a:r>
          </a:p>
          <a:p>
            <a:r>
              <a:t>https://www.ohchr.org/en/instruments-mechanisms/instruments/convention-rights-child</a:t>
            </a:r>
          </a:p>
          <a:p>
            <a:r>
              <a:t>[CRPD] Хөгжлийн бэрхшээлтэй хүмүүсийн эрхийн тухай конвенц — 2006.12.13; хүчин төгөлдөр: 2008.05.03</a:t>
            </a:r>
          </a:p>
          <a:p>
            <a:r>
              <a:t>https://www.ohchr.org/en/instruments-mechanisms/instruments/convention-rights-persons-disabilities</a:t>
            </a:r>
          </a:p>
          <a:p>
            <a:r>
              <a:t>[SDG] НҮБ, A/RES/70/1 — 2015.09.25, Тогтвортой хөгжлийн зорилго</a:t>
            </a:r>
          </a:p>
          <a:p>
            <a:r>
              <a:t>https://sdgs.un.org/2030agenda</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Түгээмэл тунхаглал бол олон улсын гэрээ биш; нийтлэг стандартын суурь юм.</a:t>
            </a:r>
          </a:p>
          <a:p/>
          <a:p>
            <a:r>
              <a:t>ЯРИХ ТЕКСТ</a:t>
            </a:r>
          </a:p>
          <a:p>
            <a:r>
              <a:t>Хүний эрхийн түгээмэл тунхаглалыг 1948 оны арванхоёрдугаар сарын 10-нд баталсан. Үүнийг таван энгийн ойлголтоор санаж болно: тэгш байдал, хамгаалал, хөдөлмөр, амьжиргаа, боловсрол. Ядууралтай холбоо нь тодорхой. Хүнд зөвхөн амьд байх бус, нэр төртэй амьдрах боломж хэрэгтэй. Тунхаглал нь олон улсын гэрээ биш гэдгийг ялгаж ойлгох нь чухал. Дараа нь эдгээр санааг гэрээний үүрэг болгосон пактыг авч үзнэ.</a:t>
            </a:r>
          </a:p>
          <a:p/>
          <a:p>
            <a:r>
              <a:t>ДАРААГИЙН СЛАЙДТАЙ ХОЛБОХ ӨГҮҮЛБЭР</a:t>
            </a:r>
          </a:p>
          <a:p>
            <a:r>
              <a:t>Эдийн засаг, нийгэм, соёлын эрхийн пакт энэ холбоог тодруулдаг.</a:t>
            </a:r>
          </a:p>
          <a:p/>
          <a:p>
            <a:r>
              <a:t>ДЭЛГЭРЭНГҮЙ МЭДЭЭЛЭЛ</a:t>
            </a:r>
          </a:p>
          <a:p>
            <a:r>
              <a:t>Тунхаглалыг НҮБ-ын Ерөнхий Ассамблей 217 A (III) тогтоолоор баталсан. Энэ баримт бичгийн бүх заалтыг дангаар нь “шууд хэрэгжих олон улсын гэрээний хууль” гэж тайлбарлаж болохгүй. Хожмын гэрээ, үндэсний хууль, шүүхийн практикт үзүүлсэн нөлөөг нь тайлбарлана.</a:t>
            </a:r>
          </a:p>
          <a:p>
            <a:r>
              <a:t>1, 2 | Эрх тэгш байдал; ялгаварлан гадуурхахгүй байх | Бага орлогыг доромжлох үндэслэл болгохгүй</a:t>
            </a:r>
          </a:p>
          <a:p>
            <a:r>
              <a:t>22 | Нийгмийн хамгаалал | Эрсдэлд орсон үед баталгаатай дэмжлэг</a:t>
            </a:r>
          </a:p>
          <a:p>
            <a:r>
              <a:t>23 | Хөдөлмөр; шударга, таатай цалин хөлс | Ажилтай ч ядуурах эрсдэлийг авч үзнэ</a:t>
            </a:r>
          </a:p>
          <a:p>
            <a:r>
              <a:t>25 | Зохистой амьжиргаа; хоол, орон байр, эрүүл мэнд | Амьдралын суурь хэрэгцээг эрхтэй холбох</a:t>
            </a:r>
          </a:p>
          <a:p>
            <a:r>
              <a:t>26 | Боловсрол | Бага шатны боловсрол үнэ төлбөргүй, заавал байх</a:t>
            </a:r>
          </a:p>
          <a:p/>
          <a:p>
            <a:r>
              <a:t>ЭХ СУРВАЛЖ</a:t>
            </a:r>
          </a:p>
          <a:p>
            <a:r>
              <a:t>[UDHR] Хүний эрхийн түгээмэл тунхаглал — 1948.12.10</a:t>
            </a:r>
          </a:p>
          <a:p>
            <a:r>
              <a:t>https://www.ohchr.org/en/human-rights/universal-declaration/translations/mongolian</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Төр нөөц боломжоо ашиглан ахиц гаргана. Ялгаварлалгүй байх үүргийг хойшлуулахгүй.</a:t>
            </a:r>
          </a:p>
          <a:p/>
          <a:p>
            <a:r>
              <a:t>ЯРИХ ТЕКСТ</a:t>
            </a:r>
          </a:p>
          <a:p>
            <a:r>
              <a:t>Энэ пактын бүтэн нэр нь Эдийн засаг, нийгэм, соёлын эрхийн тухай олон улсын пакт. 1966 оны арванхоёрдугаар сарын 16-нд баталсан. Төр бүх асуудлыг нэг өдөр шийднэ гэсэн үг биш. Харин байгаа нөөцөө дээд хэмжээгээр ашиглан бодит арга хэмжээ авч, ахиц гаргах үүрэгтэй. Нөөц бага гэдэг шалтгаанаар ялгаварлахыг зөвтгөхгүй. Гол санаа нь эрхийг зөвхөн бичиж тунхаглах бус, төсөв, үйлчилгээ, хүртээмжээр бодит болгох юм.</a:t>
            </a:r>
          </a:p>
          <a:p/>
          <a:p>
            <a:r>
              <a:t>ДАРААГИЙН СЛАЙДТАЙ ХОЛБОХ ӨГҮҮЛБЭР</a:t>
            </a:r>
          </a:p>
          <a:p>
            <a:r>
              <a:t>Гэхдээ нийгмийн эрхээ шаардахад дуу хоолой, шүүхийн хамгаалалт ч хэрэгтэй.</a:t>
            </a:r>
          </a:p>
          <a:p/>
          <a:p>
            <a:r>
              <a:t>ДЭЛГЭРЭНГҮЙ МЭДЭЭЛЭЛ</a:t>
            </a:r>
          </a:p>
          <a:p>
            <a:r>
              <a:t>ICESCR-ийн 2.1-д улс дангаараа болон олон улсын тусламж, хамтын ажиллагаагаар нөөц боломжоо дээд хэмжээгээр ашиглан арга хэмжээ авахыг заасан. CESCR-ийн Ерөнхий тайлбар №3 (1990.12.14) нь даруй авах арга хэмжээ болон эрхийн наад захын цөм үүргийг тайлбарладаг. Ерөнхий тайлбар нь пактын өөрийнх нь шинэ зүйл биш.</a:t>
            </a:r>
          </a:p>
          <a:p>
            <a:r>
              <a:t>2.1; 2.2 | Дэвшилттэй хэрэгжилт; ялгаварлалгүй байдал | Нөөц ба хэрэгжилтийн ахицыг тайлагнах</a:t>
            </a:r>
          </a:p>
          <a:p>
            <a:r>
              <a:t>6; 7 | Хөдөлмөрлөх; шударга, таатай нөхцөл | Аюулгүй ажлын байр, зохистой цалин</a:t>
            </a:r>
          </a:p>
          <a:p>
            <a:r>
              <a:t>9 | Нийгмийн хамгаалал, нийгмийн даатгал | Өндөр нас, ажилгүйдэл, бусад эрсдэлийн хамгаалалт</a:t>
            </a:r>
          </a:p>
          <a:p>
            <a:r>
              <a:t>11 | Зохистой амьжиргаа; өлсгөлөнгөөс ангид байх | Хоол хүнс, хувцас, орон байрны бодлого</a:t>
            </a:r>
          </a:p>
          <a:p>
            <a:r>
              <a:t>12; 13 | Эрүүл мэнд; боловсрол | Хүртээмжтэй анхан шатны тусламж, боловсрол</a:t>
            </a:r>
          </a:p>
          <a:p/>
          <a:p>
            <a:r>
              <a:t>ЭХ СУРВАЛЖ</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[GC3] CESCR, Ерөнхий тайлбар №3 — 1990.12.14; улсын үүрэг, доод цөм шаардлага</a:t>
            </a:r>
          </a:p>
          <a:p>
            <a:r>
              <a:t>https://www.ohchr.org/en/documents/general-comments-and-recommendations/general-comment-no-3-nature-states-parties-obligations</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Орлого бага байх нь хүний дуу хоолойг үгүйсгэх үндэслэл биш.</a:t>
            </a:r>
          </a:p>
          <a:p/>
          <a:p>
            <a:r>
              <a:t>ЯРИХ ТЕКСТ</a:t>
            </a:r>
          </a:p>
          <a:p>
            <a:r>
              <a:t>Иргэний болон улс төрийн эрхийн тухай олон улсын пакт мөн 1966 оны арванхоёрдугаар сарын 16-нд батлагдсан. Энд тэгш хамгаалалт, шүүхийн өмнөх тэгш байдал, иргэний оролцоог онцолж байна. Үйлчилгээний шийдвэр буруу байвал хүн түүнийгээ хэлж, хянуулж чадах ёстой. Үнэгүй өмгөөллийг бүх маргаанд автоматаар олгохгүй. Пактын 14.3(d) нь эрүүгийн хэрэгт тодорхой нөхцөлтэй үйлчилдэг.</a:t>
            </a:r>
          </a:p>
          <a:p/>
          <a:p>
            <a:r>
              <a:t>ДАРААГИЙН СЛАЙДТАЙ ХОЛБОХ ӨГҮҮЛБЭР</a:t>
            </a:r>
          </a:p>
          <a:p>
            <a:r>
              <a:t>Одоо төрийн үүргийг амархан санах гурван үйлдлээр хураангуйлъя.</a:t>
            </a:r>
          </a:p>
          <a:p/>
          <a:p>
            <a:r>
              <a:t>ДЭЛГЭРЭНГҮЙ МЭДЭЭЛЭЛ</a:t>
            </a:r>
          </a:p>
          <a:p>
            <a:r>
              <a:t>ICCPR нь Иргэний болон улс төрийн эрхийн тухай олон улсын пактын товчлол. 14.3(d)-ийн үнэ төлбөргүй хууль зүйн туслалцааны нөхцөл нь эрүүгийн яллагдагчид хамаардаг; бүх иргэний болон захиргааны маргаанд автоматаар үнэ төлбөргүй өмгөөлөгч олгоно гэж тайлбарлаж болохгүй. 25 дугаар зүйлийн оролцооны эрх нь иргэдэд хамаарах тусгай зохицуулалт. 26 дугаар зүйл дэх тэгш хамгаалалт болон 2.3 дахь үр нөлөөтэй эрх сэргээх арга хэрэгсэл нь хүртээмжтэй хамгаалалтын үндэс болдог.</a:t>
            </a:r>
          </a:p>
          <a:p>
            <a:r>
              <a:t>Хуулийн өмнө тэгш: ICCPR-ийн 26 дугаар зүйл: хүн бүр хуулийн өмнө тэгш; эд хөрөнгө болон бусад байдлаар ялгаварлахгүй, тэгш хамгаалуулах.</a:t>
            </a:r>
          </a:p>
          <a:p>
            <a:r>
              <a:t>Шүүхэд хүрэх боломж: 14.1 — шүүхийн өмнө тэгш байх.</a:t>
            </a:r>
          </a:p>
          <a:p>
            <a:r>
              <a:t>14.3(d) — эрүүгийн хэрэгт шударга ёсны шаардлагаар, төлбөрийн чадваргүй бол үнэ төлбөргүй өмгөөлөл.</a:t>
            </a:r>
          </a:p>
          <a:p>
            <a:r>
              <a:t>Оролцох эрх: 25 дугаар зүйл: иргэд төрийн хэрэгт оролцох, сонгох, сонгогдох боломжтой. Ядуурал нь иргэний дуу хоолойг үгүйсгэх үндэслэл биш.</a:t>
            </a:r>
          </a:p>
          <a:p/>
          <a:p>
            <a:r>
              <a:t>ЭХ СУРВАЛЖ</a:t>
            </a:r>
          </a:p>
          <a:p>
            <a:r>
              <a:t>[ICCPR] Иргэний болон улс төрийн эрхийн тухай олон улсын пакт — 1966.12.16; хүчин төгөлдөр: 1976.03.23</a:t>
            </a:r>
          </a:p>
          <a:p>
            <a:r>
              <a:t>https://www.ohchr.org/en/instruments-mechanisms/instruments/international-covenant-civil-and-political-rights</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Энгийнээр: зөрчихгүй → хамгаална → хэрэгжих боломж бүрдүүлнэ.</a:t>
            </a:r>
          </a:p>
          <a:p/>
          <a:p>
            <a:r>
              <a:t>ЯРИХ ТЕКСТ</a:t>
            </a:r>
          </a:p>
          <a:p>
            <a:r>
              <a:t>Эрх зүйн хэллэгээр эдгээрийг хүндэтгэх, хамгаалах, хангах үүрэг гэдэг. Жишээ нь, төр өөрөө хүнийг хууль ёсны хамгаалалтгүйгээр албадан нүүлгэхгүй байх нь хүндэтгэх үүрэг. Ажил олгогчийн ялгаварлалаас хамгаалах нь хамгаалах үүрэг. Харин сургууль, эмнэлэг, нийгмийн хамгаалалд хүрэх бодит нөхцөл бүрдүүлэх нь хангах үүрэг. Эдгээрийг шинэ гурван хууль гэж бус, төрийн үүргийг тайлбарлах хүрээ гэж ойлгоно.</a:t>
            </a:r>
          </a:p>
          <a:p/>
          <a:p>
            <a:r>
              <a:t>ДАРААГИЙН СЛАЙДТАЙ ХОЛБОХ ӨГҮҮЛБЭР</a:t>
            </a:r>
          </a:p>
          <a:p>
            <a:r>
              <a:t>Зарим хүнд хэд хэдэн саад зэрэг тулгардаг.</a:t>
            </a:r>
          </a:p>
          <a:p/>
          <a:p>
            <a:r>
              <a:t>ДЭЛГЭРЭНГҮЙ МЭДЭЭЛЭЛ</a:t>
            </a:r>
          </a:p>
          <a:p>
            <a:r>
              <a:t>Хүндэтгэх–хамгаалах–хангах нь хүний эрхийн үүргийг задлан тайлбарлах нийтлэг хүрээ. Пактын бүх үүрэг нэгэн зэрэг бүрэн үр дүнд хүрэх шаардлага гэсэн үг биш. Харин ялгаварлан гадуурхахгүй байх, бодитой зорилтот арга хэмжээ авах зэрэг үүргийг зөвхөн ирээдүйд хойшлуулж болохгүй.</a:t>
            </a:r>
          </a:p>
          <a:p>
            <a:r>
              <a:t>Хүндэтгэх: Төр өөрөө эрхэд үндэслэлгүй халдахгүй. Жишээ: хууль ёсны хамгаалалтгүй албадан нүүлгэхээс зайлсхийх.</a:t>
            </a:r>
          </a:p>
          <a:p>
            <a:r>
              <a:t>Хамгаалах: Гуравдагч этгээдийн зөрчлөөс хамгаална. Жишээ: ажил олгогчийн ялгаварлал, аюултай нөхцөлд хяналт тавих.</a:t>
            </a:r>
          </a:p>
          <a:p>
            <a:r>
              <a:t>Хангах: Хууль, төсөв, үйлчилгээ, хүртээмжийг бүрдүүлнэ. Жишээ: анхан шатны тусламж, нийгмийн хамгаалалд бодит хүрэх боломж.</a:t>
            </a:r>
          </a:p>
          <a:p/>
          <a:p>
            <a:r>
              <a:t>ЭХ СУРВАЛЖ</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[GC3] CESCR, Ерөнхий тайлбар №3 — 1990.12.14; улсын үүрэг, доод цөм шаардлага</a:t>
            </a:r>
          </a:p>
          <a:p>
            <a:r>
              <a:t>https://www.ohchr.org/en/documents/general-comments-and-recommendations/general-comment-no-3-nature-states-parties-obligations</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Ижил үйлчилгээ үзүүлэхээс гадна тухайн хүний саадыг арилгах хэрэгтэй.</a:t>
            </a:r>
          </a:p>
          <a:p/>
          <a:p>
            <a:r>
              <a:t>ЯРИХ ТЕКСТ</a:t>
            </a:r>
          </a:p>
          <a:p>
            <a:r>
              <a:t>Бага орлого дээр хүүхэд байх, асаргааны ачаалал, хөгжлийн бэрхшээл эсвэл хол байршил давхцаж болно. Жишээ нь, хүртээмжгүй барилгатай үйлчилгээ хүн бүрд нээлттэй гэж зарласан ч тэргэнцэртэй хүн орж чадахгүй байж болно. Тэгш боломж гэдэг нь ийм саадыг арилгахыг шаарддаг. Эдгээр бүлгийн бүх хүн ядуу гэсэн үг биш. Тус бүрийн бодит хэрэгцээ, сонголт, оролцоог харгалзана.</a:t>
            </a:r>
          </a:p>
          <a:p/>
          <a:p>
            <a:r>
              <a:t>ДАРААГИЙН СЛАЙДТАЙ ХОЛБОХ ӨГҮҮЛБЭР</a:t>
            </a:r>
          </a:p>
          <a:p>
            <a:r>
              <a:t>Эдгээр зарчим өдөр тутмын амьдралд хэрхэн харагдахыг харъя.</a:t>
            </a:r>
          </a:p>
          <a:p/>
          <a:p>
            <a:r>
              <a:t>ДЭЛГЭРЭНГҮЙ МЭДЭЭЛЭЛ</a:t>
            </a:r>
          </a:p>
          <a:p>
            <a:r>
              <a:t>Ядуурал, хүйс, хөгжлийн бэрхшээл, оршин суугаа газар зэрэг хүчин зүйл давхцахад үйлчилгээний саад нэмэгдэж болно. Гэхдээ эдгээр бүлгийн бүх хүнийг автоматаар “ядуу” гэж ангилахгүй. Хэрэгцээний бодит үнэлгээ, хувийн сонголт, оролцоог хүндэтгэх нь чухал.</a:t>
            </a:r>
          </a:p>
          <a:p>
            <a:r>
              <a:t>CRC • 1989.11.20 | 2 — ялгаварлахгүй; 3 — дээд ашиг сонирхол; 26, 27 — хамгаалал, амьжиргаа | Өрхийн ядуурлаас шалтгаалсан хүүхдийн хомсдол</a:t>
            </a:r>
          </a:p>
          <a:p>
            <a:r>
              <a:t>CEDAW • 1979.12.18 | 11 — хөдөлмөр; 12 — эрүүл мэнд; 14 — хөдөөгийн эмэгтэйчүүд | Асаргааны ачаалал, ажлын ба үйлчилгээний тэгш бус байдал</a:t>
            </a:r>
          </a:p>
          <a:p>
            <a:r>
              <a:t>CRPD • 2006.12.13 | 9 — хүртээмж; 24 — боловсрол; 27 — ажил; 28 — амьжиргаа, хамгаалал | Биеийн орчин, мэдээлэл, ажилд оролцох саад</a:t>
            </a:r>
          </a:p>
          <a:p/>
          <a:p>
            <a:r>
              <a:t>ЭХ СУРВАЛЖ</a:t>
            </a:r>
          </a:p>
          <a:p>
            <a:r>
              <a:t>[CRC] Хүүхдийн эрхийн тухай конвенц — 1989.11.20; хүчин төгөлдөр: 1990.09.02</a:t>
            </a:r>
          </a:p>
          <a:p>
            <a:r>
              <a:t>https://www.ohchr.org/en/instruments-mechanisms/instruments/convention-rights-child</a:t>
            </a:r>
          </a:p>
          <a:p>
            <a:r>
              <a:t>[CEDAW] Эмэгтэйчүүдийг алагчлах бүх хэлбэрийг устгах тухай конвенц — 1979.12.18; хүчин төгөлдөр: 1981.09.03</a:t>
            </a:r>
          </a:p>
          <a:p>
            <a:r>
              <a:t>https://www.ohchr.org/en/instruments-mechanisms/instruments/convention-elimination-all-forms-discrimination-against-women</a:t>
            </a:r>
          </a:p>
          <a:p>
            <a:r>
              <a:t>[CRPD] Хөгжлийн бэрхшээлтэй хүмүүсийн эрхийн тухай конвенц — 2006.12.13; хүчин төгөлдөр: 2008.05.03</a:t>
            </a:r>
          </a:p>
          <a:p>
            <a:r>
              <a:t>https://www.ohchr.org/en/instruments-mechanisms/instruments/convention-rights-persons-disabilities</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Жишээ: ажилтай ч тогтворгүй орлого нь өрхийг эрсдэлтэй байлгаж болно.</a:t>
            </a:r>
          </a:p>
          <a:p/>
          <a:p>
            <a:r>
              <a:t>ЯРИХ ТЕКСТ</a:t>
            </a:r>
          </a:p>
          <a:p>
            <a:r>
              <a:t>Ажилтай хүнийг заавал ядууралгүй гэж үзэж болохгүй. Цалин бага, орлого тогтворгүй, ажил аюултай эсвэл даатгал тасалдсан бол эрсдэл хэвээр. Тиймээс зөвхөн ажлын байрны тоо биш, чанарыг харна. Хөдөлмөрийн тухай хуулийн 6 дугаар зүйл ялгаварлахыг хориглодог. Бодит маргаанд гэрээ, ажлын цагийн бүртгэл, цалин болон даатгалын мэдээлэл чухал баримт болно. Энэ слайд дахь асуултууд нь эрсдэлийг таних асуулт, давтамжийг тогтоосон судалгааны тоо биш.</a:t>
            </a:r>
          </a:p>
          <a:p/>
          <a:p>
            <a:r>
              <a:t>ДАРААГИЙН СЛАЙДТАЙ ХОЛБОХ ӨГҮҮЛБЭР</a:t>
            </a:r>
          </a:p>
          <a:p>
            <a:r>
              <a:t>Боловсролын хувьд ч харагддаггүй зардал бий.</a:t>
            </a:r>
          </a:p>
          <a:p/>
          <a:p>
            <a:r>
              <a:t>ДЭЛГЭРЭНГҮЙ МЭДЭЭЛЭЛ</a:t>
            </a:r>
          </a:p>
          <a:p>
            <a:r>
              <a:t>Энэ слайдын эрсдэлийн жагсаалт нь Монгол дахь давтамжийг хэмжсэн статистик биш. Хөдөлмөрийн харилцаа байгаа эсэх, гэрээний төрөл, даатгалын үүргийг бодит баримтаар тогтооно. Хамгийн бага цалингийн хувьсах хэмжээг баталгаажаагүй тул энд дурдаагүй.</a:t>
            </a:r>
          </a:p>
          <a:p>
            <a:r>
              <a:t>Эрхийн тулгуур: Үндсэн хууль • 1992.01.13: 16.4.</a:t>
            </a:r>
          </a:p>
          <a:p>
            <a:r>
              <a:t>Хөдөлмөрийн тухай хууль • 2021.07.02: 6 дугаар зүйл.</a:t>
            </a:r>
          </a:p>
          <a:p>
            <a:r>
              <a:t>ICESCR • 1966.12.16: 6, 7 дугаар зүйл.</a:t>
            </a:r>
          </a:p>
          <a:p>
            <a:r>
              <a:t>Эрсдэлийн цэг: Бага цалин, тогтворгүй цаг, албан бус ажил; хөдөлмөрийн аюулгүй байдал; даатгалын хамрагдалтын тасалдал.</a:t>
            </a:r>
          </a:p>
          <a:p>
            <a:r>
              <a:t>Шалгах баримт: Гэрээ, ажлын цагийн бүртгэл, цалин олголт, даатгалын мэдээлэл. Хууль ёсны шаардлагыг ажилтанд ойлгомжтой тайлбарлах.</a:t>
            </a:r>
          </a:p>
          <a:p/>
          <a:p>
            <a:r>
              <a:t>ЭХ СУРВАЛЖ</a:t>
            </a:r>
          </a:p>
          <a:p>
            <a:r>
              <a:t>[ҮХ] Монгол Улсын Үндсэн хууль — 1992.01.13</a:t>
            </a:r>
          </a:p>
          <a:p>
            <a:r>
              <a:t>https://legalinfo.mn/mn/detail/367</a:t>
            </a:r>
          </a:p>
          <a:p>
            <a:r>
              <a:t>[ХТ] Хөдөлмөрийн тухай хууль /шинэчилсэн найруулга/ — 2021.07.02</a:t>
            </a:r>
          </a:p>
          <a:p>
            <a:r>
              <a:t>https://legalinfo.mn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Жишээ: сургалтын төлбөргүй ч унааны зардлаас болж ирц тасалдаж болно.</a:t>
            </a:r>
          </a:p>
          <a:p/>
          <a:p>
            <a:r>
              <a:t>ЯРИХ ТЕКСТ</a:t>
            </a:r>
          </a:p>
          <a:p>
            <a:r>
              <a:t>Сургууль төлбөргүй байна гэдэг нь сурахад ямар ч зардал гарахгүй гэсэн үг биш. Унаа, дотуур байр, хэрэгсэл, интернет зэрэг нэмэлт зардал бий. Бага орлоготой өрхөд эдгээр нь бодит саад болж болно. Үндсэн хуулийн 16.7 дахь боловсролын эрхийг хэрэгжүүлэхдээ зөвхөн элсүүлсэн хүний тоо бус, тогтмол суралцаж, төгсөж чадаж байгаа эсэхийг харна. Жишээг тайлбарын зорилгоор хэрэглэж байгаа бөгөөд нэртэй бодит кейс гэж танилцуулахгүй.</a:t>
            </a:r>
          </a:p>
          <a:p/>
          <a:p>
            <a:r>
              <a:t>ДАРААГИЙН СЛАЙДТАЙ ХОЛБОХ ӨГҮҮЛБЭР</a:t>
            </a:r>
          </a:p>
          <a:p>
            <a:r>
              <a:t>Эмнэлгийн үйлчилгээний хүртээмжийг мөн адил бодитоор шалгана.</a:t>
            </a:r>
          </a:p>
          <a:p/>
          <a:p>
            <a:r>
              <a:t>ДЭЛГЭРЭНГҮЙ МЭДЭЭЛЭЛ</a:t>
            </a:r>
          </a:p>
          <a:p>
            <a:r>
              <a:t>Бага орлоготой хүүхэд бүр сургууль завсарддаг гэж ерөнхийлөхгүй. Шалгах асуулт нь орлогын ялгаанаас шалтгаалан ямар зардал суралцах боломжийг хязгаарлаж байгааг тогтоох юм. Боловсролын ерөнхий хуулийн хамгийн сүүлийн заалтыг хэрэглэхийн өмнө Legalinfo дахь нэгтгэсэн эхийг шалгана.</a:t>
            </a:r>
          </a:p>
          <a:p>
            <a:r>
              <a:t>Баталгаа: Үндсэн хууль • 1992.01.13: 16.7.</a:t>
            </a:r>
          </a:p>
          <a:p>
            <a:r>
              <a:t>Боловсролын ерөнхий хууль • 2023.07.07.</a:t>
            </a:r>
          </a:p>
          <a:p>
            <a:r>
              <a:t>CRC • 1989.11.20: 28 дугаар зүйл.</a:t>
            </a:r>
          </a:p>
          <a:p>
            <a:r>
              <a:t>Далд саад: Тээвэр, хэрэгсэл, дотуур байр, интернет, төхөөрөмжийн зардал; асаргаа, хөдөлмөрийн ачаалал.</a:t>
            </a:r>
          </a:p>
          <a:p>
            <a:r>
              <a:t>Хэрэгжүүлэх арга: Сургуулиас завсардах эрсдэлийг эрт илрүүлэх; хэрэгцээнд нийцсэн дэмжлэг; хүртээмжтэй сургалтын орчин.</a:t>
            </a:r>
          </a:p>
          <a:p/>
          <a:p>
            <a:r>
              <a:t>ЭХ СУРВАЛЖ</a:t>
            </a:r>
          </a:p>
          <a:p>
            <a:r>
              <a:t>[ҮХ] Монгол Улсын Үндсэн хууль — 1992.01.13</a:t>
            </a:r>
          </a:p>
          <a:p>
            <a:r>
              <a:t>https://legalinfo.mn/mn/detail/367</a:t>
            </a:r>
          </a:p>
          <a:p>
            <a:r>
              <a:t>[БЕХ] Боловсролын ерөнхий хууль /шинэчилсэн найруулга/ — 2023.07.07</a:t>
            </a:r>
          </a:p>
          <a:p>
            <a:r>
              <a:t>https://legalinfo.mn</a:t>
            </a:r>
          </a:p>
          <a:p>
            <a:r>
              <a:t>[CRC] Хүүхдийн эрхийн тухай конвенц — 1989.11.20; хүчин төгөлдөр: 1990.09.02</a:t>
            </a:r>
          </a:p>
          <a:p>
            <a:r>
              <a:t>https://www.ohchr.org/en/instruments-mechanisms/instruments/convention-rights-child</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Дөрвөн асуулт: байгаа юу → очих уу → төлөх үү → чанартай юу?</a:t>
            </a:r>
          </a:p>
          <a:p/>
          <a:p>
            <a:r>
              <a:t>ЯРИХ ТЕКСТ</a:t>
            </a:r>
          </a:p>
          <a:p>
            <a:r>
              <a:t>Эмнэлэг байгаа ч хүн түүнд хүрч чадахгүй бол эрхийн бодит боломж хангагдаагүй байж болно. Үүнийг дөрвөн асуултаар шалгана. Нэгдүгээрт, хэрэгтэй үйлчилгээ байгаа юу. Хоёрдугаарт, тийшээ очих боломжтой юу. Гуравдугаарт, төлбөр болон очих зардлыг даах уу. Дөрөвдүгээрт, чанартай тусламж авч чадах уу. Энэ дөрөв нь тайлбарлахад ашиглах энгийн хүрээ бөгөөд хуулийн тусдаа дөрвөн шинэ заалт биш.</a:t>
            </a:r>
          </a:p>
          <a:p/>
          <a:p>
            <a:r>
              <a:t>ДАРААГИЙН СЛАЙДТАЙ ХОЛБОХ ӨГҮҮЛБЭР</a:t>
            </a:r>
          </a:p>
          <a:p>
            <a:r>
              <a:t>Халамжийн хувьд хамгийн гол асуулт нь дэмжлэг хэрэгтэй хүндээ хүрч байна уу гэдэг.</a:t>
            </a:r>
          </a:p>
          <a:p/>
          <a:p>
            <a:r>
              <a:t>ДЭЛГЭРЭНГҮЙ МЭДЭЭЛЭЛ</a:t>
            </a:r>
          </a:p>
          <a:p>
            <a:r>
              <a:t>Үндсэн хуулийн 16.2-ыг тусдаа орон сууц үнэгүй авах эрх гэж тайлбарлахгүй. ICESCR-ийн 11 дүгээр зүйл дэх зохистой орон байр нь үйлчилгээ, аюулгүй байдал, амьдрах нөхцөлтэй холбоотой. Эмнэлгийн тусламжийн төлбөргүй хүрээ нь дотоодын хуулиар тогтоогдоно.</a:t>
            </a:r>
          </a:p>
          <a:p>
            <a:r>
              <a:t>Эрүүл мэнд: Үндсэн хууль • 1992.01.13: 16.6.</a:t>
            </a:r>
          </a:p>
          <a:p>
            <a:r>
              <a:t>ICESCR • 1966.12.16: 12 дугаар зүйл.</a:t>
            </a:r>
          </a:p>
          <a:p>
            <a:r>
              <a:t>Тусламж авах зардал, зай, хугацааг хамтад нь үнэлнэ.</a:t>
            </a:r>
          </a:p>
          <a:p>
            <a:r>
              <a:t>Орчин, орон байр: Үндсэн хууль: 16.2 — эрүүл, аюулгүй орчин.</a:t>
            </a:r>
          </a:p>
          <a:p>
            <a:r>
              <a:t>ICESCR: 11 — зохистой амьжиргаа, орон байр.</a:t>
            </a:r>
          </a:p>
          <a:p>
            <a:r>
              <a:t>Ус, дулаан, ариун цэвэр, аюулгүй байдлыг харна.</a:t>
            </a:r>
          </a:p>
          <a:p>
            <a:r>
              <a:t>Хүртээмж: Үйлчилгээ байгаа эсэх → очиж чадах эсэх → төлж чадах эсэх → чанартай эсэх.</a:t>
            </a:r>
          </a:p>
          <a:p>
            <a:r>
              <a:t>Бүртгэл, хөгжлийн бэрхшээл, тээврийн саадыг илрүүлнэ.</a:t>
            </a:r>
          </a:p>
          <a:p/>
          <a:p>
            <a:r>
              <a:t>ЭХ СУРВАЛЖ</a:t>
            </a:r>
          </a:p>
          <a:p>
            <a:r>
              <a:t>[ҮХ] Монгол Улсын Үндсэн хууль — 1992.01.13</a:t>
            </a:r>
          </a:p>
          <a:p>
            <a:r>
              <a:t>https://legalinfo.mn/mn/detail/367</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Шалгуур ойлгомжтой, мэдээллээ засуулах, шийдвэрээ хянуулах боломжтой байна.</a:t>
            </a:r>
          </a:p>
          <a:p/>
          <a:p>
            <a:r>
              <a:t>ЯРИХ ТЕКСТ</a:t>
            </a:r>
          </a:p>
          <a:p>
            <a:r>
              <a:t>Халамжийн системд хоёр өөр алдаа гарч болно. Эхнийх нь авах ёстой хүн үлдэх, үүнийг хасагдлын алдаа гэнэ. Хоёр дахь нь шалгуур хангахгүй хүн хамрагдах, үүнийг хамрагдлын алдаа гэнэ. Эдгээрийг хооронд нь ялгаж хэлэхэд хангалттай. Шийдэл нь шалгуурыг ойлгомжтой болгох, буруу мэдээллээ засуулах, татгалзсан шалтгааныг мэдэх, гомдлоо хянуулах боломж юм. Халамжийн бүх төрөлд ижил шалгуур үйлчлэхгүй.</a:t>
            </a:r>
          </a:p>
          <a:p/>
          <a:p>
            <a:r>
              <a:t>ДАРААГИЙН СЛАЙДТАЙ ХОЛБОХ ӨГҮҮЛБЭР</a:t>
            </a:r>
          </a:p>
          <a:p>
            <a:r>
              <a:t>Одоо эрхийн ийм асуудал бодит шүүхэд хэрхэн шийдэгдсэнийг харъя.</a:t>
            </a:r>
          </a:p>
          <a:p/>
          <a:p>
            <a:r>
              <a:t>ДЭЛГЭРЭНГҮЙ МЭДЭЭЛЭЛ</a:t>
            </a:r>
          </a:p>
          <a:p>
            <a:r>
              <a:t>Халамж ба нийгмийн даатгал нь санхүүжилт, шимтгэл, эрх үүсэх нөхцөлөөр ялгаатай. Тэтгэмжийн хэмжээ, эрх үүсэх нас, орлогын босго нь өөрчлөгдөж болох тул баталгаажаагүй дүн оруулаагүй. Жагсаалтад ил тод байдал гэдэг нь өрхийн эмзэг мэдээллийг олон нийтэд дэлгэнэ гэсэн үг биш.</a:t>
            </a:r>
          </a:p>
          <a:p>
            <a:r>
              <a:t>Хуулийн үндэс: Үндсэн хууль • 1992.01.13: 16.5.</a:t>
            </a:r>
          </a:p>
          <a:p>
            <a:r>
              <a:t>Нийгмийн халамжийн тухай хууль • 2012.01.19.</a:t>
            </a:r>
          </a:p>
          <a:p>
            <a:r>
              <a:t>ICESCR • 1966.12.16: 9 дүгээр зүйл.</a:t>
            </a:r>
          </a:p>
          <a:p>
            <a:r>
              <a:t>Хоёр төрлийн алдаа: Хасагдлын алдаа: шаардлага хангасан хүн дэмжлэгээс үлдэх.</a:t>
            </a:r>
          </a:p>
          <a:p>
            <a:r>
              <a:t>Хамрагдлын алдаа: шаардлага хангахгүй хүн хамрагдах.</a:t>
            </a:r>
          </a:p>
          <a:p>
            <a:r>
              <a:t>Сайн ажиллагаа: Ойлгомжтой шалгуур; мэдээллээ засуулах боломж; үндэслэл бүхий шийдвэр; гомдол гаргах хүртээмжтэй суваг.</a:t>
            </a:r>
          </a:p>
          <a:p/>
          <a:p>
            <a:r>
              <a:t>ЭХ СУРВАЛЖ</a:t>
            </a:r>
          </a:p>
          <a:p>
            <a:r>
              <a:t>[ҮХ] Монгол Улсын Үндсэн хууль — 1992.01.13</a:t>
            </a:r>
          </a:p>
          <a:p>
            <a:r>
              <a:t>https://legalinfo.mn/mn/detail/367</a:t>
            </a:r>
          </a:p>
          <a:p>
            <a:r>
              <a:t>[НХ] Нийгмийн халамжийн тухай хууль /шинэчилсэн найруулга/ — 2012.01.19</a:t>
            </a:r>
          </a:p>
          <a:p>
            <a:r>
              <a:t>https://legalinfo.mn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Бодлого хамгийн яаралтай хэрэгцээтэй хүмүүсийг орхиж болохгүй.</a:t>
            </a:r>
          </a:p>
          <a:p/>
          <a:p>
            <a:r>
              <a:t>ЯРИХ ТЕКСТ</a:t>
            </a:r>
          </a:p>
          <a:p>
            <a:r>
              <a:t>Энэ бол Өмнөд Африкийн Grootboom хэрэг. Үндсэн хуулийн шүүх 2000 оны аравдугаар сарын 4-нд шийдвэрлэсэн. Асуудал нь урт хугацааны орон сууцны хөтөлбөр байвч хамгийн хүнд нөхцөлтэй хүмүүсийн яаралтай хэрэгцээг орхисон явдал. Шүүх бодлого ийм хүмүүсийн хэрэгцээг бодитой тусгах ёстой гэж үзсэн. Хүн бүрд шууд байшин олгох шийдвэр гаргаагүй. Монголд авах санаа нь орон сууцны урт хугацааны бодлогын зэрэгцээ түр байр, ус, ариун цэвэр зэрэг яаралтай хэрэгцээг шийдэх юм.</a:t>
            </a:r>
          </a:p>
          <a:p/>
          <a:p>
            <a:r>
              <a:t>ДАРААГИЙН СЛАЙДТАЙ ХОЛБОХ ӨГҮҮЛБЭР</a:t>
            </a:r>
          </a:p>
          <a:p>
            <a:r>
              <a:t>Дараагийн кейс орон байр бус, эмчилгээний хүртээмжийн тухай.</a:t>
            </a:r>
          </a:p>
          <a:p/>
          <a:p>
            <a:r>
              <a:t>ДЭЛГЭРЭНГҮЙ МЭДЭЭЛЭЛ</a:t>
            </a:r>
          </a:p>
          <a:p>
            <a:r>
              <a:t>Хэргийн бүтэн нэр: Government of the Republic of South Africa and Others v Grootboom and Others. Үндсэн хуулийн шүүхийн шийдвэр: 2000.10.04. 26(2)-ын хүрээнд боломжит нөөцөд тулгуурласан үндэслэлтэй арга хэмжээ авах үүргийг тайлбарласан. Энэхүү шийдвэр Монголын шүүхэд шууд заавал дагах прецедент биш.</a:t>
            </a:r>
          </a:p>
          <a:p>
            <a:r>
              <a:t>Орон байргүй, хүнд нөхцөлд амьдарч байсан иргэд төрийн орон сууцны хөтөлбөр яаралтай хэрэгцээг нь хангахгүй байгааг шүүхэд маргасан.</a:t>
            </a:r>
          </a:p>
          <a:p>
            <a:r>
              <a:t>Өмнөд Африкийн Үндсэн хууль • 1996.12.10 (гарын үсэг зурсан); 26 дугаар зүйл. Шүүх бодлого нь онцгой гачигдалтай хүмүүсийн яаралтай хэрэгцээг бодитой тусгах ёстой гэж үзсэн.</a:t>
            </a:r>
          </a:p>
          <a:p>
            <a:r>
              <a:t>Монголд авах санаа: урт хугацааны орон сууцны бодлогын хажуугаар түр хамгаалах байр, ус, ариун цэвэр зэрэг яаралтай хэрэгцээг тусад нь шийдэх.</a:t>
            </a:r>
          </a:p>
          <a:p/>
          <a:p>
            <a:r>
              <a:t>ЭХ СУРВАЛЖ</a:t>
            </a:r>
          </a:p>
          <a:p>
            <a:r>
              <a:t>[GROOT] Government of the Republic of South Africa v Grootboom [2000] ZACC 19 — 2000.10.04</a:t>
            </a:r>
          </a:p>
          <a:p>
            <a:r>
              <a:t>https://www.saflii.org/za/cases/ZACC/2000/19.html</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Эмчилгээний хүртээмжийг хязгаарлах бол бодит үндэслэл шаардлагатай.</a:t>
            </a:r>
          </a:p>
          <a:p/>
          <a:p>
            <a:r>
              <a:t>ЯРИХ ТЕКСТ</a:t>
            </a:r>
          </a:p>
          <a:p>
            <a:r>
              <a:t>Treatment Action Campaign хэрэгт эхээс хүүхдэд ХДХВ дамжихаас сэргийлэх невирапин эмийн хүртээмжийг маргасан. Тухайн бодлого эмийг зөвхөн сонгосон туршилтын цэгүүдээр хязгаарлаж байв. Өмнөд Африкийн Үндсэн хуулийн шүүх 2002 оны долоодугаар сарын 5-нд эмнэлгийн шаардлага хангасан газруудад хэрэглэхэд саад болсон хязгаарлалтыг арилгахыг даалгасан. Гол сургамж нь үйлчилгээний хязгаарлалт үндэслэлтэй байх ёстой. Үүнийг бүх эмийг хязгааргүй, үнэгүй олгох тухай шийдвэр гэж хэтрүүлж болохгүй.</a:t>
            </a:r>
          </a:p>
          <a:p/>
          <a:p>
            <a:r>
              <a:t>ДАРААГИЙН СЛАЙДТАЙ ХОЛБОХ ӨГҮҮЛБЭР</a:t>
            </a:r>
          </a:p>
          <a:p>
            <a:r>
              <a:t>Герман дахь дараагийн кейс тэтгэмжийн тооцооллыг хөндөнө.</a:t>
            </a:r>
          </a:p>
          <a:p/>
          <a:p>
            <a:r>
              <a:t>ДЭЛГЭРЭНГҮЙ МЭДЭЭЛЭЛ</a:t>
            </a:r>
          </a:p>
          <a:p>
            <a:r>
              <a:t>Хэргийн нэр: Minister of Health and Others v Treatment Action Campaign and Others (No 2). 2002.07.05. Шийдвэрийг бүх эмийг хүн бүрд үнэ төлбөргүй олгох тухай ерөнхий шийдвэр гэж тайлбарлахгүй. Гол асуудал нь эхээс хүүхдэд ХДХВ дамжихаас сэргийлэх эмийн хүртээмжид тавьсан тодорхой хязгаарлалт байв.</a:t>
            </a:r>
          </a:p>
          <a:p>
            <a:r>
              <a:t>Невирапин эмийг улсын эрүүл мэндийн салбарт зөвхөн сонгосон туршилтын цэгүүдээр хязгаарласан бодлого нь бусад эмнэлгийн эх, хүүхдийн хүртээмжийг хааж байв.</a:t>
            </a:r>
          </a:p>
          <a:p>
            <a:r>
              <a:t>Өмнөд Африкийн Үндсэн хууль • 1996.12.10 (гарын үсэг зурсан); 27 дугаар зүйл. Шүүх эмнэлгийн шаардлага хангасан газруудад хэрэглэхэд саад болсон хязгаарлалтыг арилгахыг даалгасан.</a:t>
            </a:r>
          </a:p>
          <a:p>
            <a:r>
              <a:t>Монголд авах санаа: бодлогын хязгаарлалт нь нотолгоонд суурилсан уу, орлогогүй иргэдэд ямар бодит нөлөө үзүүлж байна вэ гэдгийг хянах.</a:t>
            </a:r>
          </a:p>
          <a:p/>
          <a:p>
            <a:r>
              <a:t>ЭХ СУРВАЛЖ</a:t>
            </a:r>
          </a:p>
          <a:p>
            <a:r>
              <a:t>[TAC] Minister of Health v Treatment Action Campaign (No 2) [2002] ZACC 15 — 2002.07.05</a:t>
            </a:r>
          </a:p>
          <a:p>
            <a:r>
              <a:t>https://www.saflii.org/za/cases/ZACC/2002/15.html</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Дэмжлэгийн хэмжээ бодит хэрэгцээ, ил тод тооцоонд тулгуурлана.</a:t>
            </a:r>
          </a:p>
          <a:p/>
          <a:p>
            <a:r>
              <a:t>ЯРИХ ТЕКСТ</a:t>
            </a:r>
          </a:p>
          <a:p>
            <a:r>
              <a:t>Германы Холбооны Үндсэн хуулийн шүүх 2010 оны хоёрдугаар сарын 9-нд Hartz IV тэтгэмжийн тооцоололтой холбоотой шийдвэр гаргасан. Ялангуяа хүүхдийн хэрэгцээг хэрхэн тооцсон нь чухал асуудал байв. Шүүх хүний нэр төр болон нийгмийн төрийн зарчимд тулгуурлан наад захын амьжиргааны баталгааг тайлбарласан. Гол санаа нь тоо зарлахад биш, тэр дүн бодит хэрэгцээнд нийцэж байгааг ил тод аргачлалаар тайлбарлахад оршино. Энэ нь Монголд шууд үйлчлэх прецедент биш.</a:t>
            </a:r>
          </a:p>
          <a:p/>
          <a:p>
            <a:r>
              <a:t>ДАРААГИЙН СЛАЙДТАЙ ХОЛБОХ ӨГҮҮЛБЭР</a:t>
            </a:r>
          </a:p>
          <a:p>
            <a:r>
              <a:t>Эдгээрийг бусад орны бодлоготой нэг хүснэгтэд харьцуулъя.</a:t>
            </a:r>
          </a:p>
          <a:p/>
          <a:p>
            <a:r>
              <a:t>ДЭЛГЭРЭНГҮЙ МЭДЭЭЛЭЛ</a:t>
            </a:r>
          </a:p>
          <a:p>
            <a:r>
              <a:t>Германы Холбооны Үндсэн хуулийн шүүхийн 2010.02.09-ний шийдвэр, нэгтгэсэн хэргүүд: 1 BvL 1/09, 1 BvL 3/09, 1 BvL 4/09. Хамгаалалт нь бие махбодын амьжиргаанаас гадна нийгэм, соёл, улс төрийн амьдралд наад захын оролцоог хамарна. Германы үндэсний баталгааг Монголд шууд үйлчлэх хууль мэт хэрэглэхгүй.</a:t>
            </a:r>
          </a:p>
          <a:p>
            <a:r>
              <a:t>Hartz IV тогтолцооны зарим суурь тэтгэмж, ялангуяа хүүхдийн хэрэгцээний тооцоолол нь ил тод, бодит үндэслэлтэй эсэх талаар маргасан.</a:t>
            </a:r>
          </a:p>
          <a:p>
            <a:r>
              <a:t>Германы Үндсэн хууль • 1949.05.23; 1(1) ба 20(1). Хүний нэр төр ба нийгмийн төрийн зарчмаас амьжиргааны наад захын баталгааг тайлбарласан.</a:t>
            </a:r>
          </a:p>
          <a:p>
            <a:r>
              <a:t>Монголд авах санаа: тэтгэмжийн хэмжээг зөвхөн улс төрийн сонголтоор бус бодит хэрэгцээ, ойлгомжтой аргачлал, тогтмол шинэчлэлээр үндэслэх.</a:t>
            </a:r>
          </a:p>
          <a:p/>
          <a:p>
            <a:r>
              <a:t>ЭХ СУРВАЛЖ</a:t>
            </a:r>
          </a:p>
          <a:p>
            <a:r>
              <a:t>[GER] BVerfG, 1 BvL 1/09, 1 BvL 3/09, 1 BvL 4/09 — 2010.02.09, амьжиргааны доод баталгаа</a:t>
            </a:r>
          </a:p>
          <a:p>
            <a:r>
              <a:t>https://www.bundesverfassungsgericht.de</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Энэ бол бодлогын харьцуулалт; улс орнуудын чансаа биш.</a:t>
            </a:r>
          </a:p>
          <a:p/>
          <a:p>
            <a:r>
              <a:t>ЯРИХ ТЕКСТ</a:t>
            </a:r>
          </a:p>
          <a:p>
            <a:r>
              <a:t>Энэ хүснэгтээс гурван гол ялгааг харж болно. Өмнөд Африк бодлого хэнийг орхиж байгааг шүүхээр хянасан. Герман мөнгөн дэмжлэгийн хэмжээг бодитой тооцохыг шаардсан. Финланд, Бразилын жишээ нь орлогын дэмжлэгийг хэрхэн загварчлах, үр дүнг хэрхэн үнэлэхийг харуулна. Монгол эдгээрийг мөнгөн дүнгээр шууд хуулбарлах бус, хүртээмж, үндэслэл, хяналт гэсэн зарчмаар ашиглаж болно. Улсуудын төсөв, хүн ам, институц өөр гэдгийг санана.</a:t>
            </a:r>
          </a:p>
          <a:p/>
          <a:p>
            <a:r>
              <a:t>ДАРААГИЙН СЛАЙДТАЙ ХОЛБОХ ӨГҮҮЛБЭР</a:t>
            </a:r>
          </a:p>
          <a:p>
            <a:r>
              <a:t>Финландын туршилтыг хоёр тоогоор эхэлж тайлбарлая.</a:t>
            </a:r>
          </a:p>
          <a:p/>
          <a:p>
            <a:r>
              <a:t>ДЭЛГЭРЭНГҮЙ МЭДЭЭЛЭЛ</a:t>
            </a:r>
          </a:p>
          <a:p>
            <a:r>
              <a:t>Улс орнуудын төсвийн чадавх, хүн ам, институц, хөдөлмөрийн зах зээл өөр. Иймээс нэг орны тэтгэмжийн хэмжээг ханшаар хөрвүүлээд шууд хуулбарлах нь хангалтгүй. Харьцуулах нэгж нь эрхийн баталгаа, хэрэгжүүлэх механизм, хамрагдалт, гомдол, үр дүн байх ёстой.</a:t>
            </a:r>
          </a:p>
          <a:p>
            <a:r>
              <a:t>Монгол • Үндсэн хууль 1992.01.13 | Үндсэн эрх + хуульд заасан халамж, үйлчилгээ | Шалгуур ба бодит хүртээмжийг уялдуулах</a:t>
            </a:r>
          </a:p>
          <a:p>
            <a:r>
              <a:t>Өмнөд Африк • 1996.12.10</a:t>
            </a:r>
          </a:p>
          <a:p>
            <a:r>
              <a:t>(гарын үсэг зурсан) | Нийгмийн эрхийн хэрэгжилтэд шүүхийн хяналт | Бодлого гачигдалтай хүмүүсийг орхисон эсэх</a:t>
            </a:r>
          </a:p>
          <a:p>
            <a:r>
              <a:t>Герман • 1949.05.23 | Нэр төрд нийцэх амьжиргааны доод баталгаа | Тэтгэмжийн тооцоолол үндэслэлтэй байх</a:t>
            </a:r>
          </a:p>
          <a:p>
            <a:r>
              <a:t>Финланд • 2017–2018 туршилт | Нөхцөл багатай тогтмол мөнгөн дэмжлэг | Туршилтын үр дүнг бүх хүн амд шууд дүгнэхгүй</a:t>
            </a:r>
          </a:p>
          <a:p>
            <a:r>
              <a:t>Бразил • хууль 2023.06.19 | Bolsa Família: зорилтот орлогын дэмжлэг | Боловсрол, эрүүл мэндийн үйлчилгээтэй холбох</a:t>
            </a:r>
          </a:p>
          <a:p/>
          <a:p>
            <a:r>
              <a:t>ЭХ СУРВАЛЖ</a:t>
            </a:r>
          </a:p>
          <a:p>
            <a:r>
              <a:t>[ҮХ] Монгол Улсын Үндсэн хууль — 1992.01.13</a:t>
            </a:r>
          </a:p>
          <a:p>
            <a:r>
              <a:t>https://legalinfo.mn/mn/detail/367</a:t>
            </a:r>
          </a:p>
          <a:p>
            <a:r>
              <a:t>[GROOT] Government of the Republic of South Africa v Grootboom [2000] ZACC 19 — 2000.10.04</a:t>
            </a:r>
          </a:p>
          <a:p>
            <a:r>
              <a:t>https://www.saflii.org/za/cases/ZACC/2000/19.html</a:t>
            </a:r>
          </a:p>
          <a:p>
            <a:r>
              <a:t>[GER] BVerfG, 1 BvL 1/09, 1 BvL 3/09, 1 BvL 4/09 — 2010.02.09, амьжиргааны доод баталгаа</a:t>
            </a:r>
          </a:p>
          <a:p>
            <a:r>
              <a:t>https://www.bundesverfassungsgericht.de</a:t>
            </a:r>
          </a:p>
          <a:p>
            <a:r>
              <a:t>[FIN] Kela: Финландын суурь орлогын туршилт, 2017–2018; эцсийн үр дүн 2020</a:t>
            </a:r>
          </a:p>
          <a:p>
            <a:r>
              <a:t>https://www.kela.fi/basic-income-experiment</a:t>
            </a:r>
          </a:p>
          <a:p>
            <a:r>
              <a:t>[BRA] Бразил: Lei nº 10.836 — 2004.01.09; Lei nº 14.601 — 2023.06.19</a:t>
            </a:r>
          </a:p>
          <a:p>
            <a:r>
              <a:t>https://www.planalto.gov.br/ccivil_03/_ato2023-2026/2023/lei/l14601.htm</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Энэ нь бүх хүн амыг хамарсан байнгын суурь орлого биш, туршилт байсан.</a:t>
            </a:r>
          </a:p>
          <a:p/>
          <a:p>
            <a:r>
              <a:t>ЯРИХ ТЕКСТ</a:t>
            </a:r>
          </a:p>
          <a:p>
            <a:r>
              <a:t>Финландын 2017–2018 оны туршилтад 2,000 ажилгүй хүн сар бүр 560 евро авчээ. Дэмжлэгийг ажилд орсноор автоматаар зогсоохгүй байхаар зохион байгуулсан. Kela-ийн 2020 оны тайланд сайн сайхан байдал, эдийн засгийн аюулгүй байдлын үнэлгээ илүү сайн байсныг мэдээлсэн. Харин ажил эрхлэлтийн нөлөө хязгаарлагдмал, бусад бодлогын өөрчлөлтөөс ялган тайлбарлах шаардлагатай. Бүх эерэг ялгааг зөвхөн мөнгөний шалтгаант нөлөө гэж хэлэхгүй. Хамгийн чухал нь мөнгөн дэмжлэгийг олон үзүүлэлтээр үнэлэх юм.</a:t>
            </a:r>
          </a:p>
          <a:p/>
          <a:p>
            <a:r>
              <a:t>ДАРААГИЙН СЛАЙДТАЙ ХОЛБОХ ӨГҮҮЛБЭР</a:t>
            </a:r>
          </a:p>
          <a:p>
            <a:r>
              <a:t>Бразил орлогын дэмжлэгийг үйлчилгээтэй холбосон өөр жишээтэй.</a:t>
            </a:r>
          </a:p>
          <a:p/>
          <a:p>
            <a:r>
              <a:t>ДЭЛГЭРЭНГҮЙ МЭДЭЭЛЭЛ</a:t>
            </a:r>
          </a:p>
          <a:p>
            <a:r>
              <a:t>Энэ нь Финландын бүх хүн амд хэрэгжүүлсэн байнгын суурь орлого биш, сонгосон ажилгүй хүмүүсийг хамарсан туршилт. Сайн сайхан байдлын хэсэг нь асуумжийн хариунд тулгуурласан тул ажиглагдсан бүх ялгааг мөнгөний шалтгаант нөлөө гэж дүгнэхгүй. Ажил эрхлэлтийн хэмжээг нарийвчлан тайлбарлахад туршилтын жил, хяналтын бүлэг, бодлогын өөрчлөлтийг салгана.</a:t>
            </a:r>
          </a:p>
          <a:p>
            <a:r>
              <a:t>Загвар • 2017–2018: 2,000 ажилгүй хүн; сар бүр €560. Туршилтын мөнгө нь ажилд орох эсэхээс хамааран зогсохгүй байхаар загварчилсан.</a:t>
            </a:r>
          </a:p>
          <a:p>
            <a:r>
              <a:t>Юуг ажигласан бэ?: Kela-ийн 2020 оны тайланд амьдралын сэтгэл ханамж, эдийн засгийн аюулгүй байдлын үнэлгээ илүү сайн байсныг мэдээлсэн.</a:t>
            </a:r>
          </a:p>
          <a:p>
            <a:r>
              <a:t>Хязгаарлалт: Ажил эрхлэлтийн нөлөө хязгаарлагдмал; хоёр дахь жилд бусад бодлогын өөрчлөлт нөлөөлсөн. Судалгааны хариу өгөх ялгааг ч харгалзана.</a:t>
            </a:r>
          </a:p>
          <a:p/>
          <a:p>
            <a:r>
              <a:t>ЭХ СУРВАЛЖ</a:t>
            </a:r>
          </a:p>
          <a:p>
            <a:r>
              <a:t>[FIN] Kela: Финландын суурь орлогын туршилт, 2017–2018; эцсийн үр дүн 2020</a:t>
            </a:r>
          </a:p>
          <a:p>
            <a:r>
              <a:t>https://www.kela.fi/basic-income-experiment</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Сургамж: тэтгэмж ба үйлчилгээ хоёр бодитоор уялдах ёстой.</a:t>
            </a:r>
          </a:p>
          <a:p/>
          <a:p>
            <a:r>
              <a:t>ЯРИХ ТЕКСТ</a:t>
            </a:r>
          </a:p>
          <a:p>
            <a:r>
              <a:t>Бразилын Bolsa Família нь бага орлоготой өрхөд дэмжлэг олгож, боловсрол, эрүүл мэндийн үйлчилгээтэй холбоотой нөхцөл ашигладаг. Анхны хөтөлбөрийн хууль 2004 оны нэгдүгээр сарын 9-нд, шинэ хууль 2023 оны зургадугаар сарын 19-нд батлагдсан. Монголд авах гол санаа нь үйлчилгээтэй уялдуулах боловч нэг чухал нөхцөл бий. Сургууль, эмнэлэг нь тухайн өрхөд хүртээмжгүй байвал зөвхөн өрхийг буруутгаж болохгүй. Үйлчилгээний боломжийг хамтад нь хангах хэрэгтэй.</a:t>
            </a:r>
          </a:p>
          <a:p/>
          <a:p>
            <a:r>
              <a:t>ДАРААГИЙН СЛАЙДТАЙ ХОЛБОХ ӨГҮҮЛБЭР</a:t>
            </a:r>
          </a:p>
          <a:p>
            <a:r>
              <a:t>Одоо эдгээр жишээг Монголд хэрэгжүүлэх гурван чиглэл болгон нэгтгэе.</a:t>
            </a:r>
          </a:p>
          <a:p/>
          <a:p>
            <a:r>
              <a:t>ДЭЛГЭРЭНГҮЙ МЭДЭЭЛЭЛ</a:t>
            </a:r>
          </a:p>
          <a:p>
            <a:r>
              <a:t>Bolsa Família нь бүх хүнд ижил мөнгө олгодог суурь орлого биш. Өрхийн бүрэлдэхүүн, орлого, хөтөлбөрийн тухайн үеийн журмаас хамаарах зохицуулалттай. Ядуурал буурсан хувь, өгөөжийн тоон дүнг баталгаажуулаагүй тул энэ слайдад шалтгаант үр дүнгийн тоо оруулаагүй.</a:t>
            </a:r>
          </a:p>
          <a:p>
            <a:r>
              <a:t>Эрх зүйн огноо: Анхны хөтөлбөрийн хууль: №10.836 • 2004.01.09.</a:t>
            </a:r>
          </a:p>
          <a:p>
            <a:r>
              <a:t>Шинэ хууль: №14.601 • 2023.06.19.</a:t>
            </a:r>
          </a:p>
          <a:p>
            <a:r>
              <a:t>Бодлогын механизм: Бага орлоготой өрхөд мөнгөн дэмжлэг олгож, хүүхдийн боловсрол, эрүүл мэндийн хяналттай холбоотой нөхцөлүүдийг ашигладаг.</a:t>
            </a:r>
          </a:p>
          <a:p>
            <a:r>
              <a:t>Эрхийн шүүлтүүр: Сургууль, эмнэлэг нь өөрөө хүртээмжгүй бол өрхийг дангаар буруутгаж болохгүй. Бүртгэл шинэчлэх, тайлбар авах, гомдол гаргах боломж чухал.</a:t>
            </a:r>
          </a:p>
          <a:p/>
          <a:p>
            <a:r>
              <a:t>ЭХ СУРВАЛЖ</a:t>
            </a:r>
          </a:p>
          <a:p>
            <a:r>
              <a:t>[BRA] Бразил: Lei nº 10.836 — 2004.01.09; Lei nº 14.601 — 2023.06.19</a:t>
            </a:r>
          </a:p>
          <a:p>
            <a:r>
              <a:t>https://www.planalto.gov.br/ccivil_03/_ato2023-2026/2023/lei/l14601.htm</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Хэмжих зүйл: үйлчилгээ авах хугацаа, хамрагдалт, шийдвэрлэсэн гомдол.</a:t>
            </a:r>
          </a:p>
          <a:p/>
          <a:p>
            <a:r>
              <a:t>ЯРИХ ТЕКСТ</a:t>
            </a:r>
          </a:p>
          <a:p>
            <a:r>
              <a:t>Бодлогын саналуудаа гурван чиглэлээр нэгтгэлээ. Нэгдүгээрт, үйлчилгээнд очиход тулгарч буй саадыг бууруулах. Хоёрдугаарт, орлогын эрсдэлд тохирсон дэмжлэг, ажиллах боломжийг нэмэгдүүлэх. Гуравдугаарт, шийдвэр буруу бол хянуулах бодит механизмтай байх. Үр дүнг зөвхөн зарцуулсан мөнгөөр биш, иргэний хүлээсэн хугацаа, хамрагдалт, шийдвэрлэсэн гомдлоор хэмжинэ. Эдгээр нь илтгэлийн санал болохоос бүгд одоогийн хуульд яг ийм байдлаар заасан гэсэн үг биш.</a:t>
            </a:r>
          </a:p>
          <a:p/>
          <a:p>
            <a:r>
              <a:t>ДАРААГИЙН СЛАЙДТАЙ ХОЛБОХ ӨГҮҮЛБЭР</a:t>
            </a:r>
          </a:p>
          <a:p>
            <a:r>
              <a:t>Хувь хүн эрхээ хамгаалахдаа юунаас эхлэхийг дараах дарааллаар харъя.</a:t>
            </a:r>
          </a:p>
          <a:p/>
          <a:p>
            <a:r>
              <a:t>ДЭЛГЭРЭНГҮЙ МЭДЭЭЛЭЛ</a:t>
            </a:r>
          </a:p>
          <a:p>
            <a:r>
              <a:t>Хэрэгжилтийн үзүүлэлт бүр тодорхой эх үүсвэр, суурь түвшин, хэмжих хугацаа, хариуцах байгууллагатай байх шаардлагатай. Эмзэг бүлгийн мэдээллийг орлого, хүйс, байршил, хөгжлийн бэрхшээлээр задалж болох ч нууцлал, жижиг бүлгийг таних эрсдэлийг тооцно. Тоон зорилтот хувь нь суурь мэдээлэлгүй тул зохиогоогүй.</a:t>
            </a:r>
          </a:p>
          <a:p>
            <a:r>
              <a:t>1. Нэг цэгийн хүртээмж | Халамж, бүртгэл, хууль зүйн мэдээллийг холбох | Хүсэлт шийдвэрлэх хугацаа; давтан очилт</a:t>
            </a:r>
          </a:p>
          <a:p>
            <a:r>
              <a:t>2. Гомдлын бодит механизм | Шийдвэрийн үндэслэл, хянуулах сувгийг мэдээлэх | Хугацаандаа шийдсэн гомдлын хувь</a:t>
            </a:r>
          </a:p>
          <a:p>
            <a:r>
              <a:t>3. Суурь үйлчилгээний саад бууруулах | Тээвэр, хүртээмж, сургалтын далд зардлын дэмжлэг | Хичээлийн ирц; үйлчилгээ тасалдсан тохиолдол</a:t>
            </a:r>
          </a:p>
          <a:p>
            <a:r>
              <a:t>4. Орлогын хамгаалал | Эрсдэлд тохирсон дэмжлэг, хөдөлмөрийн зуучлал | Хамрагдалт; эрх бүхий өрхийн хасагдлын алдаа</a:t>
            </a:r>
          </a:p>
          <a:p>
            <a:r>
              <a:t>5. Төсвийн үндэслэл, оролцоо | Хэрэгцээнд тулгуурласан тооцоо, иргэдийн санал | Нийтэлсэн аргачлал; хэрэгжилтийн тайлан</a:t>
            </a:r>
          </a:p>
          <a:p/>
          <a:p>
            <a:r>
              <a:t>ЭХ СУРВАЛЖ</a:t>
            </a:r>
          </a:p>
          <a:p>
            <a:r>
              <a:t>[ҮХ] Монгол Улсын Үндсэн хууль — 1992.01.13</a:t>
            </a:r>
          </a:p>
          <a:p>
            <a:r>
              <a:t>https://legalinfo.mn/mn/detail/367</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[SDG] НҮБ, A/RES/70/1 — 2015.09.25, Тогтвортой хөгжлийн зорилго</a:t>
            </a:r>
          </a:p>
          <a:p>
            <a:r>
              <a:t>https://sdgs.un.org/2030agenda</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Гомдлын төрөл бүрийн журам, хугацаа өөр. Мэргэжлийн зөвлөгөөг эрт авна.</a:t>
            </a:r>
          </a:p>
          <a:p/>
          <a:p>
            <a:r>
              <a:t>ЯРИХ ТЕКСТ</a:t>
            </a:r>
          </a:p>
          <a:p>
            <a:r>
              <a:t>Төсөөлье: хүн үйлчилгээ хүсээд татгалзсан хариу авлаа. Эхлээд хүсэлт, хариу, огноогоо хадгална. Дараа нь ямар шалгуураар татгалзсаныг асууна. Шийдвэр буруу гэж үзвэл эрх бүхий байгууллага болон хууль зүйн зөвлөгөөгөөр хянуулах боломжоо тодруулна. Шүүхэд хандах шаардлагатай бол харьяалал, хугацааг нягтална. Бүх маргаан заавал ижил дөрвөн алхамтай биш. ХЭҮК-д гомдол гаргасан нь шүүхийн хугацааг автоматаар зогсооно гэж үзэж болохгүй.</a:t>
            </a:r>
          </a:p>
          <a:p/>
          <a:p>
            <a:r>
              <a:t>ДАРААГИЙН СЛАЙДТАЙ ХОЛБОХ ӨГҮҮЛБЭР</a:t>
            </a:r>
          </a:p>
          <a:p>
            <a:r>
              <a:t>Илтгэлийн гол санааг гурван өгүүлбэрээр дүгнэе.</a:t>
            </a:r>
          </a:p>
          <a:p/>
          <a:p>
            <a:r>
              <a:t>ДЭЛГЭРЭНГҮЙ МЭДЭЭЛЭЛ</a:t>
            </a:r>
          </a:p>
          <a:p>
            <a:r>
              <a:t>Энэ нь ерөнхий мэдээлэл, тодорхой хэргийн хууль зүйн зөвлөгөө биш. Бүх маргаан заавал эдгээр дөрвөн алхмыг нэг ижил дарааллаар туулна гэсэн үг биш. ХЭҮК-д хандах нь шүүхэд нэхэмжлэл гаргах хугацааг автоматаар зогсооно гэж үзэхгүй. Нууц мэдээллийг илгээхдээ хамгаалж, мэргэжлийн зөвлөгөөг эрт авах нь зүйтэй.</a:t>
            </a:r>
          </a:p>
          <a:p/>
          <a:p/>
          <a:p>
            <a:r>
              <a:t>ЭХ СУРВАЛЖ</a:t>
            </a:r>
          </a:p>
          <a:p>
            <a:r>
              <a:t>[ҮХ] Монгол Улсын Үндсэн хууль — 1992.01.13</a:t>
            </a:r>
          </a:p>
          <a:p>
            <a:r>
              <a:t>https://legalinfo.mn/mn/detail/367</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Хэлэлцүүлэг: Монголд эхлээд аль саадыг арилгах хэрэгтэй вэ?</a:t>
            </a:r>
          </a:p>
          <a:p/>
          <a:p>
            <a:r>
              <a:t>ЯРИХ ТЕКСТ</a:t>
            </a:r>
          </a:p>
          <a:p>
            <a:r>
              <a:t>Илтгэлийг гурван санаагаар дүгнэе. Нэгдүгээрт, эдийн засгийн байр суурь өөр ч хүний эрх, нэр төр ижил. Хоёрдугаарт, эрхийг хуульд бичихээс гадна сургууль, эмнэлэг, дэмжлэгт бодитоор хүрэх боломж хэрэгтэй. Гуравдугаарт, шийдвэр үндэслэлтэй, алдаа гарвал хянуулах боломжтой байх ёстой. Мөнгөний дэмжлэг, чанартай үйлчилгээ, эрхээ хамгаалах механизм гурав хамтдаа ажиллахад хамгаалалт бодит болно. Та бүхний бодлоор Монголд хамгийн түрүүнд аль саадыг арилгах шаардлагатай вэ?</a:t>
            </a:r>
          </a:p>
          <a:p/>
          <a:p>
            <a:r>
              <a:t>ДАРААГИЙН СЛАЙДТАЙ ХОЛБОХ ӨГҮҮЛБЭР</a:t>
            </a:r>
          </a:p>
          <a:p>
            <a:r>
              <a:t>Ашигласан хууль, баримт бичгийн жагсаалтыг дараах хоёр слайдад үлдээлээ.</a:t>
            </a:r>
          </a:p>
          <a:p/>
          <a:p>
            <a:r>
              <a:t>ДЭЛГЭРЭНГҮЙ МЭДЭЭЛЭЛ</a:t>
            </a:r>
          </a:p>
          <a:p>
            <a:r>
              <a:t>Дүгнэлтийг гурван асуудалтай холбож хэлнэ: мөнгөний дэмжлэг, чанартай суурь үйлчилгээ, эрхээ хамгаалах механизм. Шүүхийн кейсүүд нь бодлого хэрэгжүүлж байгаа эсэхээс гадна хэнийг орхиж байгааг хянах шаардлагатайг харуулдаг.</a:t>
            </a:r>
          </a:p>
          <a:p>
            <a:r>
              <a:t>01  Эрх тэгш: Орлого бага байх нь хүний эрх, нэр төрийг бууруулахгүй. Ялгаварлалгүй байдал бол суурь шаардлага.</a:t>
            </a:r>
          </a:p>
          <a:p>
            <a:r>
              <a:t>02  Бодит хүртээмж: Хуулийн заалт нь төсөв, үйлчилгээ, мэдээлэл, орчны хүртээмжээр дамжин бодит боломж болно.</a:t>
            </a:r>
          </a:p>
          <a:p>
            <a:r>
              <a:t>03  Хариуцлага: Тооцоолол ил тод, шийдвэр үндэслэлтэй, гомдол хянуулах боломжтой үед хамгаалалт үр дүнтэй.</a:t>
            </a:r>
          </a:p>
          <a:p/>
          <a:p>
            <a:r>
              <a:t>ЭХ СУРВАЛЖ</a:t>
            </a:r>
          </a:p>
          <a:p>
            <a:r>
              <a:t>[ҮХ] Монгол Улсын Үндсэн хууль — 1992.01.13</a:t>
            </a:r>
          </a:p>
          <a:p>
            <a:r>
              <a:t>https://legalinfo.mn/mn/detail/367</a:t>
            </a:r>
          </a:p>
          <a:p>
            <a:r>
              <a:t>[UDHR] Хүний эрхийн түгээмэл тунхаглал — 1948.12.10</a:t>
            </a:r>
          </a:p>
          <a:p>
            <a:r>
              <a:t>https://www.ohchr.org/en/human-rights/universal-declaration/translations/mongolian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Баримт бичгийн нэр дээр дарж албан ёсны эх сурвалжийг нээнэ.</a:t>
            </a:r>
          </a:p>
          <a:p/>
          <a:p>
            <a:r>
              <a:t>ЯРИХ ТЕКСТ</a:t>
            </a:r>
          </a:p>
          <a:p>
            <a:r>
              <a:t>Энд Монголын хууль болон олон улсын баримт бичгийн жагсаалт бий. Танилцуулгын үеэр бүх нэр, огноог нэг бүрчлэн унших шаардлагагүй. Асуулт гарвал тухайн слайдын зүйл, заалтыг энэ жагсаалт болон илтгэгчийн тэмдэглэлтэй холбоно. Баталсан огноо нь Монгол Улс нэгдсэн өдөр эсвэл сүүлийн нэмэлт, өөрчлөлтийн өдөртэй ижил биш гэдгийг дахин сануулъя.</a:t>
            </a:r>
          </a:p>
          <a:p/>
          <a:p>
            <a:r>
              <a:t>ДАРААГИЙН СЛАЙДТАЙ ХОЛБОХ ӨГҮҮЛБЭР</a:t>
            </a:r>
          </a:p>
          <a:p>
            <a:r>
              <a:t>Сүүлийн слайдад судалгаа, кейс, мэдээллийн хязгаарлалтыг тэмдэглэсэн.</a:t>
            </a:r>
          </a:p>
          <a:p/>
          <a:p>
            <a:r>
              <a:t>ДЭЛГЭРЭНГҮЙ МЭДЭЭЛЭЛ</a:t>
            </a:r>
          </a:p>
          <a:p>
            <a:r>
              <a:t>Огноонууд нь баримт бичгийн батлагдсан огноо. Хуулийн агуулгыг сургалтын зориулалтаар хураангуйлсан бөгөөд үгчилсэн эшлэл биш. Монголын хуулийн хамгийн сүүлийн нэмэлт, өөрчлөлт, тухайн хэрэгт хэрэглэх найруулгыг албан ёсны нэгтгэсэн эхээс дахин нягтална.</a:t>
            </a:r>
          </a:p>
          <a:p/>
          <a:p/>
          <a:p>
            <a:r>
              <a:t>ЭХ СУРВАЛЖ</a:t>
            </a:r>
          </a:p>
          <a:p>
            <a:r>
              <a:t>[ҮХ] Монгол Улсын Үндсэн хууль — 1992.01.13</a:t>
            </a:r>
          </a:p>
          <a:p>
            <a:r>
              <a:t>https://legalinfo.mn/mn/detail/367</a:t>
            </a:r>
          </a:p>
          <a:p>
            <a:r>
              <a:t>[ХТ] Хөдөлмөрийн тухай хууль /шинэчилсэн найруулга/ — 2021.07.02</a:t>
            </a:r>
          </a:p>
          <a:p>
            <a:r>
              <a:t>https://legalinfo.mn</a:t>
            </a:r>
          </a:p>
          <a:p>
            <a:r>
              <a:t>[НХ] Нийгмийн халамжийн тухай хууль /шинэчилсэн найруулга/ — 2012.01.19</a:t>
            </a:r>
          </a:p>
          <a:p>
            <a:r>
              <a:t>https://legalinfo.mn</a:t>
            </a:r>
          </a:p>
          <a:p>
            <a:r>
              <a:t>[БЕХ] Боловсролын ерөнхий хууль /шинэчилсэн найруулга/ — 2023.07.07</a:t>
            </a:r>
          </a:p>
          <a:p>
            <a:r>
              <a:t>https://legalinfo.mn</a:t>
            </a:r>
          </a:p>
          <a:p>
            <a:r>
              <a:t>[ХБХ] Хөгжлийн бэрхшээлтэй хүний эрхийн тухай хууль — 2016.02.05</a:t>
            </a:r>
          </a:p>
          <a:p>
            <a:r>
              <a:t>https://legalinfo.mn</a:t>
            </a:r>
          </a:p>
          <a:p>
            <a:r>
              <a:t>[UDHR] Хүний эрхийн түгээмэл тунхаглал — 1948.12.10</a:t>
            </a:r>
          </a:p>
          <a:p>
            <a:r>
              <a:t>https://www.ohchr.org/en/human-rights/universal-declaration/translations/mongolian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[ICCPR] Иргэний болон улс төрийн эрхийн тухай олон улсын пакт — 1966.12.16; хүчин төгөлдөр: 1976.03.23</a:t>
            </a:r>
          </a:p>
          <a:p>
            <a:r>
              <a:t>https://www.ohchr.org/en/instruments-mechanisms/instruments/international-covenant-civil-and-political-rights</a:t>
            </a:r>
          </a:p>
          <a:p>
            <a:r>
              <a:t>[CRC] Хүүхдийн эрхийн тухай конвенц — 1989.11.20; хүчин төгөлдөр: 1990.09.02</a:t>
            </a:r>
          </a:p>
          <a:p>
            <a:r>
              <a:t>https://www.ohchr.org/en/instruments-mechanisms/instruments/convention-rights-child</a:t>
            </a:r>
          </a:p>
          <a:p>
            <a:r>
              <a:t>[CEDAW] Эмэгтэйчүүдийг алагчлах бүх хэлбэрийг устгах тухай конвенц — 1979.12.18; хүчин төгөлдөр: 1981.09.03</a:t>
            </a:r>
          </a:p>
          <a:p>
            <a:r>
              <a:t>https://www.ohchr.org/en/instruments-mechanisms/instruments/convention-elimination-all-forms-discrimination-against-women</a:t>
            </a:r>
          </a:p>
          <a:p>
            <a:r>
              <a:t>[CRPD] Хөгжлийн бэрхшээлтэй хүмүүсийн эрхийн тухай конвенц — 2006.12.13; хүчин төгөлдөр: 2008.05.03</a:t>
            </a:r>
          </a:p>
          <a:p>
            <a:r>
              <a:t>https://www.ohchr.org/en/instruments-mechanisms/instruments/convention-rights-persons-disabilities</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САНАА</a:t>
            </a:r>
          </a:p>
          <a:p>
            <a:r>
              <a:t>Хэрэглэхийн өмнө хүчин төгөлдөр хууль, статистикийн анхдагч эхийг нягтална.</a:t>
            </a:r>
          </a:p>
          <a:p/>
          <a:p>
            <a:r>
              <a:t>ЯРИХ ТЕКСТ</a:t>
            </a:r>
          </a:p>
          <a:p>
            <a:r>
              <a:t>Судалгаа, шүүхийн кейсийн эх сурвалжийг энд хавсаргалаа. Ядуурлын график нь 2016–2022 оны түүхэн өгөгдөл болохыг сануулъя. Хуулийг бодит хэрэгт ашиглахын өмнө хүчин төгөлдөр найруулгыг анхдагч эхээс нягтлах шаардлагатай. Материал бэлтгэх үед албан ёсны сайтуудад шууд хандах хязгаарлалт байсан тул хамгийн сүүлийн хувилбарыг онлайн тулгаж баталгаажуулаагүй. Кейсийн арын зураг нь бодит оролцогчийн гэрэл зураг биш, 3D концепц дүрслэл юм. Анхаарал хандуулсанд баярлалаа.</a:t>
            </a:r>
          </a:p>
          <a:p/>
          <a:p>
            <a:r>
              <a:t>ДАРААГИЙН СЛАЙДТАЙ ХОЛБОХ ӨГҮҮЛБЭР</a:t>
            </a:r>
          </a:p>
          <a:p>
            <a:r>
              <a:t>Асуулт, санал сонсоход бэлэн байна.</a:t>
            </a:r>
          </a:p>
          <a:p/>
          <a:p>
            <a:r>
              <a:t>ДЭЛГЭРЭНГҮЙ МЭДЭЭЛЭЛ</a:t>
            </a:r>
          </a:p>
          <a:p>
            <a:r>
              <a:t>Судалгааны тоо, кейсийн огноо, хэрэг дугаар нь нийтэд түгээмэл мэдээлэгдсэн баримтад тулгуурласан. Энэ орчинд эх сурвалжийн сайтуудад хандахад 403 хариу ирсэн тул сүүлийн хувилбарыг онлайн нягталсан гэж үзэхгүй. Ядуурлын график 2016–2022 оны түүхэн өгөгдөл; 2026 оны түвшин биш. Эндхүү эх сурвалжийн холбоосын зарим нь байгууллагын хайлт/нийтлэлийн нүүр хуудас тул баримт бичгийн гарчиг, огноо, хэрэг дугаараар хайна. Материалыг ашиглахын өмнө хууль, статистикийн анхдагч эхийг нягтлахыг зөвлөж байна.</a:t>
            </a:r>
          </a:p>
          <a:p/>
          <a:p/>
          <a:p>
            <a:r>
              <a:t>ЭХ СУРВАЛЖ</a:t>
            </a:r>
          </a:p>
          <a:p>
            <a:r>
              <a:t>[POV] ҮСХ, Дэлхийн банк: Mongolia Poverty Update 2022, 2024 онд нийтэлсэн; үндэсний ядуурлын түвшин</a:t>
            </a:r>
          </a:p>
          <a:p>
            <a:r>
              <a:t>https://www.worldbank.org/en/country/mongolia/publication</a:t>
            </a:r>
          </a:p>
          <a:p>
            <a:r>
              <a:t>[GROOT] Government of the Republic of South Africa v Grootboom [2000] ZACC 19 — 2000.10.04</a:t>
            </a:r>
          </a:p>
          <a:p>
            <a:r>
              <a:t>https://www.saflii.org/za/cases/ZACC/2000/19.html</a:t>
            </a:r>
          </a:p>
          <a:p>
            <a:r>
              <a:t>[TAC] Minister of Health v Treatment Action Campaign (No 2) [2002] ZACC 15 — 2002.07.05</a:t>
            </a:r>
          </a:p>
          <a:p>
            <a:r>
              <a:t>https://www.saflii.org/za/cases/ZACC/2002/15.html</a:t>
            </a:r>
          </a:p>
          <a:p>
            <a:r>
              <a:t>[GER] BVerfG, 1 BvL 1/09, 1 BvL 3/09, 1 BvL 4/09 — 2010.02.09, амьжиргааны доод баталгаа</a:t>
            </a:r>
          </a:p>
          <a:p>
            <a:r>
              <a:t>https://www.bundesverfassungsgericht.de</a:t>
            </a:r>
          </a:p>
          <a:p>
            <a:r>
              <a:t>[FIN] Kela: Финландын суурь орлогын туршилт, 2017–2018; эцсийн үр дүн 2020</a:t>
            </a:r>
          </a:p>
          <a:p>
            <a:r>
              <a:t>https://www.kela.fi/basic-income-experiment</a:t>
            </a:r>
          </a:p>
          <a:p>
            <a:r>
              <a:t>[BRA] Бразил: Lei nº 10.836 — 2004.01.09; Lei nº 14.601 — 2023.06.19</a:t>
            </a:r>
          </a:p>
          <a:p>
            <a:r>
              <a:t>https://www.planalto.gov.br/ccivil_03/_ato2023-2026/2023/lei/l14601.htm</a:t>
            </a:r>
          </a:p>
          <a:p>
            <a:r>
              <a:t>[GC3] CESCR, Ерөнхий тайлбар №3 — 1990.12.14; улсын үүрэг, доод цөм шаардлага</a:t>
            </a:r>
          </a:p>
          <a:p>
            <a:r>
              <a:t>https://www.ohchr.org/en/documents/general-comments-and-recommendations/general-comment-no-3-nature-states-parties-obligations</a:t>
            </a:r>
          </a:p>
          <a:p>
            <a:r>
              <a:t>[SDG] НҮБ, A/RES/70/1 — 2015.09.25, Тогтвортой хөгжлийн зорилго</a:t>
            </a:r>
          </a:p>
          <a:p>
            <a:r>
              <a:t>https://sdgs.un.org/2030agenda</a:t>
            </a:r>
          </a:p>
          <a:p/>
          <a:p>
            <a:r>
              <a:t>Хязгаарлалт: албан ёсны эхийг энэ орчноос онлайн тулгаж баталгаажуулаагүй. Баталсан огноо нь сүүлийн өөрчлөлтийн огноо биш. Хуулийн тайлбарууд нь үгчилсэн эшлэл биш. 3D орчны зургууд нь бодит кейсийн гэрэл зураг биш.</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lear 3D design — slide 0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lear 3D design — slide 02"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lear 3D design — slide 03"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lear 3D design — slide 04"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lear 3D design — slide 05"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lear 3D design — slide 06"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lear 3D design — slide 07"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lear 3D design — slide 08"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lear 3D design — slide 09"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lear 3D design — slide 10"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lear 3D design — slide 1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lear 3D design — slide 12"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lear 3D design — slide 13"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lear 3D design — slide 14"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lear 3D design — slide 15"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lear 3D design — slide 16"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lear 3D design — slide 17"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lear 3D design — slide 18"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lear 3D design — slide 19"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lear 3D design — slide 20"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lear 3D design — slide 2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lear 3D design — slide 22"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lear 3D design — slide 23"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lear 3D design — slide 24"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lear 3D design — slide 25"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lear 3D design — slide 26"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lear 3D design — slide 27"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lear 3D design — slide 28"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lear 3D design — slide 29"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lear 3D design — slide 30"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Нийгмийн доод давхраа ба хүний эрх — ойлгомжтой 3D хувилбар</dc:title>
  <dc:subject>МУИС • 30 слайд • Ярих текст, шилжих өгүүлбэртэй • Дизайн хадгалах хувилбар</dc:subject>
  <dc:creator>Б. Саранчимэг · Ш. Түвшинбаяр · Б. Энхзаяа</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